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3"/>
  </p:notesMasterIdLst>
  <p:sldIdLst>
    <p:sldId id="256" r:id="rId2"/>
    <p:sldId id="259" r:id="rId3"/>
    <p:sldId id="260" r:id="rId4"/>
    <p:sldId id="263" r:id="rId5"/>
    <p:sldId id="284" r:id="rId6"/>
    <p:sldId id="285" r:id="rId7"/>
    <p:sldId id="286" r:id="rId8"/>
    <p:sldId id="261" r:id="rId9"/>
    <p:sldId id="262" r:id="rId10"/>
    <p:sldId id="266" r:id="rId11"/>
    <p:sldId id="267" r:id="rId12"/>
    <p:sldId id="269" r:id="rId13"/>
    <p:sldId id="290" r:id="rId14"/>
    <p:sldId id="282" r:id="rId15"/>
    <p:sldId id="283" r:id="rId16"/>
    <p:sldId id="270" r:id="rId17"/>
    <p:sldId id="271" r:id="rId18"/>
    <p:sldId id="281" r:id="rId19"/>
    <p:sldId id="272" r:id="rId20"/>
    <p:sldId id="275" r:id="rId21"/>
    <p:sldId id="28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CCCC"/>
    <a:srgbClr val="FF5050"/>
    <a:srgbClr val="E86E48"/>
    <a:srgbClr val="04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7" autoAdjust="0"/>
    <p:restoredTop sz="94178" autoAdjust="0"/>
  </p:normalViewPr>
  <p:slideViewPr>
    <p:cSldViewPr snapToGrid="0">
      <p:cViewPr varScale="1">
        <p:scale>
          <a:sx n="115" d="100"/>
          <a:sy n="115" d="100"/>
        </p:scale>
        <p:origin x="1024" y="19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AB1623-568B-48DD-9D0F-CD95F52E9A3B}" type="doc">
      <dgm:prSet loTypeId="urn:microsoft.com/office/officeart/2008/layout/VerticalCurvedList" loCatId="list" qsTypeId="urn:microsoft.com/office/officeart/2005/8/quickstyle/simple1" qsCatId="simple" csTypeId="urn:microsoft.com/office/officeart/2005/8/colors/accent1_3" csCatId="accent1" phldr="1"/>
      <dgm:spPr/>
      <dgm:t>
        <a:bodyPr/>
        <a:lstStyle/>
        <a:p>
          <a:endParaRPr lang="en-US"/>
        </a:p>
      </dgm:t>
    </dgm:pt>
    <dgm:pt modelId="{F9F0DBA9-3D8D-4ADF-A18E-576BF3035461}">
      <dgm:prSet phldrT="[Text]"/>
      <dgm:spPr/>
      <dgm:t>
        <a:bodyPr/>
        <a:lstStyle/>
        <a:p>
          <a:r>
            <a:rPr lang="en-US" dirty="0"/>
            <a:t>Introduction</a:t>
          </a:r>
        </a:p>
      </dgm:t>
    </dgm:pt>
    <dgm:pt modelId="{020B27CC-BC4F-4A5E-AB6C-0970824E093C}" type="parTrans" cxnId="{DEC10496-C33E-440E-A24B-FE2CA17547C7}">
      <dgm:prSet/>
      <dgm:spPr/>
      <dgm:t>
        <a:bodyPr/>
        <a:lstStyle/>
        <a:p>
          <a:endParaRPr lang="en-US"/>
        </a:p>
      </dgm:t>
    </dgm:pt>
    <dgm:pt modelId="{F13F2682-6014-41A0-8255-F6E5F7C28666}" type="sibTrans" cxnId="{DEC10496-C33E-440E-A24B-FE2CA17547C7}">
      <dgm:prSet/>
      <dgm:spPr/>
      <dgm:t>
        <a:bodyPr/>
        <a:lstStyle/>
        <a:p>
          <a:endParaRPr lang="en-US"/>
        </a:p>
      </dgm:t>
    </dgm:pt>
    <dgm:pt modelId="{2BB0D0C9-7511-45C8-A4D5-F6027C1F7400}">
      <dgm:prSet phldrT="[Text]"/>
      <dgm:spPr/>
      <dgm:t>
        <a:bodyPr/>
        <a:lstStyle/>
        <a:p>
          <a:r>
            <a:rPr lang="en-US" dirty="0"/>
            <a:t>Methodology and Inversion Algorithm</a:t>
          </a:r>
        </a:p>
      </dgm:t>
    </dgm:pt>
    <dgm:pt modelId="{7546AD64-E9E8-4C48-9319-C73358EBD9C8}" type="parTrans" cxnId="{6869208D-7686-4BED-AB59-35B8E29276E3}">
      <dgm:prSet/>
      <dgm:spPr/>
      <dgm:t>
        <a:bodyPr/>
        <a:lstStyle/>
        <a:p>
          <a:endParaRPr lang="en-US"/>
        </a:p>
      </dgm:t>
    </dgm:pt>
    <dgm:pt modelId="{AA019357-DC9E-433D-9EF0-66C7280BFD1B}" type="sibTrans" cxnId="{6869208D-7686-4BED-AB59-35B8E29276E3}">
      <dgm:prSet/>
      <dgm:spPr/>
      <dgm:t>
        <a:bodyPr/>
        <a:lstStyle/>
        <a:p>
          <a:endParaRPr lang="en-US"/>
        </a:p>
      </dgm:t>
    </dgm:pt>
    <dgm:pt modelId="{368A1934-970C-4DA4-A38F-A110140B8C62}">
      <dgm:prSet phldrT="[Text]"/>
      <dgm:spPr/>
      <dgm:t>
        <a:bodyPr/>
        <a:lstStyle/>
        <a:p>
          <a:r>
            <a:rPr lang="en-US" dirty="0"/>
            <a:t>Joint Inversion Results</a:t>
          </a:r>
        </a:p>
      </dgm:t>
    </dgm:pt>
    <dgm:pt modelId="{D4F820EA-1C3C-4998-819F-30E3139C655C}" type="parTrans" cxnId="{4A76FDB1-E4F4-4FA1-A430-BCAEA8C45BD4}">
      <dgm:prSet/>
      <dgm:spPr/>
      <dgm:t>
        <a:bodyPr/>
        <a:lstStyle/>
        <a:p>
          <a:endParaRPr lang="en-US"/>
        </a:p>
      </dgm:t>
    </dgm:pt>
    <dgm:pt modelId="{D7347CDD-2240-4A61-A818-0DF679D803D6}" type="sibTrans" cxnId="{4A76FDB1-E4F4-4FA1-A430-BCAEA8C45BD4}">
      <dgm:prSet/>
      <dgm:spPr/>
      <dgm:t>
        <a:bodyPr/>
        <a:lstStyle/>
        <a:p>
          <a:endParaRPr lang="en-US"/>
        </a:p>
      </dgm:t>
    </dgm:pt>
    <dgm:pt modelId="{8C342AF3-92BB-4F8B-972B-160C0D6838DE}">
      <dgm:prSet phldrT="[Text]"/>
      <dgm:spPr/>
      <dgm:t>
        <a:bodyPr/>
        <a:lstStyle/>
        <a:p>
          <a:r>
            <a:rPr lang="en-US" dirty="0"/>
            <a:t>Conclusion and Discussion</a:t>
          </a:r>
        </a:p>
      </dgm:t>
    </dgm:pt>
    <dgm:pt modelId="{AEB2611A-8EE3-469E-8C51-A1750E1ADA45}" type="parTrans" cxnId="{CA248080-7E35-4947-A77D-B9A344CF633A}">
      <dgm:prSet/>
      <dgm:spPr/>
      <dgm:t>
        <a:bodyPr/>
        <a:lstStyle/>
        <a:p>
          <a:endParaRPr lang="en-US"/>
        </a:p>
      </dgm:t>
    </dgm:pt>
    <dgm:pt modelId="{B6C38E33-EF51-4D6F-BAB7-218D67011DD8}" type="sibTrans" cxnId="{CA248080-7E35-4947-A77D-B9A344CF633A}">
      <dgm:prSet/>
      <dgm:spPr/>
      <dgm:t>
        <a:bodyPr/>
        <a:lstStyle/>
        <a:p>
          <a:endParaRPr lang="en-US"/>
        </a:p>
      </dgm:t>
    </dgm:pt>
    <dgm:pt modelId="{0E666CBF-42EA-4562-9659-8F23E6835ED7}">
      <dgm:prSet phldrT="[Text]"/>
      <dgm:spPr/>
      <dgm:t>
        <a:bodyPr/>
        <a:lstStyle/>
        <a:p>
          <a:r>
            <a:rPr lang="en-US" dirty="0"/>
            <a:t>Alternative Models</a:t>
          </a:r>
        </a:p>
      </dgm:t>
    </dgm:pt>
    <dgm:pt modelId="{9CE7B3CF-2FF3-45CE-8D51-21B9DE4CBC0F}" type="parTrans" cxnId="{49097270-62BB-4440-989D-1E917E546711}">
      <dgm:prSet/>
      <dgm:spPr/>
      <dgm:t>
        <a:bodyPr/>
        <a:lstStyle/>
        <a:p>
          <a:endParaRPr lang="en-US"/>
        </a:p>
      </dgm:t>
    </dgm:pt>
    <dgm:pt modelId="{9F176BD7-AE8A-4491-8CDB-AAE66C2655FA}" type="sibTrans" cxnId="{49097270-62BB-4440-989D-1E917E546711}">
      <dgm:prSet/>
      <dgm:spPr/>
      <dgm:t>
        <a:bodyPr/>
        <a:lstStyle/>
        <a:p>
          <a:endParaRPr lang="en-US"/>
        </a:p>
      </dgm:t>
    </dgm:pt>
    <dgm:pt modelId="{82A7CD43-4A4E-4436-8BD9-A199931E0A6A}">
      <dgm:prSet phldrT="[Text]"/>
      <dgm:spPr/>
      <dgm:t>
        <a:bodyPr/>
        <a:lstStyle/>
        <a:p>
          <a:r>
            <a:rPr lang="en-US" dirty="0"/>
            <a:t>Membrane Polarization Modeling</a:t>
          </a:r>
        </a:p>
      </dgm:t>
    </dgm:pt>
    <dgm:pt modelId="{4528E75F-BD8A-407E-A6C4-173387AFC422}" type="parTrans" cxnId="{8025041A-0B70-4305-A205-EB2FCAE17A05}">
      <dgm:prSet/>
      <dgm:spPr/>
      <dgm:t>
        <a:bodyPr/>
        <a:lstStyle/>
        <a:p>
          <a:endParaRPr lang="en-US"/>
        </a:p>
      </dgm:t>
    </dgm:pt>
    <dgm:pt modelId="{F7E3CA06-ACB7-4F2C-98A9-FC6D922F3039}" type="sibTrans" cxnId="{8025041A-0B70-4305-A205-EB2FCAE17A05}">
      <dgm:prSet/>
      <dgm:spPr/>
      <dgm:t>
        <a:bodyPr/>
        <a:lstStyle/>
        <a:p>
          <a:endParaRPr lang="en-US"/>
        </a:p>
      </dgm:t>
    </dgm:pt>
    <dgm:pt modelId="{7AFA1C0A-3E94-44D7-8473-3609AB17CD54}" type="pres">
      <dgm:prSet presAssocID="{37AB1623-568B-48DD-9D0F-CD95F52E9A3B}" presName="Name0" presStyleCnt="0">
        <dgm:presLayoutVars>
          <dgm:chMax val="7"/>
          <dgm:chPref val="7"/>
          <dgm:dir/>
        </dgm:presLayoutVars>
      </dgm:prSet>
      <dgm:spPr/>
    </dgm:pt>
    <dgm:pt modelId="{C622D06F-B7C9-4A51-8F40-801323FCEF65}" type="pres">
      <dgm:prSet presAssocID="{37AB1623-568B-48DD-9D0F-CD95F52E9A3B}" presName="Name1" presStyleCnt="0"/>
      <dgm:spPr/>
    </dgm:pt>
    <dgm:pt modelId="{3DEEA2D7-18A5-4642-8E5C-A75D42926DFA}" type="pres">
      <dgm:prSet presAssocID="{37AB1623-568B-48DD-9D0F-CD95F52E9A3B}" presName="cycle" presStyleCnt="0"/>
      <dgm:spPr/>
    </dgm:pt>
    <dgm:pt modelId="{0EB19A5B-F4EF-47EA-B8A6-2AD71B8E5DDA}" type="pres">
      <dgm:prSet presAssocID="{37AB1623-568B-48DD-9D0F-CD95F52E9A3B}" presName="srcNode" presStyleLbl="node1" presStyleIdx="0" presStyleCnt="6"/>
      <dgm:spPr/>
    </dgm:pt>
    <dgm:pt modelId="{E7E60A37-0C6D-408D-AC8D-888EA4DC53C9}" type="pres">
      <dgm:prSet presAssocID="{37AB1623-568B-48DD-9D0F-CD95F52E9A3B}" presName="conn" presStyleLbl="parChTrans1D2" presStyleIdx="0" presStyleCnt="1"/>
      <dgm:spPr/>
    </dgm:pt>
    <dgm:pt modelId="{A00C77DC-B8E7-45A2-AFA5-264CB37F62B3}" type="pres">
      <dgm:prSet presAssocID="{37AB1623-568B-48DD-9D0F-CD95F52E9A3B}" presName="extraNode" presStyleLbl="node1" presStyleIdx="0" presStyleCnt="6"/>
      <dgm:spPr/>
    </dgm:pt>
    <dgm:pt modelId="{42F5447F-4975-4384-9A88-7E8F8DAD235F}" type="pres">
      <dgm:prSet presAssocID="{37AB1623-568B-48DD-9D0F-CD95F52E9A3B}" presName="dstNode" presStyleLbl="node1" presStyleIdx="0" presStyleCnt="6"/>
      <dgm:spPr/>
    </dgm:pt>
    <dgm:pt modelId="{D1834069-D01D-4C0B-87BA-BE0796359DE0}" type="pres">
      <dgm:prSet presAssocID="{F9F0DBA9-3D8D-4ADF-A18E-576BF3035461}" presName="text_1" presStyleLbl="node1" presStyleIdx="0" presStyleCnt="6">
        <dgm:presLayoutVars>
          <dgm:bulletEnabled val="1"/>
        </dgm:presLayoutVars>
      </dgm:prSet>
      <dgm:spPr/>
    </dgm:pt>
    <dgm:pt modelId="{20F37CE9-A76D-4796-9132-6E37FA16273E}" type="pres">
      <dgm:prSet presAssocID="{F9F0DBA9-3D8D-4ADF-A18E-576BF3035461}" presName="accent_1" presStyleCnt="0"/>
      <dgm:spPr/>
    </dgm:pt>
    <dgm:pt modelId="{A037C598-45E9-44A7-A36B-23BE0187B915}" type="pres">
      <dgm:prSet presAssocID="{F9F0DBA9-3D8D-4ADF-A18E-576BF3035461}" presName="accentRepeatNode" presStyleLbl="solidFgAcc1" presStyleIdx="0" presStyleCnt="6"/>
      <dgm:spPr/>
    </dgm:pt>
    <dgm:pt modelId="{8FBC1862-DCCA-4C93-AC77-67CAFEB00C8B}" type="pres">
      <dgm:prSet presAssocID="{2BB0D0C9-7511-45C8-A4D5-F6027C1F7400}" presName="text_2" presStyleLbl="node1" presStyleIdx="1" presStyleCnt="6">
        <dgm:presLayoutVars>
          <dgm:bulletEnabled val="1"/>
        </dgm:presLayoutVars>
      </dgm:prSet>
      <dgm:spPr/>
    </dgm:pt>
    <dgm:pt modelId="{E3DC78A2-A03E-4FBC-A6B7-7769EDCCB028}" type="pres">
      <dgm:prSet presAssocID="{2BB0D0C9-7511-45C8-A4D5-F6027C1F7400}" presName="accent_2" presStyleCnt="0"/>
      <dgm:spPr/>
    </dgm:pt>
    <dgm:pt modelId="{6730558D-4F5C-4F9D-AAEF-9069822EFC16}" type="pres">
      <dgm:prSet presAssocID="{2BB0D0C9-7511-45C8-A4D5-F6027C1F7400}" presName="accentRepeatNode" presStyleLbl="solidFgAcc1" presStyleIdx="1" presStyleCnt="6"/>
      <dgm:spPr/>
    </dgm:pt>
    <dgm:pt modelId="{09A4FEC3-21AA-497E-B68E-DB3745EB8435}" type="pres">
      <dgm:prSet presAssocID="{368A1934-970C-4DA4-A38F-A110140B8C62}" presName="text_3" presStyleLbl="node1" presStyleIdx="2" presStyleCnt="6">
        <dgm:presLayoutVars>
          <dgm:bulletEnabled val="1"/>
        </dgm:presLayoutVars>
      </dgm:prSet>
      <dgm:spPr/>
    </dgm:pt>
    <dgm:pt modelId="{DD23861E-7A5A-4DBF-8AAC-571608338D54}" type="pres">
      <dgm:prSet presAssocID="{368A1934-970C-4DA4-A38F-A110140B8C62}" presName="accent_3" presStyleCnt="0"/>
      <dgm:spPr/>
    </dgm:pt>
    <dgm:pt modelId="{19F1E558-6C2B-47E8-B197-3B7ED2792E58}" type="pres">
      <dgm:prSet presAssocID="{368A1934-970C-4DA4-A38F-A110140B8C62}" presName="accentRepeatNode" presStyleLbl="solidFgAcc1" presStyleIdx="2" presStyleCnt="6"/>
      <dgm:spPr/>
    </dgm:pt>
    <dgm:pt modelId="{CE9B0CDD-7458-46C0-841A-84E25F9C0C20}" type="pres">
      <dgm:prSet presAssocID="{0E666CBF-42EA-4562-9659-8F23E6835ED7}" presName="text_4" presStyleLbl="node1" presStyleIdx="3" presStyleCnt="6">
        <dgm:presLayoutVars>
          <dgm:bulletEnabled val="1"/>
        </dgm:presLayoutVars>
      </dgm:prSet>
      <dgm:spPr/>
    </dgm:pt>
    <dgm:pt modelId="{DF15F9BC-DD3D-4E75-BCB3-F3BF9773BE31}" type="pres">
      <dgm:prSet presAssocID="{0E666CBF-42EA-4562-9659-8F23E6835ED7}" presName="accent_4" presStyleCnt="0"/>
      <dgm:spPr/>
    </dgm:pt>
    <dgm:pt modelId="{AE3A1F14-DA68-408E-B971-03BEF91767EF}" type="pres">
      <dgm:prSet presAssocID="{0E666CBF-42EA-4562-9659-8F23E6835ED7}" presName="accentRepeatNode" presStyleLbl="solidFgAcc1" presStyleIdx="3" presStyleCnt="6"/>
      <dgm:spPr/>
    </dgm:pt>
    <dgm:pt modelId="{56ABB3EB-4F8F-4ED5-B1F9-080CAC9F1BD1}" type="pres">
      <dgm:prSet presAssocID="{82A7CD43-4A4E-4436-8BD9-A199931E0A6A}" presName="text_5" presStyleLbl="node1" presStyleIdx="4" presStyleCnt="6">
        <dgm:presLayoutVars>
          <dgm:bulletEnabled val="1"/>
        </dgm:presLayoutVars>
      </dgm:prSet>
      <dgm:spPr/>
    </dgm:pt>
    <dgm:pt modelId="{28D01588-324C-4DDE-9279-18EEC0870FB1}" type="pres">
      <dgm:prSet presAssocID="{82A7CD43-4A4E-4436-8BD9-A199931E0A6A}" presName="accent_5" presStyleCnt="0"/>
      <dgm:spPr/>
    </dgm:pt>
    <dgm:pt modelId="{CA9F6EAA-76B6-4F94-AB9B-4A68BFD2D6F9}" type="pres">
      <dgm:prSet presAssocID="{82A7CD43-4A4E-4436-8BD9-A199931E0A6A}" presName="accentRepeatNode" presStyleLbl="solidFgAcc1" presStyleIdx="4" presStyleCnt="6"/>
      <dgm:spPr/>
    </dgm:pt>
    <dgm:pt modelId="{74ACE24D-0E3C-492F-97EC-7E4534CA33C6}" type="pres">
      <dgm:prSet presAssocID="{8C342AF3-92BB-4F8B-972B-160C0D6838DE}" presName="text_6" presStyleLbl="node1" presStyleIdx="5" presStyleCnt="6">
        <dgm:presLayoutVars>
          <dgm:bulletEnabled val="1"/>
        </dgm:presLayoutVars>
      </dgm:prSet>
      <dgm:spPr/>
    </dgm:pt>
    <dgm:pt modelId="{867B0E3B-76C0-49C1-A918-FEF67659755A}" type="pres">
      <dgm:prSet presAssocID="{8C342AF3-92BB-4F8B-972B-160C0D6838DE}" presName="accent_6" presStyleCnt="0"/>
      <dgm:spPr/>
    </dgm:pt>
    <dgm:pt modelId="{AC0566F2-84A5-4C85-9792-733C4A768448}" type="pres">
      <dgm:prSet presAssocID="{8C342AF3-92BB-4F8B-972B-160C0D6838DE}" presName="accentRepeatNode" presStyleLbl="solidFgAcc1" presStyleIdx="5" presStyleCnt="6"/>
      <dgm:spPr/>
    </dgm:pt>
  </dgm:ptLst>
  <dgm:cxnLst>
    <dgm:cxn modelId="{8025041A-0B70-4305-A205-EB2FCAE17A05}" srcId="{37AB1623-568B-48DD-9D0F-CD95F52E9A3B}" destId="{82A7CD43-4A4E-4436-8BD9-A199931E0A6A}" srcOrd="4" destOrd="0" parTransId="{4528E75F-BD8A-407E-A6C4-173387AFC422}" sibTransId="{F7E3CA06-ACB7-4F2C-98A9-FC6D922F3039}"/>
    <dgm:cxn modelId="{FDEA083B-3CF7-42D9-9179-CD5D6B5B7FCA}" type="presOf" srcId="{0E666CBF-42EA-4562-9659-8F23E6835ED7}" destId="{CE9B0CDD-7458-46C0-841A-84E25F9C0C20}" srcOrd="0" destOrd="0" presId="urn:microsoft.com/office/officeart/2008/layout/VerticalCurvedList"/>
    <dgm:cxn modelId="{49097270-62BB-4440-989D-1E917E546711}" srcId="{37AB1623-568B-48DD-9D0F-CD95F52E9A3B}" destId="{0E666CBF-42EA-4562-9659-8F23E6835ED7}" srcOrd="3" destOrd="0" parTransId="{9CE7B3CF-2FF3-45CE-8D51-21B9DE4CBC0F}" sibTransId="{9F176BD7-AE8A-4491-8CDB-AAE66C2655FA}"/>
    <dgm:cxn modelId="{83EB5771-06E5-4DCD-B7AE-AA383C13850D}" type="presOf" srcId="{F9F0DBA9-3D8D-4ADF-A18E-576BF3035461}" destId="{D1834069-D01D-4C0B-87BA-BE0796359DE0}" srcOrd="0" destOrd="0" presId="urn:microsoft.com/office/officeart/2008/layout/VerticalCurvedList"/>
    <dgm:cxn modelId="{CA248080-7E35-4947-A77D-B9A344CF633A}" srcId="{37AB1623-568B-48DD-9D0F-CD95F52E9A3B}" destId="{8C342AF3-92BB-4F8B-972B-160C0D6838DE}" srcOrd="5" destOrd="0" parTransId="{AEB2611A-8EE3-469E-8C51-A1750E1ADA45}" sibTransId="{B6C38E33-EF51-4D6F-BAB7-218D67011DD8}"/>
    <dgm:cxn modelId="{77587982-838C-49B4-869E-ACB6DD0A202F}" type="presOf" srcId="{368A1934-970C-4DA4-A38F-A110140B8C62}" destId="{09A4FEC3-21AA-497E-B68E-DB3745EB8435}" srcOrd="0" destOrd="0" presId="urn:microsoft.com/office/officeart/2008/layout/VerticalCurvedList"/>
    <dgm:cxn modelId="{6869208D-7686-4BED-AB59-35B8E29276E3}" srcId="{37AB1623-568B-48DD-9D0F-CD95F52E9A3B}" destId="{2BB0D0C9-7511-45C8-A4D5-F6027C1F7400}" srcOrd="1" destOrd="0" parTransId="{7546AD64-E9E8-4C48-9319-C73358EBD9C8}" sibTransId="{AA019357-DC9E-433D-9EF0-66C7280BFD1B}"/>
    <dgm:cxn modelId="{FBBF6D91-12BB-4802-BFEC-2B8EAC629E06}" type="presOf" srcId="{82A7CD43-4A4E-4436-8BD9-A199931E0A6A}" destId="{56ABB3EB-4F8F-4ED5-B1F9-080CAC9F1BD1}" srcOrd="0" destOrd="0" presId="urn:microsoft.com/office/officeart/2008/layout/VerticalCurvedList"/>
    <dgm:cxn modelId="{DEC10496-C33E-440E-A24B-FE2CA17547C7}" srcId="{37AB1623-568B-48DD-9D0F-CD95F52E9A3B}" destId="{F9F0DBA9-3D8D-4ADF-A18E-576BF3035461}" srcOrd="0" destOrd="0" parTransId="{020B27CC-BC4F-4A5E-AB6C-0970824E093C}" sibTransId="{F13F2682-6014-41A0-8255-F6E5F7C28666}"/>
    <dgm:cxn modelId="{FCF3B9AD-E4E0-4A06-A76C-1911984887FD}" type="presOf" srcId="{2BB0D0C9-7511-45C8-A4D5-F6027C1F7400}" destId="{8FBC1862-DCCA-4C93-AC77-67CAFEB00C8B}" srcOrd="0" destOrd="0" presId="urn:microsoft.com/office/officeart/2008/layout/VerticalCurvedList"/>
    <dgm:cxn modelId="{4A76FDB1-E4F4-4FA1-A430-BCAEA8C45BD4}" srcId="{37AB1623-568B-48DD-9D0F-CD95F52E9A3B}" destId="{368A1934-970C-4DA4-A38F-A110140B8C62}" srcOrd="2" destOrd="0" parTransId="{D4F820EA-1C3C-4998-819F-30E3139C655C}" sibTransId="{D7347CDD-2240-4A61-A818-0DF679D803D6}"/>
    <dgm:cxn modelId="{ABB8EDD0-9AE3-4B29-A188-C116FCC79012}" type="presOf" srcId="{8C342AF3-92BB-4F8B-972B-160C0D6838DE}" destId="{74ACE24D-0E3C-492F-97EC-7E4534CA33C6}" srcOrd="0" destOrd="0" presId="urn:microsoft.com/office/officeart/2008/layout/VerticalCurvedList"/>
    <dgm:cxn modelId="{FE2994EF-CD73-4059-9EE0-2E77E3FF3AEB}" type="presOf" srcId="{37AB1623-568B-48DD-9D0F-CD95F52E9A3B}" destId="{7AFA1C0A-3E94-44D7-8473-3609AB17CD54}" srcOrd="0" destOrd="0" presId="urn:microsoft.com/office/officeart/2008/layout/VerticalCurvedList"/>
    <dgm:cxn modelId="{0BFDFFF3-5A5C-48F9-B6B1-5BCF3961973C}" type="presOf" srcId="{F13F2682-6014-41A0-8255-F6E5F7C28666}" destId="{E7E60A37-0C6D-408D-AC8D-888EA4DC53C9}" srcOrd="0" destOrd="0" presId="urn:microsoft.com/office/officeart/2008/layout/VerticalCurvedList"/>
    <dgm:cxn modelId="{A7926E1E-2B91-4596-BCF4-6CAA7B5B6783}" type="presParOf" srcId="{7AFA1C0A-3E94-44D7-8473-3609AB17CD54}" destId="{C622D06F-B7C9-4A51-8F40-801323FCEF65}" srcOrd="0" destOrd="0" presId="urn:microsoft.com/office/officeart/2008/layout/VerticalCurvedList"/>
    <dgm:cxn modelId="{87BDDEF2-53FE-464B-8978-2E9A40A30B17}" type="presParOf" srcId="{C622D06F-B7C9-4A51-8F40-801323FCEF65}" destId="{3DEEA2D7-18A5-4642-8E5C-A75D42926DFA}" srcOrd="0" destOrd="0" presId="urn:microsoft.com/office/officeart/2008/layout/VerticalCurvedList"/>
    <dgm:cxn modelId="{FA0DECD1-F770-41D9-A337-1E072A7F4E36}" type="presParOf" srcId="{3DEEA2D7-18A5-4642-8E5C-A75D42926DFA}" destId="{0EB19A5B-F4EF-47EA-B8A6-2AD71B8E5DDA}" srcOrd="0" destOrd="0" presId="urn:microsoft.com/office/officeart/2008/layout/VerticalCurvedList"/>
    <dgm:cxn modelId="{155533B5-AB9E-4C56-B21C-03632679C0D3}" type="presParOf" srcId="{3DEEA2D7-18A5-4642-8E5C-A75D42926DFA}" destId="{E7E60A37-0C6D-408D-AC8D-888EA4DC53C9}" srcOrd="1" destOrd="0" presId="urn:microsoft.com/office/officeart/2008/layout/VerticalCurvedList"/>
    <dgm:cxn modelId="{06EBC883-4821-4471-8EC1-DCBF3931E80F}" type="presParOf" srcId="{3DEEA2D7-18A5-4642-8E5C-A75D42926DFA}" destId="{A00C77DC-B8E7-45A2-AFA5-264CB37F62B3}" srcOrd="2" destOrd="0" presId="urn:microsoft.com/office/officeart/2008/layout/VerticalCurvedList"/>
    <dgm:cxn modelId="{CF14DA13-3428-4133-BC99-1B63E4D10601}" type="presParOf" srcId="{3DEEA2D7-18A5-4642-8E5C-A75D42926DFA}" destId="{42F5447F-4975-4384-9A88-7E8F8DAD235F}" srcOrd="3" destOrd="0" presId="urn:microsoft.com/office/officeart/2008/layout/VerticalCurvedList"/>
    <dgm:cxn modelId="{D255D8B1-6CF6-4784-A798-4766B3D0567E}" type="presParOf" srcId="{C622D06F-B7C9-4A51-8F40-801323FCEF65}" destId="{D1834069-D01D-4C0B-87BA-BE0796359DE0}" srcOrd="1" destOrd="0" presId="urn:microsoft.com/office/officeart/2008/layout/VerticalCurvedList"/>
    <dgm:cxn modelId="{28184C6F-B852-444A-B4A7-9D4D85CBC542}" type="presParOf" srcId="{C622D06F-B7C9-4A51-8F40-801323FCEF65}" destId="{20F37CE9-A76D-4796-9132-6E37FA16273E}" srcOrd="2" destOrd="0" presId="urn:microsoft.com/office/officeart/2008/layout/VerticalCurvedList"/>
    <dgm:cxn modelId="{DF3B66E7-CDCC-4464-9AAB-B0ECC3009095}" type="presParOf" srcId="{20F37CE9-A76D-4796-9132-6E37FA16273E}" destId="{A037C598-45E9-44A7-A36B-23BE0187B915}" srcOrd="0" destOrd="0" presId="urn:microsoft.com/office/officeart/2008/layout/VerticalCurvedList"/>
    <dgm:cxn modelId="{533A5EA0-F955-46EC-8120-0790696FCACF}" type="presParOf" srcId="{C622D06F-B7C9-4A51-8F40-801323FCEF65}" destId="{8FBC1862-DCCA-4C93-AC77-67CAFEB00C8B}" srcOrd="3" destOrd="0" presId="urn:microsoft.com/office/officeart/2008/layout/VerticalCurvedList"/>
    <dgm:cxn modelId="{C623521F-34EB-4343-8F07-B542DB5C58FB}" type="presParOf" srcId="{C622D06F-B7C9-4A51-8F40-801323FCEF65}" destId="{E3DC78A2-A03E-4FBC-A6B7-7769EDCCB028}" srcOrd="4" destOrd="0" presId="urn:microsoft.com/office/officeart/2008/layout/VerticalCurvedList"/>
    <dgm:cxn modelId="{659784AB-098A-44EC-81E3-01393424D660}" type="presParOf" srcId="{E3DC78A2-A03E-4FBC-A6B7-7769EDCCB028}" destId="{6730558D-4F5C-4F9D-AAEF-9069822EFC16}" srcOrd="0" destOrd="0" presId="urn:microsoft.com/office/officeart/2008/layout/VerticalCurvedList"/>
    <dgm:cxn modelId="{4420E14A-6DDF-46FE-8DD3-9D1860EAF279}" type="presParOf" srcId="{C622D06F-B7C9-4A51-8F40-801323FCEF65}" destId="{09A4FEC3-21AA-497E-B68E-DB3745EB8435}" srcOrd="5" destOrd="0" presId="urn:microsoft.com/office/officeart/2008/layout/VerticalCurvedList"/>
    <dgm:cxn modelId="{94B0258C-FB6A-44B1-98BD-2524B134C4D4}" type="presParOf" srcId="{C622D06F-B7C9-4A51-8F40-801323FCEF65}" destId="{DD23861E-7A5A-4DBF-8AAC-571608338D54}" srcOrd="6" destOrd="0" presId="urn:microsoft.com/office/officeart/2008/layout/VerticalCurvedList"/>
    <dgm:cxn modelId="{6E8D3269-A0A9-4D75-8AD0-9D7BEEB4A719}" type="presParOf" srcId="{DD23861E-7A5A-4DBF-8AAC-571608338D54}" destId="{19F1E558-6C2B-47E8-B197-3B7ED2792E58}" srcOrd="0" destOrd="0" presId="urn:microsoft.com/office/officeart/2008/layout/VerticalCurvedList"/>
    <dgm:cxn modelId="{E74F1113-C8AD-4E2E-9347-E9B739B99B66}" type="presParOf" srcId="{C622D06F-B7C9-4A51-8F40-801323FCEF65}" destId="{CE9B0CDD-7458-46C0-841A-84E25F9C0C20}" srcOrd="7" destOrd="0" presId="urn:microsoft.com/office/officeart/2008/layout/VerticalCurvedList"/>
    <dgm:cxn modelId="{B867FF17-A473-459E-A04A-EEB2BBD52E5D}" type="presParOf" srcId="{C622D06F-B7C9-4A51-8F40-801323FCEF65}" destId="{DF15F9BC-DD3D-4E75-BCB3-F3BF9773BE31}" srcOrd="8" destOrd="0" presId="urn:microsoft.com/office/officeart/2008/layout/VerticalCurvedList"/>
    <dgm:cxn modelId="{FE14621C-F0B2-4AD2-BA8D-838058CF4330}" type="presParOf" srcId="{DF15F9BC-DD3D-4E75-BCB3-F3BF9773BE31}" destId="{AE3A1F14-DA68-408E-B971-03BEF91767EF}" srcOrd="0" destOrd="0" presId="urn:microsoft.com/office/officeart/2008/layout/VerticalCurvedList"/>
    <dgm:cxn modelId="{994A08CC-BE88-4361-92B7-CA9FCC7C6813}" type="presParOf" srcId="{C622D06F-B7C9-4A51-8F40-801323FCEF65}" destId="{56ABB3EB-4F8F-4ED5-B1F9-080CAC9F1BD1}" srcOrd="9" destOrd="0" presId="urn:microsoft.com/office/officeart/2008/layout/VerticalCurvedList"/>
    <dgm:cxn modelId="{29BA8ED3-51BC-4214-906B-E7DCEEEAB3D4}" type="presParOf" srcId="{C622D06F-B7C9-4A51-8F40-801323FCEF65}" destId="{28D01588-324C-4DDE-9279-18EEC0870FB1}" srcOrd="10" destOrd="0" presId="urn:microsoft.com/office/officeart/2008/layout/VerticalCurvedList"/>
    <dgm:cxn modelId="{1D35DDF6-1F1B-4628-A899-F0D9EBB743C8}" type="presParOf" srcId="{28D01588-324C-4DDE-9279-18EEC0870FB1}" destId="{CA9F6EAA-76B6-4F94-AB9B-4A68BFD2D6F9}" srcOrd="0" destOrd="0" presId="urn:microsoft.com/office/officeart/2008/layout/VerticalCurvedList"/>
    <dgm:cxn modelId="{7D3C2AE1-DD29-49AC-9F84-6F9FF0B8937A}" type="presParOf" srcId="{C622D06F-B7C9-4A51-8F40-801323FCEF65}" destId="{74ACE24D-0E3C-492F-97EC-7E4534CA33C6}" srcOrd="11" destOrd="0" presId="urn:microsoft.com/office/officeart/2008/layout/VerticalCurvedList"/>
    <dgm:cxn modelId="{171D3DEB-3EBE-4B7D-9F82-3ED14564D9E2}" type="presParOf" srcId="{C622D06F-B7C9-4A51-8F40-801323FCEF65}" destId="{867B0E3B-76C0-49C1-A918-FEF67659755A}" srcOrd="12" destOrd="0" presId="urn:microsoft.com/office/officeart/2008/layout/VerticalCurvedList"/>
    <dgm:cxn modelId="{B217260C-F5C1-410E-B759-A781689F4480}" type="presParOf" srcId="{867B0E3B-76C0-49C1-A918-FEF67659755A}" destId="{AC0566F2-84A5-4C85-9792-733C4A768448}"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E60A37-0C6D-408D-AC8D-888EA4DC53C9}">
      <dsp:nvSpPr>
        <dsp:cNvPr id="0" name=""/>
        <dsp:cNvSpPr/>
      </dsp:nvSpPr>
      <dsp:spPr>
        <a:xfrm>
          <a:off x="-4594335" y="-704407"/>
          <a:ext cx="5472816" cy="5472816"/>
        </a:xfrm>
        <a:prstGeom prst="blockArc">
          <a:avLst>
            <a:gd name="adj1" fmla="val 18900000"/>
            <a:gd name="adj2" fmla="val 2700000"/>
            <a:gd name="adj3" fmla="val 395"/>
          </a:avLst>
        </a:pr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834069-D01D-4C0B-87BA-BE0796359DE0}">
      <dsp:nvSpPr>
        <dsp:cNvPr id="0" name=""/>
        <dsp:cNvSpPr/>
      </dsp:nvSpPr>
      <dsp:spPr>
        <a:xfrm>
          <a:off x="328048" y="214010"/>
          <a:ext cx="5712764" cy="427857"/>
        </a:xfrm>
        <a:prstGeom prst="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612"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Introduction</a:t>
          </a:r>
        </a:p>
      </dsp:txBody>
      <dsp:txXfrm>
        <a:off x="328048" y="214010"/>
        <a:ext cx="5712764" cy="427857"/>
      </dsp:txXfrm>
    </dsp:sp>
    <dsp:sp modelId="{A037C598-45E9-44A7-A36B-23BE0187B915}">
      <dsp:nvSpPr>
        <dsp:cNvPr id="0" name=""/>
        <dsp:cNvSpPr/>
      </dsp:nvSpPr>
      <dsp:spPr>
        <a:xfrm>
          <a:off x="60637" y="160528"/>
          <a:ext cx="534822" cy="534822"/>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FBC1862-DCCA-4C93-AC77-67CAFEB00C8B}">
      <dsp:nvSpPr>
        <dsp:cNvPr id="0" name=""/>
        <dsp:cNvSpPr/>
      </dsp:nvSpPr>
      <dsp:spPr>
        <a:xfrm>
          <a:off x="679991" y="855715"/>
          <a:ext cx="5360822" cy="427857"/>
        </a:xfrm>
        <a:prstGeom prst="rect">
          <a:avLst/>
        </a:prstGeom>
        <a:solidFill>
          <a:schemeClr val="accent1">
            <a:shade val="80000"/>
            <a:hueOff val="54253"/>
            <a:satOff val="1035"/>
            <a:lumOff val="45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612"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Methodology and Inversion Algorithm</a:t>
          </a:r>
        </a:p>
      </dsp:txBody>
      <dsp:txXfrm>
        <a:off x="679991" y="855715"/>
        <a:ext cx="5360822" cy="427857"/>
      </dsp:txXfrm>
    </dsp:sp>
    <dsp:sp modelId="{6730558D-4F5C-4F9D-AAEF-9069822EFC16}">
      <dsp:nvSpPr>
        <dsp:cNvPr id="0" name=""/>
        <dsp:cNvSpPr/>
      </dsp:nvSpPr>
      <dsp:spPr>
        <a:xfrm>
          <a:off x="412579" y="802233"/>
          <a:ext cx="534822" cy="534822"/>
        </a:xfrm>
        <a:prstGeom prst="ellipse">
          <a:avLst/>
        </a:prstGeom>
        <a:solidFill>
          <a:schemeClr val="lt1">
            <a:hueOff val="0"/>
            <a:satOff val="0"/>
            <a:lumOff val="0"/>
            <a:alphaOff val="0"/>
          </a:schemeClr>
        </a:solidFill>
        <a:ln w="12700" cap="flat" cmpd="sng" algn="ctr">
          <a:solidFill>
            <a:schemeClr val="accent1">
              <a:shade val="80000"/>
              <a:hueOff val="54253"/>
              <a:satOff val="1035"/>
              <a:lumOff val="4571"/>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A4FEC3-21AA-497E-B68E-DB3745EB8435}">
      <dsp:nvSpPr>
        <dsp:cNvPr id="0" name=""/>
        <dsp:cNvSpPr/>
      </dsp:nvSpPr>
      <dsp:spPr>
        <a:xfrm>
          <a:off x="840925" y="1497421"/>
          <a:ext cx="5199888" cy="427857"/>
        </a:xfrm>
        <a:prstGeom prst="rect">
          <a:avLst/>
        </a:prstGeom>
        <a:solidFill>
          <a:schemeClr val="accent1">
            <a:shade val="80000"/>
            <a:hueOff val="108505"/>
            <a:satOff val="2070"/>
            <a:lumOff val="91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612"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Joint Inversion Results</a:t>
          </a:r>
        </a:p>
      </dsp:txBody>
      <dsp:txXfrm>
        <a:off x="840925" y="1497421"/>
        <a:ext cx="5199888" cy="427857"/>
      </dsp:txXfrm>
    </dsp:sp>
    <dsp:sp modelId="{19F1E558-6C2B-47E8-B197-3B7ED2792E58}">
      <dsp:nvSpPr>
        <dsp:cNvPr id="0" name=""/>
        <dsp:cNvSpPr/>
      </dsp:nvSpPr>
      <dsp:spPr>
        <a:xfrm>
          <a:off x="573514" y="1443939"/>
          <a:ext cx="534822" cy="534822"/>
        </a:xfrm>
        <a:prstGeom prst="ellipse">
          <a:avLst/>
        </a:prstGeom>
        <a:solidFill>
          <a:schemeClr val="lt1">
            <a:hueOff val="0"/>
            <a:satOff val="0"/>
            <a:lumOff val="0"/>
            <a:alphaOff val="0"/>
          </a:schemeClr>
        </a:solidFill>
        <a:ln w="12700" cap="flat" cmpd="sng" algn="ctr">
          <a:solidFill>
            <a:schemeClr val="accent1">
              <a:shade val="80000"/>
              <a:hueOff val="108505"/>
              <a:satOff val="2070"/>
              <a:lumOff val="9142"/>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9B0CDD-7458-46C0-841A-84E25F9C0C20}">
      <dsp:nvSpPr>
        <dsp:cNvPr id="0" name=""/>
        <dsp:cNvSpPr/>
      </dsp:nvSpPr>
      <dsp:spPr>
        <a:xfrm>
          <a:off x="840925" y="2138720"/>
          <a:ext cx="5199888" cy="427857"/>
        </a:xfrm>
        <a:prstGeom prst="rect">
          <a:avLst/>
        </a:prstGeom>
        <a:solidFill>
          <a:schemeClr val="accent1">
            <a:shade val="80000"/>
            <a:hueOff val="162758"/>
            <a:satOff val="3105"/>
            <a:lumOff val="1371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612"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Alternative Models</a:t>
          </a:r>
        </a:p>
      </dsp:txBody>
      <dsp:txXfrm>
        <a:off x="840925" y="2138720"/>
        <a:ext cx="5199888" cy="427857"/>
      </dsp:txXfrm>
    </dsp:sp>
    <dsp:sp modelId="{AE3A1F14-DA68-408E-B971-03BEF91767EF}">
      <dsp:nvSpPr>
        <dsp:cNvPr id="0" name=""/>
        <dsp:cNvSpPr/>
      </dsp:nvSpPr>
      <dsp:spPr>
        <a:xfrm>
          <a:off x="573514" y="2085238"/>
          <a:ext cx="534822" cy="534822"/>
        </a:xfrm>
        <a:prstGeom prst="ellipse">
          <a:avLst/>
        </a:prstGeom>
        <a:solidFill>
          <a:schemeClr val="lt1">
            <a:hueOff val="0"/>
            <a:satOff val="0"/>
            <a:lumOff val="0"/>
            <a:alphaOff val="0"/>
          </a:schemeClr>
        </a:solidFill>
        <a:ln w="12700" cap="flat" cmpd="sng" algn="ctr">
          <a:solidFill>
            <a:schemeClr val="accent1">
              <a:shade val="80000"/>
              <a:hueOff val="162758"/>
              <a:satOff val="3105"/>
              <a:lumOff val="13713"/>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ABB3EB-4F8F-4ED5-B1F9-080CAC9F1BD1}">
      <dsp:nvSpPr>
        <dsp:cNvPr id="0" name=""/>
        <dsp:cNvSpPr/>
      </dsp:nvSpPr>
      <dsp:spPr>
        <a:xfrm>
          <a:off x="679991" y="2780426"/>
          <a:ext cx="5360822" cy="427857"/>
        </a:xfrm>
        <a:prstGeom prst="rect">
          <a:avLst/>
        </a:prstGeom>
        <a:solidFill>
          <a:schemeClr val="accent1">
            <a:shade val="80000"/>
            <a:hueOff val="217011"/>
            <a:satOff val="4140"/>
            <a:lumOff val="182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612"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Membrane Polarization Modeling</a:t>
          </a:r>
        </a:p>
      </dsp:txBody>
      <dsp:txXfrm>
        <a:off x="679991" y="2780426"/>
        <a:ext cx="5360822" cy="427857"/>
      </dsp:txXfrm>
    </dsp:sp>
    <dsp:sp modelId="{CA9F6EAA-76B6-4F94-AB9B-4A68BFD2D6F9}">
      <dsp:nvSpPr>
        <dsp:cNvPr id="0" name=""/>
        <dsp:cNvSpPr/>
      </dsp:nvSpPr>
      <dsp:spPr>
        <a:xfrm>
          <a:off x="412579" y="2726944"/>
          <a:ext cx="534822" cy="534822"/>
        </a:xfrm>
        <a:prstGeom prst="ellipse">
          <a:avLst/>
        </a:prstGeom>
        <a:solidFill>
          <a:schemeClr val="lt1">
            <a:hueOff val="0"/>
            <a:satOff val="0"/>
            <a:lumOff val="0"/>
            <a:alphaOff val="0"/>
          </a:schemeClr>
        </a:solidFill>
        <a:ln w="12700" cap="flat" cmpd="sng" algn="ctr">
          <a:solidFill>
            <a:schemeClr val="accent1">
              <a:shade val="80000"/>
              <a:hueOff val="217011"/>
              <a:satOff val="4140"/>
              <a:lumOff val="18284"/>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ACE24D-0E3C-492F-97EC-7E4534CA33C6}">
      <dsp:nvSpPr>
        <dsp:cNvPr id="0" name=""/>
        <dsp:cNvSpPr/>
      </dsp:nvSpPr>
      <dsp:spPr>
        <a:xfrm>
          <a:off x="328048" y="3422131"/>
          <a:ext cx="5712764" cy="427857"/>
        </a:xfrm>
        <a:prstGeom prst="rect">
          <a:avLst/>
        </a:prstGeom>
        <a:solidFill>
          <a:schemeClr val="accent1">
            <a:shade val="80000"/>
            <a:hueOff val="271263"/>
            <a:satOff val="5175"/>
            <a:lumOff val="228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612"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Conclusion and Discussion</a:t>
          </a:r>
        </a:p>
      </dsp:txBody>
      <dsp:txXfrm>
        <a:off x="328048" y="3422131"/>
        <a:ext cx="5712764" cy="427857"/>
      </dsp:txXfrm>
    </dsp:sp>
    <dsp:sp modelId="{AC0566F2-84A5-4C85-9792-733C4A768448}">
      <dsp:nvSpPr>
        <dsp:cNvPr id="0" name=""/>
        <dsp:cNvSpPr/>
      </dsp:nvSpPr>
      <dsp:spPr>
        <a:xfrm>
          <a:off x="60637" y="3368649"/>
          <a:ext cx="534822" cy="534822"/>
        </a:xfrm>
        <a:prstGeom prst="ellipse">
          <a:avLst/>
        </a:prstGeom>
        <a:solidFill>
          <a:schemeClr val="lt1">
            <a:hueOff val="0"/>
            <a:satOff val="0"/>
            <a:lumOff val="0"/>
            <a:alphaOff val="0"/>
          </a:schemeClr>
        </a:solidFill>
        <a:ln w="12700" cap="flat" cmpd="sng" algn="ctr">
          <a:solidFill>
            <a:schemeClr val="accent1">
              <a:shade val="80000"/>
              <a:hueOff val="271263"/>
              <a:satOff val="5175"/>
              <a:lumOff val="22855"/>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6B3E08-8706-4ADD-AC34-7D00266DC2C2}" type="datetimeFigureOut">
              <a:rPr lang="en-US" smtClean="0"/>
              <a:t>6/9/26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51D22-B0E9-42F2-AAB8-2B2BD201B7C9}" type="slidenum">
              <a:rPr lang="en-US" smtClean="0"/>
              <a:t>‹#›</a:t>
            </a:fld>
            <a:endParaRPr lang="en-US"/>
          </a:p>
        </p:txBody>
      </p:sp>
    </p:spTree>
    <p:extLst>
      <p:ext uri="{BB962C8B-B14F-4D97-AF65-F5344CB8AC3E}">
        <p14:creationId xmlns:p14="http://schemas.microsoft.com/office/powerpoint/2010/main" val="455978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251D22-B0E9-42F2-AAB8-2B2BD201B7C9}" type="slidenum">
              <a:rPr lang="en-US" smtClean="0"/>
              <a:t>12</a:t>
            </a:fld>
            <a:endParaRPr lang="en-US"/>
          </a:p>
        </p:txBody>
      </p:sp>
    </p:spTree>
    <p:extLst>
      <p:ext uri="{BB962C8B-B14F-4D97-AF65-F5344CB8AC3E}">
        <p14:creationId xmlns:p14="http://schemas.microsoft.com/office/powerpoint/2010/main" val="24485419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774D434B-DAEE-4BF7-9AC2-3255F1C5EAFE}" type="slidenum">
              <a:rPr lang="en-US" smtClean="0"/>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74885" y="-28577"/>
            <a:ext cx="9455395" cy="10630942"/>
          </a:xfrm>
          <a:prstGeom prst="rect">
            <a:avLst/>
          </a:prstGeom>
        </p:spPr>
      </p:pic>
      <p:sp>
        <p:nvSpPr>
          <p:cNvPr id="8" name="Rectangle 3"/>
          <p:cNvSpPr/>
          <p:nvPr userDrawn="1"/>
        </p:nvSpPr>
        <p:spPr>
          <a:xfrm>
            <a:off x="-2620474" y="-28577"/>
            <a:ext cx="12356599" cy="6886577"/>
          </a:xfrm>
          <a:custGeom>
            <a:avLst/>
            <a:gdLst>
              <a:gd name="connsiteX0" fmla="*/ 0 w 5351929"/>
              <a:gd name="connsiteY0" fmla="*/ 0 h 6858000"/>
              <a:gd name="connsiteX1" fmla="*/ 5351929 w 5351929"/>
              <a:gd name="connsiteY1" fmla="*/ 0 h 6858000"/>
              <a:gd name="connsiteX2" fmla="*/ 5351929 w 5351929"/>
              <a:gd name="connsiteY2" fmla="*/ 6858000 h 6858000"/>
              <a:gd name="connsiteX3" fmla="*/ 0 w 5351929"/>
              <a:gd name="connsiteY3" fmla="*/ 6858000 h 6858000"/>
              <a:gd name="connsiteX4" fmla="*/ 0 w 5351929"/>
              <a:gd name="connsiteY4" fmla="*/ 0 h 6858000"/>
              <a:gd name="connsiteX0" fmla="*/ 0 w 5351929"/>
              <a:gd name="connsiteY0" fmla="*/ 0 h 6858000"/>
              <a:gd name="connsiteX1" fmla="*/ 5351929 w 5351929"/>
              <a:gd name="connsiteY1" fmla="*/ 0 h 6858000"/>
              <a:gd name="connsiteX2" fmla="*/ 2339788 w 5351929"/>
              <a:gd name="connsiteY2" fmla="*/ 6696635 h 6858000"/>
              <a:gd name="connsiteX3" fmla="*/ 0 w 5351929"/>
              <a:gd name="connsiteY3" fmla="*/ 6858000 h 6858000"/>
              <a:gd name="connsiteX4" fmla="*/ 0 w 5351929"/>
              <a:gd name="connsiteY4" fmla="*/ 0 h 6858000"/>
              <a:gd name="connsiteX0" fmla="*/ 0 w 5351929"/>
              <a:gd name="connsiteY0" fmla="*/ 0 h 6871447"/>
              <a:gd name="connsiteX1" fmla="*/ 5351929 w 5351929"/>
              <a:gd name="connsiteY1" fmla="*/ 0 h 6871447"/>
              <a:gd name="connsiteX2" fmla="*/ 3482788 w 5351929"/>
              <a:gd name="connsiteY2" fmla="*/ 6871447 h 6871447"/>
              <a:gd name="connsiteX3" fmla="*/ 0 w 5351929"/>
              <a:gd name="connsiteY3" fmla="*/ 6858000 h 6871447"/>
              <a:gd name="connsiteX4" fmla="*/ 0 w 5351929"/>
              <a:gd name="connsiteY4" fmla="*/ 0 h 6871447"/>
              <a:gd name="connsiteX0" fmla="*/ 0 w 5351929"/>
              <a:gd name="connsiteY0" fmla="*/ 0 h 6886575"/>
              <a:gd name="connsiteX1" fmla="*/ 5351929 w 5351929"/>
              <a:gd name="connsiteY1" fmla="*/ 0 h 6886575"/>
              <a:gd name="connsiteX2" fmla="*/ 3482788 w 5351929"/>
              <a:gd name="connsiteY2" fmla="*/ 6871447 h 6886575"/>
              <a:gd name="connsiteX3" fmla="*/ 0 w 5351929"/>
              <a:gd name="connsiteY3" fmla="*/ 6886575 h 6886575"/>
              <a:gd name="connsiteX4" fmla="*/ 0 w 5351929"/>
              <a:gd name="connsiteY4" fmla="*/ 0 h 6886575"/>
              <a:gd name="connsiteX0" fmla="*/ 0 w 5351929"/>
              <a:gd name="connsiteY0" fmla="*/ 0 h 6871447"/>
              <a:gd name="connsiteX1" fmla="*/ 5351929 w 5351929"/>
              <a:gd name="connsiteY1" fmla="*/ 0 h 6871447"/>
              <a:gd name="connsiteX2" fmla="*/ 3482788 w 5351929"/>
              <a:gd name="connsiteY2" fmla="*/ 6871447 h 6871447"/>
              <a:gd name="connsiteX3" fmla="*/ 0 w 5351929"/>
              <a:gd name="connsiteY3" fmla="*/ 6858000 h 6871447"/>
              <a:gd name="connsiteX4" fmla="*/ 0 w 5351929"/>
              <a:gd name="connsiteY4" fmla="*/ 0 h 6871447"/>
              <a:gd name="connsiteX0" fmla="*/ 1871662 w 7223591"/>
              <a:gd name="connsiteY0" fmla="*/ 0 h 6872288"/>
              <a:gd name="connsiteX1" fmla="*/ 7223591 w 7223591"/>
              <a:gd name="connsiteY1" fmla="*/ 0 h 6872288"/>
              <a:gd name="connsiteX2" fmla="*/ 5354450 w 7223591"/>
              <a:gd name="connsiteY2" fmla="*/ 6871447 h 6872288"/>
              <a:gd name="connsiteX3" fmla="*/ 0 w 7223591"/>
              <a:gd name="connsiteY3" fmla="*/ 6872288 h 6872288"/>
              <a:gd name="connsiteX4" fmla="*/ 1871662 w 7223591"/>
              <a:gd name="connsiteY4" fmla="*/ 0 h 6872288"/>
              <a:gd name="connsiteX0" fmla="*/ 0 w 8952379"/>
              <a:gd name="connsiteY0" fmla="*/ 0 h 6872288"/>
              <a:gd name="connsiteX1" fmla="*/ 8952379 w 8952379"/>
              <a:gd name="connsiteY1" fmla="*/ 0 h 6872288"/>
              <a:gd name="connsiteX2" fmla="*/ 7083238 w 8952379"/>
              <a:gd name="connsiteY2" fmla="*/ 6871447 h 6872288"/>
              <a:gd name="connsiteX3" fmla="*/ 1728788 w 8952379"/>
              <a:gd name="connsiteY3" fmla="*/ 6872288 h 6872288"/>
              <a:gd name="connsiteX4" fmla="*/ 0 w 8952379"/>
              <a:gd name="connsiteY4" fmla="*/ 0 h 6872288"/>
              <a:gd name="connsiteX0" fmla="*/ 0 w 8952379"/>
              <a:gd name="connsiteY0" fmla="*/ 0 h 6871447"/>
              <a:gd name="connsiteX1" fmla="*/ 8952379 w 8952379"/>
              <a:gd name="connsiteY1" fmla="*/ 0 h 6871447"/>
              <a:gd name="connsiteX2" fmla="*/ 7083238 w 8952379"/>
              <a:gd name="connsiteY2" fmla="*/ 6871447 h 6871447"/>
              <a:gd name="connsiteX3" fmla="*/ 28575 w 8952379"/>
              <a:gd name="connsiteY3" fmla="*/ 6843713 h 6871447"/>
              <a:gd name="connsiteX4" fmla="*/ 0 w 8952379"/>
              <a:gd name="connsiteY4" fmla="*/ 0 h 6871447"/>
              <a:gd name="connsiteX0" fmla="*/ 0 w 8952379"/>
              <a:gd name="connsiteY0" fmla="*/ 0 h 6872288"/>
              <a:gd name="connsiteX1" fmla="*/ 8952379 w 8952379"/>
              <a:gd name="connsiteY1" fmla="*/ 0 h 6872288"/>
              <a:gd name="connsiteX2" fmla="*/ 7083238 w 8952379"/>
              <a:gd name="connsiteY2" fmla="*/ 6871447 h 6872288"/>
              <a:gd name="connsiteX3" fmla="*/ 57150 w 8952379"/>
              <a:gd name="connsiteY3" fmla="*/ 6872288 h 6872288"/>
              <a:gd name="connsiteX4" fmla="*/ 0 w 8952379"/>
              <a:gd name="connsiteY4" fmla="*/ 0 h 6872288"/>
              <a:gd name="connsiteX0" fmla="*/ 1776936 w 8895229"/>
              <a:gd name="connsiteY0" fmla="*/ 14288 h 6872288"/>
              <a:gd name="connsiteX1" fmla="*/ 8895229 w 8895229"/>
              <a:gd name="connsiteY1" fmla="*/ 0 h 6872288"/>
              <a:gd name="connsiteX2" fmla="*/ 7026088 w 8895229"/>
              <a:gd name="connsiteY2" fmla="*/ 6871447 h 6872288"/>
              <a:gd name="connsiteX3" fmla="*/ 0 w 8895229"/>
              <a:gd name="connsiteY3" fmla="*/ 6872288 h 6872288"/>
              <a:gd name="connsiteX4" fmla="*/ 1776936 w 8895229"/>
              <a:gd name="connsiteY4" fmla="*/ 14288 h 6872288"/>
              <a:gd name="connsiteX0" fmla="*/ 1080268 w 8895229"/>
              <a:gd name="connsiteY0" fmla="*/ 14288 h 6872288"/>
              <a:gd name="connsiteX1" fmla="*/ 8895229 w 8895229"/>
              <a:gd name="connsiteY1" fmla="*/ 0 h 6872288"/>
              <a:gd name="connsiteX2" fmla="*/ 7026088 w 8895229"/>
              <a:gd name="connsiteY2" fmla="*/ 6871447 h 6872288"/>
              <a:gd name="connsiteX3" fmla="*/ 0 w 8895229"/>
              <a:gd name="connsiteY3" fmla="*/ 6872288 h 6872288"/>
              <a:gd name="connsiteX4" fmla="*/ 1080268 w 8895229"/>
              <a:gd name="connsiteY4" fmla="*/ 14288 h 6872288"/>
              <a:gd name="connsiteX0" fmla="*/ 0 w 7814961"/>
              <a:gd name="connsiteY0" fmla="*/ 14288 h 6872288"/>
              <a:gd name="connsiteX1" fmla="*/ 7814961 w 7814961"/>
              <a:gd name="connsiteY1" fmla="*/ 0 h 6872288"/>
              <a:gd name="connsiteX2" fmla="*/ 5945820 w 7814961"/>
              <a:gd name="connsiteY2" fmla="*/ 6871447 h 6872288"/>
              <a:gd name="connsiteX3" fmla="*/ 199327 w 7814961"/>
              <a:gd name="connsiteY3" fmla="*/ 6872288 h 6872288"/>
              <a:gd name="connsiteX4" fmla="*/ 0 w 7814961"/>
              <a:gd name="connsiteY4" fmla="*/ 14288 h 6872288"/>
              <a:gd name="connsiteX0" fmla="*/ 0 w 7814961"/>
              <a:gd name="connsiteY0" fmla="*/ 14288 h 6886576"/>
              <a:gd name="connsiteX1" fmla="*/ 7814961 w 7814961"/>
              <a:gd name="connsiteY1" fmla="*/ 0 h 6886576"/>
              <a:gd name="connsiteX2" fmla="*/ 5945820 w 7814961"/>
              <a:gd name="connsiteY2" fmla="*/ 6871447 h 6886576"/>
              <a:gd name="connsiteX3" fmla="*/ 278 w 7814961"/>
              <a:gd name="connsiteY3" fmla="*/ 6886576 h 6886576"/>
              <a:gd name="connsiteX4" fmla="*/ 0 w 7814961"/>
              <a:gd name="connsiteY4" fmla="*/ 14288 h 6886576"/>
              <a:gd name="connsiteX0" fmla="*/ 0 w 9222185"/>
              <a:gd name="connsiteY0" fmla="*/ 14288 h 6886576"/>
              <a:gd name="connsiteX1" fmla="*/ 9222185 w 9222185"/>
              <a:gd name="connsiteY1" fmla="*/ 0 h 6886576"/>
              <a:gd name="connsiteX2" fmla="*/ 7353044 w 9222185"/>
              <a:gd name="connsiteY2" fmla="*/ 6871447 h 6886576"/>
              <a:gd name="connsiteX3" fmla="*/ 1407502 w 9222185"/>
              <a:gd name="connsiteY3" fmla="*/ 6886576 h 6886576"/>
              <a:gd name="connsiteX4" fmla="*/ 0 w 9222185"/>
              <a:gd name="connsiteY4" fmla="*/ 14288 h 6886576"/>
              <a:gd name="connsiteX0" fmla="*/ 0 w 9222185"/>
              <a:gd name="connsiteY0" fmla="*/ 14288 h 6871447"/>
              <a:gd name="connsiteX1" fmla="*/ 9222185 w 9222185"/>
              <a:gd name="connsiteY1" fmla="*/ 0 h 6871447"/>
              <a:gd name="connsiteX2" fmla="*/ 7353044 w 9222185"/>
              <a:gd name="connsiteY2" fmla="*/ 6871447 h 6871447"/>
              <a:gd name="connsiteX3" fmla="*/ 10860 w 9222185"/>
              <a:gd name="connsiteY3" fmla="*/ 6865311 h 6871447"/>
              <a:gd name="connsiteX4" fmla="*/ 0 w 9222185"/>
              <a:gd name="connsiteY4" fmla="*/ 14288 h 6871447"/>
              <a:gd name="connsiteX0" fmla="*/ 0 w 9222185"/>
              <a:gd name="connsiteY0" fmla="*/ 14288 h 6886576"/>
              <a:gd name="connsiteX1" fmla="*/ 9222185 w 9222185"/>
              <a:gd name="connsiteY1" fmla="*/ 0 h 6886576"/>
              <a:gd name="connsiteX2" fmla="*/ 7353044 w 9222185"/>
              <a:gd name="connsiteY2" fmla="*/ 6871447 h 6886576"/>
              <a:gd name="connsiteX3" fmla="*/ 280 w 9222185"/>
              <a:gd name="connsiteY3" fmla="*/ 6886576 h 6886576"/>
              <a:gd name="connsiteX4" fmla="*/ 0 w 9222185"/>
              <a:gd name="connsiteY4" fmla="*/ 14288 h 6886576"/>
              <a:gd name="connsiteX0" fmla="*/ 401786 w 9221906"/>
              <a:gd name="connsiteY0" fmla="*/ 322633 h 6886576"/>
              <a:gd name="connsiteX1" fmla="*/ 9221906 w 9221906"/>
              <a:gd name="connsiteY1" fmla="*/ 0 h 6886576"/>
              <a:gd name="connsiteX2" fmla="*/ 7352765 w 9221906"/>
              <a:gd name="connsiteY2" fmla="*/ 6871447 h 6886576"/>
              <a:gd name="connsiteX3" fmla="*/ 1 w 9221906"/>
              <a:gd name="connsiteY3" fmla="*/ 6886576 h 6886576"/>
              <a:gd name="connsiteX4" fmla="*/ 401786 w 9221906"/>
              <a:gd name="connsiteY4" fmla="*/ 322633 h 6886576"/>
              <a:gd name="connsiteX0" fmla="*/ 0 w 9222184"/>
              <a:gd name="connsiteY0" fmla="*/ 3656 h 6886576"/>
              <a:gd name="connsiteX1" fmla="*/ 9222184 w 9222184"/>
              <a:gd name="connsiteY1" fmla="*/ 0 h 6886576"/>
              <a:gd name="connsiteX2" fmla="*/ 7353043 w 9222184"/>
              <a:gd name="connsiteY2" fmla="*/ 6871447 h 6886576"/>
              <a:gd name="connsiteX3" fmla="*/ 279 w 9222184"/>
              <a:gd name="connsiteY3" fmla="*/ 6886576 h 6886576"/>
              <a:gd name="connsiteX4" fmla="*/ 0 w 9222184"/>
              <a:gd name="connsiteY4" fmla="*/ 3656 h 6886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2184" h="6886576">
                <a:moveTo>
                  <a:pt x="0" y="3656"/>
                </a:moveTo>
                <a:lnTo>
                  <a:pt x="9222184" y="0"/>
                </a:lnTo>
                <a:lnTo>
                  <a:pt x="7353043" y="6871447"/>
                </a:lnTo>
                <a:lnTo>
                  <a:pt x="279" y="6886576"/>
                </a:lnTo>
                <a:cubicBezTo>
                  <a:pt x="186" y="4595813"/>
                  <a:pt x="93" y="2294419"/>
                  <a:pt x="0" y="365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1"/>
              </a:solidFill>
            </a:endParaRPr>
          </a:p>
        </p:txBody>
      </p:sp>
      <p:sp>
        <p:nvSpPr>
          <p:cNvPr id="9" name="Parallelogram 8"/>
          <p:cNvSpPr/>
          <p:nvPr userDrawn="1"/>
        </p:nvSpPr>
        <p:spPr>
          <a:xfrm>
            <a:off x="5759588" y="-573598"/>
            <a:ext cx="1338145" cy="1817649"/>
          </a:xfrm>
          <a:prstGeom prst="parallelogram">
            <a:avLst>
              <a:gd name="adj" fmla="val 48770"/>
            </a:avLst>
          </a:prstGeom>
          <a:solidFill>
            <a:srgbClr val="04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 </a:t>
            </a:r>
          </a:p>
        </p:txBody>
      </p:sp>
      <p:sp>
        <p:nvSpPr>
          <p:cNvPr id="10" name="Parallelogram 28"/>
          <p:cNvSpPr/>
          <p:nvPr userDrawn="1"/>
        </p:nvSpPr>
        <p:spPr>
          <a:xfrm>
            <a:off x="5608042" y="-237093"/>
            <a:ext cx="456164" cy="957618"/>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929BA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 </a:t>
            </a:r>
          </a:p>
        </p:txBody>
      </p:sp>
      <p:sp>
        <p:nvSpPr>
          <p:cNvPr id="11" name="Parallelogram 28"/>
          <p:cNvSpPr/>
          <p:nvPr userDrawn="1"/>
        </p:nvSpPr>
        <p:spPr>
          <a:xfrm>
            <a:off x="838900" y="-573598"/>
            <a:ext cx="865841" cy="1817649"/>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E02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 </a:t>
            </a: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74885" y="5441951"/>
            <a:ext cx="2438400" cy="1828800"/>
          </a:xfrm>
          <a:prstGeom prst="rect">
            <a:avLst/>
          </a:prstGeom>
        </p:spPr>
      </p:pic>
      <p:sp>
        <p:nvSpPr>
          <p:cNvPr id="13" name="Parallelogram 28"/>
          <p:cNvSpPr/>
          <p:nvPr userDrawn="1"/>
        </p:nvSpPr>
        <p:spPr>
          <a:xfrm>
            <a:off x="2023709" y="6060104"/>
            <a:ext cx="456164" cy="957618"/>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929BA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 </a:t>
            </a:r>
          </a:p>
        </p:txBody>
      </p:sp>
      <p:sp>
        <p:nvSpPr>
          <p:cNvPr id="17" name="Title 1"/>
          <p:cNvSpPr>
            <a:spLocks noGrp="1"/>
          </p:cNvSpPr>
          <p:nvPr>
            <p:ph type="title"/>
          </p:nvPr>
        </p:nvSpPr>
        <p:spPr>
          <a:xfrm>
            <a:off x="-155725" y="1817763"/>
            <a:ext cx="6597605" cy="1325563"/>
          </a:xfrm>
          <a:prstGeom prst="rect">
            <a:avLst/>
          </a:prstGeom>
        </p:spPr>
        <p:txBody>
          <a:bodyPr/>
          <a:lstStyle>
            <a:lvl1pPr>
              <a:defRPr sz="3200">
                <a:solidFill>
                  <a:srgbClr val="042D56"/>
                </a:solidFill>
              </a:defRPr>
            </a:lvl1pPr>
          </a:lstStyle>
          <a:p>
            <a:r>
              <a:rPr lang="en-US" dirty="0"/>
              <a:t>Click to edit Master title style</a:t>
            </a:r>
          </a:p>
        </p:txBody>
      </p:sp>
      <p:sp>
        <p:nvSpPr>
          <p:cNvPr id="18" name="Title 1"/>
          <p:cNvSpPr txBox="1">
            <a:spLocks/>
          </p:cNvSpPr>
          <p:nvPr userDrawn="1"/>
        </p:nvSpPr>
        <p:spPr>
          <a:xfrm>
            <a:off x="3213212" y="4998997"/>
            <a:ext cx="3884520" cy="1325563"/>
          </a:xfrm>
          <a:prstGeom prst="rect">
            <a:avLst/>
          </a:prstGeom>
        </p:spPr>
        <p:txBody>
          <a:bodyPr/>
          <a:lstStyle>
            <a:lvl1pPr algn="l" defTabSz="914400" rtl="0" eaLnBrk="1" latinLnBrk="0" hangingPunct="1">
              <a:lnSpc>
                <a:spcPct val="90000"/>
              </a:lnSpc>
              <a:spcBef>
                <a:spcPct val="0"/>
              </a:spcBef>
              <a:buNone/>
              <a:defRPr sz="3200" kern="1200">
                <a:solidFill>
                  <a:srgbClr val="042D56"/>
                </a:solidFill>
                <a:latin typeface="+mj-lt"/>
                <a:ea typeface="+mj-ea"/>
                <a:cs typeface="+mj-cs"/>
              </a:defRPr>
            </a:lvl1pPr>
          </a:lstStyle>
          <a:p>
            <a:pPr algn="ctr"/>
            <a:endParaRPr lang="en-US" sz="2000" dirty="0"/>
          </a:p>
        </p:txBody>
      </p:sp>
      <p:sp>
        <p:nvSpPr>
          <p:cNvPr id="19" name="Title 1"/>
          <p:cNvSpPr txBox="1">
            <a:spLocks/>
          </p:cNvSpPr>
          <p:nvPr userDrawn="1"/>
        </p:nvSpPr>
        <p:spPr>
          <a:xfrm>
            <a:off x="3433151" y="4240563"/>
            <a:ext cx="3512933" cy="1325563"/>
          </a:xfrm>
          <a:prstGeom prst="rect">
            <a:avLst/>
          </a:prstGeom>
        </p:spPr>
        <p:txBody>
          <a:bodyPr/>
          <a:lstStyle>
            <a:lvl1pPr algn="l" defTabSz="914400" rtl="0" eaLnBrk="1" latinLnBrk="0" hangingPunct="1">
              <a:lnSpc>
                <a:spcPct val="90000"/>
              </a:lnSpc>
              <a:spcBef>
                <a:spcPct val="0"/>
              </a:spcBef>
              <a:buNone/>
              <a:defRPr sz="3200" kern="1200">
                <a:solidFill>
                  <a:srgbClr val="042D56"/>
                </a:solidFill>
                <a:latin typeface="+mj-lt"/>
                <a:ea typeface="+mj-ea"/>
                <a:cs typeface="+mj-cs"/>
              </a:defRPr>
            </a:lvl1pPr>
          </a:lstStyle>
          <a:p>
            <a:endParaRPr lang="en-US" sz="2000" dirty="0"/>
          </a:p>
        </p:txBody>
      </p:sp>
      <p:sp>
        <p:nvSpPr>
          <p:cNvPr id="24" name="Content Placeholder 23"/>
          <p:cNvSpPr>
            <a:spLocks noGrp="1"/>
          </p:cNvSpPr>
          <p:nvPr>
            <p:ph sz="quarter" idx="13"/>
          </p:nvPr>
        </p:nvSpPr>
        <p:spPr>
          <a:xfrm>
            <a:off x="3433234" y="4240214"/>
            <a:ext cx="3323167" cy="758825"/>
          </a:xfrm>
        </p:spPr>
        <p:txBody>
          <a:bodyPr>
            <a:noAutofit/>
          </a:bodyPr>
          <a:lstStyle>
            <a:lvl1pPr marL="0" indent="0">
              <a:buNone/>
              <a:defRPr sz="2000">
                <a:solidFill>
                  <a:srgbClr val="042D56"/>
                </a:solidFill>
              </a:defRPr>
            </a:lvl1pPr>
            <a:lvl2pPr>
              <a:defRPr sz="2400"/>
            </a:lvl2pPr>
            <a:lvl3pPr>
              <a:defRPr sz="2000"/>
            </a:lvl3pPr>
            <a:lvl4pPr>
              <a:defRPr sz="1800"/>
            </a:lvl4pPr>
            <a:lvl5pPr>
              <a:defRPr sz="1800"/>
            </a:lvl5pPr>
          </a:lstStyle>
          <a:p>
            <a:pPr lvl="0"/>
            <a:r>
              <a:rPr lang="en-US" dirty="0"/>
              <a:t>Edit Master </a:t>
            </a:r>
          </a:p>
        </p:txBody>
      </p:sp>
    </p:spTree>
    <p:extLst>
      <p:ext uri="{BB962C8B-B14F-4D97-AF65-F5344CB8AC3E}">
        <p14:creationId xmlns:p14="http://schemas.microsoft.com/office/powerpoint/2010/main" val="167853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p:cNvSpPr/>
          <p:nvPr userDrawn="1"/>
        </p:nvSpPr>
        <p:spPr>
          <a:xfrm>
            <a:off x="-192504" y="299258"/>
            <a:ext cx="8279491" cy="615142"/>
          </a:xfrm>
          <a:custGeom>
            <a:avLst/>
            <a:gdLst>
              <a:gd name="connsiteX0" fmla="*/ 0 w 7772617"/>
              <a:gd name="connsiteY0" fmla="*/ 0 h 495647"/>
              <a:gd name="connsiteX1" fmla="*/ 7772617 w 7772617"/>
              <a:gd name="connsiteY1" fmla="*/ 0 h 495647"/>
              <a:gd name="connsiteX2" fmla="*/ 7772617 w 7772617"/>
              <a:gd name="connsiteY2" fmla="*/ 495647 h 495647"/>
              <a:gd name="connsiteX3" fmla="*/ 0 w 7772617"/>
              <a:gd name="connsiteY3" fmla="*/ 495647 h 495647"/>
              <a:gd name="connsiteX4" fmla="*/ 0 w 7772617"/>
              <a:gd name="connsiteY4" fmla="*/ 0 h 495647"/>
              <a:gd name="connsiteX0" fmla="*/ 0 w 7912660"/>
              <a:gd name="connsiteY0" fmla="*/ 0 h 495647"/>
              <a:gd name="connsiteX1" fmla="*/ 7912660 w 7912660"/>
              <a:gd name="connsiteY1" fmla="*/ 0 h 495647"/>
              <a:gd name="connsiteX2" fmla="*/ 7772617 w 7912660"/>
              <a:gd name="connsiteY2" fmla="*/ 495647 h 495647"/>
              <a:gd name="connsiteX3" fmla="*/ 0 w 7912660"/>
              <a:gd name="connsiteY3" fmla="*/ 495647 h 495647"/>
              <a:gd name="connsiteX4" fmla="*/ 0 w 7912660"/>
              <a:gd name="connsiteY4" fmla="*/ 0 h 495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12660" h="495647">
                <a:moveTo>
                  <a:pt x="0" y="0"/>
                </a:moveTo>
                <a:lnTo>
                  <a:pt x="7912660" y="0"/>
                </a:lnTo>
                <a:lnTo>
                  <a:pt x="7772617" y="495647"/>
                </a:lnTo>
                <a:lnTo>
                  <a:pt x="0" y="495647"/>
                </a:lnTo>
                <a:lnTo>
                  <a:pt x="0" y="0"/>
                </a:lnTo>
                <a:close/>
              </a:path>
            </a:pathLst>
          </a:custGeom>
          <a:solidFill>
            <a:srgbClr val="0F4B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Parallelogram 28"/>
          <p:cNvSpPr/>
          <p:nvPr userDrawn="1"/>
        </p:nvSpPr>
        <p:spPr>
          <a:xfrm>
            <a:off x="775993" y="-569855"/>
            <a:ext cx="865841" cy="1817649"/>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E02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 </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70659" y="6179245"/>
            <a:ext cx="1619396" cy="1214547"/>
          </a:xfrm>
          <a:prstGeom prst="rect">
            <a:avLst/>
          </a:prstGeom>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29995" y="6331064"/>
            <a:ext cx="1751415" cy="455455"/>
          </a:xfrm>
          <a:prstGeom prst="rect">
            <a:avLst/>
          </a:prstGeom>
        </p:spPr>
      </p:pic>
      <p:sp>
        <p:nvSpPr>
          <p:cNvPr id="16" name="Title 15"/>
          <p:cNvSpPr>
            <a:spLocks noGrp="1"/>
          </p:cNvSpPr>
          <p:nvPr>
            <p:ph type="title"/>
          </p:nvPr>
        </p:nvSpPr>
        <p:spPr>
          <a:xfrm>
            <a:off x="1359021" y="-10234"/>
            <a:ext cx="10515600" cy="1325563"/>
          </a:xfrm>
        </p:spPr>
        <p:txBody>
          <a:bodyPr>
            <a:normAutofit/>
          </a:bodyPr>
          <a:lstStyle>
            <a:lvl1pPr>
              <a:defRPr sz="3600">
                <a:solidFill>
                  <a:schemeClr val="bg1"/>
                </a:solidFill>
              </a:defRPr>
            </a:lvl1pPr>
          </a:lstStyle>
          <a:p>
            <a:r>
              <a:rPr lang="en-US" dirty="0"/>
              <a:t>Click to edit Master title style</a:t>
            </a:r>
          </a:p>
        </p:txBody>
      </p:sp>
      <p:sp>
        <p:nvSpPr>
          <p:cNvPr id="20" name="Date Placeholder 19"/>
          <p:cNvSpPr>
            <a:spLocks noGrp="1"/>
          </p:cNvSpPr>
          <p:nvPr>
            <p:ph type="dt" sz="half" idx="10"/>
          </p:nvPr>
        </p:nvSpPr>
        <p:spPr/>
        <p:txBody>
          <a:bodyPr/>
          <a:lstStyle/>
          <a:p>
            <a:fld id="{90421F58-CFE8-4612-84E5-67E5B68049B8}" type="datetime1">
              <a:rPr lang="en-US" smtClean="0"/>
              <a:t>6/9/26</a:t>
            </a:fld>
            <a:endParaRPr lang="en-US"/>
          </a:p>
        </p:txBody>
      </p:sp>
      <p:sp>
        <p:nvSpPr>
          <p:cNvPr id="21" name="Footer Placeholder 20"/>
          <p:cNvSpPr>
            <a:spLocks noGrp="1"/>
          </p:cNvSpPr>
          <p:nvPr>
            <p:ph type="ftr" sz="quarter" idx="11"/>
          </p:nvPr>
        </p:nvSpPr>
        <p:spPr/>
        <p:txBody>
          <a:bodyPr/>
          <a:lstStyle/>
          <a:p>
            <a:r>
              <a:rPr lang="en-US"/>
              <a:t>SEG 2018</a:t>
            </a:r>
          </a:p>
        </p:txBody>
      </p:sp>
      <p:sp>
        <p:nvSpPr>
          <p:cNvPr id="22" name="Slide Number Placeholder 21"/>
          <p:cNvSpPr>
            <a:spLocks noGrp="1"/>
          </p:cNvSpPr>
          <p:nvPr>
            <p:ph type="sldNum" sz="quarter" idx="12"/>
          </p:nvPr>
        </p:nvSpPr>
        <p:spPr>
          <a:xfrm>
            <a:off x="-1967208" y="469985"/>
            <a:ext cx="2743200" cy="365125"/>
          </a:xfrm>
        </p:spPr>
        <p:txBody>
          <a:bodyPr/>
          <a:lstStyle>
            <a:lvl1pPr>
              <a:defRPr sz="2000">
                <a:solidFill>
                  <a:schemeClr val="bg1"/>
                </a:solidFill>
              </a:defRPr>
            </a:lvl1pPr>
          </a:lstStyle>
          <a:p>
            <a:fld id="{48265A45-E6A4-4653-9C66-6A1A04113506}" type="slidenum">
              <a:rPr lang="en-US" smtClean="0"/>
              <a:pPr/>
              <a:t>‹#›</a:t>
            </a:fld>
            <a:endParaRPr lang="en-US"/>
          </a:p>
        </p:txBody>
      </p:sp>
    </p:spTree>
    <p:extLst>
      <p:ext uri="{BB962C8B-B14F-4D97-AF65-F5344CB8AC3E}">
        <p14:creationId xmlns:p14="http://schemas.microsoft.com/office/powerpoint/2010/main" val="3256012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o 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2"/>
            <a:ext cx="2743200" cy="365125"/>
          </a:xfrm>
          <a:prstGeom prst="rect">
            <a:avLst/>
          </a:prstGeom>
        </p:spPr>
        <p:txBody>
          <a:bodyPr/>
          <a:lstStyle/>
          <a:p>
            <a:fld id="{0F38CEC7-DC23-4944-9BE9-5C6609C5C8F9}" type="datetime1">
              <a:rPr lang="en-US" smtClean="0"/>
              <a:t>6/9/26</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r>
              <a:rPr lang="en-US"/>
              <a:t>SEG 2018</a:t>
            </a:r>
            <a:endParaRPr lang="en-US" dirty="0"/>
          </a:p>
        </p:txBody>
      </p:sp>
      <p:sp>
        <p:nvSpPr>
          <p:cNvPr id="10" name="Slide Number Placeholder 4"/>
          <p:cNvSpPr>
            <a:spLocks noGrp="1"/>
          </p:cNvSpPr>
          <p:nvPr>
            <p:ph type="sldNum" sz="quarter" idx="12"/>
          </p:nvPr>
        </p:nvSpPr>
        <p:spPr>
          <a:xfrm>
            <a:off x="120821" y="469987"/>
            <a:ext cx="564555" cy="365125"/>
          </a:xfrm>
          <a:prstGeom prst="rect">
            <a:avLst/>
          </a:prstGeom>
        </p:spPr>
        <p:txBody>
          <a:bodyPr/>
          <a:lstStyle>
            <a:lvl1pPr>
              <a:defRPr sz="1600">
                <a:solidFill>
                  <a:schemeClr val="tx1"/>
                </a:solidFill>
                <a:latin typeface="+mn-lt"/>
              </a:defRPr>
            </a:lvl1pPr>
          </a:lstStyle>
          <a:p>
            <a:fld id="{774D434B-DAEE-4BF7-9AC2-3255F1C5EAFE}"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70659" y="6179245"/>
            <a:ext cx="1619396" cy="1214547"/>
          </a:xfrm>
          <a:prstGeom prst="rect">
            <a:avLst/>
          </a:prstGeom>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29995" y="6331064"/>
            <a:ext cx="1751415" cy="455455"/>
          </a:xfrm>
          <a:prstGeom prst="rect">
            <a:avLst/>
          </a:prstGeom>
        </p:spPr>
      </p:pic>
    </p:spTree>
    <p:extLst>
      <p:ext uri="{BB962C8B-B14F-4D97-AF65-F5344CB8AC3E}">
        <p14:creationId xmlns:p14="http://schemas.microsoft.com/office/powerpoint/2010/main" val="613618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2494" y="-1418519"/>
            <a:ext cx="12825482" cy="8552030"/>
          </a:xfrm>
          <a:prstGeom prst="rect">
            <a:avLst/>
          </a:prstGeom>
        </p:spPr>
      </p:pic>
      <p:sp>
        <p:nvSpPr>
          <p:cNvPr id="3" name="TextBox 2"/>
          <p:cNvSpPr txBox="1"/>
          <p:nvPr userDrawn="1"/>
        </p:nvSpPr>
        <p:spPr>
          <a:xfrm>
            <a:off x="106330" y="6474671"/>
            <a:ext cx="3159839" cy="246221"/>
          </a:xfrm>
          <a:prstGeom prst="rect">
            <a:avLst/>
          </a:prstGeom>
          <a:noFill/>
        </p:spPr>
        <p:txBody>
          <a:bodyPr wrap="none" rtlCol="0">
            <a:spAutoFit/>
          </a:bodyPr>
          <a:lstStyle/>
          <a:p>
            <a:r>
              <a:rPr lang="en-US" sz="1000" dirty="0">
                <a:solidFill>
                  <a:srgbClr val="FFFFFF"/>
                </a:solidFill>
                <a:latin typeface="Gotham Book" charset="0"/>
                <a:ea typeface="Gotham Book" charset="0"/>
                <a:cs typeface="Gotham Book" charset="0"/>
              </a:rPr>
              <a:t>Icons designed by </a:t>
            </a:r>
            <a:r>
              <a:rPr lang="en-US" sz="1000" dirty="0" err="1">
                <a:solidFill>
                  <a:srgbClr val="FFFFFF"/>
                </a:solidFill>
                <a:latin typeface="Gotham Book" charset="0"/>
                <a:ea typeface="Gotham Book" charset="0"/>
                <a:cs typeface="Gotham Book" charset="0"/>
              </a:rPr>
              <a:t>Madebyoliver</a:t>
            </a:r>
            <a:r>
              <a:rPr lang="en-US" sz="1000" dirty="0">
                <a:solidFill>
                  <a:srgbClr val="FFFFFF"/>
                </a:solidFill>
                <a:latin typeface="Gotham Book" charset="0"/>
                <a:ea typeface="Gotham Book" charset="0"/>
                <a:cs typeface="Gotham Book" charset="0"/>
              </a:rPr>
              <a:t> from </a:t>
            </a:r>
            <a:r>
              <a:rPr lang="en-US" sz="1000" dirty="0" err="1">
                <a:solidFill>
                  <a:srgbClr val="FFFFFF"/>
                </a:solidFill>
                <a:latin typeface="Gotham Book" charset="0"/>
                <a:ea typeface="Gotham Book" charset="0"/>
                <a:cs typeface="Gotham Book" charset="0"/>
              </a:rPr>
              <a:t>Flaticon</a:t>
            </a:r>
            <a:r>
              <a:rPr lang="en-US" sz="1000" dirty="0">
                <a:solidFill>
                  <a:srgbClr val="FFFFFF"/>
                </a:solidFill>
                <a:latin typeface="Gotham Book" charset="0"/>
                <a:ea typeface="Gotham Book" charset="0"/>
                <a:cs typeface="Gotham Book" charset="0"/>
              </a:rPr>
              <a:t>.</a:t>
            </a:r>
          </a:p>
        </p:txBody>
      </p:sp>
      <p:sp>
        <p:nvSpPr>
          <p:cNvPr id="4" name="Parallelogram 28"/>
          <p:cNvSpPr/>
          <p:nvPr userDrawn="1"/>
        </p:nvSpPr>
        <p:spPr>
          <a:xfrm>
            <a:off x="5514975" y="-354"/>
            <a:ext cx="530985" cy="1486254"/>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E02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 name="Parallelogram 28"/>
          <p:cNvSpPr/>
          <p:nvPr userDrawn="1"/>
        </p:nvSpPr>
        <p:spPr>
          <a:xfrm>
            <a:off x="4953002" y="537810"/>
            <a:ext cx="530985" cy="1486254"/>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E02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6" name="Parallelogram 28"/>
          <p:cNvSpPr/>
          <p:nvPr userDrawn="1"/>
        </p:nvSpPr>
        <p:spPr>
          <a:xfrm>
            <a:off x="2233614" y="3385123"/>
            <a:ext cx="530985" cy="1486254"/>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E02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7" name="Parallelogram 28"/>
          <p:cNvSpPr/>
          <p:nvPr userDrawn="1"/>
        </p:nvSpPr>
        <p:spPr>
          <a:xfrm>
            <a:off x="7743827" y="5111527"/>
            <a:ext cx="530985" cy="1486254"/>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E02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 name="Parallelogram 28"/>
          <p:cNvSpPr/>
          <p:nvPr userDrawn="1"/>
        </p:nvSpPr>
        <p:spPr>
          <a:xfrm>
            <a:off x="8886827" y="4871377"/>
            <a:ext cx="530985" cy="1486254"/>
          </a:xfrm>
          <a:custGeom>
            <a:avLst/>
            <a:gdLst>
              <a:gd name="connsiteX0" fmla="*/ 0 w 1003609"/>
              <a:gd name="connsiteY0" fmla="*/ 1817649 h 1817649"/>
              <a:gd name="connsiteX1" fmla="*/ 489460 w 1003609"/>
              <a:gd name="connsiteY1" fmla="*/ 0 h 1817649"/>
              <a:gd name="connsiteX2" fmla="*/ 1003609 w 1003609"/>
              <a:gd name="connsiteY2" fmla="*/ 0 h 1817649"/>
              <a:gd name="connsiteX3" fmla="*/ 514149 w 1003609"/>
              <a:gd name="connsiteY3" fmla="*/ 1817649 h 1817649"/>
              <a:gd name="connsiteX4" fmla="*/ 0 w 1003609"/>
              <a:gd name="connsiteY4" fmla="*/ 1817649 h 1817649"/>
              <a:gd name="connsiteX0" fmla="*/ 0 w 1003609"/>
              <a:gd name="connsiteY0" fmla="*/ 1817649 h 1817649"/>
              <a:gd name="connsiteX1" fmla="*/ 835450 w 1003609"/>
              <a:gd name="connsiteY1" fmla="*/ 8238 h 1817649"/>
              <a:gd name="connsiteX2" fmla="*/ 1003609 w 1003609"/>
              <a:gd name="connsiteY2" fmla="*/ 0 h 1817649"/>
              <a:gd name="connsiteX3" fmla="*/ 514149 w 1003609"/>
              <a:gd name="connsiteY3" fmla="*/ 1817649 h 1817649"/>
              <a:gd name="connsiteX4" fmla="*/ 0 w 1003609"/>
              <a:gd name="connsiteY4" fmla="*/ 1817649 h 1817649"/>
              <a:gd name="connsiteX0" fmla="*/ 0 w 649381"/>
              <a:gd name="connsiteY0" fmla="*/ 1809411 h 1817649"/>
              <a:gd name="connsiteX1" fmla="*/ 481222 w 649381"/>
              <a:gd name="connsiteY1" fmla="*/ 8238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12324 h 1820562"/>
              <a:gd name="connsiteX1" fmla="*/ 481222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12324 h 1820562"/>
              <a:gd name="connsiteX1" fmla="*/ 453344 w 649381"/>
              <a:gd name="connsiteY1" fmla="*/ 0 h 1820562"/>
              <a:gd name="connsiteX2" fmla="*/ 649381 w 649381"/>
              <a:gd name="connsiteY2" fmla="*/ 2913 h 1820562"/>
              <a:gd name="connsiteX3" fmla="*/ 159921 w 649381"/>
              <a:gd name="connsiteY3" fmla="*/ 1820562 h 1820562"/>
              <a:gd name="connsiteX4" fmla="*/ 0 w 649381"/>
              <a:gd name="connsiteY4" fmla="*/ 1812324 h 1820562"/>
              <a:gd name="connsiteX0" fmla="*/ 0 w 649381"/>
              <a:gd name="connsiteY0" fmla="*/ 1809411 h 1817649"/>
              <a:gd name="connsiteX1" fmla="*/ 548129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8239 h 1817649"/>
              <a:gd name="connsiteX2" fmla="*/ 649381 w 649381"/>
              <a:gd name="connsiteY2" fmla="*/ 0 h 1817649"/>
              <a:gd name="connsiteX3" fmla="*/ 159921 w 649381"/>
              <a:gd name="connsiteY3" fmla="*/ 1817649 h 1817649"/>
              <a:gd name="connsiteX4" fmla="*/ 0 w 649381"/>
              <a:gd name="connsiteY4" fmla="*/ 1809411 h 1817649"/>
              <a:gd name="connsiteX0" fmla="*/ 0 w 649381"/>
              <a:gd name="connsiteY0" fmla="*/ 1809411 h 1817649"/>
              <a:gd name="connsiteX1" fmla="*/ 486797 w 649381"/>
              <a:gd name="connsiteY1" fmla="*/ 2663 h 1817649"/>
              <a:gd name="connsiteX2" fmla="*/ 649381 w 649381"/>
              <a:gd name="connsiteY2" fmla="*/ 0 h 1817649"/>
              <a:gd name="connsiteX3" fmla="*/ 159921 w 649381"/>
              <a:gd name="connsiteY3" fmla="*/ 1817649 h 1817649"/>
              <a:gd name="connsiteX4" fmla="*/ 0 w 649381"/>
              <a:gd name="connsiteY4" fmla="*/ 1809411 h 181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381" h="1817649">
                <a:moveTo>
                  <a:pt x="0" y="1809411"/>
                </a:moveTo>
                <a:lnTo>
                  <a:pt x="486797" y="2663"/>
                </a:lnTo>
                <a:lnTo>
                  <a:pt x="649381" y="0"/>
                </a:lnTo>
                <a:lnTo>
                  <a:pt x="159921" y="1817649"/>
                </a:lnTo>
                <a:lnTo>
                  <a:pt x="0" y="1809411"/>
                </a:lnTo>
                <a:close/>
              </a:path>
            </a:pathLst>
          </a:custGeom>
          <a:solidFill>
            <a:srgbClr val="E02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94201" y="2505047"/>
            <a:ext cx="5692626" cy="1922428"/>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3508" y="1127222"/>
            <a:ext cx="1609344" cy="5029200"/>
          </a:xfrm>
          <a:prstGeom prst="rect">
            <a:avLst/>
          </a:prstGeom>
        </p:spPr>
      </p:pic>
    </p:spTree>
    <p:extLst>
      <p:ext uri="{BB962C8B-B14F-4D97-AF65-F5344CB8AC3E}">
        <p14:creationId xmlns:p14="http://schemas.microsoft.com/office/powerpoint/2010/main" val="30058137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Date Placeholder 8"/>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D849DB-74EA-4994-949E-A2C8579A1B6F}" type="datetime1">
              <a:rPr lang="en-US" smtClean="0"/>
              <a:t>6/9/26</a:t>
            </a:fld>
            <a:endParaRPr lang="en-US"/>
          </a:p>
        </p:txBody>
      </p:sp>
      <p:sp>
        <p:nvSpPr>
          <p:cNvPr id="10" name="Footer Placeholder 9"/>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SEG 2018</a:t>
            </a:r>
          </a:p>
        </p:txBody>
      </p:sp>
      <p:sp>
        <p:nvSpPr>
          <p:cNvPr id="12" name="Title Placeholder 1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3" name="Text Placeholder 1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13"/>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265A45-E6A4-4653-9C66-6A1A04113506}" type="slidenum">
              <a:rPr lang="en-US" smtClean="0"/>
              <a:t>‹#›</a:t>
            </a:fld>
            <a:endParaRPr lang="en-US"/>
          </a:p>
        </p:txBody>
      </p:sp>
    </p:spTree>
    <p:extLst>
      <p:ext uri="{BB962C8B-B14F-4D97-AF65-F5344CB8AC3E}">
        <p14:creationId xmlns:p14="http://schemas.microsoft.com/office/powerpoint/2010/main" val="771038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7"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230.png"/><Relationship Id="rId7" Type="http://schemas.openxmlformats.org/officeDocument/2006/relationships/image" Target="../media/image270.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34" Type="http://schemas.openxmlformats.org/officeDocument/2006/relationships/image" Target="../media/image38.png"/><Relationship Id="rId33" Type="http://schemas.openxmlformats.org/officeDocument/2006/relationships/image" Target="../media/image15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jpeg"/><Relationship Id="rId2"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42.jpeg"/><Relationship Id="rId11" Type="http://schemas.openxmlformats.org/officeDocument/2006/relationships/image" Target="../media/image47.png"/><Relationship Id="rId5" Type="http://schemas.openxmlformats.org/officeDocument/2006/relationships/image" Target="../media/image41.jpeg"/><Relationship Id="rId10" Type="http://schemas.openxmlformats.org/officeDocument/2006/relationships/image" Target="../media/image46.jpeg"/><Relationship Id="rId4" Type="http://schemas.openxmlformats.org/officeDocument/2006/relationships/image" Target="../media/image40.jpeg"/><Relationship Id="rId9" Type="http://schemas.openxmlformats.org/officeDocument/2006/relationships/image" Target="../media/image45.jpeg"/></Relationships>
</file>

<file path=ppt/slides/_rels/slide12.xml.rels><?xml version="1.0" encoding="UTF-8" standalone="yes"?>
<Relationships xmlns="http://schemas.openxmlformats.org/package/2006/relationships"><Relationship Id="rId3" Type="http://schemas.openxmlformats.org/officeDocument/2006/relationships/image" Target="../media/image49.tif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3.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1.png"/><Relationship Id="rId2"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58.png"/><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60.pn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3.xml"/><Relationship Id="rId5" Type="http://schemas.openxmlformats.org/officeDocument/2006/relationships/image" Target="../media/image65.png"/><Relationship Id="rId4" Type="http://schemas.openxmlformats.org/officeDocument/2006/relationships/image" Target="../media/image64.png"/></Relationships>
</file>

<file path=ppt/slides/_rels/slide18.xml.rels><?xml version="1.0" encoding="UTF-8" standalone="yes"?>
<Relationships xmlns="http://schemas.openxmlformats.org/package/2006/relationships"><Relationship Id="rId2" Type="http://schemas.openxmlformats.org/officeDocument/2006/relationships/image" Target="../media/image66.ti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8527" y="4215204"/>
            <a:ext cx="4044875" cy="400110"/>
          </a:xfrm>
          <a:prstGeom prst="rect">
            <a:avLst/>
          </a:prstGeom>
          <a:noFill/>
        </p:spPr>
        <p:txBody>
          <a:bodyPr wrap="square" rtlCol="0">
            <a:spAutoFit/>
          </a:bodyPr>
          <a:lstStyle/>
          <a:p>
            <a:r>
              <a:rPr lang="en-US" sz="2000">
                <a:solidFill>
                  <a:srgbClr val="042D56"/>
                </a:solidFill>
              </a:rPr>
              <a:t>Fan Zhang</a:t>
            </a:r>
            <a:r>
              <a:rPr lang="en-US" sz="2000" baseline="30000">
                <a:solidFill>
                  <a:srgbClr val="042D56"/>
                </a:solidFill>
              </a:rPr>
              <a:t>1</a:t>
            </a:r>
            <a:r>
              <a:rPr lang="en-US" sz="2000">
                <a:solidFill>
                  <a:srgbClr val="042D56"/>
                </a:solidFill>
              </a:rPr>
              <a:t>, </a:t>
            </a:r>
            <a:r>
              <a:rPr lang="en-US" sz="2000" err="1">
                <a:solidFill>
                  <a:srgbClr val="042D56"/>
                </a:solidFill>
              </a:rPr>
              <a:t>Qifei</a:t>
            </a:r>
            <a:r>
              <a:rPr lang="en-US" sz="2000">
                <a:solidFill>
                  <a:srgbClr val="042D56"/>
                </a:solidFill>
              </a:rPr>
              <a:t> Niu</a:t>
            </a:r>
            <a:r>
              <a:rPr lang="en-US" sz="2000" baseline="30000">
                <a:solidFill>
                  <a:srgbClr val="042D56"/>
                </a:solidFill>
              </a:rPr>
              <a:t>1,2</a:t>
            </a:r>
            <a:r>
              <a:rPr lang="en-US" sz="2000">
                <a:solidFill>
                  <a:srgbClr val="042D56"/>
                </a:solidFill>
              </a:rPr>
              <a:t>, Chi Zhang</a:t>
            </a:r>
            <a:r>
              <a:rPr lang="en-US" sz="2000" baseline="30000">
                <a:solidFill>
                  <a:srgbClr val="042D56"/>
                </a:solidFill>
              </a:rPr>
              <a:t>1</a:t>
            </a:r>
            <a:endParaRPr lang="en-US" sz="2000" baseline="30000" dirty="0">
              <a:solidFill>
                <a:srgbClr val="042D56"/>
              </a:solidFill>
            </a:endParaRPr>
          </a:p>
        </p:txBody>
      </p:sp>
      <p:sp>
        <p:nvSpPr>
          <p:cNvPr id="5" name="TextBox 4"/>
          <p:cNvSpPr txBox="1"/>
          <p:nvPr/>
        </p:nvSpPr>
        <p:spPr>
          <a:xfrm>
            <a:off x="1346199" y="1684868"/>
            <a:ext cx="6849533" cy="1384995"/>
          </a:xfrm>
          <a:prstGeom prst="rect">
            <a:avLst/>
          </a:prstGeom>
          <a:noFill/>
        </p:spPr>
        <p:txBody>
          <a:bodyPr wrap="square" rtlCol="0">
            <a:spAutoFit/>
          </a:bodyPr>
          <a:lstStyle/>
          <a:p>
            <a:r>
              <a:rPr lang="en-US" sz="2800" b="1" cap="small" dirty="0"/>
              <a:t>Estimating pore size distribution in carbonate reservoir rocks using joint inversion of NMR and complex conductivity data</a:t>
            </a:r>
            <a:endParaRPr lang="en-US" sz="4000" dirty="0">
              <a:solidFill>
                <a:srgbClr val="042D56"/>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79021" y="5591924"/>
            <a:ext cx="3041529" cy="1027139"/>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9692" y="5960871"/>
            <a:ext cx="876873" cy="777660"/>
          </a:xfrm>
          <a:prstGeom prst="rect">
            <a:avLst/>
          </a:prstGeom>
        </p:spPr>
      </p:pic>
      <p:sp>
        <p:nvSpPr>
          <p:cNvPr id="3" name="TextBox 2"/>
          <p:cNvSpPr txBox="1"/>
          <p:nvPr/>
        </p:nvSpPr>
        <p:spPr>
          <a:xfrm>
            <a:off x="1500049" y="4696461"/>
            <a:ext cx="6353033" cy="646331"/>
          </a:xfrm>
          <a:prstGeom prst="rect">
            <a:avLst/>
          </a:prstGeom>
          <a:noFill/>
        </p:spPr>
        <p:txBody>
          <a:bodyPr wrap="square" rtlCol="0">
            <a:spAutoFit/>
          </a:bodyPr>
          <a:lstStyle/>
          <a:p>
            <a:pPr marL="342900" indent="-342900">
              <a:buAutoNum type="arabicPeriod"/>
            </a:pPr>
            <a:r>
              <a:rPr lang="en-US">
                <a:solidFill>
                  <a:schemeClr val="tx2">
                    <a:lumMod val="75000"/>
                  </a:schemeClr>
                </a:solidFill>
              </a:rPr>
              <a:t>Dept. of Geology, University of Kansas, United States</a:t>
            </a:r>
          </a:p>
          <a:p>
            <a:pPr marL="342900" indent="-342900">
              <a:buAutoNum type="arabicPeriod"/>
            </a:pPr>
            <a:r>
              <a:rPr lang="en-US">
                <a:solidFill>
                  <a:schemeClr val="tx2">
                    <a:lumMod val="75000"/>
                  </a:schemeClr>
                </a:solidFill>
              </a:rPr>
              <a:t>Dept. of Applied Geophysics, Central South University, China</a:t>
            </a: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7687" y="5763344"/>
            <a:ext cx="3428877" cy="1038490"/>
          </a:xfrm>
          <a:prstGeom prst="rect">
            <a:avLst/>
          </a:prstGeom>
        </p:spPr>
      </p:pic>
    </p:spTree>
    <p:extLst>
      <p:ext uri="{BB962C8B-B14F-4D97-AF65-F5344CB8AC3E}">
        <p14:creationId xmlns:p14="http://schemas.microsoft.com/office/powerpoint/2010/main" val="434827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Outlines</a:t>
            </a:r>
          </a:p>
        </p:txBody>
      </p:sp>
      <p:graphicFrame>
        <p:nvGraphicFramePr>
          <p:cNvPr id="4" name="Diagram 3"/>
          <p:cNvGraphicFramePr/>
          <p:nvPr>
            <p:extLst>
              <p:ext uri="{D42A27DB-BD31-4B8C-83A1-F6EECF244321}">
                <p14:modId xmlns:p14="http://schemas.microsoft.com/office/powerpoint/2010/main" val="3820622700"/>
              </p:ext>
            </p:extLst>
          </p:nvPr>
        </p:nvGraphicFramePr>
        <p:xfrm>
          <a:off x="3048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r>
              <a:rPr lang="en-US"/>
              <a:t>SEG 2018</a:t>
            </a:r>
          </a:p>
        </p:txBody>
      </p:sp>
      <p:sp>
        <p:nvSpPr>
          <p:cNvPr id="6" name="Slide Number Placeholder 5"/>
          <p:cNvSpPr>
            <a:spLocks noGrp="1"/>
          </p:cNvSpPr>
          <p:nvPr>
            <p:ph type="sldNum" sz="quarter" idx="12"/>
          </p:nvPr>
        </p:nvSpPr>
        <p:spPr/>
        <p:txBody>
          <a:bodyPr/>
          <a:lstStyle/>
          <a:p>
            <a:fld id="{48265A45-E6A4-4653-9C66-6A1A04113506}" type="slidenum">
              <a:rPr lang="en-US" smtClean="0"/>
              <a:pPr/>
              <a:t>2</a:t>
            </a:fld>
            <a:endParaRPr lang="en-US"/>
          </a:p>
        </p:txBody>
      </p:sp>
    </p:spTree>
    <p:extLst>
      <p:ext uri="{BB962C8B-B14F-4D97-AF65-F5344CB8AC3E}">
        <p14:creationId xmlns:p14="http://schemas.microsoft.com/office/powerpoint/2010/main" val="68050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15" name="Content Placeholder 2"/>
          <p:cNvSpPr txBox="1">
            <a:spLocks/>
          </p:cNvSpPr>
          <p:nvPr/>
        </p:nvSpPr>
        <p:spPr>
          <a:xfrm>
            <a:off x="1221244" y="1071307"/>
            <a:ext cx="8357918" cy="5422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Complexity of Carbonate pore system </a:t>
            </a:r>
          </a:p>
        </p:txBody>
      </p:sp>
      <p:grpSp>
        <p:nvGrpSpPr>
          <p:cNvPr id="73" name="组合 212">
            <a:extLst>
              <a:ext uri="{FF2B5EF4-FFF2-40B4-BE49-F238E27FC236}">
                <a16:creationId xmlns:a16="http://schemas.microsoft.com/office/drawing/2014/main" id="{3262D4D1-FE2B-4858-82E8-CF870D40F0CE}"/>
              </a:ext>
            </a:extLst>
          </p:cNvPr>
          <p:cNvGrpSpPr/>
          <p:nvPr/>
        </p:nvGrpSpPr>
        <p:grpSpPr>
          <a:xfrm>
            <a:off x="4936013" y="1586718"/>
            <a:ext cx="3642002" cy="3684564"/>
            <a:chOff x="5242506" y="1081075"/>
            <a:chExt cx="3642002" cy="3684564"/>
          </a:xfrm>
        </p:grpSpPr>
        <p:pic>
          <p:nvPicPr>
            <p:cNvPr id="74" name="图片 222">
              <a:extLst>
                <a:ext uri="{FF2B5EF4-FFF2-40B4-BE49-F238E27FC236}">
                  <a16:creationId xmlns:a16="http://schemas.microsoft.com/office/drawing/2014/main" id="{B5A98A92-4060-4748-9E95-4523F773F1D5}"/>
                </a:ext>
              </a:extLst>
            </p:cNvPr>
            <p:cNvPicPr>
              <a:picLocks noChangeAspect="1"/>
            </p:cNvPicPr>
            <p:nvPr/>
          </p:nvPicPr>
          <p:blipFill>
            <a:blip r:embed="rId2"/>
            <a:stretch>
              <a:fillRect/>
            </a:stretch>
          </p:blipFill>
          <p:spPr>
            <a:xfrm>
              <a:off x="5242506" y="1081075"/>
              <a:ext cx="3642002" cy="3684564"/>
            </a:xfrm>
            <a:prstGeom prst="rect">
              <a:avLst/>
            </a:prstGeom>
          </p:spPr>
        </p:pic>
        <p:sp>
          <p:nvSpPr>
            <p:cNvPr id="75" name="任意多边形: 形状 224">
              <a:extLst>
                <a:ext uri="{FF2B5EF4-FFF2-40B4-BE49-F238E27FC236}">
                  <a16:creationId xmlns:a16="http://schemas.microsoft.com/office/drawing/2014/main" id="{8BCEF177-DDD7-4EF9-AABE-92D930670842}"/>
                </a:ext>
              </a:extLst>
            </p:cNvPr>
            <p:cNvSpPr/>
            <p:nvPr/>
          </p:nvSpPr>
          <p:spPr>
            <a:xfrm>
              <a:off x="6919474" y="4262001"/>
              <a:ext cx="119623" cy="153641"/>
            </a:xfrm>
            <a:custGeom>
              <a:avLst/>
              <a:gdLst>
                <a:gd name="connsiteX0" fmla="*/ 2321 w 119623"/>
                <a:gd name="connsiteY0" fmla="*/ 12287 h 153641"/>
                <a:gd name="connsiteX1" fmla="*/ 66117 w 119623"/>
                <a:gd name="connsiteY1" fmla="*/ 150511 h 153641"/>
                <a:gd name="connsiteX2" fmla="*/ 87382 w 119623"/>
                <a:gd name="connsiteY2" fmla="*/ 118613 h 153641"/>
                <a:gd name="connsiteX3" fmla="*/ 98014 w 119623"/>
                <a:gd name="connsiteY3" fmla="*/ 86715 h 153641"/>
                <a:gd name="connsiteX4" fmla="*/ 119279 w 119623"/>
                <a:gd name="connsiteY4" fmla="*/ 54818 h 153641"/>
                <a:gd name="connsiteX5" fmla="*/ 87382 w 119623"/>
                <a:gd name="connsiteY5" fmla="*/ 44185 h 153641"/>
                <a:gd name="connsiteX6" fmla="*/ 44852 w 119623"/>
                <a:gd name="connsiteY6" fmla="*/ 33552 h 153641"/>
                <a:gd name="connsiteX7" fmla="*/ 2321 w 119623"/>
                <a:gd name="connsiteY7" fmla="*/ 12287 h 15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623" h="153641">
                  <a:moveTo>
                    <a:pt x="2321" y="12287"/>
                  </a:moveTo>
                  <a:cubicBezTo>
                    <a:pt x="5865" y="31780"/>
                    <a:pt x="-25138" y="176584"/>
                    <a:pt x="66117" y="150511"/>
                  </a:cubicBezTo>
                  <a:cubicBezTo>
                    <a:pt x="78404" y="147000"/>
                    <a:pt x="80294" y="129246"/>
                    <a:pt x="87382" y="118613"/>
                  </a:cubicBezTo>
                  <a:cubicBezTo>
                    <a:pt x="90926" y="107980"/>
                    <a:pt x="93002" y="96740"/>
                    <a:pt x="98014" y="86715"/>
                  </a:cubicBezTo>
                  <a:cubicBezTo>
                    <a:pt x="103729" y="75285"/>
                    <a:pt x="122378" y="67215"/>
                    <a:pt x="119279" y="54818"/>
                  </a:cubicBezTo>
                  <a:cubicBezTo>
                    <a:pt x="116561" y="43945"/>
                    <a:pt x="98158" y="47264"/>
                    <a:pt x="87382" y="44185"/>
                  </a:cubicBezTo>
                  <a:cubicBezTo>
                    <a:pt x="73331" y="40170"/>
                    <a:pt x="59029" y="37096"/>
                    <a:pt x="44852" y="33552"/>
                  </a:cubicBezTo>
                  <a:cubicBezTo>
                    <a:pt x="31713" y="-5863"/>
                    <a:pt x="-1223" y="-7206"/>
                    <a:pt x="2321" y="12287"/>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任意多边形: 形状 225">
              <a:extLst>
                <a:ext uri="{FF2B5EF4-FFF2-40B4-BE49-F238E27FC236}">
                  <a16:creationId xmlns:a16="http://schemas.microsoft.com/office/drawing/2014/main" id="{D2629589-083A-4721-88FF-16B3E6D84260}"/>
                </a:ext>
              </a:extLst>
            </p:cNvPr>
            <p:cNvSpPr/>
            <p:nvPr/>
          </p:nvSpPr>
          <p:spPr>
            <a:xfrm>
              <a:off x="7071084" y="4368974"/>
              <a:ext cx="91716" cy="127755"/>
            </a:xfrm>
            <a:custGeom>
              <a:avLst/>
              <a:gdLst>
                <a:gd name="connsiteX0" fmla="*/ 5991 w 91716"/>
                <a:gd name="connsiteY0" fmla="*/ 3001 h 127755"/>
                <a:gd name="connsiteX1" fmla="*/ 1229 w 91716"/>
                <a:gd name="connsiteY1" fmla="*/ 83964 h 127755"/>
                <a:gd name="connsiteX2" fmla="*/ 15516 w 91716"/>
                <a:gd name="connsiteY2" fmla="*/ 79201 h 127755"/>
                <a:gd name="connsiteX3" fmla="*/ 34566 w 91716"/>
                <a:gd name="connsiteY3" fmla="*/ 83964 h 127755"/>
                <a:gd name="connsiteX4" fmla="*/ 29804 w 91716"/>
                <a:gd name="connsiteY4" fmla="*/ 126826 h 127755"/>
                <a:gd name="connsiteX5" fmla="*/ 34566 w 91716"/>
                <a:gd name="connsiteY5" fmla="*/ 112539 h 127755"/>
                <a:gd name="connsiteX6" fmla="*/ 44091 w 91716"/>
                <a:gd name="connsiteY6" fmla="*/ 98251 h 127755"/>
                <a:gd name="connsiteX7" fmla="*/ 48854 w 91716"/>
                <a:gd name="connsiteY7" fmla="*/ 83964 h 127755"/>
                <a:gd name="connsiteX8" fmla="*/ 63141 w 91716"/>
                <a:gd name="connsiteY8" fmla="*/ 79201 h 127755"/>
                <a:gd name="connsiteX9" fmla="*/ 77429 w 91716"/>
                <a:gd name="connsiteY9" fmla="*/ 83964 h 127755"/>
                <a:gd name="connsiteX10" fmla="*/ 91716 w 91716"/>
                <a:gd name="connsiteY10" fmla="*/ 79201 h 127755"/>
                <a:gd name="connsiteX11" fmla="*/ 77429 w 91716"/>
                <a:gd name="connsiteY11" fmla="*/ 74439 h 127755"/>
                <a:gd name="connsiteX12" fmla="*/ 67904 w 91716"/>
                <a:gd name="connsiteY12" fmla="*/ 60151 h 127755"/>
                <a:gd name="connsiteX13" fmla="*/ 53616 w 91716"/>
                <a:gd name="connsiteY13" fmla="*/ 55389 h 127755"/>
                <a:gd name="connsiteX14" fmla="*/ 39329 w 91716"/>
                <a:gd name="connsiteY14" fmla="*/ 45864 h 127755"/>
                <a:gd name="connsiteX15" fmla="*/ 29804 w 91716"/>
                <a:gd name="connsiteY15" fmla="*/ 31576 h 127755"/>
                <a:gd name="connsiteX16" fmla="*/ 25041 w 91716"/>
                <a:gd name="connsiteY16" fmla="*/ 17289 h 127755"/>
                <a:gd name="connsiteX17" fmla="*/ 5991 w 91716"/>
                <a:gd name="connsiteY17" fmla="*/ 3001 h 12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716" h="127755">
                  <a:moveTo>
                    <a:pt x="5991" y="3001"/>
                  </a:moveTo>
                  <a:cubicBezTo>
                    <a:pt x="2022" y="14113"/>
                    <a:pt x="-2124" y="57138"/>
                    <a:pt x="1229" y="83964"/>
                  </a:cubicBezTo>
                  <a:cubicBezTo>
                    <a:pt x="1852" y="88945"/>
                    <a:pt x="10496" y="79201"/>
                    <a:pt x="15516" y="79201"/>
                  </a:cubicBezTo>
                  <a:cubicBezTo>
                    <a:pt x="22061" y="79201"/>
                    <a:pt x="28216" y="82376"/>
                    <a:pt x="34566" y="83964"/>
                  </a:cubicBezTo>
                  <a:cubicBezTo>
                    <a:pt x="42504" y="107775"/>
                    <a:pt x="40917" y="93490"/>
                    <a:pt x="29804" y="126826"/>
                  </a:cubicBezTo>
                  <a:cubicBezTo>
                    <a:pt x="28216" y="131588"/>
                    <a:pt x="31782" y="116716"/>
                    <a:pt x="34566" y="112539"/>
                  </a:cubicBezTo>
                  <a:cubicBezTo>
                    <a:pt x="37741" y="107776"/>
                    <a:pt x="41531" y="103371"/>
                    <a:pt x="44091" y="98251"/>
                  </a:cubicBezTo>
                  <a:cubicBezTo>
                    <a:pt x="46336" y="93761"/>
                    <a:pt x="45304" y="87514"/>
                    <a:pt x="48854" y="83964"/>
                  </a:cubicBezTo>
                  <a:cubicBezTo>
                    <a:pt x="52404" y="80414"/>
                    <a:pt x="58379" y="80789"/>
                    <a:pt x="63141" y="79201"/>
                  </a:cubicBezTo>
                  <a:cubicBezTo>
                    <a:pt x="67904" y="80789"/>
                    <a:pt x="72409" y="83964"/>
                    <a:pt x="77429" y="83964"/>
                  </a:cubicBezTo>
                  <a:cubicBezTo>
                    <a:pt x="82449" y="83964"/>
                    <a:pt x="91716" y="84221"/>
                    <a:pt x="91716" y="79201"/>
                  </a:cubicBezTo>
                  <a:cubicBezTo>
                    <a:pt x="91716" y="74181"/>
                    <a:pt x="82191" y="76026"/>
                    <a:pt x="77429" y="74439"/>
                  </a:cubicBezTo>
                  <a:cubicBezTo>
                    <a:pt x="74254" y="69676"/>
                    <a:pt x="72374" y="63727"/>
                    <a:pt x="67904" y="60151"/>
                  </a:cubicBezTo>
                  <a:cubicBezTo>
                    <a:pt x="63984" y="57015"/>
                    <a:pt x="58106" y="57634"/>
                    <a:pt x="53616" y="55389"/>
                  </a:cubicBezTo>
                  <a:cubicBezTo>
                    <a:pt x="48497" y="52829"/>
                    <a:pt x="44091" y="49039"/>
                    <a:pt x="39329" y="45864"/>
                  </a:cubicBezTo>
                  <a:cubicBezTo>
                    <a:pt x="36154" y="41101"/>
                    <a:pt x="32364" y="36696"/>
                    <a:pt x="29804" y="31576"/>
                  </a:cubicBezTo>
                  <a:cubicBezTo>
                    <a:pt x="27559" y="27086"/>
                    <a:pt x="28591" y="20839"/>
                    <a:pt x="25041" y="17289"/>
                  </a:cubicBezTo>
                  <a:cubicBezTo>
                    <a:pt x="22796" y="15044"/>
                    <a:pt x="9960" y="-8111"/>
                    <a:pt x="5991" y="3001"/>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矩形 6">
            <a:extLst>
              <a:ext uri="{FF2B5EF4-FFF2-40B4-BE49-F238E27FC236}">
                <a16:creationId xmlns:a16="http://schemas.microsoft.com/office/drawing/2014/main" id="{32C632E6-5155-4E42-B080-2E82580D316A}"/>
              </a:ext>
            </a:extLst>
          </p:cNvPr>
          <p:cNvSpPr/>
          <p:nvPr/>
        </p:nvSpPr>
        <p:spPr>
          <a:xfrm>
            <a:off x="2612838" y="1591067"/>
            <a:ext cx="1802675" cy="18026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78" name="任意多边形: 形状 4">
            <a:extLst>
              <a:ext uri="{FF2B5EF4-FFF2-40B4-BE49-F238E27FC236}">
                <a16:creationId xmlns:a16="http://schemas.microsoft.com/office/drawing/2014/main" id="{B279675A-F75A-4183-9247-2E4BE48E0460}"/>
              </a:ext>
            </a:extLst>
          </p:cNvPr>
          <p:cNvSpPr/>
          <p:nvPr/>
        </p:nvSpPr>
        <p:spPr>
          <a:xfrm>
            <a:off x="2830305" y="1732645"/>
            <a:ext cx="413052" cy="438965"/>
          </a:xfrm>
          <a:custGeom>
            <a:avLst/>
            <a:gdLst>
              <a:gd name="connsiteX0" fmla="*/ 86970 w 794176"/>
              <a:gd name="connsiteY0" fmla="*/ 50006 h 843999"/>
              <a:gd name="connsiteX1" fmla="*/ 147930 w 794176"/>
              <a:gd name="connsiteY1" fmla="*/ 6463 h 843999"/>
              <a:gd name="connsiteX2" fmla="*/ 679153 w 794176"/>
              <a:gd name="connsiteY2" fmla="*/ 154509 h 843999"/>
              <a:gd name="connsiteX3" fmla="*/ 740113 w 794176"/>
              <a:gd name="connsiteY3" fmla="*/ 825069 h 843999"/>
              <a:gd name="connsiteX4" fmla="*/ 34718 w 794176"/>
              <a:gd name="connsiteY4" fmla="*/ 624772 h 843999"/>
              <a:gd name="connsiteX5" fmla="*/ 104387 w 794176"/>
              <a:gd name="connsiteY5" fmla="*/ 259012 h 843999"/>
              <a:gd name="connsiteX6" fmla="*/ 86970 w 794176"/>
              <a:gd name="connsiteY6" fmla="*/ 50006 h 84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4176" h="843999">
                <a:moveTo>
                  <a:pt x="86970" y="50006"/>
                </a:moveTo>
                <a:cubicBezTo>
                  <a:pt x="94227" y="7914"/>
                  <a:pt x="49233" y="-10954"/>
                  <a:pt x="147930" y="6463"/>
                </a:cubicBezTo>
                <a:cubicBezTo>
                  <a:pt x="246627" y="23880"/>
                  <a:pt x="580456" y="18075"/>
                  <a:pt x="679153" y="154509"/>
                </a:cubicBezTo>
                <a:cubicBezTo>
                  <a:pt x="777850" y="290943"/>
                  <a:pt x="847519" y="746692"/>
                  <a:pt x="740113" y="825069"/>
                </a:cubicBezTo>
                <a:cubicBezTo>
                  <a:pt x="632707" y="903446"/>
                  <a:pt x="140672" y="719115"/>
                  <a:pt x="34718" y="624772"/>
                </a:cubicBezTo>
                <a:cubicBezTo>
                  <a:pt x="-71236" y="530429"/>
                  <a:pt x="98581" y="349000"/>
                  <a:pt x="104387" y="259012"/>
                </a:cubicBezTo>
                <a:cubicBezTo>
                  <a:pt x="110193" y="169024"/>
                  <a:pt x="79713" y="92098"/>
                  <a:pt x="86970" y="50006"/>
                </a:cubicBezTo>
                <a:close/>
              </a:path>
            </a:pathLst>
          </a:cu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79" name="椭圆 7">
            <a:extLst>
              <a:ext uri="{FF2B5EF4-FFF2-40B4-BE49-F238E27FC236}">
                <a16:creationId xmlns:a16="http://schemas.microsoft.com/office/drawing/2014/main" id="{976C4CBF-4E2B-400F-9E3D-BB9F44175D4C}"/>
              </a:ext>
            </a:extLst>
          </p:cNvPr>
          <p:cNvSpPr/>
          <p:nvPr/>
        </p:nvSpPr>
        <p:spPr>
          <a:xfrm rot="19530035">
            <a:off x="3514173" y="1899060"/>
            <a:ext cx="235526" cy="303466"/>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80" name="椭圆 8">
            <a:extLst>
              <a:ext uri="{FF2B5EF4-FFF2-40B4-BE49-F238E27FC236}">
                <a16:creationId xmlns:a16="http://schemas.microsoft.com/office/drawing/2014/main" id="{32090205-6884-4B45-B32D-05D2DFCF9E8F}"/>
              </a:ext>
            </a:extLst>
          </p:cNvPr>
          <p:cNvSpPr/>
          <p:nvPr/>
        </p:nvSpPr>
        <p:spPr>
          <a:xfrm>
            <a:off x="4007872" y="1952125"/>
            <a:ext cx="307994" cy="49951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81" name="任意多边形: 形状 9">
            <a:extLst>
              <a:ext uri="{FF2B5EF4-FFF2-40B4-BE49-F238E27FC236}">
                <a16:creationId xmlns:a16="http://schemas.microsoft.com/office/drawing/2014/main" id="{43868B50-1F0A-4879-B328-869DFC3E3F75}"/>
              </a:ext>
            </a:extLst>
          </p:cNvPr>
          <p:cNvSpPr/>
          <p:nvPr/>
        </p:nvSpPr>
        <p:spPr>
          <a:xfrm>
            <a:off x="3248574" y="2215821"/>
            <a:ext cx="662829" cy="589403"/>
          </a:xfrm>
          <a:custGeom>
            <a:avLst/>
            <a:gdLst>
              <a:gd name="connsiteX0" fmla="*/ 408049 w 1274424"/>
              <a:gd name="connsiteY0" fmla="*/ 305877 h 1133248"/>
              <a:gd name="connsiteX1" fmla="*/ 895729 w 1274424"/>
              <a:gd name="connsiteY1" fmla="*/ 497465 h 1133248"/>
              <a:gd name="connsiteX2" fmla="*/ 1096026 w 1274424"/>
              <a:gd name="connsiteY2" fmla="*/ 419088 h 1133248"/>
              <a:gd name="connsiteX3" fmla="*/ 1270198 w 1274424"/>
              <a:gd name="connsiteY3" fmla="*/ 828391 h 1133248"/>
              <a:gd name="connsiteX4" fmla="*/ 913146 w 1274424"/>
              <a:gd name="connsiteY4" fmla="*/ 1133191 h 1133248"/>
              <a:gd name="connsiteX5" fmla="*/ 730266 w 1274424"/>
              <a:gd name="connsiteY5" fmla="*/ 854517 h 1133248"/>
              <a:gd name="connsiteX6" fmla="*/ 425466 w 1274424"/>
              <a:gd name="connsiteY6" fmla="*/ 906768 h 1133248"/>
              <a:gd name="connsiteX7" fmla="*/ 7455 w 1274424"/>
              <a:gd name="connsiteY7" fmla="*/ 845808 h 1133248"/>
              <a:gd name="connsiteX8" fmla="*/ 164209 w 1274424"/>
              <a:gd name="connsiteY8" fmla="*/ 514882 h 1133248"/>
              <a:gd name="connsiteX9" fmla="*/ 251295 w 1274424"/>
              <a:gd name="connsiteY9" fmla="*/ 314585 h 1133248"/>
              <a:gd name="connsiteX10" fmla="*/ 155500 w 1274424"/>
              <a:gd name="connsiteY10" fmla="*/ 62037 h 1133248"/>
              <a:gd name="connsiteX11" fmla="*/ 556095 w 1274424"/>
              <a:gd name="connsiteY11" fmla="*/ 18494 h 1133248"/>
              <a:gd name="connsiteX12" fmla="*/ 408049 w 1274424"/>
              <a:gd name="connsiteY12" fmla="*/ 305877 h 113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4424" h="1133248">
                <a:moveTo>
                  <a:pt x="408049" y="305877"/>
                </a:moveTo>
                <a:cubicBezTo>
                  <a:pt x="464655" y="385705"/>
                  <a:pt x="781066" y="478597"/>
                  <a:pt x="895729" y="497465"/>
                </a:cubicBezTo>
                <a:cubicBezTo>
                  <a:pt x="1010392" y="516333"/>
                  <a:pt x="1033615" y="363934"/>
                  <a:pt x="1096026" y="419088"/>
                </a:cubicBezTo>
                <a:cubicBezTo>
                  <a:pt x="1158437" y="474242"/>
                  <a:pt x="1300678" y="709374"/>
                  <a:pt x="1270198" y="828391"/>
                </a:cubicBezTo>
                <a:cubicBezTo>
                  <a:pt x="1239718" y="947408"/>
                  <a:pt x="1003135" y="1128837"/>
                  <a:pt x="913146" y="1133191"/>
                </a:cubicBezTo>
                <a:cubicBezTo>
                  <a:pt x="823157" y="1137545"/>
                  <a:pt x="811546" y="892254"/>
                  <a:pt x="730266" y="854517"/>
                </a:cubicBezTo>
                <a:cubicBezTo>
                  <a:pt x="648986" y="816780"/>
                  <a:pt x="545934" y="908219"/>
                  <a:pt x="425466" y="906768"/>
                </a:cubicBezTo>
                <a:cubicBezTo>
                  <a:pt x="304998" y="905317"/>
                  <a:pt x="50998" y="911122"/>
                  <a:pt x="7455" y="845808"/>
                </a:cubicBezTo>
                <a:cubicBezTo>
                  <a:pt x="-36088" y="780494"/>
                  <a:pt x="123569" y="603419"/>
                  <a:pt x="164209" y="514882"/>
                </a:cubicBezTo>
                <a:cubicBezTo>
                  <a:pt x="204849" y="426345"/>
                  <a:pt x="252746" y="390059"/>
                  <a:pt x="251295" y="314585"/>
                </a:cubicBezTo>
                <a:cubicBezTo>
                  <a:pt x="249844" y="239111"/>
                  <a:pt x="104700" y="111385"/>
                  <a:pt x="155500" y="62037"/>
                </a:cubicBezTo>
                <a:cubicBezTo>
                  <a:pt x="206300" y="12689"/>
                  <a:pt x="511101" y="-23597"/>
                  <a:pt x="556095" y="18494"/>
                </a:cubicBezTo>
                <a:cubicBezTo>
                  <a:pt x="601089" y="60585"/>
                  <a:pt x="351443" y="226049"/>
                  <a:pt x="408049" y="305877"/>
                </a:cubicBezTo>
                <a:close/>
              </a:path>
            </a:pathLst>
          </a:cu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82" name="椭圆 10">
            <a:extLst>
              <a:ext uri="{FF2B5EF4-FFF2-40B4-BE49-F238E27FC236}">
                <a16:creationId xmlns:a16="http://schemas.microsoft.com/office/drawing/2014/main" id="{4EFF7FC9-7C1F-4D97-A7E2-B90814574DA7}"/>
              </a:ext>
            </a:extLst>
          </p:cNvPr>
          <p:cNvSpPr/>
          <p:nvPr/>
        </p:nvSpPr>
        <p:spPr>
          <a:xfrm>
            <a:off x="3156357" y="2792157"/>
            <a:ext cx="597873" cy="47558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83" name="任意多边形: 形状 11">
            <a:extLst>
              <a:ext uri="{FF2B5EF4-FFF2-40B4-BE49-F238E27FC236}">
                <a16:creationId xmlns:a16="http://schemas.microsoft.com/office/drawing/2014/main" id="{1627E860-60A4-4E97-99A1-9D241DB610FB}"/>
              </a:ext>
            </a:extLst>
          </p:cNvPr>
          <p:cNvSpPr/>
          <p:nvPr/>
        </p:nvSpPr>
        <p:spPr>
          <a:xfrm>
            <a:off x="2882435" y="2509748"/>
            <a:ext cx="289298" cy="191586"/>
          </a:xfrm>
          <a:custGeom>
            <a:avLst/>
            <a:gdLst>
              <a:gd name="connsiteX0" fmla="*/ 134784 w 556235"/>
              <a:gd name="connsiteY0" fmla="*/ 45027 h 368364"/>
              <a:gd name="connsiteX1" fmla="*/ 230579 w 556235"/>
              <a:gd name="connsiteY1" fmla="*/ 1484 h 368364"/>
              <a:gd name="connsiteX2" fmla="*/ 544087 w 556235"/>
              <a:gd name="connsiteY2" fmla="*/ 105987 h 368364"/>
              <a:gd name="connsiteX3" fmla="*/ 474419 w 556235"/>
              <a:gd name="connsiteY3" fmla="*/ 367244 h 368364"/>
              <a:gd name="connsiteX4" fmla="*/ 308956 w 556235"/>
              <a:gd name="connsiteY4" fmla="*/ 201782 h 368364"/>
              <a:gd name="connsiteX5" fmla="*/ 204453 w 556235"/>
              <a:gd name="connsiteY5" fmla="*/ 236616 h 368364"/>
              <a:gd name="connsiteX6" fmla="*/ 38990 w 556235"/>
              <a:gd name="connsiteY6" fmla="*/ 227907 h 368364"/>
              <a:gd name="connsiteX7" fmla="*/ 4156 w 556235"/>
              <a:gd name="connsiteY7" fmla="*/ 53736 h 368364"/>
              <a:gd name="connsiteX8" fmla="*/ 134784 w 556235"/>
              <a:gd name="connsiteY8" fmla="*/ 45027 h 36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235" h="368364">
                <a:moveTo>
                  <a:pt x="134784" y="45027"/>
                </a:moveTo>
                <a:cubicBezTo>
                  <a:pt x="172521" y="36318"/>
                  <a:pt x="162362" y="-8676"/>
                  <a:pt x="230579" y="1484"/>
                </a:cubicBezTo>
                <a:cubicBezTo>
                  <a:pt x="298796" y="11644"/>
                  <a:pt x="503447" y="45027"/>
                  <a:pt x="544087" y="105987"/>
                </a:cubicBezTo>
                <a:cubicBezTo>
                  <a:pt x="584727" y="166947"/>
                  <a:pt x="513607" y="351278"/>
                  <a:pt x="474419" y="367244"/>
                </a:cubicBezTo>
                <a:cubicBezTo>
                  <a:pt x="435231" y="383210"/>
                  <a:pt x="353950" y="223553"/>
                  <a:pt x="308956" y="201782"/>
                </a:cubicBezTo>
                <a:cubicBezTo>
                  <a:pt x="263962" y="180011"/>
                  <a:pt x="249447" y="232262"/>
                  <a:pt x="204453" y="236616"/>
                </a:cubicBezTo>
                <a:cubicBezTo>
                  <a:pt x="159459" y="240970"/>
                  <a:pt x="72373" y="258387"/>
                  <a:pt x="38990" y="227907"/>
                </a:cubicBezTo>
                <a:cubicBezTo>
                  <a:pt x="5607" y="197427"/>
                  <a:pt x="-7455" y="85667"/>
                  <a:pt x="4156" y="53736"/>
                </a:cubicBezTo>
                <a:cubicBezTo>
                  <a:pt x="15767" y="21805"/>
                  <a:pt x="97047" y="53736"/>
                  <a:pt x="134784" y="45027"/>
                </a:cubicBezTo>
                <a:close/>
              </a:path>
            </a:pathLst>
          </a:cu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84" name="任意多边形: 形状 12">
            <a:extLst>
              <a:ext uri="{FF2B5EF4-FFF2-40B4-BE49-F238E27FC236}">
                <a16:creationId xmlns:a16="http://schemas.microsoft.com/office/drawing/2014/main" id="{F8EF603E-0848-48A1-AD27-E925D70DCD32}"/>
              </a:ext>
            </a:extLst>
          </p:cNvPr>
          <p:cNvSpPr/>
          <p:nvPr/>
        </p:nvSpPr>
        <p:spPr>
          <a:xfrm>
            <a:off x="2638088" y="1991490"/>
            <a:ext cx="359573" cy="442267"/>
          </a:xfrm>
          <a:custGeom>
            <a:avLst/>
            <a:gdLst>
              <a:gd name="connsiteX0" fmla="*/ 143040 w 691353"/>
              <a:gd name="connsiteY0" fmla="*/ 179340 h 850349"/>
              <a:gd name="connsiteX1" fmla="*/ 325920 w 691353"/>
              <a:gd name="connsiteY1" fmla="*/ 571225 h 850349"/>
              <a:gd name="connsiteX2" fmla="*/ 674263 w 691353"/>
              <a:gd name="connsiteY2" fmla="*/ 780231 h 850349"/>
              <a:gd name="connsiteX3" fmla="*/ 604594 w 691353"/>
              <a:gd name="connsiteY3" fmla="*/ 849900 h 850349"/>
              <a:gd name="connsiteX4" fmla="*/ 317212 w 691353"/>
              <a:gd name="connsiteY4" fmla="*/ 754105 h 850349"/>
              <a:gd name="connsiteX5" fmla="*/ 64663 w 691353"/>
              <a:gd name="connsiteY5" fmla="*/ 370928 h 850349"/>
              <a:gd name="connsiteX6" fmla="*/ 3703 w 691353"/>
              <a:gd name="connsiteY6" fmla="*/ 5168 h 850349"/>
              <a:gd name="connsiteX7" fmla="*/ 143040 w 691353"/>
              <a:gd name="connsiteY7" fmla="*/ 179340 h 85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353" h="850349">
                <a:moveTo>
                  <a:pt x="143040" y="179340"/>
                </a:moveTo>
                <a:cubicBezTo>
                  <a:pt x="196743" y="273683"/>
                  <a:pt x="237383" y="471076"/>
                  <a:pt x="325920" y="571225"/>
                </a:cubicBezTo>
                <a:cubicBezTo>
                  <a:pt x="414457" y="671374"/>
                  <a:pt x="627817" y="733785"/>
                  <a:pt x="674263" y="780231"/>
                </a:cubicBezTo>
                <a:cubicBezTo>
                  <a:pt x="720709" y="826677"/>
                  <a:pt x="664103" y="854254"/>
                  <a:pt x="604594" y="849900"/>
                </a:cubicBezTo>
                <a:cubicBezTo>
                  <a:pt x="545086" y="845546"/>
                  <a:pt x="407200" y="833934"/>
                  <a:pt x="317212" y="754105"/>
                </a:cubicBezTo>
                <a:cubicBezTo>
                  <a:pt x="227224" y="674276"/>
                  <a:pt x="116914" y="495751"/>
                  <a:pt x="64663" y="370928"/>
                </a:cubicBezTo>
                <a:cubicBezTo>
                  <a:pt x="12411" y="246105"/>
                  <a:pt x="-9360" y="35648"/>
                  <a:pt x="3703" y="5168"/>
                </a:cubicBezTo>
                <a:cubicBezTo>
                  <a:pt x="16766" y="-25312"/>
                  <a:pt x="89337" y="84997"/>
                  <a:pt x="143040" y="179340"/>
                </a:cubicBezTo>
                <a:close/>
              </a:path>
            </a:pathLst>
          </a:cu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85" name="任意多边形: 形状 14">
            <a:extLst>
              <a:ext uri="{FF2B5EF4-FFF2-40B4-BE49-F238E27FC236}">
                <a16:creationId xmlns:a16="http://schemas.microsoft.com/office/drawing/2014/main" id="{40F4705F-D758-4D8B-9B59-458F195B7A09}"/>
              </a:ext>
            </a:extLst>
          </p:cNvPr>
          <p:cNvSpPr/>
          <p:nvPr/>
        </p:nvSpPr>
        <p:spPr>
          <a:xfrm>
            <a:off x="3814693" y="2529026"/>
            <a:ext cx="419758" cy="686147"/>
          </a:xfrm>
          <a:custGeom>
            <a:avLst/>
            <a:gdLst>
              <a:gd name="connsiteX0" fmla="*/ 266923 w 807070"/>
              <a:gd name="connsiteY0" fmla="*/ 852697 h 1319257"/>
              <a:gd name="connsiteX1" fmla="*/ 310466 w 807070"/>
              <a:gd name="connsiteY1" fmla="*/ 817862 h 1319257"/>
              <a:gd name="connsiteX2" fmla="*/ 414968 w 807070"/>
              <a:gd name="connsiteY2" fmla="*/ 330182 h 1319257"/>
              <a:gd name="connsiteX3" fmla="*/ 310466 w 807070"/>
              <a:gd name="connsiteY3" fmla="*/ 7965 h 1319257"/>
              <a:gd name="connsiteX4" fmla="*/ 432386 w 807070"/>
              <a:gd name="connsiteY4" fmla="*/ 138594 h 1319257"/>
              <a:gd name="connsiteX5" fmla="*/ 475928 w 807070"/>
              <a:gd name="connsiteY5" fmla="*/ 574022 h 1319257"/>
              <a:gd name="connsiteX6" fmla="*/ 545597 w 807070"/>
              <a:gd name="connsiteY6" fmla="*/ 1000742 h 1319257"/>
              <a:gd name="connsiteX7" fmla="*/ 806854 w 807070"/>
              <a:gd name="connsiteY7" fmla="*/ 1279417 h 1319257"/>
              <a:gd name="connsiteX8" fmla="*/ 580431 w 807070"/>
              <a:gd name="connsiteY8" fmla="*/ 1314251 h 1319257"/>
              <a:gd name="connsiteX9" fmla="*/ 84043 w 807070"/>
              <a:gd name="connsiteY9" fmla="*/ 1288125 h 1319257"/>
              <a:gd name="connsiteX10" fmla="*/ 23083 w 807070"/>
              <a:gd name="connsiteY10" fmla="*/ 1035577 h 1319257"/>
              <a:gd name="connsiteX11" fmla="*/ 327883 w 807070"/>
              <a:gd name="connsiteY11" fmla="*/ 1026868 h 1319257"/>
              <a:gd name="connsiteX12" fmla="*/ 406260 w 807070"/>
              <a:gd name="connsiteY12" fmla="*/ 904948 h 1319257"/>
              <a:gd name="connsiteX13" fmla="*/ 266923 w 807070"/>
              <a:gd name="connsiteY13" fmla="*/ 852697 h 1319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7070" h="1319257">
                <a:moveTo>
                  <a:pt x="266923" y="852697"/>
                </a:moveTo>
                <a:cubicBezTo>
                  <a:pt x="250957" y="838183"/>
                  <a:pt x="285792" y="904948"/>
                  <a:pt x="310466" y="817862"/>
                </a:cubicBezTo>
                <a:cubicBezTo>
                  <a:pt x="335140" y="730776"/>
                  <a:pt x="414968" y="465165"/>
                  <a:pt x="414968" y="330182"/>
                </a:cubicBezTo>
                <a:cubicBezTo>
                  <a:pt x="414968" y="195199"/>
                  <a:pt x="307563" y="39896"/>
                  <a:pt x="310466" y="7965"/>
                </a:cubicBezTo>
                <a:cubicBezTo>
                  <a:pt x="313369" y="-23966"/>
                  <a:pt x="404809" y="44251"/>
                  <a:pt x="432386" y="138594"/>
                </a:cubicBezTo>
                <a:cubicBezTo>
                  <a:pt x="459963" y="232937"/>
                  <a:pt x="457060" y="430331"/>
                  <a:pt x="475928" y="574022"/>
                </a:cubicBezTo>
                <a:cubicBezTo>
                  <a:pt x="494796" y="717713"/>
                  <a:pt x="490443" y="883176"/>
                  <a:pt x="545597" y="1000742"/>
                </a:cubicBezTo>
                <a:cubicBezTo>
                  <a:pt x="600751" y="1118308"/>
                  <a:pt x="801048" y="1227166"/>
                  <a:pt x="806854" y="1279417"/>
                </a:cubicBezTo>
                <a:cubicBezTo>
                  <a:pt x="812660" y="1331668"/>
                  <a:pt x="700899" y="1312800"/>
                  <a:pt x="580431" y="1314251"/>
                </a:cubicBezTo>
                <a:cubicBezTo>
                  <a:pt x="459963" y="1315702"/>
                  <a:pt x="176934" y="1334571"/>
                  <a:pt x="84043" y="1288125"/>
                </a:cubicBezTo>
                <a:cubicBezTo>
                  <a:pt x="-8848" y="1241679"/>
                  <a:pt x="-17557" y="1079120"/>
                  <a:pt x="23083" y="1035577"/>
                </a:cubicBezTo>
                <a:cubicBezTo>
                  <a:pt x="63723" y="992034"/>
                  <a:pt x="264020" y="1048639"/>
                  <a:pt x="327883" y="1026868"/>
                </a:cubicBezTo>
                <a:cubicBezTo>
                  <a:pt x="391746" y="1005097"/>
                  <a:pt x="412066" y="929622"/>
                  <a:pt x="406260" y="904948"/>
                </a:cubicBezTo>
                <a:cubicBezTo>
                  <a:pt x="400454" y="880274"/>
                  <a:pt x="282889" y="867211"/>
                  <a:pt x="266923" y="852697"/>
                </a:cubicBezTo>
                <a:close/>
              </a:path>
            </a:pathLst>
          </a:cu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86" name="任意多边形: 形状 15">
            <a:extLst>
              <a:ext uri="{FF2B5EF4-FFF2-40B4-BE49-F238E27FC236}">
                <a16:creationId xmlns:a16="http://schemas.microsoft.com/office/drawing/2014/main" id="{D38CCF59-FC88-42C1-8C97-3BD5AE65E589}"/>
              </a:ext>
            </a:extLst>
          </p:cNvPr>
          <p:cNvSpPr/>
          <p:nvPr/>
        </p:nvSpPr>
        <p:spPr>
          <a:xfrm>
            <a:off x="3498726" y="1631358"/>
            <a:ext cx="516577" cy="309655"/>
          </a:xfrm>
          <a:custGeom>
            <a:avLst/>
            <a:gdLst>
              <a:gd name="connsiteX0" fmla="*/ 745663 w 993224"/>
              <a:gd name="connsiteY0" fmla="*/ 191520 h 595375"/>
              <a:gd name="connsiteX1" fmla="*/ 797914 w 993224"/>
              <a:gd name="connsiteY1" fmla="*/ 261188 h 595375"/>
              <a:gd name="connsiteX2" fmla="*/ 989503 w 993224"/>
              <a:gd name="connsiteY2" fmla="*/ 592114 h 595375"/>
              <a:gd name="connsiteX3" fmla="*/ 606326 w 993224"/>
              <a:gd name="connsiteY3" fmla="*/ 426651 h 595375"/>
              <a:gd name="connsiteX4" fmla="*/ 136063 w 993224"/>
              <a:gd name="connsiteY4" fmla="*/ 365691 h 595375"/>
              <a:gd name="connsiteX5" fmla="*/ 14143 w 993224"/>
              <a:gd name="connsiteY5" fmla="*/ 17348 h 595375"/>
              <a:gd name="connsiteX6" fmla="*/ 406029 w 993224"/>
              <a:gd name="connsiteY6" fmla="*/ 69600 h 595375"/>
              <a:gd name="connsiteX7" fmla="*/ 658577 w 993224"/>
              <a:gd name="connsiteY7" fmla="*/ 217645 h 595375"/>
              <a:gd name="connsiteX8" fmla="*/ 745663 w 993224"/>
              <a:gd name="connsiteY8" fmla="*/ 191520 h 5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3224" h="595375">
                <a:moveTo>
                  <a:pt x="745663" y="191520"/>
                </a:moveTo>
                <a:cubicBezTo>
                  <a:pt x="768886" y="198777"/>
                  <a:pt x="757274" y="194422"/>
                  <a:pt x="797914" y="261188"/>
                </a:cubicBezTo>
                <a:cubicBezTo>
                  <a:pt x="838554" y="327954"/>
                  <a:pt x="1021434" y="564537"/>
                  <a:pt x="989503" y="592114"/>
                </a:cubicBezTo>
                <a:cubicBezTo>
                  <a:pt x="957572" y="619691"/>
                  <a:pt x="748566" y="464388"/>
                  <a:pt x="606326" y="426651"/>
                </a:cubicBezTo>
                <a:cubicBezTo>
                  <a:pt x="464086" y="388914"/>
                  <a:pt x="234760" y="433908"/>
                  <a:pt x="136063" y="365691"/>
                </a:cubicBezTo>
                <a:cubicBezTo>
                  <a:pt x="37366" y="297474"/>
                  <a:pt x="-30851" y="66696"/>
                  <a:pt x="14143" y="17348"/>
                </a:cubicBezTo>
                <a:cubicBezTo>
                  <a:pt x="59137" y="-32000"/>
                  <a:pt x="298623" y="36217"/>
                  <a:pt x="406029" y="69600"/>
                </a:cubicBezTo>
                <a:cubicBezTo>
                  <a:pt x="513435" y="102983"/>
                  <a:pt x="599069" y="200228"/>
                  <a:pt x="658577" y="217645"/>
                </a:cubicBezTo>
                <a:cubicBezTo>
                  <a:pt x="718085" y="235062"/>
                  <a:pt x="722440" y="184263"/>
                  <a:pt x="745663" y="191520"/>
                </a:cubicBezTo>
                <a:close/>
              </a:path>
            </a:pathLst>
          </a:cu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87" name="任意多边形: 形状 16">
            <a:extLst>
              <a:ext uri="{FF2B5EF4-FFF2-40B4-BE49-F238E27FC236}">
                <a16:creationId xmlns:a16="http://schemas.microsoft.com/office/drawing/2014/main" id="{013B0193-2E9C-4BBE-B128-F6FAB92A6E3A}"/>
              </a:ext>
            </a:extLst>
          </p:cNvPr>
          <p:cNvSpPr/>
          <p:nvPr/>
        </p:nvSpPr>
        <p:spPr>
          <a:xfrm>
            <a:off x="2670913" y="2817589"/>
            <a:ext cx="404764" cy="409433"/>
          </a:xfrm>
          <a:custGeom>
            <a:avLst/>
            <a:gdLst>
              <a:gd name="connsiteX0" fmla="*/ 187088 w 778242"/>
              <a:gd name="connsiteY0" fmla="*/ 238403 h 787219"/>
              <a:gd name="connsiteX1" fmla="*/ 396094 w 778242"/>
              <a:gd name="connsiteY1" fmla="*/ 3271 h 787219"/>
              <a:gd name="connsiteX2" fmla="*/ 666059 w 778242"/>
              <a:gd name="connsiteY2" fmla="*/ 438700 h 787219"/>
              <a:gd name="connsiteX3" fmla="*/ 770562 w 778242"/>
              <a:gd name="connsiteY3" fmla="*/ 517077 h 787219"/>
              <a:gd name="connsiteX4" fmla="*/ 474471 w 778242"/>
              <a:gd name="connsiteY4" fmla="*/ 787043 h 787219"/>
              <a:gd name="connsiteX5" fmla="*/ 378677 w 778242"/>
              <a:gd name="connsiteY5" fmla="*/ 473534 h 787219"/>
              <a:gd name="connsiteX6" fmla="*/ 213214 w 778242"/>
              <a:gd name="connsiteY6" fmla="*/ 499660 h 787219"/>
              <a:gd name="connsiteX7" fmla="*/ 4208 w 778242"/>
              <a:gd name="connsiteY7" fmla="*/ 412574 h 787219"/>
              <a:gd name="connsiteX8" fmla="*/ 82585 w 778242"/>
              <a:gd name="connsiteY8" fmla="*/ 220986 h 787219"/>
              <a:gd name="connsiteX9" fmla="*/ 187088 w 778242"/>
              <a:gd name="connsiteY9" fmla="*/ 238403 h 787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8242" h="787219">
                <a:moveTo>
                  <a:pt x="187088" y="238403"/>
                </a:moveTo>
                <a:cubicBezTo>
                  <a:pt x="239339" y="202117"/>
                  <a:pt x="316266" y="-30112"/>
                  <a:pt x="396094" y="3271"/>
                </a:cubicBezTo>
                <a:cubicBezTo>
                  <a:pt x="475923" y="36654"/>
                  <a:pt x="603648" y="353066"/>
                  <a:pt x="666059" y="438700"/>
                </a:cubicBezTo>
                <a:cubicBezTo>
                  <a:pt x="728470" y="524334"/>
                  <a:pt x="802493" y="459020"/>
                  <a:pt x="770562" y="517077"/>
                </a:cubicBezTo>
                <a:cubicBezTo>
                  <a:pt x="738631" y="575134"/>
                  <a:pt x="539785" y="794300"/>
                  <a:pt x="474471" y="787043"/>
                </a:cubicBezTo>
                <a:cubicBezTo>
                  <a:pt x="409157" y="779786"/>
                  <a:pt x="422220" y="521431"/>
                  <a:pt x="378677" y="473534"/>
                </a:cubicBezTo>
                <a:cubicBezTo>
                  <a:pt x="335134" y="425637"/>
                  <a:pt x="275626" y="509820"/>
                  <a:pt x="213214" y="499660"/>
                </a:cubicBezTo>
                <a:cubicBezTo>
                  <a:pt x="150802" y="489500"/>
                  <a:pt x="25979" y="459020"/>
                  <a:pt x="4208" y="412574"/>
                </a:cubicBezTo>
                <a:cubicBezTo>
                  <a:pt x="-17563" y="366128"/>
                  <a:pt x="50653" y="248563"/>
                  <a:pt x="82585" y="220986"/>
                </a:cubicBezTo>
                <a:cubicBezTo>
                  <a:pt x="114517" y="193409"/>
                  <a:pt x="134837" y="274689"/>
                  <a:pt x="187088" y="238403"/>
                </a:cubicBezTo>
                <a:close/>
              </a:path>
            </a:pathLst>
          </a:cu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nvGrpSpPr>
          <p:cNvPr id="88" name="组合 128">
            <a:extLst>
              <a:ext uri="{FF2B5EF4-FFF2-40B4-BE49-F238E27FC236}">
                <a16:creationId xmlns:a16="http://schemas.microsoft.com/office/drawing/2014/main" id="{28168BFE-BAE0-4292-B51C-69EA3723EEE5}"/>
              </a:ext>
            </a:extLst>
          </p:cNvPr>
          <p:cNvGrpSpPr/>
          <p:nvPr/>
        </p:nvGrpSpPr>
        <p:grpSpPr>
          <a:xfrm>
            <a:off x="2612838" y="3535318"/>
            <a:ext cx="1802675" cy="1733214"/>
            <a:chOff x="7234392" y="2147419"/>
            <a:chExt cx="2354905" cy="2286344"/>
          </a:xfrm>
        </p:grpSpPr>
        <p:sp>
          <p:nvSpPr>
            <p:cNvPr id="89" name="矩形 47">
              <a:extLst>
                <a:ext uri="{FF2B5EF4-FFF2-40B4-BE49-F238E27FC236}">
                  <a16:creationId xmlns:a16="http://schemas.microsoft.com/office/drawing/2014/main" id="{86E30B81-448E-48F7-8E26-09DF3E8F5FD6}"/>
                </a:ext>
              </a:extLst>
            </p:cNvPr>
            <p:cNvSpPr/>
            <p:nvPr/>
          </p:nvSpPr>
          <p:spPr>
            <a:xfrm>
              <a:off x="7234392" y="2147419"/>
              <a:ext cx="2354905" cy="22863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nvGrpSpPr>
            <p:cNvPr id="90" name="组合 55">
              <a:extLst>
                <a:ext uri="{FF2B5EF4-FFF2-40B4-BE49-F238E27FC236}">
                  <a16:creationId xmlns:a16="http://schemas.microsoft.com/office/drawing/2014/main" id="{25652E09-5DAD-4577-9D02-8C0456CB6738}"/>
                </a:ext>
              </a:extLst>
            </p:cNvPr>
            <p:cNvGrpSpPr/>
            <p:nvPr/>
          </p:nvGrpSpPr>
          <p:grpSpPr>
            <a:xfrm>
              <a:off x="7622773" y="2295505"/>
              <a:ext cx="491409" cy="529726"/>
              <a:chOff x="7622773" y="2295505"/>
              <a:chExt cx="491409" cy="529726"/>
            </a:xfrm>
          </p:grpSpPr>
          <p:sp>
            <p:nvSpPr>
              <p:cNvPr id="163" name="椭圆 48">
                <a:extLst>
                  <a:ext uri="{FF2B5EF4-FFF2-40B4-BE49-F238E27FC236}">
                    <a16:creationId xmlns:a16="http://schemas.microsoft.com/office/drawing/2014/main" id="{961EA721-43C1-47F8-B862-AD73EBA82099}"/>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4" name="椭圆 49">
                <a:extLst>
                  <a:ext uri="{FF2B5EF4-FFF2-40B4-BE49-F238E27FC236}">
                    <a16:creationId xmlns:a16="http://schemas.microsoft.com/office/drawing/2014/main" id="{94E69FB1-673B-4CFB-ABA8-C5006CDD95D4}"/>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5" name="椭圆 50">
                <a:extLst>
                  <a:ext uri="{FF2B5EF4-FFF2-40B4-BE49-F238E27FC236}">
                    <a16:creationId xmlns:a16="http://schemas.microsoft.com/office/drawing/2014/main" id="{B9A2A585-2C51-40A4-8F34-976D2E11261A}"/>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6" name="椭圆 51">
                <a:extLst>
                  <a:ext uri="{FF2B5EF4-FFF2-40B4-BE49-F238E27FC236}">
                    <a16:creationId xmlns:a16="http://schemas.microsoft.com/office/drawing/2014/main" id="{62DB8C4C-1F95-4A82-B7A6-162F320FCB22}"/>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7" name="椭圆 52">
                <a:extLst>
                  <a:ext uri="{FF2B5EF4-FFF2-40B4-BE49-F238E27FC236}">
                    <a16:creationId xmlns:a16="http://schemas.microsoft.com/office/drawing/2014/main" id="{A96DFD0D-E799-4884-8E03-4F69981E9769}"/>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8" name="椭圆 53">
                <a:extLst>
                  <a:ext uri="{FF2B5EF4-FFF2-40B4-BE49-F238E27FC236}">
                    <a16:creationId xmlns:a16="http://schemas.microsoft.com/office/drawing/2014/main" id="{D7403599-8565-4CD9-A775-A60A8FCAAAED}"/>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9" name="任意多边形: 形状 54">
                <a:extLst>
                  <a:ext uri="{FF2B5EF4-FFF2-40B4-BE49-F238E27FC236}">
                    <a16:creationId xmlns:a16="http://schemas.microsoft.com/office/drawing/2014/main" id="{96D7980F-9C66-4395-9241-0C9A61A7E7B4}"/>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1" name="组合 56">
              <a:extLst>
                <a:ext uri="{FF2B5EF4-FFF2-40B4-BE49-F238E27FC236}">
                  <a16:creationId xmlns:a16="http://schemas.microsoft.com/office/drawing/2014/main" id="{A8E2AFEE-16EB-43FE-927B-A7C1D823B444}"/>
                </a:ext>
              </a:extLst>
            </p:cNvPr>
            <p:cNvGrpSpPr/>
            <p:nvPr/>
          </p:nvGrpSpPr>
          <p:grpSpPr>
            <a:xfrm>
              <a:off x="8327275" y="2279728"/>
              <a:ext cx="491409" cy="529726"/>
              <a:chOff x="7622773" y="2295505"/>
              <a:chExt cx="491409" cy="529726"/>
            </a:xfrm>
          </p:grpSpPr>
          <p:sp>
            <p:nvSpPr>
              <p:cNvPr id="156" name="椭圆 57">
                <a:extLst>
                  <a:ext uri="{FF2B5EF4-FFF2-40B4-BE49-F238E27FC236}">
                    <a16:creationId xmlns:a16="http://schemas.microsoft.com/office/drawing/2014/main" id="{86CE625F-C269-4DBD-9769-573F961B14CD}"/>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7" name="椭圆 58">
                <a:extLst>
                  <a:ext uri="{FF2B5EF4-FFF2-40B4-BE49-F238E27FC236}">
                    <a16:creationId xmlns:a16="http://schemas.microsoft.com/office/drawing/2014/main" id="{FF498DA7-A92B-4004-953C-6F07DCB74767}"/>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8" name="椭圆 59">
                <a:extLst>
                  <a:ext uri="{FF2B5EF4-FFF2-40B4-BE49-F238E27FC236}">
                    <a16:creationId xmlns:a16="http://schemas.microsoft.com/office/drawing/2014/main" id="{8269EFE3-CD64-4341-95C3-982615D8E68E}"/>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9" name="椭圆 60">
                <a:extLst>
                  <a:ext uri="{FF2B5EF4-FFF2-40B4-BE49-F238E27FC236}">
                    <a16:creationId xmlns:a16="http://schemas.microsoft.com/office/drawing/2014/main" id="{3C30760F-EBC6-40FB-8501-8CA9DDF251AE}"/>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0" name="椭圆 61">
                <a:extLst>
                  <a:ext uri="{FF2B5EF4-FFF2-40B4-BE49-F238E27FC236}">
                    <a16:creationId xmlns:a16="http://schemas.microsoft.com/office/drawing/2014/main" id="{BA97928A-7225-4716-A5C9-7DA11B71DD23}"/>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1" name="椭圆 62">
                <a:extLst>
                  <a:ext uri="{FF2B5EF4-FFF2-40B4-BE49-F238E27FC236}">
                    <a16:creationId xmlns:a16="http://schemas.microsoft.com/office/drawing/2014/main" id="{3F2AB108-F590-4877-9260-F1C34127C1D9}"/>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62" name="任意多边形: 形状 63">
                <a:extLst>
                  <a:ext uri="{FF2B5EF4-FFF2-40B4-BE49-F238E27FC236}">
                    <a16:creationId xmlns:a16="http://schemas.microsoft.com/office/drawing/2014/main" id="{8A642FA6-C671-4AEB-B951-FF950C5FC50A}"/>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2" name="组合 64">
              <a:extLst>
                <a:ext uri="{FF2B5EF4-FFF2-40B4-BE49-F238E27FC236}">
                  <a16:creationId xmlns:a16="http://schemas.microsoft.com/office/drawing/2014/main" id="{8A629AD4-E0CE-46CD-89F7-E251C8D109D3}"/>
                </a:ext>
              </a:extLst>
            </p:cNvPr>
            <p:cNvGrpSpPr/>
            <p:nvPr/>
          </p:nvGrpSpPr>
          <p:grpSpPr>
            <a:xfrm>
              <a:off x="7937630" y="2718435"/>
              <a:ext cx="574802" cy="415290"/>
              <a:chOff x="7622773" y="2295505"/>
              <a:chExt cx="491409" cy="529726"/>
            </a:xfrm>
          </p:grpSpPr>
          <p:sp>
            <p:nvSpPr>
              <p:cNvPr id="149" name="椭圆 65">
                <a:extLst>
                  <a:ext uri="{FF2B5EF4-FFF2-40B4-BE49-F238E27FC236}">
                    <a16:creationId xmlns:a16="http://schemas.microsoft.com/office/drawing/2014/main" id="{3E024860-FE7F-4E33-9A66-6D8640625CAF}"/>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0" name="椭圆 66">
                <a:extLst>
                  <a:ext uri="{FF2B5EF4-FFF2-40B4-BE49-F238E27FC236}">
                    <a16:creationId xmlns:a16="http://schemas.microsoft.com/office/drawing/2014/main" id="{28C474C0-BE69-4C0F-B8B8-C82CFE4D8CDC}"/>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1" name="椭圆 67">
                <a:extLst>
                  <a:ext uri="{FF2B5EF4-FFF2-40B4-BE49-F238E27FC236}">
                    <a16:creationId xmlns:a16="http://schemas.microsoft.com/office/drawing/2014/main" id="{4B646764-CE3D-4C6A-830B-3D89B70734CE}"/>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2" name="椭圆 68">
                <a:extLst>
                  <a:ext uri="{FF2B5EF4-FFF2-40B4-BE49-F238E27FC236}">
                    <a16:creationId xmlns:a16="http://schemas.microsoft.com/office/drawing/2014/main" id="{EE9A640B-4FD9-470A-B9C6-1B80C99A061B}"/>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3" name="椭圆 69">
                <a:extLst>
                  <a:ext uri="{FF2B5EF4-FFF2-40B4-BE49-F238E27FC236}">
                    <a16:creationId xmlns:a16="http://schemas.microsoft.com/office/drawing/2014/main" id="{AA345450-6177-411C-A6DF-1BA432E71748}"/>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4" name="椭圆 70">
                <a:extLst>
                  <a:ext uri="{FF2B5EF4-FFF2-40B4-BE49-F238E27FC236}">
                    <a16:creationId xmlns:a16="http://schemas.microsoft.com/office/drawing/2014/main" id="{F1C4023C-4F40-4217-99E8-708EAF454F23}"/>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55" name="任意多边形: 形状 71">
                <a:extLst>
                  <a:ext uri="{FF2B5EF4-FFF2-40B4-BE49-F238E27FC236}">
                    <a16:creationId xmlns:a16="http://schemas.microsoft.com/office/drawing/2014/main" id="{E6D02E74-9C3E-4695-9728-28D5ECCB53FA}"/>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3" name="组合 72">
              <a:extLst>
                <a:ext uri="{FF2B5EF4-FFF2-40B4-BE49-F238E27FC236}">
                  <a16:creationId xmlns:a16="http://schemas.microsoft.com/office/drawing/2014/main" id="{FBA7F405-B3BE-4228-B400-2E5A8F42527D}"/>
                </a:ext>
              </a:extLst>
            </p:cNvPr>
            <p:cNvGrpSpPr/>
            <p:nvPr/>
          </p:nvGrpSpPr>
          <p:grpSpPr>
            <a:xfrm>
              <a:off x="8509191" y="2911563"/>
              <a:ext cx="396245" cy="523312"/>
              <a:chOff x="7622773" y="2295505"/>
              <a:chExt cx="491409" cy="529726"/>
            </a:xfrm>
          </p:grpSpPr>
          <p:sp>
            <p:nvSpPr>
              <p:cNvPr id="142" name="椭圆 73">
                <a:extLst>
                  <a:ext uri="{FF2B5EF4-FFF2-40B4-BE49-F238E27FC236}">
                    <a16:creationId xmlns:a16="http://schemas.microsoft.com/office/drawing/2014/main" id="{F62C7116-CB86-4CEE-80E7-AE1E672CD4B9}"/>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43" name="椭圆 74">
                <a:extLst>
                  <a:ext uri="{FF2B5EF4-FFF2-40B4-BE49-F238E27FC236}">
                    <a16:creationId xmlns:a16="http://schemas.microsoft.com/office/drawing/2014/main" id="{3BF9B65A-56F4-4EAB-8C41-4AB8CF81B594}"/>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44" name="椭圆 75">
                <a:extLst>
                  <a:ext uri="{FF2B5EF4-FFF2-40B4-BE49-F238E27FC236}">
                    <a16:creationId xmlns:a16="http://schemas.microsoft.com/office/drawing/2014/main" id="{DDC63D0E-6B97-46F7-997A-C0CF61AC20D8}"/>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45" name="椭圆 76">
                <a:extLst>
                  <a:ext uri="{FF2B5EF4-FFF2-40B4-BE49-F238E27FC236}">
                    <a16:creationId xmlns:a16="http://schemas.microsoft.com/office/drawing/2014/main" id="{301BC5E3-3D15-40F6-9337-0D4DED0A96D5}"/>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46" name="椭圆 77">
                <a:extLst>
                  <a:ext uri="{FF2B5EF4-FFF2-40B4-BE49-F238E27FC236}">
                    <a16:creationId xmlns:a16="http://schemas.microsoft.com/office/drawing/2014/main" id="{EF705F59-996A-48D1-BDFA-0C9DA1AC7290}"/>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47" name="椭圆 78">
                <a:extLst>
                  <a:ext uri="{FF2B5EF4-FFF2-40B4-BE49-F238E27FC236}">
                    <a16:creationId xmlns:a16="http://schemas.microsoft.com/office/drawing/2014/main" id="{414B4FEA-EC1F-4B18-AB16-F00D7C3D80CA}"/>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48" name="任意多边形: 形状 79">
                <a:extLst>
                  <a:ext uri="{FF2B5EF4-FFF2-40B4-BE49-F238E27FC236}">
                    <a16:creationId xmlns:a16="http://schemas.microsoft.com/office/drawing/2014/main" id="{CE25421A-466F-4C8F-B405-A5A3A9E0421C}"/>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4" name="组合 80">
              <a:extLst>
                <a:ext uri="{FF2B5EF4-FFF2-40B4-BE49-F238E27FC236}">
                  <a16:creationId xmlns:a16="http://schemas.microsoft.com/office/drawing/2014/main" id="{4A2F4BD2-5645-4607-835F-EE06E6FCD323}"/>
                </a:ext>
              </a:extLst>
            </p:cNvPr>
            <p:cNvGrpSpPr/>
            <p:nvPr/>
          </p:nvGrpSpPr>
          <p:grpSpPr>
            <a:xfrm>
              <a:off x="8853007" y="2512182"/>
              <a:ext cx="346303" cy="386709"/>
              <a:chOff x="7622773" y="2295505"/>
              <a:chExt cx="491409" cy="529726"/>
            </a:xfrm>
          </p:grpSpPr>
          <p:sp>
            <p:nvSpPr>
              <p:cNvPr id="135" name="椭圆 81">
                <a:extLst>
                  <a:ext uri="{FF2B5EF4-FFF2-40B4-BE49-F238E27FC236}">
                    <a16:creationId xmlns:a16="http://schemas.microsoft.com/office/drawing/2014/main" id="{58590BBC-6866-4324-9448-98E87DC68637}"/>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6" name="椭圆 82">
                <a:extLst>
                  <a:ext uri="{FF2B5EF4-FFF2-40B4-BE49-F238E27FC236}">
                    <a16:creationId xmlns:a16="http://schemas.microsoft.com/office/drawing/2014/main" id="{13751C92-6FCD-40F8-A9F0-6F6C0004C774}"/>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7" name="椭圆 83">
                <a:extLst>
                  <a:ext uri="{FF2B5EF4-FFF2-40B4-BE49-F238E27FC236}">
                    <a16:creationId xmlns:a16="http://schemas.microsoft.com/office/drawing/2014/main" id="{92FDFB35-97E0-4D28-BBB3-E9BD807B232E}"/>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8" name="椭圆 84">
                <a:extLst>
                  <a:ext uri="{FF2B5EF4-FFF2-40B4-BE49-F238E27FC236}">
                    <a16:creationId xmlns:a16="http://schemas.microsoft.com/office/drawing/2014/main" id="{62B3F251-2B11-4C40-A898-003011C376AC}"/>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9" name="椭圆 85">
                <a:extLst>
                  <a:ext uri="{FF2B5EF4-FFF2-40B4-BE49-F238E27FC236}">
                    <a16:creationId xmlns:a16="http://schemas.microsoft.com/office/drawing/2014/main" id="{DEC5915C-7FAC-481E-9BE6-D60C15B41DE1}"/>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40" name="椭圆 86">
                <a:extLst>
                  <a:ext uri="{FF2B5EF4-FFF2-40B4-BE49-F238E27FC236}">
                    <a16:creationId xmlns:a16="http://schemas.microsoft.com/office/drawing/2014/main" id="{995FB971-60A9-4531-A338-14987120B093}"/>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41" name="任意多边形: 形状 87">
                <a:extLst>
                  <a:ext uri="{FF2B5EF4-FFF2-40B4-BE49-F238E27FC236}">
                    <a16:creationId xmlns:a16="http://schemas.microsoft.com/office/drawing/2014/main" id="{090B6555-1902-4A7C-8712-00BC65D2CE19}"/>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5" name="组合 88">
              <a:extLst>
                <a:ext uri="{FF2B5EF4-FFF2-40B4-BE49-F238E27FC236}">
                  <a16:creationId xmlns:a16="http://schemas.microsoft.com/office/drawing/2014/main" id="{03B7667F-CF91-46C8-9077-BD1993DFE5ED}"/>
                </a:ext>
              </a:extLst>
            </p:cNvPr>
            <p:cNvGrpSpPr/>
            <p:nvPr/>
          </p:nvGrpSpPr>
          <p:grpSpPr>
            <a:xfrm>
              <a:off x="8918661" y="2882674"/>
              <a:ext cx="595652" cy="710033"/>
              <a:chOff x="7622773" y="2295505"/>
              <a:chExt cx="491409" cy="529726"/>
            </a:xfrm>
          </p:grpSpPr>
          <p:sp>
            <p:nvSpPr>
              <p:cNvPr id="128" name="椭圆 89">
                <a:extLst>
                  <a:ext uri="{FF2B5EF4-FFF2-40B4-BE49-F238E27FC236}">
                    <a16:creationId xmlns:a16="http://schemas.microsoft.com/office/drawing/2014/main" id="{2149B5AC-BF8E-4784-8701-AC57FC25CDC3}"/>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29" name="椭圆 90">
                <a:extLst>
                  <a:ext uri="{FF2B5EF4-FFF2-40B4-BE49-F238E27FC236}">
                    <a16:creationId xmlns:a16="http://schemas.microsoft.com/office/drawing/2014/main" id="{2FCFAE6C-3F40-4778-ABB7-81297D761DDD}"/>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0" name="椭圆 91">
                <a:extLst>
                  <a:ext uri="{FF2B5EF4-FFF2-40B4-BE49-F238E27FC236}">
                    <a16:creationId xmlns:a16="http://schemas.microsoft.com/office/drawing/2014/main" id="{F2F8EA08-DE28-4FD6-8D1C-9649652BAFD0}"/>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1" name="椭圆 92">
                <a:extLst>
                  <a:ext uri="{FF2B5EF4-FFF2-40B4-BE49-F238E27FC236}">
                    <a16:creationId xmlns:a16="http://schemas.microsoft.com/office/drawing/2014/main" id="{2129505D-5E5C-48D1-85E4-B19D27BAE45F}"/>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2" name="椭圆 93">
                <a:extLst>
                  <a:ext uri="{FF2B5EF4-FFF2-40B4-BE49-F238E27FC236}">
                    <a16:creationId xmlns:a16="http://schemas.microsoft.com/office/drawing/2014/main" id="{EC3F1BF0-E6F7-4704-853F-D3F4637799A7}"/>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3" name="椭圆 94">
                <a:extLst>
                  <a:ext uri="{FF2B5EF4-FFF2-40B4-BE49-F238E27FC236}">
                    <a16:creationId xmlns:a16="http://schemas.microsoft.com/office/drawing/2014/main" id="{6C5C73D1-4CE0-48D1-9C07-51C2565EF567}"/>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34" name="任意多边形: 形状 95">
                <a:extLst>
                  <a:ext uri="{FF2B5EF4-FFF2-40B4-BE49-F238E27FC236}">
                    <a16:creationId xmlns:a16="http://schemas.microsoft.com/office/drawing/2014/main" id="{8AEC5B8E-5D78-4B61-9AFC-17D4C468027E}"/>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6" name="组合 96">
              <a:extLst>
                <a:ext uri="{FF2B5EF4-FFF2-40B4-BE49-F238E27FC236}">
                  <a16:creationId xmlns:a16="http://schemas.microsoft.com/office/drawing/2014/main" id="{6B592D3B-617C-400F-B2B4-000E50EB04C9}"/>
                </a:ext>
              </a:extLst>
            </p:cNvPr>
            <p:cNvGrpSpPr/>
            <p:nvPr/>
          </p:nvGrpSpPr>
          <p:grpSpPr>
            <a:xfrm>
              <a:off x="7285960" y="2847785"/>
              <a:ext cx="743124" cy="800390"/>
              <a:chOff x="7622773" y="2295505"/>
              <a:chExt cx="491409" cy="529726"/>
            </a:xfrm>
          </p:grpSpPr>
          <p:sp>
            <p:nvSpPr>
              <p:cNvPr id="121" name="椭圆 97">
                <a:extLst>
                  <a:ext uri="{FF2B5EF4-FFF2-40B4-BE49-F238E27FC236}">
                    <a16:creationId xmlns:a16="http://schemas.microsoft.com/office/drawing/2014/main" id="{C0A4EE85-E0B3-4559-9396-0AE5032F7225}"/>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22" name="椭圆 98">
                <a:extLst>
                  <a:ext uri="{FF2B5EF4-FFF2-40B4-BE49-F238E27FC236}">
                    <a16:creationId xmlns:a16="http://schemas.microsoft.com/office/drawing/2014/main" id="{211C1392-7331-4E78-BF2A-D1333191B271}"/>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23" name="椭圆 99">
                <a:extLst>
                  <a:ext uri="{FF2B5EF4-FFF2-40B4-BE49-F238E27FC236}">
                    <a16:creationId xmlns:a16="http://schemas.microsoft.com/office/drawing/2014/main" id="{A9C294E8-13AB-411F-8CB9-02109AC864FA}"/>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24" name="椭圆 100">
                <a:extLst>
                  <a:ext uri="{FF2B5EF4-FFF2-40B4-BE49-F238E27FC236}">
                    <a16:creationId xmlns:a16="http://schemas.microsoft.com/office/drawing/2014/main" id="{1DF7D60A-E925-483B-BD0A-FE07EB223715}"/>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25" name="椭圆 101">
                <a:extLst>
                  <a:ext uri="{FF2B5EF4-FFF2-40B4-BE49-F238E27FC236}">
                    <a16:creationId xmlns:a16="http://schemas.microsoft.com/office/drawing/2014/main" id="{8419D40F-57A6-49A3-946B-5970F7613FE0}"/>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26" name="椭圆 102">
                <a:extLst>
                  <a:ext uri="{FF2B5EF4-FFF2-40B4-BE49-F238E27FC236}">
                    <a16:creationId xmlns:a16="http://schemas.microsoft.com/office/drawing/2014/main" id="{533DCBC3-4BA8-4092-81B3-C2872F28E4CB}"/>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27" name="任意多边形: 形状 103">
                <a:extLst>
                  <a:ext uri="{FF2B5EF4-FFF2-40B4-BE49-F238E27FC236}">
                    <a16:creationId xmlns:a16="http://schemas.microsoft.com/office/drawing/2014/main" id="{C5AFAE2E-8C08-430C-A97D-9C7A8B8524EE}"/>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7" name="组合 104">
              <a:extLst>
                <a:ext uri="{FF2B5EF4-FFF2-40B4-BE49-F238E27FC236}">
                  <a16:creationId xmlns:a16="http://schemas.microsoft.com/office/drawing/2014/main" id="{D2BFC5AC-21BB-4515-9A46-FAF96F2008C8}"/>
                </a:ext>
              </a:extLst>
            </p:cNvPr>
            <p:cNvGrpSpPr/>
            <p:nvPr/>
          </p:nvGrpSpPr>
          <p:grpSpPr>
            <a:xfrm>
              <a:off x="7885388" y="3335033"/>
              <a:ext cx="743124" cy="800390"/>
              <a:chOff x="7622773" y="2295505"/>
              <a:chExt cx="491409" cy="529726"/>
            </a:xfrm>
          </p:grpSpPr>
          <p:sp>
            <p:nvSpPr>
              <p:cNvPr id="114" name="椭圆 105">
                <a:extLst>
                  <a:ext uri="{FF2B5EF4-FFF2-40B4-BE49-F238E27FC236}">
                    <a16:creationId xmlns:a16="http://schemas.microsoft.com/office/drawing/2014/main" id="{5850CF52-0EE0-4A34-9A5E-5CD34E126F24}"/>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5" name="椭圆 106">
                <a:extLst>
                  <a:ext uri="{FF2B5EF4-FFF2-40B4-BE49-F238E27FC236}">
                    <a16:creationId xmlns:a16="http://schemas.microsoft.com/office/drawing/2014/main" id="{29C93081-9DCB-45A2-8AF9-3F61F7986177}"/>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6" name="椭圆 107">
                <a:extLst>
                  <a:ext uri="{FF2B5EF4-FFF2-40B4-BE49-F238E27FC236}">
                    <a16:creationId xmlns:a16="http://schemas.microsoft.com/office/drawing/2014/main" id="{0B514257-216C-4798-8DCB-B6923AECA0A2}"/>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7" name="椭圆 108">
                <a:extLst>
                  <a:ext uri="{FF2B5EF4-FFF2-40B4-BE49-F238E27FC236}">
                    <a16:creationId xmlns:a16="http://schemas.microsoft.com/office/drawing/2014/main" id="{FA2308F6-2EE0-483C-B6BA-A8E523D5F5FF}"/>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8" name="椭圆 109">
                <a:extLst>
                  <a:ext uri="{FF2B5EF4-FFF2-40B4-BE49-F238E27FC236}">
                    <a16:creationId xmlns:a16="http://schemas.microsoft.com/office/drawing/2014/main" id="{925F5439-9BE1-4B12-8846-8E30D7167E69}"/>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9" name="椭圆 110">
                <a:extLst>
                  <a:ext uri="{FF2B5EF4-FFF2-40B4-BE49-F238E27FC236}">
                    <a16:creationId xmlns:a16="http://schemas.microsoft.com/office/drawing/2014/main" id="{F1923A17-2053-4220-9DBD-1E9368F43C38}"/>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20" name="任意多边形: 形状 111">
                <a:extLst>
                  <a:ext uri="{FF2B5EF4-FFF2-40B4-BE49-F238E27FC236}">
                    <a16:creationId xmlns:a16="http://schemas.microsoft.com/office/drawing/2014/main" id="{7C45FC32-E02D-40F1-9803-0DA9DA81DB89}"/>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8" name="组合 112">
              <a:extLst>
                <a:ext uri="{FF2B5EF4-FFF2-40B4-BE49-F238E27FC236}">
                  <a16:creationId xmlns:a16="http://schemas.microsoft.com/office/drawing/2014/main" id="{F1B69201-8362-49AC-86DD-BCC70FFFD9F8}"/>
                </a:ext>
              </a:extLst>
            </p:cNvPr>
            <p:cNvGrpSpPr/>
            <p:nvPr/>
          </p:nvGrpSpPr>
          <p:grpSpPr>
            <a:xfrm>
              <a:off x="8669695" y="3526567"/>
              <a:ext cx="491409" cy="529726"/>
              <a:chOff x="7622773" y="2295505"/>
              <a:chExt cx="491409" cy="529726"/>
            </a:xfrm>
          </p:grpSpPr>
          <p:sp>
            <p:nvSpPr>
              <p:cNvPr id="107" name="椭圆 113">
                <a:extLst>
                  <a:ext uri="{FF2B5EF4-FFF2-40B4-BE49-F238E27FC236}">
                    <a16:creationId xmlns:a16="http://schemas.microsoft.com/office/drawing/2014/main" id="{C41E733B-3FF2-4C55-B798-FF7B9DF801AA}"/>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08" name="椭圆 114">
                <a:extLst>
                  <a:ext uri="{FF2B5EF4-FFF2-40B4-BE49-F238E27FC236}">
                    <a16:creationId xmlns:a16="http://schemas.microsoft.com/office/drawing/2014/main" id="{DB7056E6-27E2-4974-9CC6-4C1321CC4D12}"/>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09" name="椭圆 115">
                <a:extLst>
                  <a:ext uri="{FF2B5EF4-FFF2-40B4-BE49-F238E27FC236}">
                    <a16:creationId xmlns:a16="http://schemas.microsoft.com/office/drawing/2014/main" id="{B23E1DB6-1C0F-431D-A6FC-143A3296CE3A}"/>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0" name="椭圆 116">
                <a:extLst>
                  <a:ext uri="{FF2B5EF4-FFF2-40B4-BE49-F238E27FC236}">
                    <a16:creationId xmlns:a16="http://schemas.microsoft.com/office/drawing/2014/main" id="{8FB36EAE-9B82-41AE-B2C5-1A7D885A1572}"/>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1" name="椭圆 117">
                <a:extLst>
                  <a:ext uri="{FF2B5EF4-FFF2-40B4-BE49-F238E27FC236}">
                    <a16:creationId xmlns:a16="http://schemas.microsoft.com/office/drawing/2014/main" id="{38577CEB-D94A-4B5F-B9F6-E52E107F410F}"/>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2" name="椭圆 118">
                <a:extLst>
                  <a:ext uri="{FF2B5EF4-FFF2-40B4-BE49-F238E27FC236}">
                    <a16:creationId xmlns:a16="http://schemas.microsoft.com/office/drawing/2014/main" id="{BC0B9ACD-76BC-4952-BEA2-0CEE35990F4A}"/>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13" name="任意多边形: 形状 119">
                <a:extLst>
                  <a:ext uri="{FF2B5EF4-FFF2-40B4-BE49-F238E27FC236}">
                    <a16:creationId xmlns:a16="http://schemas.microsoft.com/office/drawing/2014/main" id="{2187C698-10DB-4D08-8EE1-766D89F5890D}"/>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nvGrpSpPr>
            <p:cNvPr id="99" name="组合 120">
              <a:extLst>
                <a:ext uri="{FF2B5EF4-FFF2-40B4-BE49-F238E27FC236}">
                  <a16:creationId xmlns:a16="http://schemas.microsoft.com/office/drawing/2014/main" id="{A9DD98BD-F70C-42EB-A76E-A43A90168817}"/>
                </a:ext>
              </a:extLst>
            </p:cNvPr>
            <p:cNvGrpSpPr/>
            <p:nvPr/>
          </p:nvGrpSpPr>
          <p:grpSpPr>
            <a:xfrm>
              <a:off x="7432254" y="3729666"/>
              <a:ext cx="396245" cy="523312"/>
              <a:chOff x="7622773" y="2295505"/>
              <a:chExt cx="491409" cy="529726"/>
            </a:xfrm>
          </p:grpSpPr>
          <p:sp>
            <p:nvSpPr>
              <p:cNvPr id="100" name="椭圆 121">
                <a:extLst>
                  <a:ext uri="{FF2B5EF4-FFF2-40B4-BE49-F238E27FC236}">
                    <a16:creationId xmlns:a16="http://schemas.microsoft.com/office/drawing/2014/main" id="{14D26DF6-273F-45D4-80E9-99E03DF12EE5}"/>
                  </a:ext>
                </a:extLst>
              </p:cNvPr>
              <p:cNvSpPr/>
              <p:nvPr/>
            </p:nvSpPr>
            <p:spPr>
              <a:xfrm>
                <a:off x="7647674" y="2322442"/>
                <a:ext cx="456983" cy="4730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01" name="椭圆 122">
                <a:extLst>
                  <a:ext uri="{FF2B5EF4-FFF2-40B4-BE49-F238E27FC236}">
                    <a16:creationId xmlns:a16="http://schemas.microsoft.com/office/drawing/2014/main" id="{ACF62B04-A887-40BA-A2B1-1827846C2054}"/>
                  </a:ext>
                </a:extLst>
              </p:cNvPr>
              <p:cNvSpPr/>
              <p:nvPr/>
            </p:nvSpPr>
            <p:spPr>
              <a:xfrm>
                <a:off x="7622773" y="2295505"/>
                <a:ext cx="491409" cy="529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02" name="椭圆 123">
                <a:extLst>
                  <a:ext uri="{FF2B5EF4-FFF2-40B4-BE49-F238E27FC236}">
                    <a16:creationId xmlns:a16="http://schemas.microsoft.com/office/drawing/2014/main" id="{D45A523D-1FAB-4AC0-B339-0F226FF7D47F}"/>
                  </a:ext>
                </a:extLst>
              </p:cNvPr>
              <p:cNvSpPr/>
              <p:nvPr/>
            </p:nvSpPr>
            <p:spPr>
              <a:xfrm>
                <a:off x="7688127" y="2358896"/>
                <a:ext cx="397480" cy="3897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03" name="椭圆 124">
                <a:extLst>
                  <a:ext uri="{FF2B5EF4-FFF2-40B4-BE49-F238E27FC236}">
                    <a16:creationId xmlns:a16="http://schemas.microsoft.com/office/drawing/2014/main" id="{D9470BEA-5185-41B0-81BC-1427F47ECBA1}"/>
                  </a:ext>
                </a:extLst>
              </p:cNvPr>
              <p:cNvSpPr/>
              <p:nvPr/>
            </p:nvSpPr>
            <p:spPr>
              <a:xfrm>
                <a:off x="7722450" y="2400300"/>
                <a:ext cx="316650" cy="3181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04" name="椭圆 125">
                <a:extLst>
                  <a:ext uri="{FF2B5EF4-FFF2-40B4-BE49-F238E27FC236}">
                    <a16:creationId xmlns:a16="http://schemas.microsoft.com/office/drawing/2014/main" id="{46912E96-A2F5-46F2-9C0C-31120E4FF384}"/>
                  </a:ext>
                </a:extLst>
              </p:cNvPr>
              <p:cNvSpPr/>
              <p:nvPr/>
            </p:nvSpPr>
            <p:spPr>
              <a:xfrm>
                <a:off x="7754574" y="2432256"/>
                <a:ext cx="264585" cy="2658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05" name="椭圆 126">
                <a:extLst>
                  <a:ext uri="{FF2B5EF4-FFF2-40B4-BE49-F238E27FC236}">
                    <a16:creationId xmlns:a16="http://schemas.microsoft.com/office/drawing/2014/main" id="{AB01ED30-4E2F-466D-AC85-F6A1C2205E92}"/>
                  </a:ext>
                </a:extLst>
              </p:cNvPr>
              <p:cNvSpPr/>
              <p:nvPr/>
            </p:nvSpPr>
            <p:spPr>
              <a:xfrm>
                <a:off x="7783449" y="2459064"/>
                <a:ext cx="219086" cy="2201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sp>
            <p:nvSpPr>
              <p:cNvPr id="106" name="任意多边形: 形状 127">
                <a:extLst>
                  <a:ext uri="{FF2B5EF4-FFF2-40B4-BE49-F238E27FC236}">
                    <a16:creationId xmlns:a16="http://schemas.microsoft.com/office/drawing/2014/main" id="{683D44FE-0E1A-44A1-8C05-6EC537F6C743}"/>
                  </a:ext>
                </a:extLst>
              </p:cNvPr>
              <p:cNvSpPr/>
              <p:nvPr/>
            </p:nvSpPr>
            <p:spPr>
              <a:xfrm>
                <a:off x="7839075" y="2499078"/>
                <a:ext cx="98554" cy="91722"/>
              </a:xfrm>
              <a:custGeom>
                <a:avLst/>
                <a:gdLst>
                  <a:gd name="connsiteX0" fmla="*/ 9525 w 98554"/>
                  <a:gd name="connsiteY0" fmla="*/ 91722 h 91722"/>
                  <a:gd name="connsiteX1" fmla="*/ 9525 w 98554"/>
                  <a:gd name="connsiteY1" fmla="*/ 91722 h 91722"/>
                  <a:gd name="connsiteX2" fmla="*/ 95250 w 98554"/>
                  <a:gd name="connsiteY2" fmla="*/ 82197 h 91722"/>
                  <a:gd name="connsiteX3" fmla="*/ 85725 w 98554"/>
                  <a:gd name="connsiteY3" fmla="*/ 53622 h 91722"/>
                  <a:gd name="connsiteX4" fmla="*/ 57150 w 98554"/>
                  <a:gd name="connsiteY4" fmla="*/ 44097 h 91722"/>
                  <a:gd name="connsiteX5" fmla="*/ 19050 w 98554"/>
                  <a:gd name="connsiteY5" fmla="*/ 5997 h 91722"/>
                  <a:gd name="connsiteX6" fmla="*/ 0 w 98554"/>
                  <a:gd name="connsiteY6" fmla="*/ 63147 h 91722"/>
                  <a:gd name="connsiteX7" fmla="*/ 9525 w 98554"/>
                  <a:gd name="connsiteY7" fmla="*/ 91722 h 9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4" h="91722">
                    <a:moveTo>
                      <a:pt x="9525" y="91722"/>
                    </a:moveTo>
                    <a:lnTo>
                      <a:pt x="9525" y="91722"/>
                    </a:lnTo>
                    <a:cubicBezTo>
                      <a:pt x="38100" y="88547"/>
                      <a:pt x="69534" y="95055"/>
                      <a:pt x="95250" y="82197"/>
                    </a:cubicBezTo>
                    <a:cubicBezTo>
                      <a:pt x="104230" y="77707"/>
                      <a:pt x="92825" y="60722"/>
                      <a:pt x="85725" y="53622"/>
                    </a:cubicBezTo>
                    <a:cubicBezTo>
                      <a:pt x="78625" y="46522"/>
                      <a:pt x="66675" y="47272"/>
                      <a:pt x="57150" y="44097"/>
                    </a:cubicBezTo>
                    <a:cubicBezTo>
                      <a:pt x="57150" y="44097"/>
                      <a:pt x="44450" y="-19403"/>
                      <a:pt x="19050" y="5997"/>
                    </a:cubicBezTo>
                    <a:cubicBezTo>
                      <a:pt x="4851" y="20196"/>
                      <a:pt x="14199" y="48948"/>
                      <a:pt x="0" y="63147"/>
                    </a:cubicBezTo>
                    <a:lnTo>
                      <a:pt x="9525" y="9172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grpSp>
      </p:grpSp>
      <p:sp>
        <p:nvSpPr>
          <p:cNvPr id="170" name="文本框 252">
            <a:extLst>
              <a:ext uri="{FF2B5EF4-FFF2-40B4-BE49-F238E27FC236}">
                <a16:creationId xmlns:a16="http://schemas.microsoft.com/office/drawing/2014/main" id="{6DD9160F-8543-42FC-997D-5DFF8B707918}"/>
              </a:ext>
            </a:extLst>
          </p:cNvPr>
          <p:cNvSpPr txBox="1"/>
          <p:nvPr/>
        </p:nvSpPr>
        <p:spPr>
          <a:xfrm>
            <a:off x="6959645" y="5636133"/>
            <a:ext cx="2916343" cy="830997"/>
          </a:xfrm>
          <a:prstGeom prst="rect">
            <a:avLst/>
          </a:prstGeom>
          <a:noFill/>
        </p:spPr>
        <p:txBody>
          <a:bodyPr wrap="square" rtlCol="0">
            <a:spAutoFit/>
          </a:bodyPr>
          <a:lstStyle/>
          <a:p>
            <a:r>
              <a:rPr lang="en-US" sz="2400" dirty="0">
                <a:latin typeface="Gill Sans MT"/>
                <a:cs typeface="Gill Sans MT"/>
              </a:rPr>
              <a:t>S</a:t>
            </a:r>
            <a:r>
              <a:rPr lang="en-US" altLang="zh-CN" sz="2400" dirty="0">
                <a:latin typeface="Gill Sans MT"/>
                <a:cs typeface="Gill Sans MT"/>
              </a:rPr>
              <a:t>econdary porosity</a:t>
            </a:r>
          </a:p>
          <a:p>
            <a:r>
              <a:rPr lang="en-US" sz="2400" dirty="0">
                <a:latin typeface="Gill Sans MT"/>
                <a:cs typeface="Gill Sans MT"/>
              </a:rPr>
              <a:t>      </a:t>
            </a:r>
            <a:r>
              <a:rPr lang="en-US" sz="2400" b="1" i="1" dirty="0">
                <a:latin typeface="Gill Sans MT"/>
                <a:cs typeface="Gill Sans MT"/>
              </a:rPr>
              <a:t>Diagenesis </a:t>
            </a:r>
          </a:p>
        </p:txBody>
      </p:sp>
      <p:sp>
        <p:nvSpPr>
          <p:cNvPr id="171" name="文本框 253">
            <a:extLst>
              <a:ext uri="{FF2B5EF4-FFF2-40B4-BE49-F238E27FC236}">
                <a16:creationId xmlns:a16="http://schemas.microsoft.com/office/drawing/2014/main" id="{C2AAC225-9C39-4B2C-9971-BF963DCE5461}"/>
              </a:ext>
            </a:extLst>
          </p:cNvPr>
          <p:cNvSpPr txBox="1"/>
          <p:nvPr/>
        </p:nvSpPr>
        <p:spPr>
          <a:xfrm>
            <a:off x="1926144" y="5625451"/>
            <a:ext cx="2442232" cy="830997"/>
          </a:xfrm>
          <a:prstGeom prst="rect">
            <a:avLst/>
          </a:prstGeom>
          <a:noFill/>
        </p:spPr>
        <p:txBody>
          <a:bodyPr wrap="square" rtlCol="0">
            <a:spAutoFit/>
          </a:bodyPr>
          <a:lstStyle/>
          <a:p>
            <a:r>
              <a:rPr lang="en-US" sz="2400" dirty="0">
                <a:latin typeface="Gill Sans MT"/>
                <a:cs typeface="Gill Sans MT"/>
              </a:rPr>
              <a:t>Primary</a:t>
            </a:r>
            <a:r>
              <a:rPr lang="en-US" altLang="zh-CN" sz="2400" dirty="0">
                <a:latin typeface="Gill Sans MT"/>
                <a:cs typeface="Gill Sans MT"/>
              </a:rPr>
              <a:t> porosity</a:t>
            </a:r>
          </a:p>
          <a:p>
            <a:r>
              <a:rPr lang="en-US" sz="2400" dirty="0">
                <a:latin typeface="Gill Sans MT"/>
                <a:cs typeface="Gill Sans MT"/>
              </a:rPr>
              <a:t>   </a:t>
            </a:r>
            <a:r>
              <a:rPr lang="en-US" sz="2400" b="1" i="1" dirty="0">
                <a:latin typeface="Gill Sans MT"/>
                <a:cs typeface="Gill Sans MT"/>
              </a:rPr>
              <a:t>Deposition</a:t>
            </a:r>
          </a:p>
        </p:txBody>
      </p:sp>
      <p:cxnSp>
        <p:nvCxnSpPr>
          <p:cNvPr id="172" name="直接箭头连接符 261">
            <a:extLst>
              <a:ext uri="{FF2B5EF4-FFF2-40B4-BE49-F238E27FC236}">
                <a16:creationId xmlns:a16="http://schemas.microsoft.com/office/drawing/2014/main" id="{76FA71E4-768A-41D2-A89D-2DD75AA2103C}"/>
              </a:ext>
            </a:extLst>
          </p:cNvPr>
          <p:cNvCxnSpPr>
            <a:stCxn id="84" idx="1"/>
            <a:endCxn id="175" idx="3"/>
          </p:cNvCxnSpPr>
          <p:nvPr/>
        </p:nvCxnSpPr>
        <p:spPr>
          <a:xfrm flipH="1">
            <a:off x="2495535" y="2288584"/>
            <a:ext cx="312064" cy="44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3" name="直接箭头连接符 263">
            <a:extLst>
              <a:ext uri="{FF2B5EF4-FFF2-40B4-BE49-F238E27FC236}">
                <a16:creationId xmlns:a16="http://schemas.microsoft.com/office/drawing/2014/main" id="{674F5948-757C-4629-BC6C-617FFB70808F}"/>
              </a:ext>
            </a:extLst>
          </p:cNvPr>
          <p:cNvCxnSpPr/>
          <p:nvPr/>
        </p:nvCxnSpPr>
        <p:spPr>
          <a:xfrm flipH="1" flipV="1">
            <a:off x="2495535" y="1810950"/>
            <a:ext cx="531417" cy="12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4" name="文本框 264">
            <a:extLst>
              <a:ext uri="{FF2B5EF4-FFF2-40B4-BE49-F238E27FC236}">
                <a16:creationId xmlns:a16="http://schemas.microsoft.com/office/drawing/2014/main" id="{AAA59272-BB90-48CC-BE5B-290B8F9711A1}"/>
              </a:ext>
            </a:extLst>
          </p:cNvPr>
          <p:cNvSpPr txBox="1"/>
          <p:nvPr/>
        </p:nvSpPr>
        <p:spPr>
          <a:xfrm>
            <a:off x="1056456" y="1610895"/>
            <a:ext cx="1579868" cy="400110"/>
          </a:xfrm>
          <a:prstGeom prst="rect">
            <a:avLst/>
          </a:prstGeom>
          <a:noFill/>
        </p:spPr>
        <p:txBody>
          <a:bodyPr wrap="square" rtlCol="0">
            <a:spAutoFit/>
          </a:bodyPr>
          <a:lstStyle/>
          <a:p>
            <a:r>
              <a:rPr lang="en-US" sz="2000" dirty="0">
                <a:latin typeface="Gill Sans MT"/>
                <a:cs typeface="Gill Sans MT"/>
              </a:rPr>
              <a:t>Abiotic grain</a:t>
            </a:r>
          </a:p>
        </p:txBody>
      </p:sp>
      <p:sp>
        <p:nvSpPr>
          <p:cNvPr id="175" name="文本框 265">
            <a:extLst>
              <a:ext uri="{FF2B5EF4-FFF2-40B4-BE49-F238E27FC236}">
                <a16:creationId xmlns:a16="http://schemas.microsoft.com/office/drawing/2014/main" id="{24775E3B-2FC1-446E-A883-0415EBF0F966}"/>
              </a:ext>
            </a:extLst>
          </p:cNvPr>
          <p:cNvSpPr txBox="1"/>
          <p:nvPr/>
        </p:nvSpPr>
        <p:spPr>
          <a:xfrm>
            <a:off x="1077453" y="2133072"/>
            <a:ext cx="1418082" cy="400110"/>
          </a:xfrm>
          <a:prstGeom prst="rect">
            <a:avLst/>
          </a:prstGeom>
          <a:noFill/>
        </p:spPr>
        <p:txBody>
          <a:bodyPr wrap="square" rtlCol="0">
            <a:spAutoFit/>
          </a:bodyPr>
          <a:lstStyle/>
          <a:p>
            <a:r>
              <a:rPr lang="en-US" sz="2000" dirty="0">
                <a:latin typeface="Gill Sans MT"/>
                <a:cs typeface="Gill Sans MT"/>
              </a:rPr>
              <a:t>Biotic grain</a:t>
            </a:r>
          </a:p>
        </p:txBody>
      </p:sp>
      <p:sp>
        <p:nvSpPr>
          <p:cNvPr id="176" name="椭圆 270">
            <a:extLst>
              <a:ext uri="{FF2B5EF4-FFF2-40B4-BE49-F238E27FC236}">
                <a16:creationId xmlns:a16="http://schemas.microsoft.com/office/drawing/2014/main" id="{16F662E0-2F18-4BFA-84B1-5E65DAB64591}"/>
              </a:ext>
            </a:extLst>
          </p:cNvPr>
          <p:cNvSpPr/>
          <p:nvPr/>
        </p:nvSpPr>
        <p:spPr>
          <a:xfrm>
            <a:off x="3272668" y="2884834"/>
            <a:ext cx="182515" cy="14309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ill Sans MT"/>
              <a:cs typeface="Gill Sans MT"/>
            </a:endParaRPr>
          </a:p>
        </p:txBody>
      </p:sp>
      <p:cxnSp>
        <p:nvCxnSpPr>
          <p:cNvPr id="177" name="直接箭头连接符 272">
            <a:extLst>
              <a:ext uri="{FF2B5EF4-FFF2-40B4-BE49-F238E27FC236}">
                <a16:creationId xmlns:a16="http://schemas.microsoft.com/office/drawing/2014/main" id="{DD6462FF-67AA-410E-9DB5-8AA50DC5CD23}"/>
              </a:ext>
            </a:extLst>
          </p:cNvPr>
          <p:cNvCxnSpPr>
            <a:cxnSpLocks/>
            <a:endCxn id="179" idx="3"/>
          </p:cNvCxnSpPr>
          <p:nvPr/>
        </p:nvCxnSpPr>
        <p:spPr>
          <a:xfrm flipH="1">
            <a:off x="2556412" y="2884834"/>
            <a:ext cx="535517" cy="519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274">
            <a:extLst>
              <a:ext uri="{FF2B5EF4-FFF2-40B4-BE49-F238E27FC236}">
                <a16:creationId xmlns:a16="http://schemas.microsoft.com/office/drawing/2014/main" id="{7C46731D-EEB2-4E6C-9035-7FAE868B86DE}"/>
              </a:ext>
            </a:extLst>
          </p:cNvPr>
          <p:cNvCxnSpPr>
            <a:cxnSpLocks/>
            <a:stCxn id="176" idx="4"/>
            <a:endCxn id="180" idx="3"/>
          </p:cNvCxnSpPr>
          <p:nvPr/>
        </p:nvCxnSpPr>
        <p:spPr>
          <a:xfrm flipH="1">
            <a:off x="2549078" y="3027933"/>
            <a:ext cx="814848" cy="1278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9" name="文本框 275">
            <a:extLst>
              <a:ext uri="{FF2B5EF4-FFF2-40B4-BE49-F238E27FC236}">
                <a16:creationId xmlns:a16="http://schemas.microsoft.com/office/drawing/2014/main" id="{1ED9E7D0-2942-4A4F-B7F4-3179A14A50E4}"/>
              </a:ext>
            </a:extLst>
          </p:cNvPr>
          <p:cNvSpPr txBox="1"/>
          <p:nvPr/>
        </p:nvSpPr>
        <p:spPr>
          <a:xfrm>
            <a:off x="1056300" y="3050049"/>
            <a:ext cx="1500112" cy="707886"/>
          </a:xfrm>
          <a:prstGeom prst="rect">
            <a:avLst/>
          </a:prstGeom>
          <a:noFill/>
        </p:spPr>
        <p:txBody>
          <a:bodyPr wrap="square" rtlCol="0">
            <a:spAutoFit/>
          </a:bodyPr>
          <a:lstStyle/>
          <a:p>
            <a:r>
              <a:rPr lang="en-US" sz="2000" dirty="0">
                <a:latin typeface="Gill Sans MT"/>
                <a:cs typeface="Gill Sans MT"/>
              </a:rPr>
              <a:t>Interparticle pore</a:t>
            </a:r>
          </a:p>
        </p:txBody>
      </p:sp>
      <p:sp>
        <p:nvSpPr>
          <p:cNvPr id="180" name="文本框 279">
            <a:extLst>
              <a:ext uri="{FF2B5EF4-FFF2-40B4-BE49-F238E27FC236}">
                <a16:creationId xmlns:a16="http://schemas.microsoft.com/office/drawing/2014/main" id="{ED53C5FE-1A3B-44F1-811E-6140672A124C}"/>
              </a:ext>
            </a:extLst>
          </p:cNvPr>
          <p:cNvSpPr txBox="1"/>
          <p:nvPr/>
        </p:nvSpPr>
        <p:spPr>
          <a:xfrm>
            <a:off x="1056246" y="3952648"/>
            <a:ext cx="1492832" cy="707886"/>
          </a:xfrm>
          <a:prstGeom prst="rect">
            <a:avLst/>
          </a:prstGeom>
          <a:noFill/>
        </p:spPr>
        <p:txBody>
          <a:bodyPr wrap="square" rtlCol="0">
            <a:spAutoFit/>
          </a:bodyPr>
          <a:lstStyle/>
          <a:p>
            <a:r>
              <a:rPr lang="en-US" sz="2000" dirty="0">
                <a:latin typeface="Gill Sans MT"/>
                <a:cs typeface="Gill Sans MT"/>
              </a:rPr>
              <a:t>Intraparticle pore</a:t>
            </a:r>
          </a:p>
        </p:txBody>
      </p:sp>
      <p:sp>
        <p:nvSpPr>
          <p:cNvPr id="181" name="文本框 268">
            <a:extLst>
              <a:ext uri="{FF2B5EF4-FFF2-40B4-BE49-F238E27FC236}">
                <a16:creationId xmlns:a16="http://schemas.microsoft.com/office/drawing/2014/main" id="{20132584-A46E-4A45-BD20-F35AF98EBEB3}"/>
              </a:ext>
            </a:extLst>
          </p:cNvPr>
          <p:cNvSpPr txBox="1"/>
          <p:nvPr/>
        </p:nvSpPr>
        <p:spPr>
          <a:xfrm>
            <a:off x="9091931" y="3721575"/>
            <a:ext cx="1814026" cy="400110"/>
          </a:xfrm>
          <a:prstGeom prst="rect">
            <a:avLst/>
          </a:prstGeom>
          <a:noFill/>
        </p:spPr>
        <p:txBody>
          <a:bodyPr wrap="square" rtlCol="0">
            <a:spAutoFit/>
          </a:bodyPr>
          <a:lstStyle/>
          <a:p>
            <a:r>
              <a:rPr lang="en-US" sz="2000" dirty="0">
                <a:latin typeface="Gill Sans MT"/>
                <a:cs typeface="Gill Sans MT"/>
              </a:rPr>
              <a:t>Touching </a:t>
            </a:r>
            <a:r>
              <a:rPr lang="en-US" sz="2000" dirty="0" err="1">
                <a:latin typeface="Gill Sans MT"/>
                <a:cs typeface="Gill Sans MT"/>
              </a:rPr>
              <a:t>vuggy</a:t>
            </a:r>
            <a:endParaRPr lang="en-US" sz="2000" dirty="0">
              <a:latin typeface="Gill Sans MT"/>
              <a:cs typeface="Gill Sans MT"/>
            </a:endParaRPr>
          </a:p>
        </p:txBody>
      </p:sp>
      <p:sp>
        <p:nvSpPr>
          <p:cNvPr id="182" name="文本框 269">
            <a:extLst>
              <a:ext uri="{FF2B5EF4-FFF2-40B4-BE49-F238E27FC236}">
                <a16:creationId xmlns:a16="http://schemas.microsoft.com/office/drawing/2014/main" id="{9C7B6C37-3B3D-42EA-B629-1757930AEF1B}"/>
              </a:ext>
            </a:extLst>
          </p:cNvPr>
          <p:cNvSpPr txBox="1"/>
          <p:nvPr/>
        </p:nvSpPr>
        <p:spPr>
          <a:xfrm>
            <a:off x="9115010" y="2998970"/>
            <a:ext cx="2521531" cy="400110"/>
          </a:xfrm>
          <a:prstGeom prst="rect">
            <a:avLst/>
          </a:prstGeom>
          <a:noFill/>
        </p:spPr>
        <p:txBody>
          <a:bodyPr wrap="square" rtlCol="0">
            <a:spAutoFit/>
          </a:bodyPr>
          <a:lstStyle/>
          <a:p>
            <a:r>
              <a:rPr lang="en-US" sz="2000" dirty="0">
                <a:latin typeface="Gill Sans MT"/>
                <a:cs typeface="Gill Sans MT"/>
              </a:rPr>
              <a:t>Semi-connected </a:t>
            </a:r>
            <a:r>
              <a:rPr lang="en-US" sz="2000" dirty="0" err="1">
                <a:latin typeface="Gill Sans MT"/>
                <a:cs typeface="Gill Sans MT"/>
              </a:rPr>
              <a:t>vuggy</a:t>
            </a:r>
            <a:endParaRPr lang="en-US" sz="2000" dirty="0">
              <a:latin typeface="Gill Sans MT"/>
              <a:cs typeface="Gill Sans MT"/>
            </a:endParaRPr>
          </a:p>
        </p:txBody>
      </p:sp>
      <p:sp>
        <p:nvSpPr>
          <p:cNvPr id="183" name="TextBox 182">
            <a:extLst>
              <a:ext uri="{FF2B5EF4-FFF2-40B4-BE49-F238E27FC236}">
                <a16:creationId xmlns:a16="http://schemas.microsoft.com/office/drawing/2014/main" id="{A0B3FA58-9DFA-438E-8267-25C600ABB792}"/>
              </a:ext>
            </a:extLst>
          </p:cNvPr>
          <p:cNvSpPr txBox="1"/>
          <p:nvPr/>
        </p:nvSpPr>
        <p:spPr>
          <a:xfrm>
            <a:off x="9149768" y="1529198"/>
            <a:ext cx="2521532" cy="400110"/>
          </a:xfrm>
          <a:prstGeom prst="rect">
            <a:avLst/>
          </a:prstGeom>
          <a:noFill/>
        </p:spPr>
        <p:txBody>
          <a:bodyPr wrap="square" rtlCol="0">
            <a:spAutoFit/>
          </a:bodyPr>
          <a:lstStyle/>
          <a:p>
            <a:r>
              <a:rPr lang="en-US" sz="2000" dirty="0" err="1">
                <a:latin typeface="Gill Sans MT"/>
                <a:cs typeface="Gill Sans MT"/>
              </a:rPr>
              <a:t>Intercrystalline</a:t>
            </a:r>
            <a:r>
              <a:rPr lang="en-US" sz="2000" dirty="0">
                <a:latin typeface="Gill Sans MT"/>
                <a:cs typeface="Gill Sans MT"/>
              </a:rPr>
              <a:t> pore</a:t>
            </a:r>
          </a:p>
        </p:txBody>
      </p:sp>
      <p:sp>
        <p:nvSpPr>
          <p:cNvPr id="184" name="TextBox 183">
            <a:extLst>
              <a:ext uri="{FF2B5EF4-FFF2-40B4-BE49-F238E27FC236}">
                <a16:creationId xmlns:a16="http://schemas.microsoft.com/office/drawing/2014/main" id="{5C940BA6-388B-4423-9043-1ACB8DF7BDA8}"/>
              </a:ext>
            </a:extLst>
          </p:cNvPr>
          <p:cNvSpPr txBox="1"/>
          <p:nvPr/>
        </p:nvSpPr>
        <p:spPr>
          <a:xfrm>
            <a:off x="9115011" y="4457154"/>
            <a:ext cx="2259891" cy="400110"/>
          </a:xfrm>
          <a:prstGeom prst="rect">
            <a:avLst/>
          </a:prstGeom>
          <a:noFill/>
        </p:spPr>
        <p:txBody>
          <a:bodyPr wrap="square" rtlCol="0">
            <a:spAutoFit/>
          </a:bodyPr>
          <a:lstStyle/>
          <a:p>
            <a:r>
              <a:rPr lang="en-US" sz="2000" dirty="0">
                <a:latin typeface="Gill Sans MT"/>
                <a:cs typeface="Gill Sans MT"/>
              </a:rPr>
              <a:t>(Effective pathway)</a:t>
            </a:r>
          </a:p>
        </p:txBody>
      </p:sp>
      <p:sp>
        <p:nvSpPr>
          <p:cNvPr id="185" name="文本框 226">
            <a:extLst>
              <a:ext uri="{FF2B5EF4-FFF2-40B4-BE49-F238E27FC236}">
                <a16:creationId xmlns:a16="http://schemas.microsoft.com/office/drawing/2014/main" id="{C13058ED-75CD-498C-ACF5-B0FB79C4AFB4}"/>
              </a:ext>
            </a:extLst>
          </p:cNvPr>
          <p:cNvSpPr txBox="1"/>
          <p:nvPr/>
        </p:nvSpPr>
        <p:spPr>
          <a:xfrm>
            <a:off x="2495536" y="5258119"/>
            <a:ext cx="2149672" cy="369332"/>
          </a:xfrm>
          <a:prstGeom prst="rect">
            <a:avLst/>
          </a:prstGeom>
          <a:noFill/>
        </p:spPr>
        <p:txBody>
          <a:bodyPr wrap="square" rtlCol="0">
            <a:spAutoFit/>
          </a:bodyPr>
          <a:lstStyle/>
          <a:p>
            <a:r>
              <a:rPr lang="en-US" dirty="0" err="1"/>
              <a:t>Oolitic</a:t>
            </a:r>
            <a:r>
              <a:rPr lang="en-US" dirty="0"/>
              <a:t> Carbonate</a:t>
            </a:r>
          </a:p>
        </p:txBody>
      </p:sp>
      <p:cxnSp>
        <p:nvCxnSpPr>
          <p:cNvPr id="186" name="Straight Arrow Connector 185">
            <a:extLst>
              <a:ext uri="{FF2B5EF4-FFF2-40B4-BE49-F238E27FC236}">
                <a16:creationId xmlns:a16="http://schemas.microsoft.com/office/drawing/2014/main" id="{C9F2AFA6-1582-4E2D-BE2C-4597793877F3}"/>
              </a:ext>
            </a:extLst>
          </p:cNvPr>
          <p:cNvCxnSpPr/>
          <p:nvPr/>
        </p:nvCxnSpPr>
        <p:spPr>
          <a:xfrm flipH="1">
            <a:off x="6579420" y="4870048"/>
            <a:ext cx="87382" cy="600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7E4E9253-19A6-4782-8094-907E4F1B3B4E}"/>
              </a:ext>
            </a:extLst>
          </p:cNvPr>
          <p:cNvSpPr txBox="1"/>
          <p:nvPr/>
        </p:nvSpPr>
        <p:spPr>
          <a:xfrm>
            <a:off x="4951738" y="3398268"/>
            <a:ext cx="1128263" cy="369332"/>
          </a:xfrm>
          <a:prstGeom prst="rect">
            <a:avLst/>
          </a:prstGeom>
          <a:noFill/>
        </p:spPr>
        <p:txBody>
          <a:bodyPr wrap="square" rtlCol="0">
            <a:spAutoFit/>
          </a:bodyPr>
          <a:lstStyle/>
          <a:p>
            <a:r>
              <a:rPr lang="en-US" dirty="0">
                <a:latin typeface="Gill Sans MT" panose="020B0502020104020203" pitchFamily="34" charset="0"/>
              </a:rPr>
              <a:t>C</a:t>
            </a:r>
            <a:r>
              <a:rPr lang="en-US" altLang="zh-CN" dirty="0">
                <a:latin typeface="Gill Sans MT" panose="020B0502020104020203" pitchFamily="34" charset="0"/>
              </a:rPr>
              <a:t>ements</a:t>
            </a:r>
            <a:endParaRPr lang="en-US" dirty="0">
              <a:latin typeface="Gill Sans MT" panose="020B0502020104020203" pitchFamily="34" charset="0"/>
            </a:endParaRPr>
          </a:p>
        </p:txBody>
      </p:sp>
      <p:sp>
        <p:nvSpPr>
          <p:cNvPr id="188" name="TextBox 187">
            <a:extLst>
              <a:ext uri="{FF2B5EF4-FFF2-40B4-BE49-F238E27FC236}">
                <a16:creationId xmlns:a16="http://schemas.microsoft.com/office/drawing/2014/main" id="{475DCE67-8654-4293-B994-5983FFD5AD87}"/>
              </a:ext>
            </a:extLst>
          </p:cNvPr>
          <p:cNvSpPr txBox="1"/>
          <p:nvPr/>
        </p:nvSpPr>
        <p:spPr>
          <a:xfrm>
            <a:off x="5447033" y="5406707"/>
            <a:ext cx="2439537" cy="369332"/>
          </a:xfrm>
          <a:prstGeom prst="rect">
            <a:avLst/>
          </a:prstGeom>
          <a:noFill/>
        </p:spPr>
        <p:txBody>
          <a:bodyPr wrap="square" rtlCol="0">
            <a:spAutoFit/>
          </a:bodyPr>
          <a:lstStyle/>
          <a:p>
            <a:r>
              <a:rPr lang="en-US" dirty="0">
                <a:latin typeface="Gill Sans MT" panose="020B0502020104020203" pitchFamily="34" charset="0"/>
              </a:rPr>
              <a:t>Dissolved matrix pore</a:t>
            </a:r>
          </a:p>
        </p:txBody>
      </p:sp>
      <p:cxnSp>
        <p:nvCxnSpPr>
          <p:cNvPr id="189" name="Straight Arrow Connector 188">
            <a:extLst>
              <a:ext uri="{FF2B5EF4-FFF2-40B4-BE49-F238E27FC236}">
                <a16:creationId xmlns:a16="http://schemas.microsoft.com/office/drawing/2014/main" id="{6A8AE75C-B938-4D2A-B0BA-E812C4978D72}"/>
              </a:ext>
            </a:extLst>
          </p:cNvPr>
          <p:cNvCxnSpPr>
            <a:cxnSpLocks/>
            <a:endCxn id="183" idx="1"/>
          </p:cNvCxnSpPr>
          <p:nvPr/>
        </p:nvCxnSpPr>
        <p:spPr>
          <a:xfrm flipV="1">
            <a:off x="5843573" y="1729253"/>
            <a:ext cx="3306195" cy="22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BF149316-660E-45E7-A976-6895DAD64AB0}"/>
              </a:ext>
            </a:extLst>
          </p:cNvPr>
          <p:cNvCxnSpPr/>
          <p:nvPr/>
        </p:nvCxnSpPr>
        <p:spPr>
          <a:xfrm flipV="1">
            <a:off x="6959645" y="2570131"/>
            <a:ext cx="2155366" cy="131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5A9F7EA4-1F3A-43AA-AA27-0B0A5A5FADF6}"/>
              </a:ext>
            </a:extLst>
          </p:cNvPr>
          <p:cNvCxnSpPr>
            <a:cxnSpLocks/>
            <a:endCxn id="182" idx="1"/>
          </p:cNvCxnSpPr>
          <p:nvPr/>
        </p:nvCxnSpPr>
        <p:spPr>
          <a:xfrm flipV="1">
            <a:off x="7801474" y="3199025"/>
            <a:ext cx="1313536" cy="307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D1685DF7-3107-4BAD-8FD9-C75412ADD0AE}"/>
              </a:ext>
            </a:extLst>
          </p:cNvPr>
          <p:cNvCxnSpPr>
            <a:endCxn id="184" idx="1"/>
          </p:cNvCxnSpPr>
          <p:nvPr/>
        </p:nvCxnSpPr>
        <p:spPr>
          <a:xfrm>
            <a:off x="7090274" y="4466469"/>
            <a:ext cx="2024737" cy="190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3" name="TextBox 192">
            <a:extLst>
              <a:ext uri="{FF2B5EF4-FFF2-40B4-BE49-F238E27FC236}">
                <a16:creationId xmlns:a16="http://schemas.microsoft.com/office/drawing/2014/main" id="{EC36E0A1-991F-4C6C-B11B-2701754B778B}"/>
              </a:ext>
            </a:extLst>
          </p:cNvPr>
          <p:cNvSpPr txBox="1"/>
          <p:nvPr/>
        </p:nvSpPr>
        <p:spPr>
          <a:xfrm>
            <a:off x="9132389" y="2390009"/>
            <a:ext cx="1875405" cy="400110"/>
          </a:xfrm>
          <a:prstGeom prst="rect">
            <a:avLst/>
          </a:prstGeom>
          <a:noFill/>
        </p:spPr>
        <p:txBody>
          <a:bodyPr wrap="square" rtlCol="0">
            <a:spAutoFit/>
          </a:bodyPr>
          <a:lstStyle/>
          <a:p>
            <a:r>
              <a:rPr lang="en-US" sz="2000" dirty="0" err="1">
                <a:latin typeface="Gill Sans MT"/>
                <a:cs typeface="Gill Sans MT"/>
              </a:rPr>
              <a:t>Moldic</a:t>
            </a:r>
            <a:r>
              <a:rPr lang="en-US" sz="2000" dirty="0">
                <a:latin typeface="Gill Sans MT"/>
                <a:cs typeface="Gill Sans MT"/>
              </a:rPr>
              <a:t> pore</a:t>
            </a:r>
          </a:p>
        </p:txBody>
      </p:sp>
      <p:cxnSp>
        <p:nvCxnSpPr>
          <p:cNvPr id="194" name="Straight Arrow Connector 193">
            <a:extLst>
              <a:ext uri="{FF2B5EF4-FFF2-40B4-BE49-F238E27FC236}">
                <a16:creationId xmlns:a16="http://schemas.microsoft.com/office/drawing/2014/main" id="{200DA65E-26D1-467A-B892-C3C5D09ABBEF}"/>
              </a:ext>
            </a:extLst>
          </p:cNvPr>
          <p:cNvCxnSpPr>
            <a:endCxn id="181" idx="1"/>
          </p:cNvCxnSpPr>
          <p:nvPr/>
        </p:nvCxnSpPr>
        <p:spPr>
          <a:xfrm flipV="1">
            <a:off x="5843573" y="3921630"/>
            <a:ext cx="3248358" cy="345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11"/>
          </p:nvPr>
        </p:nvSpPr>
        <p:spPr/>
        <p:txBody>
          <a:bodyPr/>
          <a:lstStyle/>
          <a:p>
            <a:r>
              <a:rPr lang="en-US"/>
              <a:t>SEG 2018</a:t>
            </a:r>
          </a:p>
        </p:txBody>
      </p:sp>
      <p:sp>
        <p:nvSpPr>
          <p:cNvPr id="4" name="Slide Number Placeholder 3"/>
          <p:cNvSpPr>
            <a:spLocks noGrp="1"/>
          </p:cNvSpPr>
          <p:nvPr>
            <p:ph type="sldNum" sz="quarter" idx="12"/>
          </p:nvPr>
        </p:nvSpPr>
        <p:spPr/>
        <p:txBody>
          <a:bodyPr/>
          <a:lstStyle/>
          <a:p>
            <a:fld id="{48265A45-E6A4-4653-9C66-6A1A04113506}" type="slidenum">
              <a:rPr lang="en-US" smtClean="0"/>
              <a:pPr/>
              <a:t>3</a:t>
            </a:fld>
            <a:endParaRPr lang="en-US"/>
          </a:p>
        </p:txBody>
      </p:sp>
    </p:spTree>
    <p:extLst>
      <p:ext uri="{BB962C8B-B14F-4D97-AF65-F5344CB8AC3E}">
        <p14:creationId xmlns:p14="http://schemas.microsoft.com/office/powerpoint/2010/main" val="4010638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605533" y="393498"/>
            <a:ext cx="8357918" cy="5422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Current methods for determining pore size distribution</a:t>
            </a:r>
          </a:p>
        </p:txBody>
      </p:sp>
      <p:pic>
        <p:nvPicPr>
          <p:cNvPr id="5" name="Picture 4"/>
          <p:cNvPicPr>
            <a:picLocks noChangeAspect="1"/>
          </p:cNvPicPr>
          <p:nvPr/>
        </p:nvPicPr>
        <p:blipFill>
          <a:blip r:embed="rId2"/>
          <a:stretch>
            <a:fillRect/>
          </a:stretch>
        </p:blipFill>
        <p:spPr>
          <a:xfrm>
            <a:off x="1564388" y="1244298"/>
            <a:ext cx="1681709" cy="1377671"/>
          </a:xfrm>
          <a:prstGeom prst="rect">
            <a:avLst/>
          </a:prstGeom>
        </p:spPr>
      </p:pic>
      <p:sp>
        <p:nvSpPr>
          <p:cNvPr id="6" name="Rectangle 5"/>
          <p:cNvSpPr/>
          <p:nvPr/>
        </p:nvSpPr>
        <p:spPr>
          <a:xfrm>
            <a:off x="3283143" y="2090119"/>
            <a:ext cx="1648570" cy="200055"/>
          </a:xfrm>
          <a:prstGeom prst="rect">
            <a:avLst/>
          </a:prstGeom>
        </p:spPr>
        <p:txBody>
          <a:bodyPr wrap="square">
            <a:spAutoFit/>
          </a:bodyPr>
          <a:lstStyle/>
          <a:p>
            <a:r>
              <a:rPr lang="en-US" sz="700" dirty="0"/>
              <a:t>http://porotechnology.com/gallery</a:t>
            </a:r>
          </a:p>
        </p:txBody>
      </p:sp>
      <p:sp>
        <p:nvSpPr>
          <p:cNvPr id="7" name="TextBox 6"/>
          <p:cNvSpPr txBox="1"/>
          <p:nvPr/>
        </p:nvSpPr>
        <p:spPr>
          <a:xfrm>
            <a:off x="3351512" y="1530033"/>
            <a:ext cx="2492334" cy="369332"/>
          </a:xfrm>
          <a:prstGeom prst="rect">
            <a:avLst/>
          </a:prstGeom>
          <a:noFill/>
        </p:spPr>
        <p:txBody>
          <a:bodyPr wrap="square" rtlCol="0">
            <a:spAutoFit/>
          </a:bodyPr>
          <a:lstStyle/>
          <a:p>
            <a:r>
              <a:rPr lang="en-US" dirty="0"/>
              <a:t>Mercury injection</a:t>
            </a:r>
          </a:p>
        </p:txBody>
      </p:sp>
      <p:pic>
        <p:nvPicPr>
          <p:cNvPr id="8" name="图片 4">
            <a:extLst>
              <a:ext uri="{FF2B5EF4-FFF2-40B4-BE49-F238E27FC236}">
                <a16:creationId xmlns:a16="http://schemas.microsoft.com/office/drawing/2014/main" id="{D11F5068-7ADE-40CA-BF02-0BD43D7334B5}"/>
              </a:ext>
            </a:extLst>
          </p:cNvPr>
          <p:cNvPicPr>
            <a:picLocks noChangeAspect="1"/>
          </p:cNvPicPr>
          <p:nvPr/>
        </p:nvPicPr>
        <p:blipFill rotWithShape="1">
          <a:blip r:embed="rId3"/>
          <a:srcRect l="18630" t="24755" r="23425" b="15929"/>
          <a:stretch/>
        </p:blipFill>
        <p:spPr>
          <a:xfrm>
            <a:off x="1564388" y="2892195"/>
            <a:ext cx="1681709" cy="1555984"/>
          </a:xfrm>
          <a:prstGeom prst="rect">
            <a:avLst/>
          </a:prstGeom>
        </p:spPr>
      </p:pic>
      <p:sp>
        <p:nvSpPr>
          <p:cNvPr id="9" name="TextBox 8"/>
          <p:cNvSpPr txBox="1"/>
          <p:nvPr/>
        </p:nvSpPr>
        <p:spPr>
          <a:xfrm>
            <a:off x="3351511" y="3269169"/>
            <a:ext cx="2353623" cy="646331"/>
          </a:xfrm>
          <a:prstGeom prst="rect">
            <a:avLst/>
          </a:prstGeom>
          <a:noFill/>
        </p:spPr>
        <p:txBody>
          <a:bodyPr wrap="square" rtlCol="0">
            <a:spAutoFit/>
          </a:bodyPr>
          <a:lstStyle/>
          <a:p>
            <a:r>
              <a:rPr lang="en-US" dirty="0"/>
              <a:t>Micro-CT and </a:t>
            </a:r>
          </a:p>
          <a:p>
            <a:r>
              <a:rPr lang="en-US" dirty="0"/>
              <a:t>Digital image analysis</a:t>
            </a:r>
          </a:p>
        </p:txBody>
      </p:sp>
      <p:sp>
        <p:nvSpPr>
          <p:cNvPr id="10" name="TextBox 9"/>
          <p:cNvSpPr txBox="1"/>
          <p:nvPr/>
        </p:nvSpPr>
        <p:spPr>
          <a:xfrm>
            <a:off x="3246097" y="5307476"/>
            <a:ext cx="2459038" cy="646331"/>
          </a:xfrm>
          <a:prstGeom prst="rect">
            <a:avLst/>
          </a:prstGeom>
          <a:noFill/>
        </p:spPr>
        <p:txBody>
          <a:bodyPr wrap="square" rtlCol="0">
            <a:spAutoFit/>
          </a:bodyPr>
          <a:lstStyle/>
          <a:p>
            <a:r>
              <a:rPr lang="en-US" dirty="0"/>
              <a:t>Gas adsorption (</a:t>
            </a:r>
            <a:r>
              <a:rPr lang="en-US" dirty="0" err="1"/>
              <a:t>micromeritics</a:t>
            </a:r>
            <a:r>
              <a:rPr lang="en-US" dirty="0"/>
              <a:t>, </a:t>
            </a:r>
            <a:r>
              <a:rPr lang="en-US" dirty="0" err="1"/>
              <a:t>inc</a:t>
            </a:r>
            <a:r>
              <a:rPr lang="en-US" dirty="0"/>
              <a:t>)</a:t>
            </a:r>
          </a:p>
        </p:txBody>
      </p:sp>
      <p:sp>
        <p:nvSpPr>
          <p:cNvPr id="11" name="TextBox 10"/>
          <p:cNvSpPr txBox="1"/>
          <p:nvPr/>
        </p:nvSpPr>
        <p:spPr>
          <a:xfrm>
            <a:off x="1699930" y="834045"/>
            <a:ext cx="2318455" cy="369332"/>
          </a:xfrm>
          <a:prstGeom prst="rect">
            <a:avLst/>
          </a:prstGeom>
          <a:noFill/>
        </p:spPr>
        <p:txBody>
          <a:bodyPr wrap="none" rtlCol="0">
            <a:spAutoFit/>
          </a:bodyPr>
          <a:lstStyle/>
          <a:p>
            <a:r>
              <a:rPr lang="en-US" dirty="0"/>
              <a:t>Conventional Methods</a:t>
            </a:r>
          </a:p>
        </p:txBody>
      </p:sp>
      <p:sp>
        <p:nvSpPr>
          <p:cNvPr id="12" name="TextBox 11"/>
          <p:cNvSpPr txBox="1"/>
          <p:nvPr/>
        </p:nvSpPr>
        <p:spPr>
          <a:xfrm>
            <a:off x="7782044" y="834045"/>
            <a:ext cx="2207720" cy="369332"/>
          </a:xfrm>
          <a:prstGeom prst="rect">
            <a:avLst/>
          </a:prstGeom>
          <a:noFill/>
        </p:spPr>
        <p:txBody>
          <a:bodyPr wrap="none" rtlCol="0">
            <a:spAutoFit/>
          </a:bodyPr>
          <a:lstStyle/>
          <a:p>
            <a:r>
              <a:rPr lang="en-US" dirty="0"/>
              <a:t>Geophysical Methods</a:t>
            </a:r>
          </a:p>
        </p:txBody>
      </p:sp>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8779427" y="2270190"/>
            <a:ext cx="2489131" cy="1866848"/>
          </a:xfrm>
          <a:prstGeom prst="rect">
            <a:avLst/>
          </a:prstGeom>
        </p:spPr>
      </p:pic>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6537479" y="2270190"/>
            <a:ext cx="2489131" cy="1866848"/>
          </a:xfrm>
          <a:prstGeom prst="rect">
            <a:avLst/>
          </a:prstGeom>
        </p:spPr>
      </p:pic>
      <p:sp>
        <p:nvSpPr>
          <p:cNvPr id="15" name="TextBox 14"/>
          <p:cNvSpPr txBox="1"/>
          <p:nvPr/>
        </p:nvSpPr>
        <p:spPr>
          <a:xfrm>
            <a:off x="6848620" y="4455303"/>
            <a:ext cx="1970047" cy="646331"/>
          </a:xfrm>
          <a:prstGeom prst="rect">
            <a:avLst/>
          </a:prstGeom>
          <a:noFill/>
        </p:spPr>
        <p:txBody>
          <a:bodyPr wrap="square" rtlCol="0">
            <a:spAutoFit/>
          </a:bodyPr>
          <a:lstStyle/>
          <a:p>
            <a:r>
              <a:rPr lang="en-US" dirty="0"/>
              <a:t>Nuclear magnetic resonance (NMR)</a:t>
            </a:r>
          </a:p>
        </p:txBody>
      </p:sp>
      <p:sp>
        <p:nvSpPr>
          <p:cNvPr id="16" name="TextBox 15"/>
          <p:cNvSpPr txBox="1"/>
          <p:nvPr/>
        </p:nvSpPr>
        <p:spPr>
          <a:xfrm>
            <a:off x="9090568" y="4455303"/>
            <a:ext cx="1970047" cy="646331"/>
          </a:xfrm>
          <a:prstGeom prst="rect">
            <a:avLst/>
          </a:prstGeom>
          <a:noFill/>
        </p:spPr>
        <p:txBody>
          <a:bodyPr wrap="square" rtlCol="0">
            <a:spAutoFit/>
          </a:bodyPr>
          <a:lstStyle/>
          <a:p>
            <a:r>
              <a:rPr lang="en-US" dirty="0">
                <a:cs typeface="Gill Sans MT"/>
              </a:rPr>
              <a:t>Spectral induced polarization (SIP)</a:t>
            </a:r>
          </a:p>
        </p:txBody>
      </p:sp>
      <p:pic>
        <p:nvPicPr>
          <p:cNvPr id="17" name="Picture 16"/>
          <p:cNvPicPr>
            <a:picLocks noChangeAspect="1"/>
          </p:cNvPicPr>
          <p:nvPr/>
        </p:nvPicPr>
        <p:blipFill>
          <a:blip r:embed="rId6"/>
          <a:stretch>
            <a:fillRect/>
          </a:stretch>
        </p:blipFill>
        <p:spPr>
          <a:xfrm>
            <a:off x="1858281" y="4610832"/>
            <a:ext cx="1221330" cy="2039621"/>
          </a:xfrm>
          <a:prstGeom prst="rect">
            <a:avLst/>
          </a:prstGeom>
        </p:spPr>
      </p:pic>
      <p:sp>
        <p:nvSpPr>
          <p:cNvPr id="2" name="Footer Placeholder 1"/>
          <p:cNvSpPr>
            <a:spLocks noGrp="1"/>
          </p:cNvSpPr>
          <p:nvPr>
            <p:ph type="ftr" sz="quarter" idx="11"/>
          </p:nvPr>
        </p:nvSpPr>
        <p:spPr/>
        <p:txBody>
          <a:bodyPr/>
          <a:lstStyle/>
          <a:p>
            <a:r>
              <a:rPr lang="en-US"/>
              <a:t>SEG 2018</a:t>
            </a:r>
            <a:endParaRPr lang="en-US" dirty="0"/>
          </a:p>
        </p:txBody>
      </p:sp>
      <p:sp>
        <p:nvSpPr>
          <p:cNvPr id="3" name="Slide Number Placeholder 2"/>
          <p:cNvSpPr>
            <a:spLocks noGrp="1"/>
          </p:cNvSpPr>
          <p:nvPr>
            <p:ph type="sldNum" sz="quarter" idx="12"/>
          </p:nvPr>
        </p:nvSpPr>
        <p:spPr/>
        <p:txBody>
          <a:bodyPr/>
          <a:lstStyle/>
          <a:p>
            <a:fld id="{774D434B-DAEE-4BF7-9AC2-3255F1C5EAFE}" type="slidenum">
              <a:rPr lang="en-US" smtClean="0"/>
              <a:pPr/>
              <a:t>4</a:t>
            </a:fld>
            <a:endParaRPr lang="en-US" dirty="0"/>
          </a:p>
        </p:txBody>
      </p:sp>
    </p:spTree>
    <p:extLst>
      <p:ext uri="{BB962C8B-B14F-4D97-AF65-F5344CB8AC3E}">
        <p14:creationId xmlns:p14="http://schemas.microsoft.com/office/powerpoint/2010/main" val="1421759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Characterizing carbonate</a:t>
            </a:r>
          </a:p>
        </p:txBody>
      </p:sp>
      <p:grpSp>
        <p:nvGrpSpPr>
          <p:cNvPr id="3" name="Group 2"/>
          <p:cNvGrpSpPr/>
          <p:nvPr/>
        </p:nvGrpSpPr>
        <p:grpSpPr>
          <a:xfrm>
            <a:off x="199772" y="1766937"/>
            <a:ext cx="8443230" cy="3471450"/>
            <a:chOff x="-1519723" y="1812134"/>
            <a:chExt cx="10940072" cy="4409159"/>
          </a:xfrm>
        </p:grpSpPr>
        <p:sp>
          <p:nvSpPr>
            <p:cNvPr id="4" name="Rounded Rectangle 7"/>
            <p:cNvSpPr/>
            <p:nvPr/>
          </p:nvSpPr>
          <p:spPr>
            <a:xfrm>
              <a:off x="916562" y="1820149"/>
              <a:ext cx="2209800"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SIP&amp;NMR</a:t>
              </a:r>
            </a:p>
          </p:txBody>
        </p:sp>
        <p:sp>
          <p:nvSpPr>
            <p:cNvPr id="5" name="Rounded Rectangle 8"/>
            <p:cNvSpPr/>
            <p:nvPr/>
          </p:nvSpPr>
          <p:spPr>
            <a:xfrm>
              <a:off x="5446871" y="1812134"/>
              <a:ext cx="2209799"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Special Core Analysis</a:t>
              </a:r>
            </a:p>
          </p:txBody>
        </p:sp>
        <p:cxnSp>
          <p:nvCxnSpPr>
            <p:cNvPr id="6" name="Elbow Connector 9"/>
            <p:cNvCxnSpPr>
              <a:cxnSpLocks/>
              <a:stCxn id="4" idx="2"/>
              <a:endCxn id="7" idx="0"/>
            </p:cNvCxnSpPr>
            <p:nvPr/>
          </p:nvCxnSpPr>
          <p:spPr>
            <a:xfrm rot="5400000">
              <a:off x="675658" y="1560194"/>
              <a:ext cx="476249" cy="2215361"/>
            </a:xfrm>
            <a:prstGeom prst="bentConnector3">
              <a:avLst>
                <a:gd name="adj1" fmla="val 50000"/>
              </a:avLst>
            </a:prstGeom>
            <a:ln w="9525">
              <a:miter lim="800000"/>
              <a:tailEnd type="triangle"/>
            </a:ln>
          </p:spPr>
          <p:style>
            <a:lnRef idx="1">
              <a:schemeClr val="accent1"/>
            </a:lnRef>
            <a:fillRef idx="0">
              <a:schemeClr val="accent1"/>
            </a:fillRef>
            <a:effectRef idx="0">
              <a:schemeClr val="accent1"/>
            </a:effectRef>
            <a:fontRef idx="minor">
              <a:schemeClr val="tx1"/>
            </a:fontRef>
          </p:style>
        </p:cxnSp>
        <p:sp>
          <p:nvSpPr>
            <p:cNvPr id="7" name="Rounded Rectangle 10"/>
            <p:cNvSpPr/>
            <p:nvPr/>
          </p:nvSpPr>
          <p:spPr>
            <a:xfrm>
              <a:off x="-1003730" y="2905999"/>
              <a:ext cx="1619662"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SIP</a:t>
              </a:r>
            </a:p>
          </p:txBody>
        </p:sp>
        <p:sp>
          <p:nvSpPr>
            <p:cNvPr id="8" name="Rounded Rectangle 11"/>
            <p:cNvSpPr/>
            <p:nvPr/>
          </p:nvSpPr>
          <p:spPr>
            <a:xfrm>
              <a:off x="2427494" y="2905997"/>
              <a:ext cx="1606387" cy="609601"/>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NMR</a:t>
              </a:r>
            </a:p>
          </p:txBody>
        </p:sp>
        <p:sp>
          <p:nvSpPr>
            <p:cNvPr id="9" name="Rounded Rectangle 12"/>
            <p:cNvSpPr/>
            <p:nvPr/>
          </p:nvSpPr>
          <p:spPr>
            <a:xfrm>
              <a:off x="4916399" y="2925885"/>
              <a:ext cx="1733140" cy="6096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Gas adsorption</a:t>
              </a:r>
            </a:p>
          </p:txBody>
        </p:sp>
        <p:sp>
          <p:nvSpPr>
            <p:cNvPr id="10" name="Rounded Rectangle 13"/>
            <p:cNvSpPr/>
            <p:nvPr/>
          </p:nvSpPr>
          <p:spPr>
            <a:xfrm>
              <a:off x="6832267" y="2925885"/>
              <a:ext cx="1587575" cy="6096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Micro-CT</a:t>
              </a:r>
            </a:p>
          </p:txBody>
        </p:sp>
        <p:cxnSp>
          <p:nvCxnSpPr>
            <p:cNvPr id="11" name="Elbow Connector 14"/>
            <p:cNvCxnSpPr>
              <a:cxnSpLocks/>
              <a:stCxn id="4" idx="2"/>
              <a:endCxn id="8" idx="0"/>
            </p:cNvCxnSpPr>
            <p:nvPr/>
          </p:nvCxnSpPr>
          <p:spPr>
            <a:xfrm rot="16200000" flipH="1">
              <a:off x="2387951" y="2063259"/>
              <a:ext cx="476248" cy="1209225"/>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5"/>
            <p:cNvCxnSpPr>
              <a:cxnSpLocks/>
              <a:stCxn id="5" idx="2"/>
              <a:endCxn id="10" idx="0"/>
            </p:cNvCxnSpPr>
            <p:nvPr/>
          </p:nvCxnSpPr>
          <p:spPr>
            <a:xfrm rot="16200000" flipH="1">
              <a:off x="6836838" y="2136668"/>
              <a:ext cx="504150" cy="107428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6"/>
            <p:cNvCxnSpPr>
              <a:cxnSpLocks/>
              <a:stCxn id="5" idx="2"/>
              <a:endCxn id="9" idx="0"/>
            </p:cNvCxnSpPr>
            <p:nvPr/>
          </p:nvCxnSpPr>
          <p:spPr>
            <a:xfrm rot="5400000">
              <a:off x="5915297" y="2289409"/>
              <a:ext cx="504150" cy="76880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95026" y="4916971"/>
              <a:ext cx="1676400" cy="595313"/>
            </a:xfrm>
            <a:prstGeom prst="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err="1">
                  <a:solidFill>
                    <a:schemeClr val="bg1"/>
                  </a:solidFill>
                </a:rPr>
                <a:t>S</a:t>
              </a:r>
              <a:r>
                <a:rPr lang="en-US" sz="1600" b="1" i="1" baseline="-25000" dirty="0" err="1">
                  <a:solidFill>
                    <a:schemeClr val="bg1"/>
                  </a:solidFill>
                </a:rPr>
                <a:t>por</a:t>
              </a:r>
              <a:endParaRPr lang="en-US" sz="1600" b="1" i="1" dirty="0">
                <a:solidFill>
                  <a:schemeClr val="bg1"/>
                </a:solidFill>
              </a:endParaRPr>
            </a:p>
          </p:txBody>
        </p:sp>
        <p:sp>
          <p:nvSpPr>
            <p:cNvPr id="15" name="Rectangle 14"/>
            <p:cNvSpPr/>
            <p:nvPr/>
          </p:nvSpPr>
          <p:spPr>
            <a:xfrm>
              <a:off x="6793558" y="3891115"/>
              <a:ext cx="1676401" cy="806586"/>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3-D Texture</a:t>
              </a:r>
            </a:p>
            <a:p>
              <a:pPr algn="ctr"/>
              <a:r>
                <a:rPr lang="en-US" sz="1600" b="1" dirty="0"/>
                <a:t>(&gt;</a:t>
              </a:r>
              <a:r>
                <a:rPr lang="en-US" altLang="zh-CN" sz="1600" b="1" dirty="0" err="1"/>
                <a:t>μm</a:t>
              </a:r>
              <a:r>
                <a:rPr lang="en-US" sz="1600" b="1" dirty="0"/>
                <a:t>)</a:t>
              </a:r>
            </a:p>
          </p:txBody>
        </p:sp>
        <p:sp>
          <p:nvSpPr>
            <p:cNvPr id="16" name="Rectangle 15"/>
            <p:cNvSpPr/>
            <p:nvPr/>
          </p:nvSpPr>
          <p:spPr>
            <a:xfrm>
              <a:off x="2420706" y="4020504"/>
              <a:ext cx="622886"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b="1" dirty="0"/>
                <a:t>φ</a:t>
              </a:r>
              <a:endParaRPr lang="en-US" sz="1600" b="1" dirty="0"/>
            </a:p>
          </p:txBody>
        </p:sp>
        <p:sp>
          <p:nvSpPr>
            <p:cNvPr id="17" name="Rectangle 16"/>
            <p:cNvSpPr/>
            <p:nvPr/>
          </p:nvSpPr>
          <p:spPr>
            <a:xfrm>
              <a:off x="3126363" y="4010262"/>
              <a:ext cx="852727"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PSD</a:t>
              </a:r>
            </a:p>
          </p:txBody>
        </p:sp>
        <p:cxnSp>
          <p:nvCxnSpPr>
            <p:cNvPr id="18" name="Elbow Connector 23"/>
            <p:cNvCxnSpPr>
              <a:cxnSpLocks/>
              <a:stCxn id="8" idx="2"/>
              <a:endCxn id="16" idx="0"/>
            </p:cNvCxnSpPr>
            <p:nvPr/>
          </p:nvCxnSpPr>
          <p:spPr>
            <a:xfrm rot="5400000">
              <a:off x="2728966" y="3518781"/>
              <a:ext cx="504906" cy="498539"/>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24"/>
            <p:cNvCxnSpPr>
              <a:cxnSpLocks/>
              <a:stCxn id="8" idx="2"/>
              <a:endCxn id="17" idx="0"/>
            </p:cNvCxnSpPr>
            <p:nvPr/>
          </p:nvCxnSpPr>
          <p:spPr>
            <a:xfrm rot="16200000" flipH="1">
              <a:off x="3144376" y="3601911"/>
              <a:ext cx="494664" cy="322039"/>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1584060" y="5384519"/>
              <a:ext cx="1879871"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sp>
          <p:nvSpPr>
            <p:cNvPr id="21" name="Rectangle 20"/>
            <p:cNvSpPr/>
            <p:nvPr/>
          </p:nvSpPr>
          <p:spPr>
            <a:xfrm>
              <a:off x="-1519723" y="5380472"/>
              <a:ext cx="1885579"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cxnSp>
          <p:nvCxnSpPr>
            <p:cNvPr id="22" name="Straight Arrow Connector 21"/>
            <p:cNvCxnSpPr>
              <a:cxnSpLocks/>
              <a:stCxn id="15" idx="1"/>
              <a:endCxn id="33" idx="3"/>
            </p:cNvCxnSpPr>
            <p:nvPr/>
          </p:nvCxnSpPr>
          <p:spPr>
            <a:xfrm flipH="1">
              <a:off x="4826920" y="4294409"/>
              <a:ext cx="1966638" cy="13509"/>
            </a:xfrm>
            <a:prstGeom prst="straightConnector1">
              <a:avLst/>
            </a:prstGeom>
            <a:ln w="25400">
              <a:solidFill>
                <a:schemeClr val="tx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cxnSpLocks/>
              <a:stCxn id="17" idx="2"/>
              <a:endCxn id="54" idx="0"/>
            </p:cNvCxnSpPr>
            <p:nvPr/>
          </p:nvCxnSpPr>
          <p:spPr>
            <a:xfrm>
              <a:off x="3552726" y="4605576"/>
              <a:ext cx="0" cy="1615717"/>
            </a:xfrm>
            <a:prstGeom prst="straightConnector1">
              <a:avLst/>
            </a:prstGeom>
            <a:ln w="25400">
              <a:solidFill>
                <a:schemeClr val="tx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a:stCxn id="21" idx="3"/>
              <a:endCxn id="20" idx="1"/>
            </p:cNvCxnSpPr>
            <p:nvPr/>
          </p:nvCxnSpPr>
          <p:spPr>
            <a:xfrm>
              <a:off x="365856" y="5678128"/>
              <a:ext cx="1218204" cy="4047"/>
            </a:xfrm>
            <a:prstGeom prst="straightConnector1">
              <a:avLst/>
            </a:prstGeom>
            <a:ln w="25400">
              <a:solidFill>
                <a:schemeClr val="tx1"/>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34"/>
            <p:cNvSpPr/>
            <p:nvPr/>
          </p:nvSpPr>
          <p:spPr>
            <a:xfrm>
              <a:off x="8585197" y="2946281"/>
              <a:ext cx="835152" cy="5969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i="1" dirty="0" err="1"/>
                <a:t>k</a:t>
              </a:r>
              <a:r>
                <a:rPr lang="en-US" sz="1600" b="1" i="1" baseline="-25000" dirty="0" err="1"/>
                <a:t>air</a:t>
              </a:r>
              <a:r>
                <a:rPr lang="en-US" sz="1600" b="1" dirty="0"/>
                <a:t> </a:t>
              </a:r>
            </a:p>
          </p:txBody>
        </p:sp>
        <p:cxnSp>
          <p:nvCxnSpPr>
            <p:cNvPr id="26" name="Elbow Connector 38"/>
            <p:cNvCxnSpPr>
              <a:cxnSpLocks/>
              <a:stCxn id="5" idx="2"/>
              <a:endCxn id="25" idx="0"/>
            </p:cNvCxnSpPr>
            <p:nvPr/>
          </p:nvCxnSpPr>
          <p:spPr>
            <a:xfrm rot="16200000" flipH="1">
              <a:off x="7514998" y="1458507"/>
              <a:ext cx="524547" cy="245100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grpSp>
      <p:cxnSp>
        <p:nvCxnSpPr>
          <p:cNvPr id="27" name="Connector: Elbow 39"/>
          <p:cNvCxnSpPr>
            <a:cxnSpLocks/>
            <a:stCxn id="7" idx="2"/>
            <a:endCxn id="29" idx="0"/>
          </p:cNvCxnSpPr>
          <p:nvPr/>
        </p:nvCxnSpPr>
        <p:spPr>
          <a:xfrm rot="5400000">
            <a:off x="689437" y="2957109"/>
            <a:ext cx="382556" cy="68458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41"/>
          <p:cNvCxnSpPr>
            <a:cxnSpLocks/>
            <a:stCxn id="7" idx="2"/>
            <a:endCxn id="30" idx="0"/>
          </p:cNvCxnSpPr>
          <p:nvPr/>
        </p:nvCxnSpPr>
        <p:spPr>
          <a:xfrm rot="16200000" flipH="1">
            <a:off x="1286751" y="3044375"/>
            <a:ext cx="389461" cy="51695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28"/>
              <p:cNvSpPr/>
              <p:nvPr/>
            </p:nvSpPr>
            <p:spPr>
              <a:xfrm>
                <a:off x="302242" y="3490677"/>
                <a:ext cx="472365" cy="468706"/>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1600" b="1" i="1">
                              <a:latin typeface="Cambria Math" panose="02040503050406030204" pitchFamily="18" charset="0"/>
                            </a:rPr>
                          </m:ctrlPr>
                        </m:sSupPr>
                        <m:e>
                          <m:r>
                            <a:rPr lang="en-US" sz="1600" b="1" i="1" smtClean="0">
                              <a:latin typeface="Cambria Math" panose="02040503050406030204" pitchFamily="18" charset="0"/>
                            </a:rPr>
                            <m:t>𝝈</m:t>
                          </m:r>
                        </m:e>
                        <m:sup>
                          <m:r>
                            <a:rPr lang="en-US" sz="1600" b="1" i="1" smtClean="0">
                              <a:latin typeface="Cambria Math" panose="02040503050406030204" pitchFamily="18" charset="0"/>
                            </a:rPr>
                            <m:t>′</m:t>
                          </m:r>
                        </m:sup>
                      </m:sSup>
                    </m:oMath>
                  </m:oMathPara>
                </a14:m>
                <a:endParaRPr lang="en-US" sz="1600" b="1" i="1" dirty="0"/>
              </a:p>
            </p:txBody>
          </p:sp>
        </mc:Choice>
        <mc:Fallback xmlns="">
          <p:sp>
            <p:nvSpPr>
              <p:cNvPr id="29" name="Rectangle 28"/>
              <p:cNvSpPr>
                <a:spLocks noRot="1" noChangeAspect="1" noMove="1" noResize="1" noEditPoints="1" noAdjustHandles="1" noChangeArrowheads="1" noChangeShapeType="1" noTextEdit="1"/>
              </p:cNvSpPr>
              <p:nvPr/>
            </p:nvSpPr>
            <p:spPr>
              <a:xfrm>
                <a:off x="302242" y="3490677"/>
                <a:ext cx="472365" cy="468706"/>
              </a:xfrm>
              <a:prstGeom prst="rect">
                <a:avLst/>
              </a:prstGeom>
              <a:blipFill>
                <a:blip r:embed="rId2"/>
                <a:stretch>
                  <a:fillRect/>
                </a:stretch>
              </a:blipFill>
              <a:ln>
                <a:miter lim="800000"/>
              </a:ln>
            </p:spPr>
            <p:txBody>
              <a:bodyPr/>
              <a:lstStyle/>
              <a:p>
                <a:r>
                  <a:rPr lang="en-US">
                    <a:noFill/>
                  </a:rPr>
                  <a:t> </a:t>
                </a:r>
              </a:p>
            </p:txBody>
          </p:sp>
        </mc:Fallback>
      </mc:AlternateContent>
      <p:sp>
        <p:nvSpPr>
          <p:cNvPr id="30" name="Rectangle 29"/>
          <p:cNvSpPr/>
          <p:nvPr/>
        </p:nvSpPr>
        <p:spPr>
          <a:xfrm>
            <a:off x="1535864" y="3497582"/>
            <a:ext cx="408185" cy="468706"/>
          </a:xfrm>
          <a:prstGeom prst="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F</a:t>
            </a:r>
          </a:p>
        </p:txBody>
      </p:sp>
      <mc:AlternateContent xmlns:mc="http://schemas.openxmlformats.org/markup-compatibility/2006" xmlns:a14="http://schemas.microsoft.com/office/drawing/2010/main">
        <mc:Choice Requires="a14">
          <p:sp>
            <p:nvSpPr>
              <p:cNvPr id="31" name="Rectangle 30"/>
              <p:cNvSpPr/>
              <p:nvPr/>
            </p:nvSpPr>
            <p:spPr>
              <a:xfrm>
                <a:off x="882278" y="3497582"/>
                <a:ext cx="507591" cy="468706"/>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𝝈</m:t>
                          </m:r>
                        </m:e>
                        <m:sup>
                          <m:r>
                            <a:rPr lang="en-US" sz="1600" b="1" i="1" smtClean="0">
                              <a:latin typeface="Cambria Math" panose="02040503050406030204" pitchFamily="18" charset="0"/>
                            </a:rPr>
                            <m:t>"</m:t>
                          </m:r>
                        </m:sup>
                      </m:sSup>
                    </m:oMath>
                  </m:oMathPara>
                </a14:m>
                <a:endParaRPr lang="en-US" sz="1600" b="1" i="1" dirty="0"/>
              </a:p>
            </p:txBody>
          </p:sp>
        </mc:Choice>
        <mc:Fallback xmlns="">
          <p:sp>
            <p:nvSpPr>
              <p:cNvPr id="31" name="Rectangle 30"/>
              <p:cNvSpPr>
                <a:spLocks noRot="1" noChangeAspect="1" noMove="1" noResize="1" noEditPoints="1" noAdjustHandles="1" noChangeArrowheads="1" noChangeShapeType="1" noTextEdit="1"/>
              </p:cNvSpPr>
              <p:nvPr/>
            </p:nvSpPr>
            <p:spPr>
              <a:xfrm>
                <a:off x="882278" y="3497582"/>
                <a:ext cx="507591" cy="468706"/>
              </a:xfrm>
              <a:prstGeom prst="rect">
                <a:avLst/>
              </a:prstGeom>
              <a:blipFill>
                <a:blip r:embed="rId3"/>
                <a:stretch>
                  <a:fillRect/>
                </a:stretch>
              </a:blipFill>
              <a:ln>
                <a:miter lim="800000"/>
              </a:ln>
            </p:spPr>
            <p:txBody>
              <a:bodyPr/>
              <a:lstStyle/>
              <a:p>
                <a:r>
                  <a:rPr lang="en-US">
                    <a:noFill/>
                  </a:rPr>
                  <a:t> </a:t>
                </a:r>
              </a:p>
            </p:txBody>
          </p:sp>
        </mc:Fallback>
      </mc:AlternateContent>
      <p:cxnSp>
        <p:nvCxnSpPr>
          <p:cNvPr id="32" name="Connector: Elbow 70"/>
          <p:cNvCxnSpPr>
            <a:cxnSpLocks/>
            <a:stCxn id="7" idx="2"/>
            <a:endCxn id="31" idx="0"/>
          </p:cNvCxnSpPr>
          <p:nvPr/>
        </p:nvCxnSpPr>
        <p:spPr>
          <a:xfrm rot="5400000">
            <a:off x="984810" y="3259386"/>
            <a:ext cx="389461" cy="869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489441" y="3497582"/>
            <a:ext cx="608486" cy="468706"/>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T</a:t>
            </a:r>
            <a:r>
              <a:rPr lang="en-US" sz="1600" b="1" i="1" baseline="-25000" dirty="0"/>
              <a:t>2ml</a:t>
            </a:r>
            <a:endParaRPr lang="en-US" sz="1600" b="1" i="1" dirty="0"/>
          </a:p>
        </p:txBody>
      </p:sp>
      <p:cxnSp>
        <p:nvCxnSpPr>
          <p:cNvPr id="34" name="Connector: Elbow 90"/>
          <p:cNvCxnSpPr>
            <a:cxnSpLocks/>
            <a:stCxn id="8" idx="2"/>
            <a:endCxn id="33" idx="0"/>
          </p:cNvCxnSpPr>
          <p:nvPr/>
        </p:nvCxnSpPr>
        <p:spPr>
          <a:xfrm rot="16200000" flipH="1">
            <a:off x="4135111" y="2839009"/>
            <a:ext cx="389462" cy="9276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39"/>
          <p:cNvCxnSpPr>
            <a:cxnSpLocks/>
            <a:stCxn id="29" idx="2"/>
            <a:endCxn id="21" idx="0"/>
          </p:cNvCxnSpPr>
          <p:nvPr/>
        </p:nvCxnSpPr>
        <p:spPr>
          <a:xfrm rot="16200000" flipH="1">
            <a:off x="424406" y="4073401"/>
            <a:ext cx="617003" cy="3889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41"/>
          <p:cNvCxnSpPr>
            <a:cxnSpLocks/>
            <a:stCxn id="31" idx="2"/>
            <a:endCxn id="21" idx="0"/>
          </p:cNvCxnSpPr>
          <p:nvPr/>
        </p:nvCxnSpPr>
        <p:spPr>
          <a:xfrm rot="5400000">
            <a:off x="726683" y="4166995"/>
            <a:ext cx="610098" cy="208684"/>
          </a:xfrm>
          <a:prstGeom prst="bentConnector3">
            <a:avLst>
              <a:gd name="adj1" fmla="val 48637"/>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4A81E25C-A4ED-43E3-AE4E-6F6CE7D0DFF5}"/>
              </a:ext>
            </a:extLst>
          </p:cNvPr>
          <p:cNvSpPr/>
          <p:nvPr/>
        </p:nvSpPr>
        <p:spPr>
          <a:xfrm>
            <a:off x="2083040" y="3509016"/>
            <a:ext cx="457150" cy="468706"/>
          </a:xfrm>
          <a:prstGeom prst="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m</a:t>
            </a:r>
          </a:p>
        </p:txBody>
      </p:sp>
      <p:sp>
        <p:nvSpPr>
          <p:cNvPr id="38" name="Rectangle 37">
            <a:extLst>
              <a:ext uri="{FF2B5EF4-FFF2-40B4-BE49-F238E27FC236}">
                <a16:creationId xmlns:a16="http://schemas.microsoft.com/office/drawing/2014/main" id="{B29736B1-E614-4BBF-AFFD-C4BDCFF95D4C}"/>
              </a:ext>
            </a:extLst>
          </p:cNvPr>
          <p:cNvSpPr/>
          <p:nvPr/>
        </p:nvSpPr>
        <p:spPr>
          <a:xfrm>
            <a:off x="2677625" y="3497582"/>
            <a:ext cx="457150" cy="468706"/>
          </a:xfrm>
          <a:prstGeom prst="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τ</a:t>
            </a:r>
          </a:p>
        </p:txBody>
      </p:sp>
      <p:sp>
        <p:nvSpPr>
          <p:cNvPr id="39" name="Rounded Rectangle 8">
            <a:extLst>
              <a:ext uri="{FF2B5EF4-FFF2-40B4-BE49-F238E27FC236}">
                <a16:creationId xmlns:a16="http://schemas.microsoft.com/office/drawing/2014/main" id="{DA73F2FD-A0B3-4248-AC7C-6BBBBBD6DDCC}"/>
              </a:ext>
            </a:extLst>
          </p:cNvPr>
          <p:cNvSpPr/>
          <p:nvPr/>
        </p:nvSpPr>
        <p:spPr>
          <a:xfrm>
            <a:off x="9439445" y="1761418"/>
            <a:ext cx="1705459"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Well-log Analysis</a:t>
            </a:r>
          </a:p>
        </p:txBody>
      </p:sp>
      <p:sp>
        <p:nvSpPr>
          <p:cNvPr id="40" name="Rounded Rectangle 11">
            <a:extLst>
              <a:ext uri="{FF2B5EF4-FFF2-40B4-BE49-F238E27FC236}">
                <a16:creationId xmlns:a16="http://schemas.microsoft.com/office/drawing/2014/main" id="{47C08131-9B2A-4749-9CA5-F26076581A95}"/>
              </a:ext>
            </a:extLst>
          </p:cNvPr>
          <p:cNvSpPr/>
          <p:nvPr/>
        </p:nvSpPr>
        <p:spPr>
          <a:xfrm>
            <a:off x="9893409" y="2646098"/>
            <a:ext cx="797529"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T</a:t>
            </a:r>
            <a:r>
              <a:rPr lang="en-US" sz="1600" b="1" i="1" baseline="-25000" dirty="0"/>
              <a:t>1</a:t>
            </a:r>
            <a:r>
              <a:rPr lang="en-US" sz="1600" b="1" i="1" dirty="0"/>
              <a:t>/T</a:t>
            </a:r>
            <a:r>
              <a:rPr lang="en-US" sz="1600" b="1" i="1" baseline="-25000" dirty="0"/>
              <a:t>2</a:t>
            </a:r>
          </a:p>
        </p:txBody>
      </p:sp>
      <p:cxnSp>
        <p:nvCxnSpPr>
          <p:cNvPr id="41" name="Straight Arrow Connector 40">
            <a:extLst>
              <a:ext uri="{FF2B5EF4-FFF2-40B4-BE49-F238E27FC236}">
                <a16:creationId xmlns:a16="http://schemas.microsoft.com/office/drawing/2014/main" id="{E2A6621D-D56B-45F2-9CC9-83415AF58F89}"/>
              </a:ext>
            </a:extLst>
          </p:cNvPr>
          <p:cNvCxnSpPr>
            <a:stCxn id="39" idx="2"/>
            <a:endCxn id="40" idx="0"/>
          </p:cNvCxnSpPr>
          <p:nvPr/>
        </p:nvCxnSpPr>
        <p:spPr>
          <a:xfrm flipH="1">
            <a:off x="10292174" y="2241373"/>
            <a:ext cx="1" cy="40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ounded Rectangle 11">
            <a:extLst>
              <a:ext uri="{FF2B5EF4-FFF2-40B4-BE49-F238E27FC236}">
                <a16:creationId xmlns:a16="http://schemas.microsoft.com/office/drawing/2014/main" id="{18919505-2490-473D-A953-7EA845D356BF}"/>
              </a:ext>
            </a:extLst>
          </p:cNvPr>
          <p:cNvSpPr/>
          <p:nvPr/>
        </p:nvSpPr>
        <p:spPr>
          <a:xfrm>
            <a:off x="8552015" y="3370728"/>
            <a:ext cx="1701622"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Sonic calibrated perm model</a:t>
            </a:r>
          </a:p>
        </p:txBody>
      </p:sp>
      <p:cxnSp>
        <p:nvCxnSpPr>
          <p:cNvPr id="43" name="Connector: Elbow 145">
            <a:extLst>
              <a:ext uri="{FF2B5EF4-FFF2-40B4-BE49-F238E27FC236}">
                <a16:creationId xmlns:a16="http://schemas.microsoft.com/office/drawing/2014/main" id="{01090A1D-9670-4320-A860-BB82C1BDCD6C}"/>
              </a:ext>
            </a:extLst>
          </p:cNvPr>
          <p:cNvCxnSpPr>
            <a:cxnSpLocks/>
            <a:stCxn id="40" idx="2"/>
            <a:endCxn id="42" idx="0"/>
          </p:cNvCxnSpPr>
          <p:nvPr/>
        </p:nvCxnSpPr>
        <p:spPr>
          <a:xfrm rot="5400000">
            <a:off x="9725163" y="2803716"/>
            <a:ext cx="244675" cy="8893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A400FD3A-C173-45EA-A5BD-CDCBBF0DFC1A}"/>
              </a:ext>
            </a:extLst>
          </p:cNvPr>
          <p:cNvSpPr/>
          <p:nvPr/>
        </p:nvSpPr>
        <p:spPr>
          <a:xfrm>
            <a:off x="8677411" y="4576386"/>
            <a:ext cx="1450830" cy="468706"/>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cxnSp>
        <p:nvCxnSpPr>
          <p:cNvPr id="45" name="Straight Arrow Connector 44">
            <a:extLst>
              <a:ext uri="{FF2B5EF4-FFF2-40B4-BE49-F238E27FC236}">
                <a16:creationId xmlns:a16="http://schemas.microsoft.com/office/drawing/2014/main" id="{FCF27626-49EE-4D17-B958-AFF1A1C00A99}"/>
              </a:ext>
            </a:extLst>
          </p:cNvPr>
          <p:cNvCxnSpPr>
            <a:stCxn id="42" idx="2"/>
            <a:endCxn id="44" idx="0"/>
          </p:cNvCxnSpPr>
          <p:nvPr/>
        </p:nvCxnSpPr>
        <p:spPr>
          <a:xfrm>
            <a:off x="9402826" y="3850683"/>
            <a:ext cx="0" cy="725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70">
            <a:extLst>
              <a:ext uri="{FF2B5EF4-FFF2-40B4-BE49-F238E27FC236}">
                <a16:creationId xmlns:a16="http://schemas.microsoft.com/office/drawing/2014/main" id="{531342C7-A2F6-4499-88FA-4D019C77DB4A}"/>
              </a:ext>
            </a:extLst>
          </p:cNvPr>
          <p:cNvCxnSpPr>
            <a:cxnSpLocks/>
            <a:stCxn id="40" idx="2"/>
            <a:endCxn id="47" idx="0"/>
          </p:cNvCxnSpPr>
          <p:nvPr/>
        </p:nvCxnSpPr>
        <p:spPr>
          <a:xfrm rot="16200000" flipH="1">
            <a:off x="10638873" y="2779353"/>
            <a:ext cx="244675" cy="93807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ounded Rectangle 11">
            <a:extLst>
              <a:ext uri="{FF2B5EF4-FFF2-40B4-BE49-F238E27FC236}">
                <a16:creationId xmlns:a16="http://schemas.microsoft.com/office/drawing/2014/main" id="{E6DCD4D6-78CE-405E-A01F-5B2BC667E3D1}"/>
              </a:ext>
            </a:extLst>
          </p:cNvPr>
          <p:cNvSpPr/>
          <p:nvPr/>
        </p:nvSpPr>
        <p:spPr>
          <a:xfrm>
            <a:off x="10915754" y="3370728"/>
            <a:ext cx="628985"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PCA</a:t>
            </a:r>
          </a:p>
        </p:txBody>
      </p:sp>
      <p:sp>
        <p:nvSpPr>
          <p:cNvPr id="48" name="Rounded Rectangle 11">
            <a:extLst>
              <a:ext uri="{FF2B5EF4-FFF2-40B4-BE49-F238E27FC236}">
                <a16:creationId xmlns:a16="http://schemas.microsoft.com/office/drawing/2014/main" id="{9E18EFD4-59D5-4721-B45B-ED72A030A04F}"/>
              </a:ext>
            </a:extLst>
          </p:cNvPr>
          <p:cNvSpPr/>
          <p:nvPr/>
        </p:nvSpPr>
        <p:spPr>
          <a:xfrm>
            <a:off x="10649535" y="3975554"/>
            <a:ext cx="1172407"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Clustering</a:t>
            </a:r>
          </a:p>
        </p:txBody>
      </p:sp>
      <p:cxnSp>
        <p:nvCxnSpPr>
          <p:cNvPr id="49" name="Straight Arrow Connector 48">
            <a:extLst>
              <a:ext uri="{FF2B5EF4-FFF2-40B4-BE49-F238E27FC236}">
                <a16:creationId xmlns:a16="http://schemas.microsoft.com/office/drawing/2014/main" id="{307CAF5D-B55A-4AD2-A30D-1B009E0EF3BA}"/>
              </a:ext>
            </a:extLst>
          </p:cNvPr>
          <p:cNvCxnSpPr>
            <a:stCxn id="47" idx="2"/>
            <a:endCxn id="48" idx="0"/>
          </p:cNvCxnSpPr>
          <p:nvPr/>
        </p:nvCxnSpPr>
        <p:spPr>
          <a:xfrm>
            <a:off x="11230247" y="3850683"/>
            <a:ext cx="5492" cy="124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ounded Rectangle 11">
            <a:extLst>
              <a:ext uri="{FF2B5EF4-FFF2-40B4-BE49-F238E27FC236}">
                <a16:creationId xmlns:a16="http://schemas.microsoft.com/office/drawing/2014/main" id="{762F2656-9053-4046-BA40-DCCDADB42729}"/>
              </a:ext>
            </a:extLst>
          </p:cNvPr>
          <p:cNvSpPr/>
          <p:nvPr/>
        </p:nvSpPr>
        <p:spPr>
          <a:xfrm>
            <a:off x="10498794" y="4584155"/>
            <a:ext cx="1462903"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Classification</a:t>
            </a:r>
          </a:p>
        </p:txBody>
      </p:sp>
      <p:cxnSp>
        <p:nvCxnSpPr>
          <p:cNvPr id="51" name="Straight Arrow Connector 50">
            <a:extLst>
              <a:ext uri="{FF2B5EF4-FFF2-40B4-BE49-F238E27FC236}">
                <a16:creationId xmlns:a16="http://schemas.microsoft.com/office/drawing/2014/main" id="{E0A88CB0-935A-4F4E-AA73-28B0BE8B420A}"/>
              </a:ext>
            </a:extLst>
          </p:cNvPr>
          <p:cNvCxnSpPr>
            <a:stCxn id="48" idx="2"/>
            <a:endCxn id="50" idx="0"/>
          </p:cNvCxnSpPr>
          <p:nvPr/>
        </p:nvCxnSpPr>
        <p:spPr>
          <a:xfrm flipH="1">
            <a:off x="11230246" y="4455509"/>
            <a:ext cx="5493" cy="128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ounded Rectangle 11">
            <a:extLst>
              <a:ext uri="{FF2B5EF4-FFF2-40B4-BE49-F238E27FC236}">
                <a16:creationId xmlns:a16="http://schemas.microsoft.com/office/drawing/2014/main" id="{C1AD6C3B-6674-4D0F-93B5-674576A31261}"/>
              </a:ext>
            </a:extLst>
          </p:cNvPr>
          <p:cNvSpPr/>
          <p:nvPr/>
        </p:nvSpPr>
        <p:spPr>
          <a:xfrm>
            <a:off x="10498793" y="5192757"/>
            <a:ext cx="1462903"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Electrofacies</a:t>
            </a:r>
            <a:endParaRPr lang="en-US" sz="1600" b="1" dirty="0"/>
          </a:p>
        </p:txBody>
      </p:sp>
      <p:cxnSp>
        <p:nvCxnSpPr>
          <p:cNvPr id="53" name="Straight Arrow Connector 52">
            <a:extLst>
              <a:ext uri="{FF2B5EF4-FFF2-40B4-BE49-F238E27FC236}">
                <a16:creationId xmlns:a16="http://schemas.microsoft.com/office/drawing/2014/main" id="{12712DCD-3C54-41B7-A06F-DE9E808A4EF8}"/>
              </a:ext>
            </a:extLst>
          </p:cNvPr>
          <p:cNvCxnSpPr>
            <a:stCxn id="50" idx="2"/>
            <a:endCxn id="52" idx="0"/>
          </p:cNvCxnSpPr>
          <p:nvPr/>
        </p:nvCxnSpPr>
        <p:spPr>
          <a:xfrm flipH="1">
            <a:off x="11230245" y="5064110"/>
            <a:ext cx="1" cy="128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ounded Rectangle 7">
            <a:extLst>
              <a:ext uri="{FF2B5EF4-FFF2-40B4-BE49-F238E27FC236}">
                <a16:creationId xmlns:a16="http://schemas.microsoft.com/office/drawing/2014/main" id="{4EADD0B6-24F8-4A21-B126-F63F2E6CE194}"/>
              </a:ext>
            </a:extLst>
          </p:cNvPr>
          <p:cNvSpPr/>
          <p:nvPr/>
        </p:nvSpPr>
        <p:spPr>
          <a:xfrm>
            <a:off x="2560511" y="5238387"/>
            <a:ext cx="3108060"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SIP&amp;NMR Joint Inversion</a:t>
            </a:r>
          </a:p>
        </p:txBody>
      </p:sp>
      <p:sp>
        <p:nvSpPr>
          <p:cNvPr id="55" name="Rounded Rectangle 7">
            <a:extLst>
              <a:ext uri="{FF2B5EF4-FFF2-40B4-BE49-F238E27FC236}">
                <a16:creationId xmlns:a16="http://schemas.microsoft.com/office/drawing/2014/main" id="{8701B66F-7B4C-48B3-A518-1DCCF6C5B4BB}"/>
              </a:ext>
            </a:extLst>
          </p:cNvPr>
          <p:cNvSpPr/>
          <p:nvPr/>
        </p:nvSpPr>
        <p:spPr>
          <a:xfrm>
            <a:off x="1962722" y="5908451"/>
            <a:ext cx="1558473"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Inverted PSD</a:t>
            </a:r>
          </a:p>
        </p:txBody>
      </p:sp>
      <p:sp>
        <p:nvSpPr>
          <p:cNvPr id="56" name="Rounded Rectangle 7">
            <a:extLst>
              <a:ext uri="{FF2B5EF4-FFF2-40B4-BE49-F238E27FC236}">
                <a16:creationId xmlns:a16="http://schemas.microsoft.com/office/drawing/2014/main" id="{09158C84-9ACD-47E2-B7E5-77B36AE89599}"/>
              </a:ext>
            </a:extLst>
          </p:cNvPr>
          <p:cNvSpPr/>
          <p:nvPr/>
        </p:nvSpPr>
        <p:spPr>
          <a:xfrm>
            <a:off x="3986425" y="5913778"/>
            <a:ext cx="3108060"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Modified Forward Model</a:t>
            </a:r>
          </a:p>
        </p:txBody>
      </p:sp>
      <p:cxnSp>
        <p:nvCxnSpPr>
          <p:cNvPr id="57" name="Connector: Elbow 197">
            <a:extLst>
              <a:ext uri="{FF2B5EF4-FFF2-40B4-BE49-F238E27FC236}">
                <a16:creationId xmlns:a16="http://schemas.microsoft.com/office/drawing/2014/main" id="{F1B3A75B-DBCE-484B-858D-010257569257}"/>
              </a:ext>
            </a:extLst>
          </p:cNvPr>
          <p:cNvCxnSpPr>
            <a:stCxn id="54" idx="2"/>
            <a:endCxn id="55" idx="0"/>
          </p:cNvCxnSpPr>
          <p:nvPr/>
        </p:nvCxnSpPr>
        <p:spPr>
          <a:xfrm rot="5400000">
            <a:off x="3333196" y="5127105"/>
            <a:ext cx="190109" cy="13725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199">
            <a:extLst>
              <a:ext uri="{FF2B5EF4-FFF2-40B4-BE49-F238E27FC236}">
                <a16:creationId xmlns:a16="http://schemas.microsoft.com/office/drawing/2014/main" id="{2A88E053-CCD6-404D-A2DD-99E6FD56264D}"/>
              </a:ext>
            </a:extLst>
          </p:cNvPr>
          <p:cNvCxnSpPr>
            <a:stCxn id="54" idx="2"/>
            <a:endCxn id="56" idx="0"/>
          </p:cNvCxnSpPr>
          <p:nvPr/>
        </p:nvCxnSpPr>
        <p:spPr>
          <a:xfrm rot="16200000" flipH="1">
            <a:off x="4729780" y="5103103"/>
            <a:ext cx="195436" cy="14259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203">
            <a:extLst>
              <a:ext uri="{FF2B5EF4-FFF2-40B4-BE49-F238E27FC236}">
                <a16:creationId xmlns:a16="http://schemas.microsoft.com/office/drawing/2014/main" id="{959A828E-B76C-40A8-99C0-D99953EA8889}"/>
              </a:ext>
            </a:extLst>
          </p:cNvPr>
          <p:cNvCxnSpPr>
            <a:stCxn id="7" idx="3"/>
            <a:endCxn id="37" idx="0"/>
          </p:cNvCxnSpPr>
          <p:nvPr/>
        </p:nvCxnSpPr>
        <p:spPr>
          <a:xfrm>
            <a:off x="1848008" y="2868144"/>
            <a:ext cx="463607" cy="64087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205">
            <a:extLst>
              <a:ext uri="{FF2B5EF4-FFF2-40B4-BE49-F238E27FC236}">
                <a16:creationId xmlns:a16="http://schemas.microsoft.com/office/drawing/2014/main" id="{FA2BCDE0-B2BA-4501-AB2D-9EAFC29A9EAE}"/>
              </a:ext>
            </a:extLst>
          </p:cNvPr>
          <p:cNvCxnSpPr>
            <a:stCxn id="8" idx="1"/>
            <a:endCxn id="37" idx="0"/>
          </p:cNvCxnSpPr>
          <p:nvPr/>
        </p:nvCxnSpPr>
        <p:spPr>
          <a:xfrm rot="10800000" flipV="1">
            <a:off x="2311616" y="2868142"/>
            <a:ext cx="934505" cy="6408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207">
            <a:extLst>
              <a:ext uri="{FF2B5EF4-FFF2-40B4-BE49-F238E27FC236}">
                <a16:creationId xmlns:a16="http://schemas.microsoft.com/office/drawing/2014/main" id="{4F59D20C-ADA0-483A-88A2-D277E76EC476}"/>
              </a:ext>
            </a:extLst>
          </p:cNvPr>
          <p:cNvCxnSpPr>
            <a:stCxn id="8" idx="1"/>
            <a:endCxn id="38" idx="0"/>
          </p:cNvCxnSpPr>
          <p:nvPr/>
        </p:nvCxnSpPr>
        <p:spPr>
          <a:xfrm rot="10800000" flipV="1">
            <a:off x="2906200" y="2868142"/>
            <a:ext cx="339920" cy="6294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10" idx="2"/>
            <a:endCxn id="15" idx="0"/>
          </p:cNvCxnSpPr>
          <p:nvPr/>
        </p:nvCxnSpPr>
        <p:spPr>
          <a:xfrm>
            <a:off x="7258217" y="3123778"/>
            <a:ext cx="4403" cy="279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Elbow Connector 62"/>
          <p:cNvCxnSpPr>
            <a:stCxn id="9" idx="2"/>
            <a:endCxn id="14" idx="0"/>
          </p:cNvCxnSpPr>
          <p:nvPr/>
        </p:nvCxnSpPr>
        <p:spPr>
          <a:xfrm rot="5400000">
            <a:off x="4925446" y="3301126"/>
            <a:ext cx="1087681" cy="73298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p:cNvCxnSpPr>
            <a:stCxn id="33" idx="2"/>
            <a:endCxn id="14" idx="0"/>
          </p:cNvCxnSpPr>
          <p:nvPr/>
        </p:nvCxnSpPr>
        <p:spPr>
          <a:xfrm rot="16200000" flipH="1">
            <a:off x="4825654" y="3934318"/>
            <a:ext cx="245171" cy="309110"/>
          </a:xfrm>
          <a:prstGeom prst="bentConnector3">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p:cNvCxnSpPr>
            <a:stCxn id="31" idx="2"/>
            <a:endCxn id="14" idx="0"/>
          </p:cNvCxnSpPr>
          <p:nvPr/>
        </p:nvCxnSpPr>
        <p:spPr>
          <a:xfrm rot="16200000" flipH="1">
            <a:off x="2996849" y="2105513"/>
            <a:ext cx="245171" cy="3966720"/>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Elbow Connector 65"/>
          <p:cNvCxnSpPr>
            <a:stCxn id="30" idx="2"/>
            <a:endCxn id="14" idx="0"/>
          </p:cNvCxnSpPr>
          <p:nvPr/>
        </p:nvCxnSpPr>
        <p:spPr>
          <a:xfrm rot="16200000" flipH="1">
            <a:off x="3298790" y="2407454"/>
            <a:ext cx="245171" cy="3362837"/>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cxnSpLocks/>
          </p:cNvCxnSpPr>
          <p:nvPr/>
        </p:nvCxnSpPr>
        <p:spPr>
          <a:xfrm>
            <a:off x="4226810" y="4805794"/>
            <a:ext cx="4382071" cy="3186"/>
          </a:xfrm>
          <a:prstGeom prst="straightConnector1">
            <a:avLst/>
          </a:prstGeom>
          <a:ln w="25400">
            <a:solidFill>
              <a:schemeClr val="tx1"/>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p:cNvCxnSpPr>
            <a:stCxn id="17" idx="2"/>
            <a:endCxn id="20" idx="0"/>
          </p:cNvCxnSpPr>
          <p:nvPr/>
        </p:nvCxnSpPr>
        <p:spPr>
          <a:xfrm rot="5400000">
            <a:off x="3410928" y="3875958"/>
            <a:ext cx="613283" cy="7939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Footer Placeholder 68"/>
          <p:cNvSpPr>
            <a:spLocks noGrp="1"/>
          </p:cNvSpPr>
          <p:nvPr>
            <p:ph type="ftr" sz="quarter" idx="11"/>
          </p:nvPr>
        </p:nvSpPr>
        <p:spPr/>
        <p:txBody>
          <a:bodyPr/>
          <a:lstStyle/>
          <a:p>
            <a:r>
              <a:rPr lang="en-US"/>
              <a:t>SEG 2018</a:t>
            </a:r>
          </a:p>
        </p:txBody>
      </p:sp>
      <p:sp>
        <p:nvSpPr>
          <p:cNvPr id="70" name="Slide Number Placeholder 69"/>
          <p:cNvSpPr>
            <a:spLocks noGrp="1"/>
          </p:cNvSpPr>
          <p:nvPr>
            <p:ph type="sldNum" sz="quarter" idx="12"/>
          </p:nvPr>
        </p:nvSpPr>
        <p:spPr/>
        <p:txBody>
          <a:bodyPr/>
          <a:lstStyle/>
          <a:p>
            <a:fld id="{48265A45-E6A4-4653-9C66-6A1A04113506}" type="slidenum">
              <a:rPr lang="en-US" smtClean="0"/>
              <a:pPr/>
              <a:t>5</a:t>
            </a:fld>
            <a:endParaRPr lang="en-US"/>
          </a:p>
        </p:txBody>
      </p:sp>
    </p:spTree>
    <p:extLst>
      <p:ext uri="{BB962C8B-B14F-4D97-AF65-F5344CB8AC3E}">
        <p14:creationId xmlns:p14="http://schemas.microsoft.com/office/powerpoint/2010/main" val="242538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Characterizing carbonate</a:t>
            </a:r>
          </a:p>
        </p:txBody>
      </p:sp>
      <p:grpSp>
        <p:nvGrpSpPr>
          <p:cNvPr id="3" name="Group 2"/>
          <p:cNvGrpSpPr/>
          <p:nvPr/>
        </p:nvGrpSpPr>
        <p:grpSpPr>
          <a:xfrm>
            <a:off x="199772" y="1766937"/>
            <a:ext cx="8443230" cy="3471450"/>
            <a:chOff x="-1519723" y="1812134"/>
            <a:chExt cx="10940072" cy="4409159"/>
          </a:xfrm>
        </p:grpSpPr>
        <p:sp>
          <p:nvSpPr>
            <p:cNvPr id="4" name="Rounded Rectangle 7"/>
            <p:cNvSpPr/>
            <p:nvPr/>
          </p:nvSpPr>
          <p:spPr>
            <a:xfrm>
              <a:off x="916562" y="1820149"/>
              <a:ext cx="2209800"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SIP&amp;NMR</a:t>
              </a:r>
            </a:p>
          </p:txBody>
        </p:sp>
        <p:sp>
          <p:nvSpPr>
            <p:cNvPr id="5" name="Rounded Rectangle 8"/>
            <p:cNvSpPr/>
            <p:nvPr/>
          </p:nvSpPr>
          <p:spPr>
            <a:xfrm>
              <a:off x="5446871" y="1812134"/>
              <a:ext cx="2209799"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Special Core Analysis</a:t>
              </a:r>
            </a:p>
          </p:txBody>
        </p:sp>
        <p:cxnSp>
          <p:nvCxnSpPr>
            <p:cNvPr id="6" name="Elbow Connector 9"/>
            <p:cNvCxnSpPr>
              <a:cxnSpLocks/>
              <a:stCxn id="4" idx="2"/>
              <a:endCxn id="7" idx="0"/>
            </p:cNvCxnSpPr>
            <p:nvPr/>
          </p:nvCxnSpPr>
          <p:spPr>
            <a:xfrm rot="5400000">
              <a:off x="675658" y="1560194"/>
              <a:ext cx="476249" cy="2215361"/>
            </a:xfrm>
            <a:prstGeom prst="bentConnector3">
              <a:avLst>
                <a:gd name="adj1" fmla="val 50000"/>
              </a:avLst>
            </a:prstGeom>
            <a:ln w="9525">
              <a:miter lim="800000"/>
              <a:tailEnd type="triangle"/>
            </a:ln>
          </p:spPr>
          <p:style>
            <a:lnRef idx="1">
              <a:schemeClr val="accent1"/>
            </a:lnRef>
            <a:fillRef idx="0">
              <a:schemeClr val="accent1"/>
            </a:fillRef>
            <a:effectRef idx="0">
              <a:schemeClr val="accent1"/>
            </a:effectRef>
            <a:fontRef idx="minor">
              <a:schemeClr val="tx1"/>
            </a:fontRef>
          </p:style>
        </p:cxnSp>
        <p:sp>
          <p:nvSpPr>
            <p:cNvPr id="7" name="Rounded Rectangle 10"/>
            <p:cNvSpPr/>
            <p:nvPr/>
          </p:nvSpPr>
          <p:spPr>
            <a:xfrm>
              <a:off x="-1003730" y="2905999"/>
              <a:ext cx="1619662"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SIP</a:t>
              </a:r>
            </a:p>
          </p:txBody>
        </p:sp>
        <p:sp>
          <p:nvSpPr>
            <p:cNvPr id="8" name="Rounded Rectangle 11"/>
            <p:cNvSpPr/>
            <p:nvPr/>
          </p:nvSpPr>
          <p:spPr>
            <a:xfrm>
              <a:off x="2427494" y="2905997"/>
              <a:ext cx="1606387" cy="609601"/>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NMR</a:t>
              </a:r>
            </a:p>
          </p:txBody>
        </p:sp>
        <p:sp>
          <p:nvSpPr>
            <p:cNvPr id="9" name="Rounded Rectangle 12"/>
            <p:cNvSpPr/>
            <p:nvPr/>
          </p:nvSpPr>
          <p:spPr>
            <a:xfrm>
              <a:off x="4916399" y="2925885"/>
              <a:ext cx="1733140" cy="6096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Gas adsorption</a:t>
              </a:r>
            </a:p>
          </p:txBody>
        </p:sp>
        <p:sp>
          <p:nvSpPr>
            <p:cNvPr id="10" name="Rounded Rectangle 13"/>
            <p:cNvSpPr/>
            <p:nvPr/>
          </p:nvSpPr>
          <p:spPr>
            <a:xfrm>
              <a:off x="6832267" y="2925885"/>
              <a:ext cx="1587575" cy="6096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Micro-CT</a:t>
              </a:r>
            </a:p>
          </p:txBody>
        </p:sp>
        <p:cxnSp>
          <p:nvCxnSpPr>
            <p:cNvPr id="11" name="Elbow Connector 14"/>
            <p:cNvCxnSpPr>
              <a:cxnSpLocks/>
              <a:stCxn id="4" idx="2"/>
              <a:endCxn id="8" idx="0"/>
            </p:cNvCxnSpPr>
            <p:nvPr/>
          </p:nvCxnSpPr>
          <p:spPr>
            <a:xfrm rot="16200000" flipH="1">
              <a:off x="2387951" y="2063259"/>
              <a:ext cx="476248" cy="1209225"/>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5"/>
            <p:cNvCxnSpPr>
              <a:cxnSpLocks/>
              <a:stCxn id="5" idx="2"/>
              <a:endCxn id="10" idx="0"/>
            </p:cNvCxnSpPr>
            <p:nvPr/>
          </p:nvCxnSpPr>
          <p:spPr>
            <a:xfrm rot="16200000" flipH="1">
              <a:off x="6836838" y="2136668"/>
              <a:ext cx="504150" cy="107428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6"/>
            <p:cNvCxnSpPr>
              <a:cxnSpLocks/>
              <a:stCxn id="5" idx="2"/>
              <a:endCxn id="9" idx="0"/>
            </p:cNvCxnSpPr>
            <p:nvPr/>
          </p:nvCxnSpPr>
          <p:spPr>
            <a:xfrm rot="5400000">
              <a:off x="5915297" y="2289409"/>
              <a:ext cx="504150" cy="76880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95026" y="4916971"/>
              <a:ext cx="1676400" cy="595313"/>
            </a:xfrm>
            <a:prstGeom prst="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err="1">
                  <a:solidFill>
                    <a:schemeClr val="bg1"/>
                  </a:solidFill>
                </a:rPr>
                <a:t>S</a:t>
              </a:r>
              <a:r>
                <a:rPr lang="en-US" sz="1600" b="1" i="1" baseline="-25000" dirty="0" err="1">
                  <a:solidFill>
                    <a:schemeClr val="bg1"/>
                  </a:solidFill>
                </a:rPr>
                <a:t>por</a:t>
              </a:r>
              <a:endParaRPr lang="en-US" sz="1600" b="1" i="1" dirty="0">
                <a:solidFill>
                  <a:schemeClr val="bg1"/>
                </a:solidFill>
              </a:endParaRPr>
            </a:p>
          </p:txBody>
        </p:sp>
        <p:sp>
          <p:nvSpPr>
            <p:cNvPr id="15" name="Rectangle 14"/>
            <p:cNvSpPr/>
            <p:nvPr/>
          </p:nvSpPr>
          <p:spPr>
            <a:xfrm>
              <a:off x="6793558" y="3891115"/>
              <a:ext cx="1676401" cy="806586"/>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3-D Texture</a:t>
              </a:r>
            </a:p>
            <a:p>
              <a:pPr algn="ctr"/>
              <a:r>
                <a:rPr lang="en-US" sz="1600" b="1" dirty="0"/>
                <a:t>(&gt;</a:t>
              </a:r>
              <a:r>
                <a:rPr lang="en-US" altLang="zh-CN" sz="1600" b="1" dirty="0" err="1"/>
                <a:t>μm</a:t>
              </a:r>
              <a:r>
                <a:rPr lang="en-US" sz="1600" b="1" dirty="0"/>
                <a:t>)</a:t>
              </a:r>
            </a:p>
          </p:txBody>
        </p:sp>
        <p:sp>
          <p:nvSpPr>
            <p:cNvPr id="16" name="Rectangle 15"/>
            <p:cNvSpPr/>
            <p:nvPr/>
          </p:nvSpPr>
          <p:spPr>
            <a:xfrm>
              <a:off x="2420706" y="4020504"/>
              <a:ext cx="622886" cy="595313"/>
            </a:xfrm>
            <a:prstGeom prst="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b="1" dirty="0"/>
                <a:t>φ</a:t>
              </a:r>
              <a:endParaRPr lang="en-US" sz="1600" b="1" dirty="0"/>
            </a:p>
          </p:txBody>
        </p:sp>
        <p:sp>
          <p:nvSpPr>
            <p:cNvPr id="17" name="Rectangle 16"/>
            <p:cNvSpPr/>
            <p:nvPr/>
          </p:nvSpPr>
          <p:spPr>
            <a:xfrm>
              <a:off x="3126363" y="4010262"/>
              <a:ext cx="852727"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PSD</a:t>
              </a:r>
            </a:p>
          </p:txBody>
        </p:sp>
        <p:cxnSp>
          <p:nvCxnSpPr>
            <p:cNvPr id="18" name="Elbow Connector 23"/>
            <p:cNvCxnSpPr>
              <a:cxnSpLocks/>
              <a:stCxn id="8" idx="2"/>
              <a:endCxn id="16" idx="0"/>
            </p:cNvCxnSpPr>
            <p:nvPr/>
          </p:nvCxnSpPr>
          <p:spPr>
            <a:xfrm rot="5400000">
              <a:off x="2728966" y="3518781"/>
              <a:ext cx="504906" cy="498539"/>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24"/>
            <p:cNvCxnSpPr>
              <a:cxnSpLocks/>
              <a:stCxn id="8" idx="2"/>
              <a:endCxn id="17" idx="0"/>
            </p:cNvCxnSpPr>
            <p:nvPr/>
          </p:nvCxnSpPr>
          <p:spPr>
            <a:xfrm rot="16200000" flipH="1">
              <a:off x="3144376" y="3601911"/>
              <a:ext cx="494664" cy="322039"/>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1584060" y="5384519"/>
              <a:ext cx="1879871"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sp>
          <p:nvSpPr>
            <p:cNvPr id="21" name="Rectangle 20"/>
            <p:cNvSpPr/>
            <p:nvPr/>
          </p:nvSpPr>
          <p:spPr>
            <a:xfrm>
              <a:off x="-1519723" y="5380472"/>
              <a:ext cx="1885579"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cxnSp>
          <p:nvCxnSpPr>
            <p:cNvPr id="22" name="Straight Arrow Connector 21"/>
            <p:cNvCxnSpPr>
              <a:cxnSpLocks/>
              <a:stCxn id="15" idx="1"/>
              <a:endCxn id="33" idx="3"/>
            </p:cNvCxnSpPr>
            <p:nvPr/>
          </p:nvCxnSpPr>
          <p:spPr>
            <a:xfrm flipH="1">
              <a:off x="4826920" y="4294409"/>
              <a:ext cx="1966638" cy="13509"/>
            </a:xfrm>
            <a:prstGeom prst="straightConnector1">
              <a:avLst/>
            </a:prstGeom>
            <a:ln w="25400">
              <a:solidFill>
                <a:schemeClr val="tx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cxnSpLocks/>
              <a:stCxn id="17" idx="2"/>
              <a:endCxn id="54" idx="0"/>
            </p:cNvCxnSpPr>
            <p:nvPr/>
          </p:nvCxnSpPr>
          <p:spPr>
            <a:xfrm>
              <a:off x="3552726" y="4605576"/>
              <a:ext cx="0" cy="1615717"/>
            </a:xfrm>
            <a:prstGeom prst="straightConnector1">
              <a:avLst/>
            </a:prstGeom>
            <a:ln w="25400">
              <a:solidFill>
                <a:schemeClr val="tx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a:stCxn id="21" idx="3"/>
              <a:endCxn id="20" idx="1"/>
            </p:cNvCxnSpPr>
            <p:nvPr/>
          </p:nvCxnSpPr>
          <p:spPr>
            <a:xfrm>
              <a:off x="365856" y="5678128"/>
              <a:ext cx="1218204" cy="4047"/>
            </a:xfrm>
            <a:prstGeom prst="straightConnector1">
              <a:avLst/>
            </a:prstGeom>
            <a:ln w="25400">
              <a:solidFill>
                <a:schemeClr val="tx1"/>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34"/>
            <p:cNvSpPr/>
            <p:nvPr/>
          </p:nvSpPr>
          <p:spPr>
            <a:xfrm>
              <a:off x="8585197" y="2946281"/>
              <a:ext cx="835152" cy="5969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i="1" dirty="0" err="1"/>
                <a:t>k</a:t>
              </a:r>
              <a:r>
                <a:rPr lang="en-US" sz="1600" b="1" i="1" baseline="-25000" dirty="0" err="1"/>
                <a:t>air</a:t>
              </a:r>
              <a:r>
                <a:rPr lang="en-US" sz="1600" b="1" dirty="0"/>
                <a:t> </a:t>
              </a:r>
            </a:p>
          </p:txBody>
        </p:sp>
        <p:cxnSp>
          <p:nvCxnSpPr>
            <p:cNvPr id="26" name="Elbow Connector 38"/>
            <p:cNvCxnSpPr>
              <a:cxnSpLocks/>
              <a:stCxn id="5" idx="2"/>
              <a:endCxn id="25" idx="0"/>
            </p:cNvCxnSpPr>
            <p:nvPr/>
          </p:nvCxnSpPr>
          <p:spPr>
            <a:xfrm rot="16200000" flipH="1">
              <a:off x="7514998" y="1458507"/>
              <a:ext cx="524547" cy="245100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grpSp>
      <p:cxnSp>
        <p:nvCxnSpPr>
          <p:cNvPr id="27" name="Connector: Elbow 39"/>
          <p:cNvCxnSpPr>
            <a:cxnSpLocks/>
            <a:stCxn id="7" idx="2"/>
            <a:endCxn id="29" idx="0"/>
          </p:cNvCxnSpPr>
          <p:nvPr/>
        </p:nvCxnSpPr>
        <p:spPr>
          <a:xfrm rot="5400000">
            <a:off x="689437" y="2957109"/>
            <a:ext cx="382556" cy="68458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41"/>
          <p:cNvCxnSpPr>
            <a:cxnSpLocks/>
            <a:stCxn id="7" idx="2"/>
            <a:endCxn id="30" idx="0"/>
          </p:cNvCxnSpPr>
          <p:nvPr/>
        </p:nvCxnSpPr>
        <p:spPr>
          <a:xfrm rot="16200000" flipH="1">
            <a:off x="1286751" y="3044375"/>
            <a:ext cx="389461" cy="51695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28"/>
              <p:cNvSpPr/>
              <p:nvPr/>
            </p:nvSpPr>
            <p:spPr>
              <a:xfrm>
                <a:off x="302242" y="3490677"/>
                <a:ext cx="472365" cy="468706"/>
              </a:xfrm>
              <a:prstGeom prst="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1600" b="1" i="1">
                              <a:latin typeface="Cambria Math" panose="02040503050406030204" pitchFamily="18" charset="0"/>
                            </a:rPr>
                          </m:ctrlPr>
                        </m:sSupPr>
                        <m:e>
                          <m:r>
                            <a:rPr lang="en-US" sz="1600" b="1" i="1" smtClean="0">
                              <a:latin typeface="Cambria Math" panose="02040503050406030204" pitchFamily="18" charset="0"/>
                            </a:rPr>
                            <m:t>𝝈</m:t>
                          </m:r>
                        </m:e>
                        <m:sup>
                          <m:r>
                            <a:rPr lang="en-US" sz="1600" b="1" i="1" smtClean="0">
                              <a:latin typeface="Cambria Math" panose="02040503050406030204" pitchFamily="18" charset="0"/>
                            </a:rPr>
                            <m:t>′</m:t>
                          </m:r>
                        </m:sup>
                      </m:sSup>
                    </m:oMath>
                  </m:oMathPara>
                </a14:m>
                <a:endParaRPr lang="en-US" sz="1600" b="1" i="1" dirty="0"/>
              </a:p>
            </p:txBody>
          </p:sp>
        </mc:Choice>
        <mc:Fallback xmlns="">
          <p:sp>
            <p:nvSpPr>
              <p:cNvPr id="29" name="Rectangle 28"/>
              <p:cNvSpPr>
                <a:spLocks noRot="1" noChangeAspect="1" noMove="1" noResize="1" noEditPoints="1" noAdjustHandles="1" noChangeArrowheads="1" noChangeShapeType="1" noTextEdit="1"/>
              </p:cNvSpPr>
              <p:nvPr/>
            </p:nvSpPr>
            <p:spPr>
              <a:xfrm>
                <a:off x="302242" y="3490677"/>
                <a:ext cx="472365" cy="468706"/>
              </a:xfrm>
              <a:prstGeom prst="rect">
                <a:avLst/>
              </a:prstGeom>
              <a:blipFill>
                <a:blip r:embed="rId2"/>
                <a:stretch>
                  <a:fillRect/>
                </a:stretch>
              </a:blipFill>
              <a:ln>
                <a:miter lim="800000"/>
              </a:ln>
            </p:spPr>
            <p:txBody>
              <a:bodyPr/>
              <a:lstStyle/>
              <a:p>
                <a:r>
                  <a:rPr lang="en-US">
                    <a:noFill/>
                  </a:rPr>
                  <a:t> </a:t>
                </a:r>
              </a:p>
            </p:txBody>
          </p:sp>
        </mc:Fallback>
      </mc:AlternateContent>
      <p:sp>
        <p:nvSpPr>
          <p:cNvPr id="30" name="Rectangle 29"/>
          <p:cNvSpPr/>
          <p:nvPr/>
        </p:nvSpPr>
        <p:spPr>
          <a:xfrm>
            <a:off x="1535864" y="3497582"/>
            <a:ext cx="408185" cy="468706"/>
          </a:xfrm>
          <a:prstGeom prst="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F</a:t>
            </a:r>
          </a:p>
        </p:txBody>
      </p:sp>
      <mc:AlternateContent xmlns:mc="http://schemas.openxmlformats.org/markup-compatibility/2006" xmlns:a14="http://schemas.microsoft.com/office/drawing/2010/main">
        <mc:Choice Requires="a14">
          <p:sp>
            <p:nvSpPr>
              <p:cNvPr id="31" name="Rectangle 30"/>
              <p:cNvSpPr/>
              <p:nvPr/>
            </p:nvSpPr>
            <p:spPr>
              <a:xfrm>
                <a:off x="882278" y="3497582"/>
                <a:ext cx="507591" cy="468706"/>
              </a:xfrm>
              <a:prstGeom prst="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𝝈</m:t>
                          </m:r>
                        </m:e>
                        <m:sup>
                          <m:r>
                            <a:rPr lang="en-US" sz="1600" b="1" i="1" smtClean="0">
                              <a:latin typeface="Cambria Math" panose="02040503050406030204" pitchFamily="18" charset="0"/>
                            </a:rPr>
                            <m:t>"</m:t>
                          </m:r>
                        </m:sup>
                      </m:sSup>
                    </m:oMath>
                  </m:oMathPara>
                </a14:m>
                <a:endParaRPr lang="en-US" sz="1600" b="1" i="1" dirty="0"/>
              </a:p>
            </p:txBody>
          </p:sp>
        </mc:Choice>
        <mc:Fallback xmlns="">
          <p:sp>
            <p:nvSpPr>
              <p:cNvPr id="31" name="Rectangle 30"/>
              <p:cNvSpPr>
                <a:spLocks noRot="1" noChangeAspect="1" noMove="1" noResize="1" noEditPoints="1" noAdjustHandles="1" noChangeArrowheads="1" noChangeShapeType="1" noTextEdit="1"/>
              </p:cNvSpPr>
              <p:nvPr/>
            </p:nvSpPr>
            <p:spPr>
              <a:xfrm>
                <a:off x="882278" y="3497582"/>
                <a:ext cx="507591" cy="468706"/>
              </a:xfrm>
              <a:prstGeom prst="rect">
                <a:avLst/>
              </a:prstGeom>
              <a:blipFill>
                <a:blip r:embed="rId3"/>
                <a:stretch>
                  <a:fillRect/>
                </a:stretch>
              </a:blipFill>
              <a:ln>
                <a:miter lim="800000"/>
              </a:ln>
            </p:spPr>
            <p:txBody>
              <a:bodyPr/>
              <a:lstStyle/>
              <a:p>
                <a:r>
                  <a:rPr lang="en-US">
                    <a:noFill/>
                  </a:rPr>
                  <a:t> </a:t>
                </a:r>
              </a:p>
            </p:txBody>
          </p:sp>
        </mc:Fallback>
      </mc:AlternateContent>
      <p:cxnSp>
        <p:nvCxnSpPr>
          <p:cNvPr id="32" name="Connector: Elbow 70"/>
          <p:cNvCxnSpPr>
            <a:cxnSpLocks/>
            <a:stCxn id="7" idx="2"/>
            <a:endCxn id="31" idx="0"/>
          </p:cNvCxnSpPr>
          <p:nvPr/>
        </p:nvCxnSpPr>
        <p:spPr>
          <a:xfrm rot="5400000">
            <a:off x="984810" y="3259386"/>
            <a:ext cx="389461" cy="869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489441" y="3497582"/>
            <a:ext cx="608486" cy="468706"/>
          </a:xfrm>
          <a:prstGeom prst="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T</a:t>
            </a:r>
            <a:r>
              <a:rPr lang="en-US" sz="1600" b="1" i="1" baseline="-25000" dirty="0"/>
              <a:t>2ml</a:t>
            </a:r>
            <a:endParaRPr lang="en-US" sz="1600" b="1" i="1" dirty="0"/>
          </a:p>
        </p:txBody>
      </p:sp>
      <p:cxnSp>
        <p:nvCxnSpPr>
          <p:cNvPr id="34" name="Connector: Elbow 90"/>
          <p:cNvCxnSpPr>
            <a:cxnSpLocks/>
            <a:stCxn id="8" idx="2"/>
            <a:endCxn id="33" idx="0"/>
          </p:cNvCxnSpPr>
          <p:nvPr/>
        </p:nvCxnSpPr>
        <p:spPr>
          <a:xfrm rot="16200000" flipH="1">
            <a:off x="4135111" y="2839009"/>
            <a:ext cx="389462" cy="9276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39"/>
          <p:cNvCxnSpPr>
            <a:cxnSpLocks/>
            <a:stCxn id="29" idx="2"/>
            <a:endCxn id="21" idx="0"/>
          </p:cNvCxnSpPr>
          <p:nvPr/>
        </p:nvCxnSpPr>
        <p:spPr>
          <a:xfrm rot="16200000" flipH="1">
            <a:off x="424406" y="4073401"/>
            <a:ext cx="617003" cy="3889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41"/>
          <p:cNvCxnSpPr>
            <a:cxnSpLocks/>
            <a:stCxn id="31" idx="2"/>
            <a:endCxn id="21" idx="0"/>
          </p:cNvCxnSpPr>
          <p:nvPr/>
        </p:nvCxnSpPr>
        <p:spPr>
          <a:xfrm rot="5400000">
            <a:off x="726683" y="4166995"/>
            <a:ext cx="610098" cy="208684"/>
          </a:xfrm>
          <a:prstGeom prst="bentConnector3">
            <a:avLst>
              <a:gd name="adj1" fmla="val 48637"/>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4A81E25C-A4ED-43E3-AE4E-6F6CE7D0DFF5}"/>
              </a:ext>
            </a:extLst>
          </p:cNvPr>
          <p:cNvSpPr/>
          <p:nvPr/>
        </p:nvSpPr>
        <p:spPr>
          <a:xfrm>
            <a:off x="2083040" y="3509016"/>
            <a:ext cx="457150" cy="468706"/>
          </a:xfrm>
          <a:prstGeom prst="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m</a:t>
            </a:r>
          </a:p>
        </p:txBody>
      </p:sp>
      <p:sp>
        <p:nvSpPr>
          <p:cNvPr id="38" name="Rectangle 37">
            <a:extLst>
              <a:ext uri="{FF2B5EF4-FFF2-40B4-BE49-F238E27FC236}">
                <a16:creationId xmlns:a16="http://schemas.microsoft.com/office/drawing/2014/main" id="{B29736B1-E614-4BBF-AFFD-C4BDCFF95D4C}"/>
              </a:ext>
            </a:extLst>
          </p:cNvPr>
          <p:cNvSpPr/>
          <p:nvPr/>
        </p:nvSpPr>
        <p:spPr>
          <a:xfrm>
            <a:off x="2677625" y="3497582"/>
            <a:ext cx="457150" cy="468706"/>
          </a:xfrm>
          <a:prstGeom prst="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τ</a:t>
            </a:r>
          </a:p>
        </p:txBody>
      </p:sp>
      <p:sp>
        <p:nvSpPr>
          <p:cNvPr id="39" name="Rounded Rectangle 8">
            <a:extLst>
              <a:ext uri="{FF2B5EF4-FFF2-40B4-BE49-F238E27FC236}">
                <a16:creationId xmlns:a16="http://schemas.microsoft.com/office/drawing/2014/main" id="{DA73F2FD-A0B3-4248-AC7C-6BBBBBD6DDCC}"/>
              </a:ext>
            </a:extLst>
          </p:cNvPr>
          <p:cNvSpPr/>
          <p:nvPr/>
        </p:nvSpPr>
        <p:spPr>
          <a:xfrm>
            <a:off x="9439445" y="1761418"/>
            <a:ext cx="1705459"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Well-log Analysis</a:t>
            </a:r>
          </a:p>
        </p:txBody>
      </p:sp>
      <p:sp>
        <p:nvSpPr>
          <p:cNvPr id="40" name="Rounded Rectangle 11">
            <a:extLst>
              <a:ext uri="{FF2B5EF4-FFF2-40B4-BE49-F238E27FC236}">
                <a16:creationId xmlns:a16="http://schemas.microsoft.com/office/drawing/2014/main" id="{47C08131-9B2A-4749-9CA5-F26076581A95}"/>
              </a:ext>
            </a:extLst>
          </p:cNvPr>
          <p:cNvSpPr/>
          <p:nvPr/>
        </p:nvSpPr>
        <p:spPr>
          <a:xfrm>
            <a:off x="9893409" y="2646098"/>
            <a:ext cx="797529" cy="479955"/>
          </a:xfrm>
          <a:prstGeom prst="round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T1/T2</a:t>
            </a:r>
          </a:p>
        </p:txBody>
      </p:sp>
      <p:cxnSp>
        <p:nvCxnSpPr>
          <p:cNvPr id="41" name="Straight Arrow Connector 40">
            <a:extLst>
              <a:ext uri="{FF2B5EF4-FFF2-40B4-BE49-F238E27FC236}">
                <a16:creationId xmlns:a16="http://schemas.microsoft.com/office/drawing/2014/main" id="{E2A6621D-D56B-45F2-9CC9-83415AF58F89}"/>
              </a:ext>
            </a:extLst>
          </p:cNvPr>
          <p:cNvCxnSpPr>
            <a:stCxn id="39" idx="2"/>
            <a:endCxn id="40" idx="0"/>
          </p:cNvCxnSpPr>
          <p:nvPr/>
        </p:nvCxnSpPr>
        <p:spPr>
          <a:xfrm flipH="1">
            <a:off x="10292174" y="2241373"/>
            <a:ext cx="1" cy="40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ounded Rectangle 11">
            <a:extLst>
              <a:ext uri="{FF2B5EF4-FFF2-40B4-BE49-F238E27FC236}">
                <a16:creationId xmlns:a16="http://schemas.microsoft.com/office/drawing/2014/main" id="{18919505-2490-473D-A953-7EA845D356BF}"/>
              </a:ext>
            </a:extLst>
          </p:cNvPr>
          <p:cNvSpPr/>
          <p:nvPr/>
        </p:nvSpPr>
        <p:spPr>
          <a:xfrm>
            <a:off x="8552015" y="3370728"/>
            <a:ext cx="1701622"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Sonic calibrated perm model</a:t>
            </a:r>
          </a:p>
        </p:txBody>
      </p:sp>
      <p:cxnSp>
        <p:nvCxnSpPr>
          <p:cNvPr id="43" name="Connector: Elbow 145">
            <a:extLst>
              <a:ext uri="{FF2B5EF4-FFF2-40B4-BE49-F238E27FC236}">
                <a16:creationId xmlns:a16="http://schemas.microsoft.com/office/drawing/2014/main" id="{01090A1D-9670-4320-A860-BB82C1BDCD6C}"/>
              </a:ext>
            </a:extLst>
          </p:cNvPr>
          <p:cNvCxnSpPr>
            <a:cxnSpLocks/>
            <a:stCxn id="40" idx="2"/>
            <a:endCxn id="42" idx="0"/>
          </p:cNvCxnSpPr>
          <p:nvPr/>
        </p:nvCxnSpPr>
        <p:spPr>
          <a:xfrm rot="5400000">
            <a:off x="9725163" y="2803716"/>
            <a:ext cx="244675" cy="8893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A400FD3A-C173-45EA-A5BD-CDCBBF0DFC1A}"/>
              </a:ext>
            </a:extLst>
          </p:cNvPr>
          <p:cNvSpPr/>
          <p:nvPr/>
        </p:nvSpPr>
        <p:spPr>
          <a:xfrm>
            <a:off x="8677411" y="4576386"/>
            <a:ext cx="1450830" cy="468706"/>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cxnSp>
        <p:nvCxnSpPr>
          <p:cNvPr id="45" name="Straight Arrow Connector 44">
            <a:extLst>
              <a:ext uri="{FF2B5EF4-FFF2-40B4-BE49-F238E27FC236}">
                <a16:creationId xmlns:a16="http://schemas.microsoft.com/office/drawing/2014/main" id="{FCF27626-49EE-4D17-B958-AFF1A1C00A99}"/>
              </a:ext>
            </a:extLst>
          </p:cNvPr>
          <p:cNvCxnSpPr>
            <a:stCxn id="42" idx="2"/>
            <a:endCxn id="44" idx="0"/>
          </p:cNvCxnSpPr>
          <p:nvPr/>
        </p:nvCxnSpPr>
        <p:spPr>
          <a:xfrm>
            <a:off x="9402826" y="3850683"/>
            <a:ext cx="0" cy="725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70">
            <a:extLst>
              <a:ext uri="{FF2B5EF4-FFF2-40B4-BE49-F238E27FC236}">
                <a16:creationId xmlns:a16="http://schemas.microsoft.com/office/drawing/2014/main" id="{531342C7-A2F6-4499-88FA-4D019C77DB4A}"/>
              </a:ext>
            </a:extLst>
          </p:cNvPr>
          <p:cNvCxnSpPr>
            <a:cxnSpLocks/>
            <a:stCxn id="40" idx="2"/>
            <a:endCxn id="47" idx="0"/>
          </p:cNvCxnSpPr>
          <p:nvPr/>
        </p:nvCxnSpPr>
        <p:spPr>
          <a:xfrm rot="16200000" flipH="1">
            <a:off x="10638873" y="2779353"/>
            <a:ext cx="244675" cy="93807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ounded Rectangle 11">
            <a:extLst>
              <a:ext uri="{FF2B5EF4-FFF2-40B4-BE49-F238E27FC236}">
                <a16:creationId xmlns:a16="http://schemas.microsoft.com/office/drawing/2014/main" id="{E6DCD4D6-78CE-405E-A01F-5B2BC667E3D1}"/>
              </a:ext>
            </a:extLst>
          </p:cNvPr>
          <p:cNvSpPr/>
          <p:nvPr/>
        </p:nvSpPr>
        <p:spPr>
          <a:xfrm>
            <a:off x="10915754" y="3370728"/>
            <a:ext cx="628985"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PCA</a:t>
            </a:r>
          </a:p>
        </p:txBody>
      </p:sp>
      <p:sp>
        <p:nvSpPr>
          <p:cNvPr id="48" name="Rounded Rectangle 11">
            <a:extLst>
              <a:ext uri="{FF2B5EF4-FFF2-40B4-BE49-F238E27FC236}">
                <a16:creationId xmlns:a16="http://schemas.microsoft.com/office/drawing/2014/main" id="{9E18EFD4-59D5-4721-B45B-ED72A030A04F}"/>
              </a:ext>
            </a:extLst>
          </p:cNvPr>
          <p:cNvSpPr/>
          <p:nvPr/>
        </p:nvSpPr>
        <p:spPr>
          <a:xfrm>
            <a:off x="10649535" y="3975554"/>
            <a:ext cx="1172407"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Clustering</a:t>
            </a:r>
          </a:p>
        </p:txBody>
      </p:sp>
      <p:cxnSp>
        <p:nvCxnSpPr>
          <p:cNvPr id="49" name="Straight Arrow Connector 48">
            <a:extLst>
              <a:ext uri="{FF2B5EF4-FFF2-40B4-BE49-F238E27FC236}">
                <a16:creationId xmlns:a16="http://schemas.microsoft.com/office/drawing/2014/main" id="{307CAF5D-B55A-4AD2-A30D-1B009E0EF3BA}"/>
              </a:ext>
            </a:extLst>
          </p:cNvPr>
          <p:cNvCxnSpPr>
            <a:stCxn id="47" idx="2"/>
            <a:endCxn id="48" idx="0"/>
          </p:cNvCxnSpPr>
          <p:nvPr/>
        </p:nvCxnSpPr>
        <p:spPr>
          <a:xfrm>
            <a:off x="11230247" y="3850683"/>
            <a:ext cx="5492" cy="124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ounded Rectangle 11">
            <a:extLst>
              <a:ext uri="{FF2B5EF4-FFF2-40B4-BE49-F238E27FC236}">
                <a16:creationId xmlns:a16="http://schemas.microsoft.com/office/drawing/2014/main" id="{762F2656-9053-4046-BA40-DCCDADB42729}"/>
              </a:ext>
            </a:extLst>
          </p:cNvPr>
          <p:cNvSpPr/>
          <p:nvPr/>
        </p:nvSpPr>
        <p:spPr>
          <a:xfrm>
            <a:off x="10498794" y="4584155"/>
            <a:ext cx="1462903"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Classification</a:t>
            </a:r>
          </a:p>
        </p:txBody>
      </p:sp>
      <p:cxnSp>
        <p:nvCxnSpPr>
          <p:cNvPr id="51" name="Straight Arrow Connector 50">
            <a:extLst>
              <a:ext uri="{FF2B5EF4-FFF2-40B4-BE49-F238E27FC236}">
                <a16:creationId xmlns:a16="http://schemas.microsoft.com/office/drawing/2014/main" id="{E0A88CB0-935A-4F4E-AA73-28B0BE8B420A}"/>
              </a:ext>
            </a:extLst>
          </p:cNvPr>
          <p:cNvCxnSpPr>
            <a:stCxn id="48" idx="2"/>
            <a:endCxn id="50" idx="0"/>
          </p:cNvCxnSpPr>
          <p:nvPr/>
        </p:nvCxnSpPr>
        <p:spPr>
          <a:xfrm flipH="1">
            <a:off x="11230246" y="4455509"/>
            <a:ext cx="5493" cy="128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ounded Rectangle 11">
            <a:extLst>
              <a:ext uri="{FF2B5EF4-FFF2-40B4-BE49-F238E27FC236}">
                <a16:creationId xmlns:a16="http://schemas.microsoft.com/office/drawing/2014/main" id="{C1AD6C3B-6674-4D0F-93B5-674576A31261}"/>
              </a:ext>
            </a:extLst>
          </p:cNvPr>
          <p:cNvSpPr/>
          <p:nvPr/>
        </p:nvSpPr>
        <p:spPr>
          <a:xfrm>
            <a:off x="10498793" y="5192757"/>
            <a:ext cx="1462903" cy="479955"/>
          </a:xfrm>
          <a:prstGeom prst="roundRect">
            <a:avLst/>
          </a:prstGeom>
          <a:solidFill>
            <a:srgbClr val="FF505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Electrofacies</a:t>
            </a:r>
            <a:endParaRPr lang="en-US" sz="1600" b="1" dirty="0"/>
          </a:p>
        </p:txBody>
      </p:sp>
      <p:cxnSp>
        <p:nvCxnSpPr>
          <p:cNvPr id="53" name="Straight Arrow Connector 52">
            <a:extLst>
              <a:ext uri="{FF2B5EF4-FFF2-40B4-BE49-F238E27FC236}">
                <a16:creationId xmlns:a16="http://schemas.microsoft.com/office/drawing/2014/main" id="{12712DCD-3C54-41B7-A06F-DE9E808A4EF8}"/>
              </a:ext>
            </a:extLst>
          </p:cNvPr>
          <p:cNvCxnSpPr>
            <a:stCxn id="50" idx="2"/>
            <a:endCxn id="52" idx="0"/>
          </p:cNvCxnSpPr>
          <p:nvPr/>
        </p:nvCxnSpPr>
        <p:spPr>
          <a:xfrm flipH="1">
            <a:off x="11230245" y="5064110"/>
            <a:ext cx="1" cy="128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ounded Rectangle 7">
            <a:extLst>
              <a:ext uri="{FF2B5EF4-FFF2-40B4-BE49-F238E27FC236}">
                <a16:creationId xmlns:a16="http://schemas.microsoft.com/office/drawing/2014/main" id="{4EADD0B6-24F8-4A21-B126-F63F2E6CE194}"/>
              </a:ext>
            </a:extLst>
          </p:cNvPr>
          <p:cNvSpPr/>
          <p:nvPr/>
        </p:nvSpPr>
        <p:spPr>
          <a:xfrm>
            <a:off x="2560511" y="5238387"/>
            <a:ext cx="3108060"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SIP&amp;NMR Joint Inversion</a:t>
            </a:r>
          </a:p>
        </p:txBody>
      </p:sp>
      <p:sp>
        <p:nvSpPr>
          <p:cNvPr id="55" name="Rounded Rectangle 7">
            <a:extLst>
              <a:ext uri="{FF2B5EF4-FFF2-40B4-BE49-F238E27FC236}">
                <a16:creationId xmlns:a16="http://schemas.microsoft.com/office/drawing/2014/main" id="{8701B66F-7B4C-48B3-A518-1DCCF6C5B4BB}"/>
              </a:ext>
            </a:extLst>
          </p:cNvPr>
          <p:cNvSpPr/>
          <p:nvPr/>
        </p:nvSpPr>
        <p:spPr>
          <a:xfrm>
            <a:off x="1962722" y="5908451"/>
            <a:ext cx="1558473"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Inverted PSD</a:t>
            </a:r>
          </a:p>
        </p:txBody>
      </p:sp>
      <p:sp>
        <p:nvSpPr>
          <p:cNvPr id="56" name="Rounded Rectangle 7">
            <a:extLst>
              <a:ext uri="{FF2B5EF4-FFF2-40B4-BE49-F238E27FC236}">
                <a16:creationId xmlns:a16="http://schemas.microsoft.com/office/drawing/2014/main" id="{09158C84-9ACD-47E2-B7E5-77B36AE89599}"/>
              </a:ext>
            </a:extLst>
          </p:cNvPr>
          <p:cNvSpPr/>
          <p:nvPr/>
        </p:nvSpPr>
        <p:spPr>
          <a:xfrm>
            <a:off x="3986425" y="5913778"/>
            <a:ext cx="3108060" cy="479955"/>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Modified Forward Model</a:t>
            </a:r>
          </a:p>
        </p:txBody>
      </p:sp>
      <p:cxnSp>
        <p:nvCxnSpPr>
          <p:cNvPr id="57" name="Connector: Elbow 197">
            <a:extLst>
              <a:ext uri="{FF2B5EF4-FFF2-40B4-BE49-F238E27FC236}">
                <a16:creationId xmlns:a16="http://schemas.microsoft.com/office/drawing/2014/main" id="{F1B3A75B-DBCE-484B-858D-010257569257}"/>
              </a:ext>
            </a:extLst>
          </p:cNvPr>
          <p:cNvCxnSpPr>
            <a:stCxn id="54" idx="2"/>
            <a:endCxn id="55" idx="0"/>
          </p:cNvCxnSpPr>
          <p:nvPr/>
        </p:nvCxnSpPr>
        <p:spPr>
          <a:xfrm rot="5400000">
            <a:off x="3333196" y="5127105"/>
            <a:ext cx="190109" cy="13725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199">
            <a:extLst>
              <a:ext uri="{FF2B5EF4-FFF2-40B4-BE49-F238E27FC236}">
                <a16:creationId xmlns:a16="http://schemas.microsoft.com/office/drawing/2014/main" id="{2A88E053-CCD6-404D-A2DD-99E6FD56264D}"/>
              </a:ext>
            </a:extLst>
          </p:cNvPr>
          <p:cNvCxnSpPr>
            <a:stCxn id="54" idx="2"/>
            <a:endCxn id="56" idx="0"/>
          </p:cNvCxnSpPr>
          <p:nvPr/>
        </p:nvCxnSpPr>
        <p:spPr>
          <a:xfrm rot="16200000" flipH="1">
            <a:off x="4729780" y="5103103"/>
            <a:ext cx="195436" cy="14259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203">
            <a:extLst>
              <a:ext uri="{FF2B5EF4-FFF2-40B4-BE49-F238E27FC236}">
                <a16:creationId xmlns:a16="http://schemas.microsoft.com/office/drawing/2014/main" id="{959A828E-B76C-40A8-99C0-D99953EA8889}"/>
              </a:ext>
            </a:extLst>
          </p:cNvPr>
          <p:cNvCxnSpPr>
            <a:stCxn id="7" idx="3"/>
            <a:endCxn id="37" idx="0"/>
          </p:cNvCxnSpPr>
          <p:nvPr/>
        </p:nvCxnSpPr>
        <p:spPr>
          <a:xfrm>
            <a:off x="1848008" y="2868144"/>
            <a:ext cx="463607" cy="64087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205">
            <a:extLst>
              <a:ext uri="{FF2B5EF4-FFF2-40B4-BE49-F238E27FC236}">
                <a16:creationId xmlns:a16="http://schemas.microsoft.com/office/drawing/2014/main" id="{FA2BCDE0-B2BA-4501-AB2D-9EAFC29A9EAE}"/>
              </a:ext>
            </a:extLst>
          </p:cNvPr>
          <p:cNvCxnSpPr>
            <a:stCxn id="8" idx="1"/>
            <a:endCxn id="37" idx="0"/>
          </p:cNvCxnSpPr>
          <p:nvPr/>
        </p:nvCxnSpPr>
        <p:spPr>
          <a:xfrm rot="10800000" flipV="1">
            <a:off x="2311616" y="2868142"/>
            <a:ext cx="934505" cy="6408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207">
            <a:extLst>
              <a:ext uri="{FF2B5EF4-FFF2-40B4-BE49-F238E27FC236}">
                <a16:creationId xmlns:a16="http://schemas.microsoft.com/office/drawing/2014/main" id="{4F59D20C-ADA0-483A-88A2-D277E76EC476}"/>
              </a:ext>
            </a:extLst>
          </p:cNvPr>
          <p:cNvCxnSpPr>
            <a:stCxn id="8" idx="1"/>
            <a:endCxn id="38" idx="0"/>
          </p:cNvCxnSpPr>
          <p:nvPr/>
        </p:nvCxnSpPr>
        <p:spPr>
          <a:xfrm rot="10800000" flipV="1">
            <a:off x="2906200" y="2868142"/>
            <a:ext cx="339920" cy="6294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10" idx="2"/>
            <a:endCxn id="15" idx="0"/>
          </p:cNvCxnSpPr>
          <p:nvPr/>
        </p:nvCxnSpPr>
        <p:spPr>
          <a:xfrm>
            <a:off x="7258217" y="3123778"/>
            <a:ext cx="4403" cy="279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Elbow Connector 62"/>
          <p:cNvCxnSpPr>
            <a:stCxn id="9" idx="2"/>
            <a:endCxn id="14" idx="0"/>
          </p:cNvCxnSpPr>
          <p:nvPr/>
        </p:nvCxnSpPr>
        <p:spPr>
          <a:xfrm rot="5400000">
            <a:off x="4925446" y="3301126"/>
            <a:ext cx="1087681" cy="73298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p:cNvCxnSpPr>
            <a:stCxn id="33" idx="2"/>
            <a:endCxn id="14" idx="0"/>
          </p:cNvCxnSpPr>
          <p:nvPr/>
        </p:nvCxnSpPr>
        <p:spPr>
          <a:xfrm rot="16200000" flipH="1">
            <a:off x="4825654" y="3934318"/>
            <a:ext cx="245171" cy="309110"/>
          </a:xfrm>
          <a:prstGeom prst="bentConnector3">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p:cNvCxnSpPr>
            <a:stCxn id="31" idx="2"/>
            <a:endCxn id="14" idx="0"/>
          </p:cNvCxnSpPr>
          <p:nvPr/>
        </p:nvCxnSpPr>
        <p:spPr>
          <a:xfrm rot="16200000" flipH="1">
            <a:off x="2996849" y="2105513"/>
            <a:ext cx="245171" cy="3966720"/>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Elbow Connector 65"/>
          <p:cNvCxnSpPr>
            <a:stCxn id="30" idx="2"/>
            <a:endCxn id="14" idx="0"/>
          </p:cNvCxnSpPr>
          <p:nvPr/>
        </p:nvCxnSpPr>
        <p:spPr>
          <a:xfrm rot="16200000" flipH="1">
            <a:off x="3298790" y="2407454"/>
            <a:ext cx="245171" cy="3362837"/>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cxnSpLocks/>
          </p:cNvCxnSpPr>
          <p:nvPr/>
        </p:nvCxnSpPr>
        <p:spPr>
          <a:xfrm>
            <a:off x="4226810" y="4805794"/>
            <a:ext cx="4382071" cy="3186"/>
          </a:xfrm>
          <a:prstGeom prst="straightConnector1">
            <a:avLst/>
          </a:prstGeom>
          <a:ln w="25400">
            <a:solidFill>
              <a:schemeClr val="tx1"/>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p:cNvCxnSpPr>
            <a:stCxn id="17" idx="2"/>
            <a:endCxn id="20" idx="0"/>
          </p:cNvCxnSpPr>
          <p:nvPr/>
        </p:nvCxnSpPr>
        <p:spPr>
          <a:xfrm rot="5400000">
            <a:off x="3410928" y="3875958"/>
            <a:ext cx="613283" cy="7939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Footer Placeholder 68"/>
          <p:cNvSpPr>
            <a:spLocks noGrp="1"/>
          </p:cNvSpPr>
          <p:nvPr>
            <p:ph type="ftr" sz="quarter" idx="11"/>
          </p:nvPr>
        </p:nvSpPr>
        <p:spPr/>
        <p:txBody>
          <a:bodyPr/>
          <a:lstStyle/>
          <a:p>
            <a:r>
              <a:rPr lang="en-US"/>
              <a:t>SEG 2018</a:t>
            </a:r>
          </a:p>
        </p:txBody>
      </p:sp>
      <p:sp>
        <p:nvSpPr>
          <p:cNvPr id="70" name="Slide Number Placeholder 69"/>
          <p:cNvSpPr>
            <a:spLocks noGrp="1"/>
          </p:cNvSpPr>
          <p:nvPr>
            <p:ph type="sldNum" sz="quarter" idx="12"/>
          </p:nvPr>
        </p:nvSpPr>
        <p:spPr/>
        <p:txBody>
          <a:bodyPr/>
          <a:lstStyle/>
          <a:p>
            <a:fld id="{48265A45-E6A4-4653-9C66-6A1A04113506}" type="slidenum">
              <a:rPr lang="en-US" smtClean="0"/>
              <a:pPr/>
              <a:t>6</a:t>
            </a:fld>
            <a:endParaRPr lang="en-US"/>
          </a:p>
        </p:txBody>
      </p:sp>
    </p:spTree>
    <p:extLst>
      <p:ext uri="{BB962C8B-B14F-4D97-AF65-F5344CB8AC3E}">
        <p14:creationId xmlns:p14="http://schemas.microsoft.com/office/powerpoint/2010/main" val="2886903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Characterizing carbonate</a:t>
            </a:r>
          </a:p>
        </p:txBody>
      </p:sp>
      <p:grpSp>
        <p:nvGrpSpPr>
          <p:cNvPr id="3" name="Group 2"/>
          <p:cNvGrpSpPr/>
          <p:nvPr/>
        </p:nvGrpSpPr>
        <p:grpSpPr>
          <a:xfrm>
            <a:off x="199772" y="1766937"/>
            <a:ext cx="8443230" cy="3471450"/>
            <a:chOff x="-1519723" y="1812134"/>
            <a:chExt cx="10940072" cy="4409159"/>
          </a:xfrm>
        </p:grpSpPr>
        <p:sp>
          <p:nvSpPr>
            <p:cNvPr id="4" name="Rounded Rectangle 7"/>
            <p:cNvSpPr/>
            <p:nvPr/>
          </p:nvSpPr>
          <p:spPr>
            <a:xfrm>
              <a:off x="916562" y="1820149"/>
              <a:ext cx="2209800"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SIP&amp;NMR</a:t>
              </a:r>
            </a:p>
          </p:txBody>
        </p:sp>
        <p:sp>
          <p:nvSpPr>
            <p:cNvPr id="5" name="Rounded Rectangle 8"/>
            <p:cNvSpPr/>
            <p:nvPr/>
          </p:nvSpPr>
          <p:spPr>
            <a:xfrm>
              <a:off x="5446871" y="1812134"/>
              <a:ext cx="2209799"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Special Core Analysis</a:t>
              </a:r>
            </a:p>
          </p:txBody>
        </p:sp>
        <p:cxnSp>
          <p:nvCxnSpPr>
            <p:cNvPr id="6" name="Elbow Connector 9"/>
            <p:cNvCxnSpPr>
              <a:cxnSpLocks/>
              <a:stCxn id="4" idx="2"/>
              <a:endCxn id="7" idx="0"/>
            </p:cNvCxnSpPr>
            <p:nvPr/>
          </p:nvCxnSpPr>
          <p:spPr>
            <a:xfrm rot="5400000">
              <a:off x="675658" y="1560194"/>
              <a:ext cx="476249" cy="2215361"/>
            </a:xfrm>
            <a:prstGeom prst="bentConnector3">
              <a:avLst>
                <a:gd name="adj1" fmla="val 50000"/>
              </a:avLst>
            </a:prstGeom>
            <a:ln w="9525">
              <a:miter lim="800000"/>
              <a:tailEnd type="triangle"/>
            </a:ln>
          </p:spPr>
          <p:style>
            <a:lnRef idx="1">
              <a:schemeClr val="accent1"/>
            </a:lnRef>
            <a:fillRef idx="0">
              <a:schemeClr val="accent1"/>
            </a:fillRef>
            <a:effectRef idx="0">
              <a:schemeClr val="accent1"/>
            </a:effectRef>
            <a:fontRef idx="minor">
              <a:schemeClr val="tx1"/>
            </a:fontRef>
          </p:style>
        </p:cxnSp>
        <p:sp>
          <p:nvSpPr>
            <p:cNvPr id="7" name="Rounded Rectangle 10"/>
            <p:cNvSpPr/>
            <p:nvPr/>
          </p:nvSpPr>
          <p:spPr>
            <a:xfrm>
              <a:off x="-1003730" y="2905999"/>
              <a:ext cx="1619662" cy="609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SIP</a:t>
              </a:r>
            </a:p>
          </p:txBody>
        </p:sp>
        <p:sp>
          <p:nvSpPr>
            <p:cNvPr id="8" name="Rounded Rectangle 11"/>
            <p:cNvSpPr/>
            <p:nvPr/>
          </p:nvSpPr>
          <p:spPr>
            <a:xfrm>
              <a:off x="2427494" y="2905997"/>
              <a:ext cx="1606387" cy="609601"/>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NMR</a:t>
              </a:r>
            </a:p>
          </p:txBody>
        </p:sp>
        <p:sp>
          <p:nvSpPr>
            <p:cNvPr id="9" name="Rounded Rectangle 12"/>
            <p:cNvSpPr/>
            <p:nvPr/>
          </p:nvSpPr>
          <p:spPr>
            <a:xfrm>
              <a:off x="4916399" y="2925885"/>
              <a:ext cx="1733140" cy="6096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Gas adsorption</a:t>
              </a:r>
            </a:p>
          </p:txBody>
        </p:sp>
        <p:sp>
          <p:nvSpPr>
            <p:cNvPr id="10" name="Rounded Rectangle 13"/>
            <p:cNvSpPr/>
            <p:nvPr/>
          </p:nvSpPr>
          <p:spPr>
            <a:xfrm>
              <a:off x="6832267" y="2925885"/>
              <a:ext cx="1587575" cy="6096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Micro-CT</a:t>
              </a:r>
            </a:p>
          </p:txBody>
        </p:sp>
        <p:cxnSp>
          <p:nvCxnSpPr>
            <p:cNvPr id="11" name="Elbow Connector 14"/>
            <p:cNvCxnSpPr>
              <a:cxnSpLocks/>
              <a:stCxn id="4" idx="2"/>
              <a:endCxn id="8" idx="0"/>
            </p:cNvCxnSpPr>
            <p:nvPr/>
          </p:nvCxnSpPr>
          <p:spPr>
            <a:xfrm rot="16200000" flipH="1">
              <a:off x="2387951" y="2063259"/>
              <a:ext cx="476248" cy="1209225"/>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5"/>
            <p:cNvCxnSpPr>
              <a:cxnSpLocks/>
              <a:stCxn id="5" idx="2"/>
              <a:endCxn id="10" idx="0"/>
            </p:cNvCxnSpPr>
            <p:nvPr/>
          </p:nvCxnSpPr>
          <p:spPr>
            <a:xfrm rot="16200000" flipH="1">
              <a:off x="6836838" y="2136668"/>
              <a:ext cx="504150" cy="107428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6"/>
            <p:cNvCxnSpPr>
              <a:cxnSpLocks/>
              <a:stCxn id="5" idx="2"/>
              <a:endCxn id="9" idx="0"/>
            </p:cNvCxnSpPr>
            <p:nvPr/>
          </p:nvCxnSpPr>
          <p:spPr>
            <a:xfrm rot="5400000">
              <a:off x="5915297" y="2289409"/>
              <a:ext cx="504150" cy="76880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95026" y="4916971"/>
              <a:ext cx="1676400" cy="595313"/>
            </a:xfrm>
            <a:prstGeom prst="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err="1">
                  <a:solidFill>
                    <a:schemeClr val="bg1"/>
                  </a:solidFill>
                </a:rPr>
                <a:t>S</a:t>
              </a:r>
              <a:r>
                <a:rPr lang="en-US" sz="1600" b="1" i="1" baseline="-25000" dirty="0" err="1">
                  <a:solidFill>
                    <a:schemeClr val="bg1"/>
                  </a:solidFill>
                </a:rPr>
                <a:t>por</a:t>
              </a:r>
              <a:endParaRPr lang="en-US" sz="1600" b="1" i="1" dirty="0">
                <a:solidFill>
                  <a:schemeClr val="bg1"/>
                </a:solidFill>
              </a:endParaRPr>
            </a:p>
          </p:txBody>
        </p:sp>
        <p:sp>
          <p:nvSpPr>
            <p:cNvPr id="15" name="Rectangle 14"/>
            <p:cNvSpPr/>
            <p:nvPr/>
          </p:nvSpPr>
          <p:spPr>
            <a:xfrm>
              <a:off x="6793558" y="3891115"/>
              <a:ext cx="1676401" cy="806586"/>
            </a:xfrm>
            <a:prstGeom prst="rect">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3-D Texture</a:t>
              </a:r>
            </a:p>
            <a:p>
              <a:pPr algn="ctr"/>
              <a:r>
                <a:rPr lang="en-US" sz="1600" b="1" dirty="0"/>
                <a:t>(&gt;</a:t>
              </a:r>
              <a:r>
                <a:rPr lang="en-US" altLang="zh-CN" sz="1600" b="1" dirty="0" err="1"/>
                <a:t>μm</a:t>
              </a:r>
              <a:r>
                <a:rPr lang="en-US" sz="1600" b="1" dirty="0"/>
                <a:t>)</a:t>
              </a:r>
            </a:p>
          </p:txBody>
        </p:sp>
        <p:sp>
          <p:nvSpPr>
            <p:cNvPr id="16" name="Rectangle 15"/>
            <p:cNvSpPr/>
            <p:nvPr/>
          </p:nvSpPr>
          <p:spPr>
            <a:xfrm>
              <a:off x="2420706" y="4020504"/>
              <a:ext cx="622886" cy="595313"/>
            </a:xfrm>
            <a:prstGeom prst="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b="1" dirty="0"/>
                <a:t>φ</a:t>
              </a:r>
              <a:endParaRPr lang="en-US" sz="1600" b="1" dirty="0"/>
            </a:p>
          </p:txBody>
        </p:sp>
        <p:sp>
          <p:nvSpPr>
            <p:cNvPr id="17" name="Rectangle 16"/>
            <p:cNvSpPr/>
            <p:nvPr/>
          </p:nvSpPr>
          <p:spPr>
            <a:xfrm>
              <a:off x="3126363" y="4010262"/>
              <a:ext cx="852727" cy="595313"/>
            </a:xfrm>
            <a:prstGeom prst="rect">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PSD</a:t>
              </a:r>
            </a:p>
          </p:txBody>
        </p:sp>
        <p:cxnSp>
          <p:nvCxnSpPr>
            <p:cNvPr id="18" name="Elbow Connector 23"/>
            <p:cNvCxnSpPr>
              <a:cxnSpLocks/>
              <a:stCxn id="8" idx="2"/>
              <a:endCxn id="16" idx="0"/>
            </p:cNvCxnSpPr>
            <p:nvPr/>
          </p:nvCxnSpPr>
          <p:spPr>
            <a:xfrm rot="5400000">
              <a:off x="2728966" y="3518781"/>
              <a:ext cx="504906" cy="498539"/>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24"/>
            <p:cNvCxnSpPr>
              <a:cxnSpLocks/>
              <a:stCxn id="8" idx="2"/>
              <a:endCxn id="17" idx="0"/>
            </p:cNvCxnSpPr>
            <p:nvPr/>
          </p:nvCxnSpPr>
          <p:spPr>
            <a:xfrm rot="16200000" flipH="1">
              <a:off x="3144376" y="3601911"/>
              <a:ext cx="494664" cy="322039"/>
            </a:xfrm>
            <a:prstGeom prst="bentConnector3">
              <a:avLst/>
            </a:prstGeom>
            <a:ln w="9525">
              <a:miter lim="800000"/>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1584060" y="5384519"/>
              <a:ext cx="1879871"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sp>
          <p:nvSpPr>
            <p:cNvPr id="21" name="Rectangle 20"/>
            <p:cNvSpPr/>
            <p:nvPr/>
          </p:nvSpPr>
          <p:spPr>
            <a:xfrm>
              <a:off x="-1519723" y="5380472"/>
              <a:ext cx="1885579" cy="595313"/>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cxnSp>
          <p:nvCxnSpPr>
            <p:cNvPr id="22" name="Straight Arrow Connector 21"/>
            <p:cNvCxnSpPr>
              <a:cxnSpLocks/>
              <a:stCxn id="15" idx="1"/>
              <a:endCxn id="33" idx="3"/>
            </p:cNvCxnSpPr>
            <p:nvPr/>
          </p:nvCxnSpPr>
          <p:spPr>
            <a:xfrm flipH="1">
              <a:off x="4826920" y="4294409"/>
              <a:ext cx="1966638" cy="13509"/>
            </a:xfrm>
            <a:prstGeom prst="straightConnector1">
              <a:avLst/>
            </a:prstGeom>
            <a:ln w="25400">
              <a:solidFill>
                <a:schemeClr val="tx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cxnSpLocks/>
              <a:stCxn id="17" idx="2"/>
              <a:endCxn id="54" idx="0"/>
            </p:cNvCxnSpPr>
            <p:nvPr/>
          </p:nvCxnSpPr>
          <p:spPr>
            <a:xfrm>
              <a:off x="3552726" y="4605576"/>
              <a:ext cx="0" cy="1615717"/>
            </a:xfrm>
            <a:prstGeom prst="straightConnector1">
              <a:avLst/>
            </a:prstGeom>
            <a:ln w="25400">
              <a:solidFill>
                <a:schemeClr val="tx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a:stCxn id="21" idx="3"/>
              <a:endCxn id="20" idx="1"/>
            </p:cNvCxnSpPr>
            <p:nvPr/>
          </p:nvCxnSpPr>
          <p:spPr>
            <a:xfrm>
              <a:off x="365856" y="5678128"/>
              <a:ext cx="1218204" cy="4047"/>
            </a:xfrm>
            <a:prstGeom prst="straightConnector1">
              <a:avLst/>
            </a:prstGeom>
            <a:ln w="25400">
              <a:solidFill>
                <a:schemeClr val="tx1"/>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34"/>
            <p:cNvSpPr/>
            <p:nvPr/>
          </p:nvSpPr>
          <p:spPr>
            <a:xfrm>
              <a:off x="8585197" y="2946281"/>
              <a:ext cx="835152" cy="596901"/>
            </a:xfrm>
            <a:prstGeom prst="roundRect">
              <a:avLst/>
            </a:prstGeom>
            <a:solidFill>
              <a:schemeClr val="accent1"/>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i="1" dirty="0" err="1"/>
                <a:t>k</a:t>
              </a:r>
              <a:r>
                <a:rPr lang="en-US" sz="1600" b="1" i="1" baseline="-25000" dirty="0" err="1"/>
                <a:t>air</a:t>
              </a:r>
              <a:r>
                <a:rPr lang="en-US" sz="1600" b="1" dirty="0"/>
                <a:t> </a:t>
              </a:r>
            </a:p>
          </p:txBody>
        </p:sp>
        <p:cxnSp>
          <p:nvCxnSpPr>
            <p:cNvPr id="26" name="Elbow Connector 38"/>
            <p:cNvCxnSpPr>
              <a:cxnSpLocks/>
              <a:stCxn id="5" idx="2"/>
              <a:endCxn id="25" idx="0"/>
            </p:cNvCxnSpPr>
            <p:nvPr/>
          </p:nvCxnSpPr>
          <p:spPr>
            <a:xfrm rot="16200000" flipH="1">
              <a:off x="7514998" y="1458507"/>
              <a:ext cx="524547" cy="2451002"/>
            </a:xfrm>
            <a:prstGeom prst="bentConnector3">
              <a:avLst/>
            </a:prstGeom>
            <a:ln w="12700">
              <a:miter lim="800000"/>
              <a:tailEnd type="triangle"/>
            </a:ln>
          </p:spPr>
          <p:style>
            <a:lnRef idx="1">
              <a:schemeClr val="accent1"/>
            </a:lnRef>
            <a:fillRef idx="0">
              <a:schemeClr val="accent1"/>
            </a:fillRef>
            <a:effectRef idx="0">
              <a:schemeClr val="accent1"/>
            </a:effectRef>
            <a:fontRef idx="minor">
              <a:schemeClr val="tx1"/>
            </a:fontRef>
          </p:style>
        </p:cxnSp>
      </p:grpSp>
      <p:cxnSp>
        <p:nvCxnSpPr>
          <p:cNvPr id="27" name="Connector: Elbow 39"/>
          <p:cNvCxnSpPr>
            <a:cxnSpLocks/>
            <a:stCxn id="7" idx="2"/>
            <a:endCxn id="29" idx="0"/>
          </p:cNvCxnSpPr>
          <p:nvPr/>
        </p:nvCxnSpPr>
        <p:spPr>
          <a:xfrm rot="5400000">
            <a:off x="689437" y="2957109"/>
            <a:ext cx="382556" cy="68458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41"/>
          <p:cNvCxnSpPr>
            <a:cxnSpLocks/>
            <a:stCxn id="7" idx="2"/>
            <a:endCxn id="30" idx="0"/>
          </p:cNvCxnSpPr>
          <p:nvPr/>
        </p:nvCxnSpPr>
        <p:spPr>
          <a:xfrm rot="16200000" flipH="1">
            <a:off x="1286751" y="3044375"/>
            <a:ext cx="389461" cy="51695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28"/>
              <p:cNvSpPr/>
              <p:nvPr/>
            </p:nvSpPr>
            <p:spPr>
              <a:xfrm>
                <a:off x="302242" y="3490677"/>
                <a:ext cx="472365" cy="468706"/>
              </a:xfrm>
              <a:prstGeom prst="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1600" b="1" i="1">
                              <a:latin typeface="Cambria Math" panose="02040503050406030204" pitchFamily="18" charset="0"/>
                            </a:rPr>
                          </m:ctrlPr>
                        </m:sSupPr>
                        <m:e>
                          <m:r>
                            <a:rPr lang="en-US" sz="1600" b="1" i="1" smtClean="0">
                              <a:latin typeface="Cambria Math" panose="02040503050406030204" pitchFamily="18" charset="0"/>
                            </a:rPr>
                            <m:t>𝝈</m:t>
                          </m:r>
                        </m:e>
                        <m:sup>
                          <m:r>
                            <a:rPr lang="en-US" sz="1600" b="1" i="1" smtClean="0">
                              <a:latin typeface="Cambria Math" panose="02040503050406030204" pitchFamily="18" charset="0"/>
                            </a:rPr>
                            <m:t>′</m:t>
                          </m:r>
                        </m:sup>
                      </m:sSup>
                    </m:oMath>
                  </m:oMathPara>
                </a14:m>
                <a:endParaRPr lang="en-US" sz="1600" b="1" i="1" dirty="0"/>
              </a:p>
            </p:txBody>
          </p:sp>
        </mc:Choice>
        <mc:Fallback xmlns="">
          <p:sp>
            <p:nvSpPr>
              <p:cNvPr id="29" name="Rectangle 28"/>
              <p:cNvSpPr>
                <a:spLocks noRot="1" noChangeAspect="1" noMove="1" noResize="1" noEditPoints="1" noAdjustHandles="1" noChangeArrowheads="1" noChangeShapeType="1" noTextEdit="1"/>
              </p:cNvSpPr>
              <p:nvPr/>
            </p:nvSpPr>
            <p:spPr>
              <a:xfrm>
                <a:off x="302242" y="3490677"/>
                <a:ext cx="472365" cy="468706"/>
              </a:xfrm>
              <a:prstGeom prst="rect">
                <a:avLst/>
              </a:prstGeom>
              <a:blipFill>
                <a:blip r:embed="rId2"/>
                <a:stretch>
                  <a:fillRect/>
                </a:stretch>
              </a:blipFill>
              <a:ln>
                <a:miter lim="800000"/>
              </a:ln>
            </p:spPr>
            <p:txBody>
              <a:bodyPr/>
              <a:lstStyle/>
              <a:p>
                <a:r>
                  <a:rPr lang="en-US">
                    <a:noFill/>
                  </a:rPr>
                  <a:t> </a:t>
                </a:r>
              </a:p>
            </p:txBody>
          </p:sp>
        </mc:Fallback>
      </mc:AlternateContent>
      <p:sp>
        <p:nvSpPr>
          <p:cNvPr id="30" name="Rectangle 29"/>
          <p:cNvSpPr/>
          <p:nvPr/>
        </p:nvSpPr>
        <p:spPr>
          <a:xfrm>
            <a:off x="1535864" y="3497582"/>
            <a:ext cx="408185" cy="468706"/>
          </a:xfrm>
          <a:prstGeom prst="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F</a:t>
            </a:r>
          </a:p>
        </p:txBody>
      </p:sp>
      <mc:AlternateContent xmlns:mc="http://schemas.openxmlformats.org/markup-compatibility/2006" xmlns:a14="http://schemas.microsoft.com/office/drawing/2010/main">
        <mc:Choice Requires="a14">
          <p:sp>
            <p:nvSpPr>
              <p:cNvPr id="31" name="Rectangle 30"/>
              <p:cNvSpPr/>
              <p:nvPr/>
            </p:nvSpPr>
            <p:spPr>
              <a:xfrm>
                <a:off x="882278" y="3497582"/>
                <a:ext cx="507591" cy="468706"/>
              </a:xfrm>
              <a:prstGeom prst="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𝝈</m:t>
                          </m:r>
                        </m:e>
                        <m:sup>
                          <m:r>
                            <a:rPr lang="en-US" sz="1600" b="1" i="1" smtClean="0">
                              <a:latin typeface="Cambria Math" panose="02040503050406030204" pitchFamily="18" charset="0"/>
                            </a:rPr>
                            <m:t>"</m:t>
                          </m:r>
                        </m:sup>
                      </m:sSup>
                    </m:oMath>
                  </m:oMathPara>
                </a14:m>
                <a:endParaRPr lang="en-US" sz="1600" b="1" i="1" dirty="0"/>
              </a:p>
            </p:txBody>
          </p:sp>
        </mc:Choice>
        <mc:Fallback xmlns="">
          <p:sp>
            <p:nvSpPr>
              <p:cNvPr id="31" name="Rectangle 30"/>
              <p:cNvSpPr>
                <a:spLocks noRot="1" noChangeAspect="1" noMove="1" noResize="1" noEditPoints="1" noAdjustHandles="1" noChangeArrowheads="1" noChangeShapeType="1" noTextEdit="1"/>
              </p:cNvSpPr>
              <p:nvPr/>
            </p:nvSpPr>
            <p:spPr>
              <a:xfrm>
                <a:off x="882278" y="3497582"/>
                <a:ext cx="507591" cy="468706"/>
              </a:xfrm>
              <a:prstGeom prst="rect">
                <a:avLst/>
              </a:prstGeom>
              <a:blipFill>
                <a:blip r:embed="rId3"/>
                <a:stretch>
                  <a:fillRect/>
                </a:stretch>
              </a:blipFill>
              <a:ln>
                <a:miter lim="800000"/>
              </a:ln>
            </p:spPr>
            <p:txBody>
              <a:bodyPr/>
              <a:lstStyle/>
              <a:p>
                <a:r>
                  <a:rPr lang="en-US">
                    <a:noFill/>
                  </a:rPr>
                  <a:t> </a:t>
                </a:r>
              </a:p>
            </p:txBody>
          </p:sp>
        </mc:Fallback>
      </mc:AlternateContent>
      <p:cxnSp>
        <p:nvCxnSpPr>
          <p:cNvPr id="32" name="Connector: Elbow 70"/>
          <p:cNvCxnSpPr>
            <a:cxnSpLocks/>
            <a:stCxn id="7" idx="2"/>
            <a:endCxn id="31" idx="0"/>
          </p:cNvCxnSpPr>
          <p:nvPr/>
        </p:nvCxnSpPr>
        <p:spPr>
          <a:xfrm rot="5400000">
            <a:off x="984810" y="3259386"/>
            <a:ext cx="389461" cy="869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489441" y="3497582"/>
            <a:ext cx="608486" cy="468706"/>
          </a:xfrm>
          <a:prstGeom prst="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T</a:t>
            </a:r>
            <a:r>
              <a:rPr lang="en-US" sz="1600" b="1" i="1" baseline="-25000" dirty="0"/>
              <a:t>2ml</a:t>
            </a:r>
            <a:endParaRPr lang="en-US" sz="1600" b="1" i="1" dirty="0"/>
          </a:p>
        </p:txBody>
      </p:sp>
      <p:cxnSp>
        <p:nvCxnSpPr>
          <p:cNvPr id="34" name="Connector: Elbow 90"/>
          <p:cNvCxnSpPr>
            <a:cxnSpLocks/>
            <a:stCxn id="8" idx="2"/>
            <a:endCxn id="33" idx="0"/>
          </p:cNvCxnSpPr>
          <p:nvPr/>
        </p:nvCxnSpPr>
        <p:spPr>
          <a:xfrm rot="16200000" flipH="1">
            <a:off x="4135111" y="2839009"/>
            <a:ext cx="389462" cy="9276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39"/>
          <p:cNvCxnSpPr>
            <a:cxnSpLocks/>
            <a:stCxn id="29" idx="2"/>
            <a:endCxn id="21" idx="0"/>
          </p:cNvCxnSpPr>
          <p:nvPr/>
        </p:nvCxnSpPr>
        <p:spPr>
          <a:xfrm rot="16200000" flipH="1">
            <a:off x="424406" y="4073401"/>
            <a:ext cx="617003" cy="3889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41"/>
          <p:cNvCxnSpPr>
            <a:cxnSpLocks/>
            <a:stCxn id="31" idx="2"/>
            <a:endCxn id="21" idx="0"/>
          </p:cNvCxnSpPr>
          <p:nvPr/>
        </p:nvCxnSpPr>
        <p:spPr>
          <a:xfrm rot="5400000">
            <a:off x="726683" y="4166995"/>
            <a:ext cx="610098" cy="208684"/>
          </a:xfrm>
          <a:prstGeom prst="bentConnector3">
            <a:avLst>
              <a:gd name="adj1" fmla="val 48637"/>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4A81E25C-A4ED-43E3-AE4E-6F6CE7D0DFF5}"/>
              </a:ext>
            </a:extLst>
          </p:cNvPr>
          <p:cNvSpPr/>
          <p:nvPr/>
        </p:nvSpPr>
        <p:spPr>
          <a:xfrm>
            <a:off x="2083040" y="3509016"/>
            <a:ext cx="457150" cy="468706"/>
          </a:xfrm>
          <a:prstGeom prst="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m</a:t>
            </a:r>
          </a:p>
        </p:txBody>
      </p:sp>
      <p:sp>
        <p:nvSpPr>
          <p:cNvPr id="38" name="Rectangle 37">
            <a:extLst>
              <a:ext uri="{FF2B5EF4-FFF2-40B4-BE49-F238E27FC236}">
                <a16:creationId xmlns:a16="http://schemas.microsoft.com/office/drawing/2014/main" id="{B29736B1-E614-4BBF-AFFD-C4BDCFF95D4C}"/>
              </a:ext>
            </a:extLst>
          </p:cNvPr>
          <p:cNvSpPr/>
          <p:nvPr/>
        </p:nvSpPr>
        <p:spPr>
          <a:xfrm>
            <a:off x="2677625" y="3497582"/>
            <a:ext cx="457150" cy="468706"/>
          </a:xfrm>
          <a:prstGeom prst="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τ</a:t>
            </a:r>
          </a:p>
        </p:txBody>
      </p:sp>
      <p:sp>
        <p:nvSpPr>
          <p:cNvPr id="39" name="Rounded Rectangle 8">
            <a:extLst>
              <a:ext uri="{FF2B5EF4-FFF2-40B4-BE49-F238E27FC236}">
                <a16:creationId xmlns:a16="http://schemas.microsoft.com/office/drawing/2014/main" id="{DA73F2FD-A0B3-4248-AC7C-6BBBBBD6DDCC}"/>
              </a:ext>
            </a:extLst>
          </p:cNvPr>
          <p:cNvSpPr/>
          <p:nvPr/>
        </p:nvSpPr>
        <p:spPr>
          <a:xfrm>
            <a:off x="9439445" y="1761418"/>
            <a:ext cx="1705459"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Well-log Analysis</a:t>
            </a:r>
          </a:p>
        </p:txBody>
      </p:sp>
      <p:sp>
        <p:nvSpPr>
          <p:cNvPr id="40" name="Rounded Rectangle 11">
            <a:extLst>
              <a:ext uri="{FF2B5EF4-FFF2-40B4-BE49-F238E27FC236}">
                <a16:creationId xmlns:a16="http://schemas.microsoft.com/office/drawing/2014/main" id="{47C08131-9B2A-4749-9CA5-F26076581A95}"/>
              </a:ext>
            </a:extLst>
          </p:cNvPr>
          <p:cNvSpPr/>
          <p:nvPr/>
        </p:nvSpPr>
        <p:spPr>
          <a:xfrm>
            <a:off x="9893409" y="2646098"/>
            <a:ext cx="797529" cy="479955"/>
          </a:xfrm>
          <a:prstGeom prst="round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T1/T2</a:t>
            </a:r>
          </a:p>
        </p:txBody>
      </p:sp>
      <p:cxnSp>
        <p:nvCxnSpPr>
          <p:cNvPr id="41" name="Straight Arrow Connector 40">
            <a:extLst>
              <a:ext uri="{FF2B5EF4-FFF2-40B4-BE49-F238E27FC236}">
                <a16:creationId xmlns:a16="http://schemas.microsoft.com/office/drawing/2014/main" id="{E2A6621D-D56B-45F2-9CC9-83415AF58F89}"/>
              </a:ext>
            </a:extLst>
          </p:cNvPr>
          <p:cNvCxnSpPr>
            <a:stCxn id="39" idx="2"/>
            <a:endCxn id="40" idx="0"/>
          </p:cNvCxnSpPr>
          <p:nvPr/>
        </p:nvCxnSpPr>
        <p:spPr>
          <a:xfrm flipH="1">
            <a:off x="10292174" y="2241373"/>
            <a:ext cx="1" cy="40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ounded Rectangle 11">
            <a:extLst>
              <a:ext uri="{FF2B5EF4-FFF2-40B4-BE49-F238E27FC236}">
                <a16:creationId xmlns:a16="http://schemas.microsoft.com/office/drawing/2014/main" id="{18919505-2490-473D-A953-7EA845D356BF}"/>
              </a:ext>
            </a:extLst>
          </p:cNvPr>
          <p:cNvSpPr/>
          <p:nvPr/>
        </p:nvSpPr>
        <p:spPr>
          <a:xfrm>
            <a:off x="8552015" y="3370728"/>
            <a:ext cx="1701622" cy="479955"/>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Sonic calibrated perm model</a:t>
            </a:r>
          </a:p>
        </p:txBody>
      </p:sp>
      <p:cxnSp>
        <p:nvCxnSpPr>
          <p:cNvPr id="43" name="Connector: Elbow 145">
            <a:extLst>
              <a:ext uri="{FF2B5EF4-FFF2-40B4-BE49-F238E27FC236}">
                <a16:creationId xmlns:a16="http://schemas.microsoft.com/office/drawing/2014/main" id="{01090A1D-9670-4320-A860-BB82C1BDCD6C}"/>
              </a:ext>
            </a:extLst>
          </p:cNvPr>
          <p:cNvCxnSpPr>
            <a:cxnSpLocks/>
            <a:stCxn id="40" idx="2"/>
            <a:endCxn id="42" idx="0"/>
          </p:cNvCxnSpPr>
          <p:nvPr/>
        </p:nvCxnSpPr>
        <p:spPr>
          <a:xfrm rot="5400000">
            <a:off x="9725163" y="2803716"/>
            <a:ext cx="244675" cy="8893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A400FD3A-C173-45EA-A5BD-CDCBBF0DFC1A}"/>
              </a:ext>
            </a:extLst>
          </p:cNvPr>
          <p:cNvSpPr/>
          <p:nvPr/>
        </p:nvSpPr>
        <p:spPr>
          <a:xfrm>
            <a:off x="8677411" y="4576386"/>
            <a:ext cx="1450830" cy="468706"/>
          </a:xfrm>
          <a:prstGeom prst="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Permeability</a:t>
            </a:r>
          </a:p>
        </p:txBody>
      </p:sp>
      <p:cxnSp>
        <p:nvCxnSpPr>
          <p:cNvPr id="45" name="Straight Arrow Connector 44">
            <a:extLst>
              <a:ext uri="{FF2B5EF4-FFF2-40B4-BE49-F238E27FC236}">
                <a16:creationId xmlns:a16="http://schemas.microsoft.com/office/drawing/2014/main" id="{FCF27626-49EE-4D17-B958-AFF1A1C00A99}"/>
              </a:ext>
            </a:extLst>
          </p:cNvPr>
          <p:cNvCxnSpPr>
            <a:stCxn id="42" idx="2"/>
            <a:endCxn id="44" idx="0"/>
          </p:cNvCxnSpPr>
          <p:nvPr/>
        </p:nvCxnSpPr>
        <p:spPr>
          <a:xfrm>
            <a:off x="9402826" y="3850683"/>
            <a:ext cx="0" cy="725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70">
            <a:extLst>
              <a:ext uri="{FF2B5EF4-FFF2-40B4-BE49-F238E27FC236}">
                <a16:creationId xmlns:a16="http://schemas.microsoft.com/office/drawing/2014/main" id="{531342C7-A2F6-4499-88FA-4D019C77DB4A}"/>
              </a:ext>
            </a:extLst>
          </p:cNvPr>
          <p:cNvCxnSpPr>
            <a:cxnSpLocks/>
            <a:stCxn id="40" idx="2"/>
            <a:endCxn id="47" idx="0"/>
          </p:cNvCxnSpPr>
          <p:nvPr/>
        </p:nvCxnSpPr>
        <p:spPr>
          <a:xfrm rot="16200000" flipH="1">
            <a:off x="10638873" y="2779353"/>
            <a:ext cx="244675" cy="93807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ounded Rectangle 11">
            <a:extLst>
              <a:ext uri="{FF2B5EF4-FFF2-40B4-BE49-F238E27FC236}">
                <a16:creationId xmlns:a16="http://schemas.microsoft.com/office/drawing/2014/main" id="{E6DCD4D6-78CE-405E-A01F-5B2BC667E3D1}"/>
              </a:ext>
            </a:extLst>
          </p:cNvPr>
          <p:cNvSpPr/>
          <p:nvPr/>
        </p:nvSpPr>
        <p:spPr>
          <a:xfrm>
            <a:off x="10915754" y="3370728"/>
            <a:ext cx="628985" cy="479955"/>
          </a:xfrm>
          <a:prstGeom prst="roundRect">
            <a:avLst/>
          </a:prstGeom>
          <a:solidFill>
            <a:schemeClr val="accent1">
              <a:lumMod val="20000"/>
              <a:lumOff val="8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PCA</a:t>
            </a:r>
          </a:p>
        </p:txBody>
      </p:sp>
      <p:sp>
        <p:nvSpPr>
          <p:cNvPr id="48" name="Rounded Rectangle 11">
            <a:extLst>
              <a:ext uri="{FF2B5EF4-FFF2-40B4-BE49-F238E27FC236}">
                <a16:creationId xmlns:a16="http://schemas.microsoft.com/office/drawing/2014/main" id="{9E18EFD4-59D5-4721-B45B-ED72A030A04F}"/>
              </a:ext>
            </a:extLst>
          </p:cNvPr>
          <p:cNvSpPr/>
          <p:nvPr/>
        </p:nvSpPr>
        <p:spPr>
          <a:xfrm>
            <a:off x="10649535" y="3975554"/>
            <a:ext cx="1172407" cy="479955"/>
          </a:xfrm>
          <a:prstGeom prst="roundRect">
            <a:avLst/>
          </a:prstGeom>
          <a:solidFill>
            <a:schemeClr val="accent1">
              <a:lumMod val="20000"/>
              <a:lumOff val="8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Clustering</a:t>
            </a:r>
          </a:p>
        </p:txBody>
      </p:sp>
      <p:cxnSp>
        <p:nvCxnSpPr>
          <p:cNvPr id="49" name="Straight Arrow Connector 48">
            <a:extLst>
              <a:ext uri="{FF2B5EF4-FFF2-40B4-BE49-F238E27FC236}">
                <a16:creationId xmlns:a16="http://schemas.microsoft.com/office/drawing/2014/main" id="{307CAF5D-B55A-4AD2-A30D-1B009E0EF3BA}"/>
              </a:ext>
            </a:extLst>
          </p:cNvPr>
          <p:cNvCxnSpPr>
            <a:stCxn id="47" idx="2"/>
            <a:endCxn id="48" idx="0"/>
          </p:cNvCxnSpPr>
          <p:nvPr/>
        </p:nvCxnSpPr>
        <p:spPr>
          <a:xfrm>
            <a:off x="11230247" y="3850683"/>
            <a:ext cx="5492" cy="124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ounded Rectangle 11">
            <a:extLst>
              <a:ext uri="{FF2B5EF4-FFF2-40B4-BE49-F238E27FC236}">
                <a16:creationId xmlns:a16="http://schemas.microsoft.com/office/drawing/2014/main" id="{762F2656-9053-4046-BA40-DCCDADB42729}"/>
              </a:ext>
            </a:extLst>
          </p:cNvPr>
          <p:cNvSpPr/>
          <p:nvPr/>
        </p:nvSpPr>
        <p:spPr>
          <a:xfrm>
            <a:off x="10498794" y="4584155"/>
            <a:ext cx="1462903" cy="479955"/>
          </a:xfrm>
          <a:prstGeom prst="roundRect">
            <a:avLst/>
          </a:prstGeom>
          <a:solidFill>
            <a:schemeClr val="accent1">
              <a:lumMod val="20000"/>
              <a:lumOff val="8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Classification</a:t>
            </a:r>
          </a:p>
        </p:txBody>
      </p:sp>
      <p:cxnSp>
        <p:nvCxnSpPr>
          <p:cNvPr id="51" name="Straight Arrow Connector 50">
            <a:extLst>
              <a:ext uri="{FF2B5EF4-FFF2-40B4-BE49-F238E27FC236}">
                <a16:creationId xmlns:a16="http://schemas.microsoft.com/office/drawing/2014/main" id="{E0A88CB0-935A-4F4E-AA73-28B0BE8B420A}"/>
              </a:ext>
            </a:extLst>
          </p:cNvPr>
          <p:cNvCxnSpPr>
            <a:stCxn id="48" idx="2"/>
            <a:endCxn id="50" idx="0"/>
          </p:cNvCxnSpPr>
          <p:nvPr/>
        </p:nvCxnSpPr>
        <p:spPr>
          <a:xfrm flipH="1">
            <a:off x="11230246" y="4455509"/>
            <a:ext cx="5493" cy="128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ounded Rectangle 11">
            <a:extLst>
              <a:ext uri="{FF2B5EF4-FFF2-40B4-BE49-F238E27FC236}">
                <a16:creationId xmlns:a16="http://schemas.microsoft.com/office/drawing/2014/main" id="{C1AD6C3B-6674-4D0F-93B5-674576A31261}"/>
              </a:ext>
            </a:extLst>
          </p:cNvPr>
          <p:cNvSpPr/>
          <p:nvPr/>
        </p:nvSpPr>
        <p:spPr>
          <a:xfrm>
            <a:off x="10498793" y="5192757"/>
            <a:ext cx="1462903" cy="479955"/>
          </a:xfrm>
          <a:prstGeom prst="roundRect">
            <a:avLst/>
          </a:prstGeom>
          <a:solidFill>
            <a:srgbClr val="FFCCCC"/>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Electrofacies</a:t>
            </a:r>
            <a:endParaRPr lang="en-US" sz="1600" b="1" dirty="0"/>
          </a:p>
        </p:txBody>
      </p:sp>
      <p:cxnSp>
        <p:nvCxnSpPr>
          <p:cNvPr id="53" name="Straight Arrow Connector 52">
            <a:extLst>
              <a:ext uri="{FF2B5EF4-FFF2-40B4-BE49-F238E27FC236}">
                <a16:creationId xmlns:a16="http://schemas.microsoft.com/office/drawing/2014/main" id="{12712DCD-3C54-41B7-A06F-DE9E808A4EF8}"/>
              </a:ext>
            </a:extLst>
          </p:cNvPr>
          <p:cNvCxnSpPr>
            <a:stCxn id="50" idx="2"/>
            <a:endCxn id="52" idx="0"/>
          </p:cNvCxnSpPr>
          <p:nvPr/>
        </p:nvCxnSpPr>
        <p:spPr>
          <a:xfrm flipH="1">
            <a:off x="11230245" y="5064110"/>
            <a:ext cx="1" cy="128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ounded Rectangle 7">
            <a:extLst>
              <a:ext uri="{FF2B5EF4-FFF2-40B4-BE49-F238E27FC236}">
                <a16:creationId xmlns:a16="http://schemas.microsoft.com/office/drawing/2014/main" id="{4EADD0B6-24F8-4A21-B126-F63F2E6CE194}"/>
              </a:ext>
            </a:extLst>
          </p:cNvPr>
          <p:cNvSpPr/>
          <p:nvPr/>
        </p:nvSpPr>
        <p:spPr>
          <a:xfrm>
            <a:off x="2560511" y="5238387"/>
            <a:ext cx="3108060" cy="479955"/>
          </a:xfrm>
          <a:prstGeom prst="roundRect">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SIP&amp;NMR Joint Inversion</a:t>
            </a:r>
          </a:p>
        </p:txBody>
      </p:sp>
      <p:sp>
        <p:nvSpPr>
          <p:cNvPr id="55" name="Rounded Rectangle 7">
            <a:extLst>
              <a:ext uri="{FF2B5EF4-FFF2-40B4-BE49-F238E27FC236}">
                <a16:creationId xmlns:a16="http://schemas.microsoft.com/office/drawing/2014/main" id="{8701B66F-7B4C-48B3-A518-1DCCF6C5B4BB}"/>
              </a:ext>
            </a:extLst>
          </p:cNvPr>
          <p:cNvSpPr/>
          <p:nvPr/>
        </p:nvSpPr>
        <p:spPr>
          <a:xfrm>
            <a:off x="1962722" y="5908451"/>
            <a:ext cx="1558473" cy="479955"/>
          </a:xfrm>
          <a:prstGeom prst="roundRect">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Inverted PSD</a:t>
            </a:r>
          </a:p>
        </p:txBody>
      </p:sp>
      <p:sp>
        <p:nvSpPr>
          <p:cNvPr id="56" name="Rounded Rectangle 7">
            <a:extLst>
              <a:ext uri="{FF2B5EF4-FFF2-40B4-BE49-F238E27FC236}">
                <a16:creationId xmlns:a16="http://schemas.microsoft.com/office/drawing/2014/main" id="{09158C84-9ACD-47E2-B7E5-77B36AE89599}"/>
              </a:ext>
            </a:extLst>
          </p:cNvPr>
          <p:cNvSpPr/>
          <p:nvPr/>
        </p:nvSpPr>
        <p:spPr>
          <a:xfrm>
            <a:off x="3986425" y="5913778"/>
            <a:ext cx="3108060" cy="479955"/>
          </a:xfrm>
          <a:prstGeom prst="roundRect">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Modified Forward Model</a:t>
            </a:r>
          </a:p>
        </p:txBody>
      </p:sp>
      <p:cxnSp>
        <p:nvCxnSpPr>
          <p:cNvPr id="57" name="Connector: Elbow 197">
            <a:extLst>
              <a:ext uri="{FF2B5EF4-FFF2-40B4-BE49-F238E27FC236}">
                <a16:creationId xmlns:a16="http://schemas.microsoft.com/office/drawing/2014/main" id="{F1B3A75B-DBCE-484B-858D-010257569257}"/>
              </a:ext>
            </a:extLst>
          </p:cNvPr>
          <p:cNvCxnSpPr>
            <a:stCxn id="54" idx="2"/>
            <a:endCxn id="55" idx="0"/>
          </p:cNvCxnSpPr>
          <p:nvPr/>
        </p:nvCxnSpPr>
        <p:spPr>
          <a:xfrm rot="5400000">
            <a:off x="3333196" y="5127105"/>
            <a:ext cx="190109" cy="13725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199">
            <a:extLst>
              <a:ext uri="{FF2B5EF4-FFF2-40B4-BE49-F238E27FC236}">
                <a16:creationId xmlns:a16="http://schemas.microsoft.com/office/drawing/2014/main" id="{2A88E053-CCD6-404D-A2DD-99E6FD56264D}"/>
              </a:ext>
            </a:extLst>
          </p:cNvPr>
          <p:cNvCxnSpPr>
            <a:stCxn id="54" idx="2"/>
            <a:endCxn id="56" idx="0"/>
          </p:cNvCxnSpPr>
          <p:nvPr/>
        </p:nvCxnSpPr>
        <p:spPr>
          <a:xfrm rot="16200000" flipH="1">
            <a:off x="4729780" y="5103103"/>
            <a:ext cx="195436" cy="14259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203">
            <a:extLst>
              <a:ext uri="{FF2B5EF4-FFF2-40B4-BE49-F238E27FC236}">
                <a16:creationId xmlns:a16="http://schemas.microsoft.com/office/drawing/2014/main" id="{959A828E-B76C-40A8-99C0-D99953EA8889}"/>
              </a:ext>
            </a:extLst>
          </p:cNvPr>
          <p:cNvCxnSpPr>
            <a:stCxn id="7" idx="3"/>
            <a:endCxn id="37" idx="0"/>
          </p:cNvCxnSpPr>
          <p:nvPr/>
        </p:nvCxnSpPr>
        <p:spPr>
          <a:xfrm>
            <a:off x="1848008" y="2868144"/>
            <a:ext cx="463607" cy="64087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205">
            <a:extLst>
              <a:ext uri="{FF2B5EF4-FFF2-40B4-BE49-F238E27FC236}">
                <a16:creationId xmlns:a16="http://schemas.microsoft.com/office/drawing/2014/main" id="{FA2BCDE0-B2BA-4501-AB2D-9EAFC29A9EAE}"/>
              </a:ext>
            </a:extLst>
          </p:cNvPr>
          <p:cNvCxnSpPr>
            <a:stCxn id="8" idx="1"/>
            <a:endCxn id="37" idx="0"/>
          </p:cNvCxnSpPr>
          <p:nvPr/>
        </p:nvCxnSpPr>
        <p:spPr>
          <a:xfrm rot="10800000" flipV="1">
            <a:off x="2311616" y="2868142"/>
            <a:ext cx="934505" cy="6408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207">
            <a:extLst>
              <a:ext uri="{FF2B5EF4-FFF2-40B4-BE49-F238E27FC236}">
                <a16:creationId xmlns:a16="http://schemas.microsoft.com/office/drawing/2014/main" id="{4F59D20C-ADA0-483A-88A2-D277E76EC476}"/>
              </a:ext>
            </a:extLst>
          </p:cNvPr>
          <p:cNvCxnSpPr>
            <a:stCxn id="8" idx="1"/>
            <a:endCxn id="38" idx="0"/>
          </p:cNvCxnSpPr>
          <p:nvPr/>
        </p:nvCxnSpPr>
        <p:spPr>
          <a:xfrm rot="10800000" flipV="1">
            <a:off x="2906200" y="2868142"/>
            <a:ext cx="339920" cy="6294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10" idx="2"/>
            <a:endCxn id="15" idx="0"/>
          </p:cNvCxnSpPr>
          <p:nvPr/>
        </p:nvCxnSpPr>
        <p:spPr>
          <a:xfrm>
            <a:off x="7258217" y="3123778"/>
            <a:ext cx="4403" cy="279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Elbow Connector 62"/>
          <p:cNvCxnSpPr>
            <a:stCxn id="9" idx="2"/>
            <a:endCxn id="14" idx="0"/>
          </p:cNvCxnSpPr>
          <p:nvPr/>
        </p:nvCxnSpPr>
        <p:spPr>
          <a:xfrm rot="5400000">
            <a:off x="4925446" y="3301126"/>
            <a:ext cx="1087681" cy="73298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p:cNvCxnSpPr>
            <a:stCxn id="33" idx="2"/>
            <a:endCxn id="14" idx="0"/>
          </p:cNvCxnSpPr>
          <p:nvPr/>
        </p:nvCxnSpPr>
        <p:spPr>
          <a:xfrm rot="16200000" flipH="1">
            <a:off x="4825654" y="3934318"/>
            <a:ext cx="245171" cy="309110"/>
          </a:xfrm>
          <a:prstGeom prst="bentConnector3">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p:cNvCxnSpPr>
            <a:stCxn id="31" idx="2"/>
            <a:endCxn id="14" idx="0"/>
          </p:cNvCxnSpPr>
          <p:nvPr/>
        </p:nvCxnSpPr>
        <p:spPr>
          <a:xfrm rot="16200000" flipH="1">
            <a:off x="2996849" y="2105513"/>
            <a:ext cx="245171" cy="3966720"/>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Elbow Connector 65"/>
          <p:cNvCxnSpPr>
            <a:stCxn id="30" idx="2"/>
            <a:endCxn id="14" idx="0"/>
          </p:cNvCxnSpPr>
          <p:nvPr/>
        </p:nvCxnSpPr>
        <p:spPr>
          <a:xfrm rot="16200000" flipH="1">
            <a:off x="3298790" y="2407454"/>
            <a:ext cx="245171" cy="3362837"/>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cxnSpLocks/>
          </p:cNvCxnSpPr>
          <p:nvPr/>
        </p:nvCxnSpPr>
        <p:spPr>
          <a:xfrm>
            <a:off x="4226810" y="4805794"/>
            <a:ext cx="4382071" cy="3186"/>
          </a:xfrm>
          <a:prstGeom prst="straightConnector1">
            <a:avLst/>
          </a:prstGeom>
          <a:ln w="25400">
            <a:solidFill>
              <a:schemeClr val="tx1"/>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p:cNvCxnSpPr>
            <a:stCxn id="17" idx="2"/>
            <a:endCxn id="20" idx="0"/>
          </p:cNvCxnSpPr>
          <p:nvPr/>
        </p:nvCxnSpPr>
        <p:spPr>
          <a:xfrm rot="5400000">
            <a:off x="3410928" y="3875958"/>
            <a:ext cx="613283" cy="7939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Footer Placeholder 68"/>
          <p:cNvSpPr>
            <a:spLocks noGrp="1"/>
          </p:cNvSpPr>
          <p:nvPr>
            <p:ph type="ftr" sz="quarter" idx="11"/>
          </p:nvPr>
        </p:nvSpPr>
        <p:spPr/>
        <p:txBody>
          <a:bodyPr/>
          <a:lstStyle/>
          <a:p>
            <a:r>
              <a:rPr lang="en-US"/>
              <a:t>SEG 2018</a:t>
            </a:r>
          </a:p>
        </p:txBody>
      </p:sp>
      <p:sp>
        <p:nvSpPr>
          <p:cNvPr id="70" name="Slide Number Placeholder 69"/>
          <p:cNvSpPr>
            <a:spLocks noGrp="1"/>
          </p:cNvSpPr>
          <p:nvPr>
            <p:ph type="sldNum" sz="quarter" idx="12"/>
          </p:nvPr>
        </p:nvSpPr>
        <p:spPr/>
        <p:txBody>
          <a:bodyPr/>
          <a:lstStyle/>
          <a:p>
            <a:fld id="{48265A45-E6A4-4653-9C66-6A1A04113506}" type="slidenum">
              <a:rPr lang="en-US" smtClean="0"/>
              <a:pPr/>
              <a:t>7</a:t>
            </a:fld>
            <a:endParaRPr lang="en-US"/>
          </a:p>
        </p:txBody>
      </p:sp>
    </p:spTree>
    <p:extLst>
      <p:ext uri="{BB962C8B-B14F-4D97-AF65-F5344CB8AC3E}">
        <p14:creationId xmlns:p14="http://schemas.microsoft.com/office/powerpoint/2010/main" val="3914534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grpSp>
        <p:nvGrpSpPr>
          <p:cNvPr id="116" name="组合 32"/>
          <p:cNvGrpSpPr/>
          <p:nvPr/>
        </p:nvGrpSpPr>
        <p:grpSpPr>
          <a:xfrm>
            <a:off x="4810839" y="1686114"/>
            <a:ext cx="2271387" cy="2297931"/>
            <a:chOff x="5242506" y="1081075"/>
            <a:chExt cx="3642002" cy="3684564"/>
          </a:xfrm>
        </p:grpSpPr>
        <p:pic>
          <p:nvPicPr>
            <p:cNvPr id="117" name="图片 22"/>
            <p:cNvPicPr>
              <a:picLocks noChangeAspect="1"/>
            </p:cNvPicPr>
            <p:nvPr/>
          </p:nvPicPr>
          <p:blipFill>
            <a:blip r:embed="rId2"/>
            <a:stretch>
              <a:fillRect/>
            </a:stretch>
          </p:blipFill>
          <p:spPr>
            <a:xfrm>
              <a:off x="5242506" y="1081075"/>
              <a:ext cx="3642002" cy="3684564"/>
            </a:xfrm>
            <a:prstGeom prst="rect">
              <a:avLst/>
            </a:prstGeom>
          </p:spPr>
        </p:pic>
        <p:sp>
          <p:nvSpPr>
            <p:cNvPr id="118" name="任意多边形: 形状 30"/>
            <p:cNvSpPr/>
            <p:nvPr/>
          </p:nvSpPr>
          <p:spPr>
            <a:xfrm>
              <a:off x="6919474" y="4262001"/>
              <a:ext cx="119623" cy="153641"/>
            </a:xfrm>
            <a:custGeom>
              <a:avLst/>
              <a:gdLst>
                <a:gd name="connsiteX0" fmla="*/ 2321 w 119623"/>
                <a:gd name="connsiteY0" fmla="*/ 12287 h 153641"/>
                <a:gd name="connsiteX1" fmla="*/ 66117 w 119623"/>
                <a:gd name="connsiteY1" fmla="*/ 150511 h 153641"/>
                <a:gd name="connsiteX2" fmla="*/ 87382 w 119623"/>
                <a:gd name="connsiteY2" fmla="*/ 118613 h 153641"/>
                <a:gd name="connsiteX3" fmla="*/ 98014 w 119623"/>
                <a:gd name="connsiteY3" fmla="*/ 86715 h 153641"/>
                <a:gd name="connsiteX4" fmla="*/ 119279 w 119623"/>
                <a:gd name="connsiteY4" fmla="*/ 54818 h 153641"/>
                <a:gd name="connsiteX5" fmla="*/ 87382 w 119623"/>
                <a:gd name="connsiteY5" fmla="*/ 44185 h 153641"/>
                <a:gd name="connsiteX6" fmla="*/ 44852 w 119623"/>
                <a:gd name="connsiteY6" fmla="*/ 33552 h 153641"/>
                <a:gd name="connsiteX7" fmla="*/ 2321 w 119623"/>
                <a:gd name="connsiteY7" fmla="*/ 12287 h 15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623" h="153641">
                  <a:moveTo>
                    <a:pt x="2321" y="12287"/>
                  </a:moveTo>
                  <a:cubicBezTo>
                    <a:pt x="5865" y="31780"/>
                    <a:pt x="-25138" y="176584"/>
                    <a:pt x="66117" y="150511"/>
                  </a:cubicBezTo>
                  <a:cubicBezTo>
                    <a:pt x="78404" y="147000"/>
                    <a:pt x="80294" y="129246"/>
                    <a:pt x="87382" y="118613"/>
                  </a:cubicBezTo>
                  <a:cubicBezTo>
                    <a:pt x="90926" y="107980"/>
                    <a:pt x="93002" y="96740"/>
                    <a:pt x="98014" y="86715"/>
                  </a:cubicBezTo>
                  <a:cubicBezTo>
                    <a:pt x="103729" y="75285"/>
                    <a:pt x="122378" y="67215"/>
                    <a:pt x="119279" y="54818"/>
                  </a:cubicBezTo>
                  <a:cubicBezTo>
                    <a:pt x="116561" y="43945"/>
                    <a:pt x="98158" y="47264"/>
                    <a:pt x="87382" y="44185"/>
                  </a:cubicBezTo>
                  <a:cubicBezTo>
                    <a:pt x="73331" y="40170"/>
                    <a:pt x="59029" y="37096"/>
                    <a:pt x="44852" y="33552"/>
                  </a:cubicBezTo>
                  <a:cubicBezTo>
                    <a:pt x="31713" y="-5863"/>
                    <a:pt x="-1223" y="-7206"/>
                    <a:pt x="2321" y="12287"/>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9" name="任意多边形: 形状 31"/>
            <p:cNvSpPr/>
            <p:nvPr/>
          </p:nvSpPr>
          <p:spPr>
            <a:xfrm>
              <a:off x="7071084" y="4368974"/>
              <a:ext cx="91716" cy="127755"/>
            </a:xfrm>
            <a:custGeom>
              <a:avLst/>
              <a:gdLst>
                <a:gd name="connsiteX0" fmla="*/ 5991 w 91716"/>
                <a:gd name="connsiteY0" fmla="*/ 3001 h 127755"/>
                <a:gd name="connsiteX1" fmla="*/ 1229 w 91716"/>
                <a:gd name="connsiteY1" fmla="*/ 83964 h 127755"/>
                <a:gd name="connsiteX2" fmla="*/ 15516 w 91716"/>
                <a:gd name="connsiteY2" fmla="*/ 79201 h 127755"/>
                <a:gd name="connsiteX3" fmla="*/ 34566 w 91716"/>
                <a:gd name="connsiteY3" fmla="*/ 83964 h 127755"/>
                <a:gd name="connsiteX4" fmla="*/ 29804 w 91716"/>
                <a:gd name="connsiteY4" fmla="*/ 126826 h 127755"/>
                <a:gd name="connsiteX5" fmla="*/ 34566 w 91716"/>
                <a:gd name="connsiteY5" fmla="*/ 112539 h 127755"/>
                <a:gd name="connsiteX6" fmla="*/ 44091 w 91716"/>
                <a:gd name="connsiteY6" fmla="*/ 98251 h 127755"/>
                <a:gd name="connsiteX7" fmla="*/ 48854 w 91716"/>
                <a:gd name="connsiteY7" fmla="*/ 83964 h 127755"/>
                <a:gd name="connsiteX8" fmla="*/ 63141 w 91716"/>
                <a:gd name="connsiteY8" fmla="*/ 79201 h 127755"/>
                <a:gd name="connsiteX9" fmla="*/ 77429 w 91716"/>
                <a:gd name="connsiteY9" fmla="*/ 83964 h 127755"/>
                <a:gd name="connsiteX10" fmla="*/ 91716 w 91716"/>
                <a:gd name="connsiteY10" fmla="*/ 79201 h 127755"/>
                <a:gd name="connsiteX11" fmla="*/ 77429 w 91716"/>
                <a:gd name="connsiteY11" fmla="*/ 74439 h 127755"/>
                <a:gd name="connsiteX12" fmla="*/ 67904 w 91716"/>
                <a:gd name="connsiteY12" fmla="*/ 60151 h 127755"/>
                <a:gd name="connsiteX13" fmla="*/ 53616 w 91716"/>
                <a:gd name="connsiteY13" fmla="*/ 55389 h 127755"/>
                <a:gd name="connsiteX14" fmla="*/ 39329 w 91716"/>
                <a:gd name="connsiteY14" fmla="*/ 45864 h 127755"/>
                <a:gd name="connsiteX15" fmla="*/ 29804 w 91716"/>
                <a:gd name="connsiteY15" fmla="*/ 31576 h 127755"/>
                <a:gd name="connsiteX16" fmla="*/ 25041 w 91716"/>
                <a:gd name="connsiteY16" fmla="*/ 17289 h 127755"/>
                <a:gd name="connsiteX17" fmla="*/ 5991 w 91716"/>
                <a:gd name="connsiteY17" fmla="*/ 3001 h 12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716" h="127755">
                  <a:moveTo>
                    <a:pt x="5991" y="3001"/>
                  </a:moveTo>
                  <a:cubicBezTo>
                    <a:pt x="2022" y="14113"/>
                    <a:pt x="-2124" y="57138"/>
                    <a:pt x="1229" y="83964"/>
                  </a:cubicBezTo>
                  <a:cubicBezTo>
                    <a:pt x="1852" y="88945"/>
                    <a:pt x="10496" y="79201"/>
                    <a:pt x="15516" y="79201"/>
                  </a:cubicBezTo>
                  <a:cubicBezTo>
                    <a:pt x="22061" y="79201"/>
                    <a:pt x="28216" y="82376"/>
                    <a:pt x="34566" y="83964"/>
                  </a:cubicBezTo>
                  <a:cubicBezTo>
                    <a:pt x="42504" y="107775"/>
                    <a:pt x="40917" y="93490"/>
                    <a:pt x="29804" y="126826"/>
                  </a:cubicBezTo>
                  <a:cubicBezTo>
                    <a:pt x="28216" y="131588"/>
                    <a:pt x="31782" y="116716"/>
                    <a:pt x="34566" y="112539"/>
                  </a:cubicBezTo>
                  <a:cubicBezTo>
                    <a:pt x="37741" y="107776"/>
                    <a:pt x="41531" y="103371"/>
                    <a:pt x="44091" y="98251"/>
                  </a:cubicBezTo>
                  <a:cubicBezTo>
                    <a:pt x="46336" y="93761"/>
                    <a:pt x="45304" y="87514"/>
                    <a:pt x="48854" y="83964"/>
                  </a:cubicBezTo>
                  <a:cubicBezTo>
                    <a:pt x="52404" y="80414"/>
                    <a:pt x="58379" y="80789"/>
                    <a:pt x="63141" y="79201"/>
                  </a:cubicBezTo>
                  <a:cubicBezTo>
                    <a:pt x="67904" y="80789"/>
                    <a:pt x="72409" y="83964"/>
                    <a:pt x="77429" y="83964"/>
                  </a:cubicBezTo>
                  <a:cubicBezTo>
                    <a:pt x="82449" y="83964"/>
                    <a:pt x="91716" y="84221"/>
                    <a:pt x="91716" y="79201"/>
                  </a:cubicBezTo>
                  <a:cubicBezTo>
                    <a:pt x="91716" y="74181"/>
                    <a:pt x="82191" y="76026"/>
                    <a:pt x="77429" y="74439"/>
                  </a:cubicBezTo>
                  <a:cubicBezTo>
                    <a:pt x="74254" y="69676"/>
                    <a:pt x="72374" y="63727"/>
                    <a:pt x="67904" y="60151"/>
                  </a:cubicBezTo>
                  <a:cubicBezTo>
                    <a:pt x="63984" y="57015"/>
                    <a:pt x="58106" y="57634"/>
                    <a:pt x="53616" y="55389"/>
                  </a:cubicBezTo>
                  <a:cubicBezTo>
                    <a:pt x="48497" y="52829"/>
                    <a:pt x="44091" y="49039"/>
                    <a:pt x="39329" y="45864"/>
                  </a:cubicBezTo>
                  <a:cubicBezTo>
                    <a:pt x="36154" y="41101"/>
                    <a:pt x="32364" y="36696"/>
                    <a:pt x="29804" y="31576"/>
                  </a:cubicBezTo>
                  <a:cubicBezTo>
                    <a:pt x="27559" y="27086"/>
                    <a:pt x="28591" y="20839"/>
                    <a:pt x="25041" y="17289"/>
                  </a:cubicBezTo>
                  <a:cubicBezTo>
                    <a:pt x="22796" y="15044"/>
                    <a:pt x="9960" y="-8111"/>
                    <a:pt x="5991" y="3001"/>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20" name="文本框 40"/>
          <p:cNvSpPr txBox="1"/>
          <p:nvPr/>
        </p:nvSpPr>
        <p:spPr>
          <a:xfrm>
            <a:off x="2085654" y="1001459"/>
            <a:ext cx="1900646" cy="369332"/>
          </a:xfrm>
          <a:prstGeom prst="rect">
            <a:avLst/>
          </a:prstGeom>
          <a:noFill/>
        </p:spPr>
        <p:txBody>
          <a:bodyPr wrap="square" rtlCol="0">
            <a:spAutoFit/>
          </a:bodyPr>
          <a:lstStyle/>
          <a:p>
            <a:r>
              <a:rPr lang="en-US" b="1" dirty="0">
                <a:solidFill>
                  <a:srgbClr val="FF0000"/>
                </a:solidFill>
                <a:latin typeface="Gill Sans MT"/>
                <a:cs typeface="Gill Sans MT"/>
              </a:rPr>
              <a:t>NMR</a:t>
            </a:r>
          </a:p>
        </p:txBody>
      </p:sp>
      <p:sp>
        <p:nvSpPr>
          <p:cNvPr id="121" name="文本框 41"/>
          <p:cNvSpPr txBox="1"/>
          <p:nvPr/>
        </p:nvSpPr>
        <p:spPr>
          <a:xfrm>
            <a:off x="8873607" y="1024335"/>
            <a:ext cx="1900646" cy="369332"/>
          </a:xfrm>
          <a:prstGeom prst="rect">
            <a:avLst/>
          </a:prstGeom>
          <a:noFill/>
        </p:spPr>
        <p:txBody>
          <a:bodyPr wrap="square" rtlCol="0">
            <a:spAutoFit/>
          </a:bodyPr>
          <a:lstStyle/>
          <a:p>
            <a:r>
              <a:rPr lang="en-US" b="1" dirty="0">
                <a:solidFill>
                  <a:srgbClr val="FF0000"/>
                </a:solidFill>
                <a:latin typeface="Gill Sans MT"/>
                <a:cs typeface="Gill Sans MT"/>
              </a:rPr>
              <a:t>SIP</a:t>
            </a:r>
          </a:p>
        </p:txBody>
      </p:sp>
      <p:cxnSp>
        <p:nvCxnSpPr>
          <p:cNvPr id="122" name="直接箭头连接符 43"/>
          <p:cNvCxnSpPr>
            <a:cxnSpLocks/>
          </p:cNvCxnSpPr>
          <p:nvPr/>
        </p:nvCxnSpPr>
        <p:spPr>
          <a:xfrm flipH="1" flipV="1">
            <a:off x="4244069" y="1586919"/>
            <a:ext cx="1075364" cy="356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46"/>
          <p:cNvCxnSpPr>
            <a:cxnSpLocks/>
          </p:cNvCxnSpPr>
          <p:nvPr/>
        </p:nvCxnSpPr>
        <p:spPr>
          <a:xfrm flipH="1" flipV="1">
            <a:off x="4370335" y="2163472"/>
            <a:ext cx="949098" cy="384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48"/>
          <p:cNvCxnSpPr>
            <a:cxnSpLocks/>
          </p:cNvCxnSpPr>
          <p:nvPr/>
        </p:nvCxnSpPr>
        <p:spPr>
          <a:xfrm flipH="1" flipV="1">
            <a:off x="4281968" y="2551952"/>
            <a:ext cx="1530545" cy="588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cxnSpLocks/>
            <a:endCxn id="162" idx="1"/>
          </p:cNvCxnSpPr>
          <p:nvPr/>
        </p:nvCxnSpPr>
        <p:spPr>
          <a:xfrm>
            <a:off x="6385170" y="2456243"/>
            <a:ext cx="1634238" cy="414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cxnSpLocks/>
            <a:endCxn id="161" idx="1"/>
          </p:cNvCxnSpPr>
          <p:nvPr/>
        </p:nvCxnSpPr>
        <p:spPr>
          <a:xfrm>
            <a:off x="6727801" y="3124214"/>
            <a:ext cx="1305202" cy="258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cxnSpLocks/>
            <a:endCxn id="161" idx="1"/>
          </p:cNvCxnSpPr>
          <p:nvPr/>
        </p:nvCxnSpPr>
        <p:spPr>
          <a:xfrm flipV="1">
            <a:off x="6173347" y="3383017"/>
            <a:ext cx="1859656" cy="680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28" name="组合 144"/>
          <p:cNvGrpSpPr/>
          <p:nvPr/>
        </p:nvGrpSpPr>
        <p:grpSpPr>
          <a:xfrm>
            <a:off x="2654726" y="1312153"/>
            <a:ext cx="1476990" cy="1328146"/>
            <a:chOff x="1522896" y="18490301"/>
            <a:chExt cx="3376844" cy="3089873"/>
          </a:xfrm>
        </p:grpSpPr>
        <p:grpSp>
          <p:nvGrpSpPr>
            <p:cNvPr id="129" name="组合 96"/>
            <p:cNvGrpSpPr/>
            <p:nvPr/>
          </p:nvGrpSpPr>
          <p:grpSpPr>
            <a:xfrm>
              <a:off x="1522896" y="18490301"/>
              <a:ext cx="3376844" cy="3089873"/>
              <a:chOff x="1855181" y="12606307"/>
              <a:chExt cx="3376844" cy="3089873"/>
            </a:xfrm>
          </p:grpSpPr>
          <p:sp>
            <p:nvSpPr>
              <p:cNvPr id="131" name="任意多边形 98"/>
              <p:cNvSpPr/>
              <p:nvPr/>
            </p:nvSpPr>
            <p:spPr bwMode="auto">
              <a:xfrm>
                <a:off x="1855181" y="12873179"/>
                <a:ext cx="999157" cy="998557"/>
              </a:xfrm>
              <a:custGeom>
                <a:avLst/>
                <a:gdLst>
                  <a:gd name="connsiteX0" fmla="*/ 2194 w 802294"/>
                  <a:gd name="connsiteY0" fmla="*/ 295275 h 762000"/>
                  <a:gd name="connsiteX1" fmla="*/ 2194 w 802294"/>
                  <a:gd name="connsiteY1" fmla="*/ 295275 h 762000"/>
                  <a:gd name="connsiteX2" fmla="*/ 87919 w 802294"/>
                  <a:gd name="connsiteY2" fmla="*/ 209550 h 762000"/>
                  <a:gd name="connsiteX3" fmla="*/ 97444 w 802294"/>
                  <a:gd name="connsiteY3" fmla="*/ 180975 h 762000"/>
                  <a:gd name="connsiteX4" fmla="*/ 135544 w 802294"/>
                  <a:gd name="connsiteY4" fmla="*/ 114300 h 762000"/>
                  <a:gd name="connsiteX5" fmla="*/ 183169 w 802294"/>
                  <a:gd name="connsiteY5" fmla="*/ 47625 h 762000"/>
                  <a:gd name="connsiteX6" fmla="*/ 278419 w 802294"/>
                  <a:gd name="connsiteY6" fmla="*/ 19050 h 762000"/>
                  <a:gd name="connsiteX7" fmla="*/ 335569 w 802294"/>
                  <a:gd name="connsiteY7" fmla="*/ 0 h 762000"/>
                  <a:gd name="connsiteX8" fmla="*/ 354619 w 802294"/>
                  <a:gd name="connsiteY8" fmla="*/ 28575 h 762000"/>
                  <a:gd name="connsiteX9" fmla="*/ 411769 w 802294"/>
                  <a:gd name="connsiteY9" fmla="*/ 57150 h 762000"/>
                  <a:gd name="connsiteX10" fmla="*/ 478444 w 802294"/>
                  <a:gd name="connsiteY10" fmla="*/ 47625 h 762000"/>
                  <a:gd name="connsiteX11" fmla="*/ 564169 w 802294"/>
                  <a:gd name="connsiteY11" fmla="*/ 28575 h 762000"/>
                  <a:gd name="connsiteX12" fmla="*/ 602269 w 802294"/>
                  <a:gd name="connsiteY12" fmla="*/ 38100 h 762000"/>
                  <a:gd name="connsiteX13" fmla="*/ 659419 w 802294"/>
                  <a:gd name="connsiteY13" fmla="*/ 76200 h 762000"/>
                  <a:gd name="connsiteX14" fmla="*/ 687994 w 802294"/>
                  <a:gd name="connsiteY14" fmla="*/ 95250 h 762000"/>
                  <a:gd name="connsiteX15" fmla="*/ 716569 w 802294"/>
                  <a:gd name="connsiteY15" fmla="*/ 104775 h 762000"/>
                  <a:gd name="connsiteX16" fmla="*/ 745144 w 802294"/>
                  <a:gd name="connsiteY16" fmla="*/ 133350 h 762000"/>
                  <a:gd name="connsiteX17" fmla="*/ 773719 w 802294"/>
                  <a:gd name="connsiteY17" fmla="*/ 152400 h 762000"/>
                  <a:gd name="connsiteX18" fmla="*/ 802294 w 802294"/>
                  <a:gd name="connsiteY18" fmla="*/ 209550 h 762000"/>
                  <a:gd name="connsiteX19" fmla="*/ 792769 w 802294"/>
                  <a:gd name="connsiteY19" fmla="*/ 295275 h 762000"/>
                  <a:gd name="connsiteX20" fmla="*/ 773719 w 802294"/>
                  <a:gd name="connsiteY20" fmla="*/ 323850 h 762000"/>
                  <a:gd name="connsiteX21" fmla="*/ 764194 w 802294"/>
                  <a:gd name="connsiteY21" fmla="*/ 352425 h 762000"/>
                  <a:gd name="connsiteX22" fmla="*/ 773719 w 802294"/>
                  <a:gd name="connsiteY22" fmla="*/ 476250 h 762000"/>
                  <a:gd name="connsiteX23" fmla="*/ 783244 w 802294"/>
                  <a:gd name="connsiteY23" fmla="*/ 504825 h 762000"/>
                  <a:gd name="connsiteX24" fmla="*/ 754669 w 802294"/>
                  <a:gd name="connsiteY24" fmla="*/ 600075 h 762000"/>
                  <a:gd name="connsiteX25" fmla="*/ 726094 w 802294"/>
                  <a:gd name="connsiteY25" fmla="*/ 609600 h 762000"/>
                  <a:gd name="connsiteX26" fmla="*/ 697519 w 802294"/>
                  <a:gd name="connsiteY26" fmla="*/ 628650 h 762000"/>
                  <a:gd name="connsiteX27" fmla="*/ 668944 w 802294"/>
                  <a:gd name="connsiteY27" fmla="*/ 685800 h 762000"/>
                  <a:gd name="connsiteX28" fmla="*/ 649894 w 802294"/>
                  <a:gd name="connsiteY28" fmla="*/ 752475 h 762000"/>
                  <a:gd name="connsiteX29" fmla="*/ 621319 w 802294"/>
                  <a:gd name="connsiteY29" fmla="*/ 762000 h 762000"/>
                  <a:gd name="connsiteX30" fmla="*/ 411769 w 802294"/>
                  <a:gd name="connsiteY30" fmla="*/ 733425 h 762000"/>
                  <a:gd name="connsiteX31" fmla="*/ 364144 w 802294"/>
                  <a:gd name="connsiteY31" fmla="*/ 723900 h 762000"/>
                  <a:gd name="connsiteX32" fmla="*/ 221269 w 802294"/>
                  <a:gd name="connsiteY32" fmla="*/ 676275 h 762000"/>
                  <a:gd name="connsiteX33" fmla="*/ 164119 w 802294"/>
                  <a:gd name="connsiteY33" fmla="*/ 647700 h 762000"/>
                  <a:gd name="connsiteX34" fmla="*/ 126019 w 802294"/>
                  <a:gd name="connsiteY34" fmla="*/ 638175 h 762000"/>
                  <a:gd name="connsiteX35" fmla="*/ 68869 w 802294"/>
                  <a:gd name="connsiteY35" fmla="*/ 619125 h 762000"/>
                  <a:gd name="connsiteX36" fmla="*/ 40294 w 802294"/>
                  <a:gd name="connsiteY36" fmla="*/ 609600 h 762000"/>
                  <a:gd name="connsiteX37" fmla="*/ 30769 w 802294"/>
                  <a:gd name="connsiteY37" fmla="*/ 581025 h 762000"/>
                  <a:gd name="connsiteX38" fmla="*/ 49819 w 802294"/>
                  <a:gd name="connsiteY38" fmla="*/ 476250 h 762000"/>
                  <a:gd name="connsiteX39" fmla="*/ 68869 w 802294"/>
                  <a:gd name="connsiteY39" fmla="*/ 447675 h 762000"/>
                  <a:gd name="connsiteX40" fmla="*/ 40294 w 802294"/>
                  <a:gd name="connsiteY40" fmla="*/ 390525 h 762000"/>
                  <a:gd name="connsiteX41" fmla="*/ 11719 w 802294"/>
                  <a:gd name="connsiteY41" fmla="*/ 371475 h 762000"/>
                  <a:gd name="connsiteX42" fmla="*/ 2194 w 802294"/>
                  <a:gd name="connsiteY42" fmla="*/ 295275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2294" h="762000">
                    <a:moveTo>
                      <a:pt x="2194" y="295275"/>
                    </a:moveTo>
                    <a:lnTo>
                      <a:pt x="2194" y="295275"/>
                    </a:lnTo>
                    <a:cubicBezTo>
                      <a:pt x="30769" y="266700"/>
                      <a:pt x="62048" y="240595"/>
                      <a:pt x="87919" y="209550"/>
                    </a:cubicBezTo>
                    <a:cubicBezTo>
                      <a:pt x="94347" y="201837"/>
                      <a:pt x="93489" y="190203"/>
                      <a:pt x="97444" y="180975"/>
                    </a:cubicBezTo>
                    <a:cubicBezTo>
                      <a:pt x="122116" y="123408"/>
                      <a:pt x="108213" y="162129"/>
                      <a:pt x="135544" y="114300"/>
                    </a:cubicBezTo>
                    <a:cubicBezTo>
                      <a:pt x="150721" y="87741"/>
                      <a:pt x="153943" y="63861"/>
                      <a:pt x="183169" y="47625"/>
                    </a:cubicBezTo>
                    <a:cubicBezTo>
                      <a:pt x="209524" y="32983"/>
                      <a:pt x="249010" y="27873"/>
                      <a:pt x="278419" y="19050"/>
                    </a:cubicBezTo>
                    <a:cubicBezTo>
                      <a:pt x="297653" y="13280"/>
                      <a:pt x="335569" y="0"/>
                      <a:pt x="335569" y="0"/>
                    </a:cubicBezTo>
                    <a:cubicBezTo>
                      <a:pt x="341919" y="9525"/>
                      <a:pt x="346524" y="20480"/>
                      <a:pt x="354619" y="28575"/>
                    </a:cubicBezTo>
                    <a:cubicBezTo>
                      <a:pt x="373083" y="47039"/>
                      <a:pt x="388528" y="49403"/>
                      <a:pt x="411769" y="57150"/>
                    </a:cubicBezTo>
                    <a:cubicBezTo>
                      <a:pt x="433994" y="53975"/>
                      <a:pt x="456299" y="51316"/>
                      <a:pt x="478444" y="47625"/>
                    </a:cubicBezTo>
                    <a:cubicBezTo>
                      <a:pt x="514721" y="41579"/>
                      <a:pt x="529919" y="37138"/>
                      <a:pt x="564169" y="28575"/>
                    </a:cubicBezTo>
                    <a:cubicBezTo>
                      <a:pt x="576869" y="31750"/>
                      <a:pt x="590560" y="32246"/>
                      <a:pt x="602269" y="38100"/>
                    </a:cubicBezTo>
                    <a:cubicBezTo>
                      <a:pt x="622747" y="48339"/>
                      <a:pt x="640369" y="63500"/>
                      <a:pt x="659419" y="76200"/>
                    </a:cubicBezTo>
                    <a:cubicBezTo>
                      <a:pt x="668944" y="82550"/>
                      <a:pt x="677134" y="91630"/>
                      <a:pt x="687994" y="95250"/>
                    </a:cubicBezTo>
                    <a:lnTo>
                      <a:pt x="716569" y="104775"/>
                    </a:lnTo>
                    <a:cubicBezTo>
                      <a:pt x="726094" y="114300"/>
                      <a:pt x="734796" y="124726"/>
                      <a:pt x="745144" y="133350"/>
                    </a:cubicBezTo>
                    <a:cubicBezTo>
                      <a:pt x="753938" y="140679"/>
                      <a:pt x="765624" y="144305"/>
                      <a:pt x="773719" y="152400"/>
                    </a:cubicBezTo>
                    <a:cubicBezTo>
                      <a:pt x="792183" y="170864"/>
                      <a:pt x="794547" y="186309"/>
                      <a:pt x="802294" y="209550"/>
                    </a:cubicBezTo>
                    <a:cubicBezTo>
                      <a:pt x="799119" y="238125"/>
                      <a:pt x="799742" y="267383"/>
                      <a:pt x="792769" y="295275"/>
                    </a:cubicBezTo>
                    <a:cubicBezTo>
                      <a:pt x="789993" y="306381"/>
                      <a:pt x="778839" y="313611"/>
                      <a:pt x="773719" y="323850"/>
                    </a:cubicBezTo>
                    <a:cubicBezTo>
                      <a:pt x="769229" y="332830"/>
                      <a:pt x="767369" y="342900"/>
                      <a:pt x="764194" y="352425"/>
                    </a:cubicBezTo>
                    <a:cubicBezTo>
                      <a:pt x="767369" y="393700"/>
                      <a:pt x="768584" y="435173"/>
                      <a:pt x="773719" y="476250"/>
                    </a:cubicBezTo>
                    <a:cubicBezTo>
                      <a:pt x="774964" y="486213"/>
                      <a:pt x="783244" y="494785"/>
                      <a:pt x="783244" y="504825"/>
                    </a:cubicBezTo>
                    <a:cubicBezTo>
                      <a:pt x="783244" y="530669"/>
                      <a:pt x="780490" y="579418"/>
                      <a:pt x="754669" y="600075"/>
                    </a:cubicBezTo>
                    <a:cubicBezTo>
                      <a:pt x="746829" y="606347"/>
                      <a:pt x="735074" y="605110"/>
                      <a:pt x="726094" y="609600"/>
                    </a:cubicBezTo>
                    <a:cubicBezTo>
                      <a:pt x="715855" y="614720"/>
                      <a:pt x="707044" y="622300"/>
                      <a:pt x="697519" y="628650"/>
                    </a:cubicBezTo>
                    <a:cubicBezTo>
                      <a:pt x="676647" y="659959"/>
                      <a:pt x="678803" y="651294"/>
                      <a:pt x="668944" y="685800"/>
                    </a:cubicBezTo>
                    <a:cubicBezTo>
                      <a:pt x="668845" y="686146"/>
                      <a:pt x="654462" y="747907"/>
                      <a:pt x="649894" y="752475"/>
                    </a:cubicBezTo>
                    <a:cubicBezTo>
                      <a:pt x="642794" y="759575"/>
                      <a:pt x="630844" y="758825"/>
                      <a:pt x="621319" y="762000"/>
                    </a:cubicBezTo>
                    <a:cubicBezTo>
                      <a:pt x="474752" y="749786"/>
                      <a:pt x="544509" y="759973"/>
                      <a:pt x="411769" y="733425"/>
                    </a:cubicBezTo>
                    <a:cubicBezTo>
                      <a:pt x="395894" y="730250"/>
                      <a:pt x="379503" y="729020"/>
                      <a:pt x="364144" y="723900"/>
                    </a:cubicBezTo>
                    <a:lnTo>
                      <a:pt x="221269" y="676275"/>
                    </a:lnTo>
                    <a:cubicBezTo>
                      <a:pt x="100862" y="636139"/>
                      <a:pt x="293370" y="703093"/>
                      <a:pt x="164119" y="647700"/>
                    </a:cubicBezTo>
                    <a:cubicBezTo>
                      <a:pt x="152087" y="642543"/>
                      <a:pt x="138558" y="641937"/>
                      <a:pt x="126019" y="638175"/>
                    </a:cubicBezTo>
                    <a:cubicBezTo>
                      <a:pt x="106785" y="632405"/>
                      <a:pt x="87919" y="625475"/>
                      <a:pt x="68869" y="619125"/>
                    </a:cubicBezTo>
                    <a:lnTo>
                      <a:pt x="40294" y="609600"/>
                    </a:lnTo>
                    <a:cubicBezTo>
                      <a:pt x="37119" y="600075"/>
                      <a:pt x="30769" y="591065"/>
                      <a:pt x="30769" y="581025"/>
                    </a:cubicBezTo>
                    <a:cubicBezTo>
                      <a:pt x="30769" y="561325"/>
                      <a:pt x="36424" y="503040"/>
                      <a:pt x="49819" y="476250"/>
                    </a:cubicBezTo>
                    <a:cubicBezTo>
                      <a:pt x="54939" y="466011"/>
                      <a:pt x="62519" y="457200"/>
                      <a:pt x="68869" y="447675"/>
                    </a:cubicBezTo>
                    <a:cubicBezTo>
                      <a:pt x="61122" y="424434"/>
                      <a:pt x="58758" y="408989"/>
                      <a:pt x="40294" y="390525"/>
                    </a:cubicBezTo>
                    <a:cubicBezTo>
                      <a:pt x="32199" y="382430"/>
                      <a:pt x="21244" y="377825"/>
                      <a:pt x="11719" y="371475"/>
                    </a:cubicBezTo>
                    <a:cubicBezTo>
                      <a:pt x="-8335" y="311313"/>
                      <a:pt x="3781" y="307975"/>
                      <a:pt x="2194" y="295275"/>
                    </a:cubicBezTo>
                    <a:close/>
                  </a:path>
                </a:pathLst>
              </a:cu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sp>
            <p:nvSpPr>
              <p:cNvPr id="132" name="任意多边形 99"/>
              <p:cNvSpPr/>
              <p:nvPr/>
            </p:nvSpPr>
            <p:spPr bwMode="auto">
              <a:xfrm>
                <a:off x="2228850" y="14239685"/>
                <a:ext cx="705071" cy="628840"/>
              </a:xfrm>
              <a:custGeom>
                <a:avLst/>
                <a:gdLst>
                  <a:gd name="connsiteX0" fmla="*/ 200025 w 705071"/>
                  <a:gd name="connsiteY0" fmla="*/ 9715 h 628840"/>
                  <a:gd name="connsiteX1" fmla="*/ 200025 w 705071"/>
                  <a:gd name="connsiteY1" fmla="*/ 9715 h 628840"/>
                  <a:gd name="connsiteX2" fmla="*/ 285750 w 705071"/>
                  <a:gd name="connsiteY2" fmla="*/ 190 h 628840"/>
                  <a:gd name="connsiteX3" fmla="*/ 381000 w 705071"/>
                  <a:gd name="connsiteY3" fmla="*/ 19240 h 628840"/>
                  <a:gd name="connsiteX4" fmla="*/ 447675 w 705071"/>
                  <a:gd name="connsiteY4" fmla="*/ 38290 h 628840"/>
                  <a:gd name="connsiteX5" fmla="*/ 504825 w 705071"/>
                  <a:gd name="connsiteY5" fmla="*/ 95440 h 628840"/>
                  <a:gd name="connsiteX6" fmla="*/ 552450 w 705071"/>
                  <a:gd name="connsiteY6" fmla="*/ 143065 h 628840"/>
                  <a:gd name="connsiteX7" fmla="*/ 628650 w 705071"/>
                  <a:gd name="connsiteY7" fmla="*/ 190690 h 628840"/>
                  <a:gd name="connsiteX8" fmla="*/ 657225 w 705071"/>
                  <a:gd name="connsiteY8" fmla="*/ 200215 h 628840"/>
                  <a:gd name="connsiteX9" fmla="*/ 685800 w 705071"/>
                  <a:gd name="connsiteY9" fmla="*/ 209740 h 628840"/>
                  <a:gd name="connsiteX10" fmla="*/ 704850 w 705071"/>
                  <a:gd name="connsiteY10" fmla="*/ 238315 h 628840"/>
                  <a:gd name="connsiteX11" fmla="*/ 685800 w 705071"/>
                  <a:gd name="connsiteY11" fmla="*/ 352615 h 628840"/>
                  <a:gd name="connsiteX12" fmla="*/ 666750 w 705071"/>
                  <a:gd name="connsiteY12" fmla="*/ 381190 h 628840"/>
                  <a:gd name="connsiteX13" fmla="*/ 638175 w 705071"/>
                  <a:gd name="connsiteY13" fmla="*/ 390715 h 628840"/>
                  <a:gd name="connsiteX14" fmla="*/ 619125 w 705071"/>
                  <a:gd name="connsiteY14" fmla="*/ 466915 h 628840"/>
                  <a:gd name="connsiteX15" fmla="*/ 609600 w 705071"/>
                  <a:gd name="connsiteY15" fmla="*/ 495490 h 628840"/>
                  <a:gd name="connsiteX16" fmla="*/ 590550 w 705071"/>
                  <a:gd name="connsiteY16" fmla="*/ 571690 h 628840"/>
                  <a:gd name="connsiteX17" fmla="*/ 533400 w 705071"/>
                  <a:gd name="connsiteY17" fmla="*/ 590740 h 628840"/>
                  <a:gd name="connsiteX18" fmla="*/ 476250 w 705071"/>
                  <a:gd name="connsiteY18" fmla="*/ 619315 h 628840"/>
                  <a:gd name="connsiteX19" fmla="*/ 447675 w 705071"/>
                  <a:gd name="connsiteY19" fmla="*/ 609790 h 628840"/>
                  <a:gd name="connsiteX20" fmla="*/ 371475 w 705071"/>
                  <a:gd name="connsiteY20" fmla="*/ 590740 h 628840"/>
                  <a:gd name="connsiteX21" fmla="*/ 238125 w 705071"/>
                  <a:gd name="connsiteY21" fmla="*/ 619315 h 628840"/>
                  <a:gd name="connsiteX22" fmla="*/ 209550 w 705071"/>
                  <a:gd name="connsiteY22" fmla="*/ 628840 h 628840"/>
                  <a:gd name="connsiteX23" fmla="*/ 85725 w 705071"/>
                  <a:gd name="connsiteY23" fmla="*/ 609790 h 628840"/>
                  <a:gd name="connsiteX24" fmla="*/ 57150 w 705071"/>
                  <a:gd name="connsiteY24" fmla="*/ 581215 h 628840"/>
                  <a:gd name="connsiteX25" fmla="*/ 19050 w 705071"/>
                  <a:gd name="connsiteY25" fmla="*/ 524065 h 628840"/>
                  <a:gd name="connsiteX26" fmla="*/ 0 w 705071"/>
                  <a:gd name="connsiteY26" fmla="*/ 457390 h 628840"/>
                  <a:gd name="connsiteX27" fmla="*/ 19050 w 705071"/>
                  <a:gd name="connsiteY27" fmla="*/ 285940 h 628840"/>
                  <a:gd name="connsiteX28" fmla="*/ 38100 w 705071"/>
                  <a:gd name="connsiteY28" fmla="*/ 238315 h 628840"/>
                  <a:gd name="connsiteX29" fmla="*/ 47625 w 705071"/>
                  <a:gd name="connsiteY29" fmla="*/ 209740 h 628840"/>
                  <a:gd name="connsiteX30" fmla="*/ 66675 w 705071"/>
                  <a:gd name="connsiteY30" fmla="*/ 181165 h 628840"/>
                  <a:gd name="connsiteX31" fmla="*/ 95250 w 705071"/>
                  <a:gd name="connsiteY31" fmla="*/ 133540 h 628840"/>
                  <a:gd name="connsiteX32" fmla="*/ 114300 w 705071"/>
                  <a:gd name="connsiteY32" fmla="*/ 104965 h 628840"/>
                  <a:gd name="connsiteX33" fmla="*/ 133350 w 705071"/>
                  <a:gd name="connsiteY33" fmla="*/ 66865 h 628840"/>
                  <a:gd name="connsiteX34" fmla="*/ 200025 w 705071"/>
                  <a:gd name="connsiteY34" fmla="*/ 9715 h 62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5071" h="628840">
                    <a:moveTo>
                      <a:pt x="200025" y="9715"/>
                    </a:moveTo>
                    <a:lnTo>
                      <a:pt x="200025" y="9715"/>
                    </a:lnTo>
                    <a:cubicBezTo>
                      <a:pt x="228600" y="6540"/>
                      <a:pt x="257039" y="-1321"/>
                      <a:pt x="285750" y="190"/>
                    </a:cubicBezTo>
                    <a:cubicBezTo>
                      <a:pt x="318084" y="1892"/>
                      <a:pt x="349588" y="11387"/>
                      <a:pt x="381000" y="19240"/>
                    </a:cubicBezTo>
                    <a:cubicBezTo>
                      <a:pt x="428840" y="31200"/>
                      <a:pt x="406681" y="24625"/>
                      <a:pt x="447675" y="38290"/>
                    </a:cubicBezTo>
                    <a:cubicBezTo>
                      <a:pt x="466725" y="57340"/>
                      <a:pt x="489881" y="73024"/>
                      <a:pt x="504825" y="95440"/>
                    </a:cubicBezTo>
                    <a:cubicBezTo>
                      <a:pt x="530225" y="133540"/>
                      <a:pt x="514350" y="117665"/>
                      <a:pt x="552450" y="143065"/>
                    </a:cubicBezTo>
                    <a:cubicBezTo>
                      <a:pt x="582639" y="188348"/>
                      <a:pt x="560640" y="168020"/>
                      <a:pt x="628650" y="190690"/>
                    </a:cubicBezTo>
                    <a:lnTo>
                      <a:pt x="657225" y="200215"/>
                    </a:lnTo>
                    <a:lnTo>
                      <a:pt x="685800" y="209740"/>
                    </a:lnTo>
                    <a:cubicBezTo>
                      <a:pt x="692150" y="219265"/>
                      <a:pt x="703899" y="226907"/>
                      <a:pt x="704850" y="238315"/>
                    </a:cubicBezTo>
                    <a:cubicBezTo>
                      <a:pt x="706359" y="256423"/>
                      <a:pt x="700176" y="323862"/>
                      <a:pt x="685800" y="352615"/>
                    </a:cubicBezTo>
                    <a:cubicBezTo>
                      <a:pt x="680680" y="362854"/>
                      <a:pt x="675689" y="374039"/>
                      <a:pt x="666750" y="381190"/>
                    </a:cubicBezTo>
                    <a:cubicBezTo>
                      <a:pt x="658910" y="387462"/>
                      <a:pt x="647700" y="387540"/>
                      <a:pt x="638175" y="390715"/>
                    </a:cubicBezTo>
                    <a:cubicBezTo>
                      <a:pt x="616402" y="456034"/>
                      <a:pt x="642113" y="374963"/>
                      <a:pt x="619125" y="466915"/>
                    </a:cubicBezTo>
                    <a:cubicBezTo>
                      <a:pt x="616690" y="476655"/>
                      <a:pt x="612242" y="485804"/>
                      <a:pt x="609600" y="495490"/>
                    </a:cubicBezTo>
                    <a:cubicBezTo>
                      <a:pt x="602711" y="520749"/>
                      <a:pt x="615388" y="563411"/>
                      <a:pt x="590550" y="571690"/>
                    </a:cubicBezTo>
                    <a:cubicBezTo>
                      <a:pt x="571500" y="578040"/>
                      <a:pt x="550108" y="579601"/>
                      <a:pt x="533400" y="590740"/>
                    </a:cubicBezTo>
                    <a:cubicBezTo>
                      <a:pt x="496471" y="615359"/>
                      <a:pt x="515685" y="606170"/>
                      <a:pt x="476250" y="619315"/>
                    </a:cubicBezTo>
                    <a:cubicBezTo>
                      <a:pt x="466725" y="616140"/>
                      <a:pt x="457361" y="612432"/>
                      <a:pt x="447675" y="609790"/>
                    </a:cubicBezTo>
                    <a:cubicBezTo>
                      <a:pt x="422416" y="602901"/>
                      <a:pt x="371475" y="590740"/>
                      <a:pt x="371475" y="590740"/>
                    </a:cubicBezTo>
                    <a:cubicBezTo>
                      <a:pt x="275350" y="602756"/>
                      <a:pt x="319559" y="592170"/>
                      <a:pt x="238125" y="619315"/>
                    </a:cubicBezTo>
                    <a:lnTo>
                      <a:pt x="209550" y="628840"/>
                    </a:lnTo>
                    <a:cubicBezTo>
                      <a:pt x="168275" y="622490"/>
                      <a:pt x="125585" y="622246"/>
                      <a:pt x="85725" y="609790"/>
                    </a:cubicBezTo>
                    <a:cubicBezTo>
                      <a:pt x="72868" y="605772"/>
                      <a:pt x="65420" y="591848"/>
                      <a:pt x="57150" y="581215"/>
                    </a:cubicBezTo>
                    <a:cubicBezTo>
                      <a:pt x="43094" y="563143"/>
                      <a:pt x="30169" y="544079"/>
                      <a:pt x="19050" y="524065"/>
                    </a:cubicBezTo>
                    <a:cubicBezTo>
                      <a:pt x="12839" y="512885"/>
                      <a:pt x="2242" y="466358"/>
                      <a:pt x="0" y="457390"/>
                    </a:cubicBezTo>
                    <a:cubicBezTo>
                      <a:pt x="6350" y="400240"/>
                      <a:pt x="9198" y="342591"/>
                      <a:pt x="19050" y="285940"/>
                    </a:cubicBezTo>
                    <a:cubicBezTo>
                      <a:pt x="21980" y="269095"/>
                      <a:pt x="32097" y="254324"/>
                      <a:pt x="38100" y="238315"/>
                    </a:cubicBezTo>
                    <a:cubicBezTo>
                      <a:pt x="41625" y="228914"/>
                      <a:pt x="43135" y="218720"/>
                      <a:pt x="47625" y="209740"/>
                    </a:cubicBezTo>
                    <a:cubicBezTo>
                      <a:pt x="52745" y="199501"/>
                      <a:pt x="60608" y="190873"/>
                      <a:pt x="66675" y="181165"/>
                    </a:cubicBezTo>
                    <a:cubicBezTo>
                      <a:pt x="76487" y="165466"/>
                      <a:pt x="85438" y="149239"/>
                      <a:pt x="95250" y="133540"/>
                    </a:cubicBezTo>
                    <a:cubicBezTo>
                      <a:pt x="101317" y="123832"/>
                      <a:pt x="108620" y="114904"/>
                      <a:pt x="114300" y="104965"/>
                    </a:cubicBezTo>
                    <a:cubicBezTo>
                      <a:pt x="121345" y="92637"/>
                      <a:pt x="126305" y="79193"/>
                      <a:pt x="133350" y="66865"/>
                    </a:cubicBezTo>
                    <a:cubicBezTo>
                      <a:pt x="149371" y="38828"/>
                      <a:pt x="188912" y="19240"/>
                      <a:pt x="200025" y="9715"/>
                    </a:cubicBezTo>
                    <a:close/>
                  </a:path>
                </a:pathLst>
              </a:cu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sp>
            <p:nvSpPr>
              <p:cNvPr id="133" name="任意多边形 100"/>
              <p:cNvSpPr/>
              <p:nvPr/>
            </p:nvSpPr>
            <p:spPr bwMode="auto">
              <a:xfrm>
                <a:off x="2105009" y="15211425"/>
                <a:ext cx="304816" cy="257175"/>
              </a:xfrm>
              <a:custGeom>
                <a:avLst/>
                <a:gdLst>
                  <a:gd name="connsiteX0" fmla="*/ 57166 w 304816"/>
                  <a:gd name="connsiteY0" fmla="*/ 0 h 257175"/>
                  <a:gd name="connsiteX1" fmla="*/ 57166 w 304816"/>
                  <a:gd name="connsiteY1" fmla="*/ 0 h 257175"/>
                  <a:gd name="connsiteX2" fmla="*/ 209566 w 304816"/>
                  <a:gd name="connsiteY2" fmla="*/ 28575 h 257175"/>
                  <a:gd name="connsiteX3" fmla="*/ 238141 w 304816"/>
                  <a:gd name="connsiteY3" fmla="*/ 38100 h 257175"/>
                  <a:gd name="connsiteX4" fmla="*/ 266716 w 304816"/>
                  <a:gd name="connsiteY4" fmla="*/ 47625 h 257175"/>
                  <a:gd name="connsiteX5" fmla="*/ 285766 w 304816"/>
                  <a:gd name="connsiteY5" fmla="*/ 76200 h 257175"/>
                  <a:gd name="connsiteX6" fmla="*/ 304816 w 304816"/>
                  <a:gd name="connsiteY6" fmla="*/ 133350 h 257175"/>
                  <a:gd name="connsiteX7" fmla="*/ 295291 w 304816"/>
                  <a:gd name="connsiteY7" fmla="*/ 190500 h 257175"/>
                  <a:gd name="connsiteX8" fmla="*/ 247666 w 304816"/>
                  <a:gd name="connsiteY8" fmla="*/ 228600 h 257175"/>
                  <a:gd name="connsiteX9" fmla="*/ 190516 w 304816"/>
                  <a:gd name="connsiteY9" fmla="*/ 257175 h 257175"/>
                  <a:gd name="connsiteX10" fmla="*/ 133366 w 304816"/>
                  <a:gd name="connsiteY10" fmla="*/ 238125 h 257175"/>
                  <a:gd name="connsiteX11" fmla="*/ 104791 w 304816"/>
                  <a:gd name="connsiteY11" fmla="*/ 228600 h 257175"/>
                  <a:gd name="connsiteX12" fmla="*/ 76216 w 304816"/>
                  <a:gd name="connsiteY12" fmla="*/ 209550 h 257175"/>
                  <a:gd name="connsiteX13" fmla="*/ 47641 w 304816"/>
                  <a:gd name="connsiteY13" fmla="*/ 180975 h 257175"/>
                  <a:gd name="connsiteX14" fmla="*/ 19066 w 304816"/>
                  <a:gd name="connsiteY14" fmla="*/ 171450 h 257175"/>
                  <a:gd name="connsiteX15" fmla="*/ 9541 w 304816"/>
                  <a:gd name="connsiteY15" fmla="*/ 76200 h 257175"/>
                  <a:gd name="connsiteX16" fmla="*/ 19066 w 304816"/>
                  <a:gd name="connsiteY16" fmla="*/ 47625 h 257175"/>
                  <a:gd name="connsiteX17" fmla="*/ 57166 w 304816"/>
                  <a:gd name="connsiteY17" fmla="*/ 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4816" h="257175">
                    <a:moveTo>
                      <a:pt x="57166" y="0"/>
                    </a:moveTo>
                    <a:lnTo>
                      <a:pt x="57166" y="0"/>
                    </a:lnTo>
                    <a:cubicBezTo>
                      <a:pt x="172397" y="11523"/>
                      <a:pt x="122145" y="-565"/>
                      <a:pt x="209566" y="28575"/>
                    </a:cubicBezTo>
                    <a:lnTo>
                      <a:pt x="238141" y="38100"/>
                    </a:lnTo>
                    <a:lnTo>
                      <a:pt x="266716" y="47625"/>
                    </a:lnTo>
                    <a:cubicBezTo>
                      <a:pt x="273066" y="57150"/>
                      <a:pt x="281117" y="65739"/>
                      <a:pt x="285766" y="76200"/>
                    </a:cubicBezTo>
                    <a:cubicBezTo>
                      <a:pt x="293921" y="94550"/>
                      <a:pt x="304816" y="133350"/>
                      <a:pt x="304816" y="133350"/>
                    </a:cubicBezTo>
                    <a:cubicBezTo>
                      <a:pt x="301641" y="152400"/>
                      <a:pt x="301398" y="172178"/>
                      <a:pt x="295291" y="190500"/>
                    </a:cubicBezTo>
                    <a:cubicBezTo>
                      <a:pt x="282446" y="229036"/>
                      <a:pt x="276775" y="214046"/>
                      <a:pt x="247666" y="228600"/>
                    </a:cubicBezTo>
                    <a:cubicBezTo>
                      <a:pt x="173808" y="265529"/>
                      <a:pt x="262340" y="233234"/>
                      <a:pt x="190516" y="257175"/>
                    </a:cubicBezTo>
                    <a:lnTo>
                      <a:pt x="133366" y="238125"/>
                    </a:lnTo>
                    <a:cubicBezTo>
                      <a:pt x="123841" y="234950"/>
                      <a:pt x="113145" y="234169"/>
                      <a:pt x="104791" y="228600"/>
                    </a:cubicBezTo>
                    <a:cubicBezTo>
                      <a:pt x="95266" y="222250"/>
                      <a:pt x="85010" y="216879"/>
                      <a:pt x="76216" y="209550"/>
                    </a:cubicBezTo>
                    <a:cubicBezTo>
                      <a:pt x="65868" y="200926"/>
                      <a:pt x="58849" y="188447"/>
                      <a:pt x="47641" y="180975"/>
                    </a:cubicBezTo>
                    <a:cubicBezTo>
                      <a:pt x="39287" y="175406"/>
                      <a:pt x="28591" y="174625"/>
                      <a:pt x="19066" y="171450"/>
                    </a:cubicBezTo>
                    <a:cubicBezTo>
                      <a:pt x="-2425" y="106977"/>
                      <a:pt x="-5962" y="130459"/>
                      <a:pt x="9541" y="76200"/>
                    </a:cubicBezTo>
                    <a:cubicBezTo>
                      <a:pt x="12299" y="66546"/>
                      <a:pt x="11966" y="54725"/>
                      <a:pt x="19066" y="47625"/>
                    </a:cubicBezTo>
                    <a:cubicBezTo>
                      <a:pt x="50653" y="16038"/>
                      <a:pt x="50816" y="7937"/>
                      <a:pt x="57166" y="0"/>
                    </a:cubicBezTo>
                    <a:close/>
                  </a:path>
                </a:pathLst>
              </a:cu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grpSp>
            <p:nvGrpSpPr>
              <p:cNvPr id="134" name="组合 101"/>
              <p:cNvGrpSpPr/>
              <p:nvPr/>
            </p:nvGrpSpPr>
            <p:grpSpPr>
              <a:xfrm>
                <a:off x="1880547" y="13424002"/>
                <a:ext cx="1408657" cy="879678"/>
                <a:chOff x="65453" y="12587597"/>
                <a:chExt cx="1408657" cy="879678"/>
              </a:xfrm>
            </p:grpSpPr>
            <p:cxnSp>
              <p:nvCxnSpPr>
                <p:cNvPr id="146" name="直接连接符 116"/>
                <p:cNvCxnSpPr/>
                <p:nvPr/>
              </p:nvCxnSpPr>
              <p:spPr bwMode="auto">
                <a:xfrm>
                  <a:off x="65621" y="12587597"/>
                  <a:ext cx="0" cy="879678"/>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7" name="直接连接符 117"/>
                <p:cNvCxnSpPr/>
                <p:nvPr/>
              </p:nvCxnSpPr>
              <p:spPr bwMode="auto">
                <a:xfrm>
                  <a:off x="65621" y="13467275"/>
                  <a:ext cx="1408489"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8" name="任意多边形 118"/>
                <p:cNvSpPr/>
                <p:nvPr/>
              </p:nvSpPr>
              <p:spPr bwMode="auto">
                <a:xfrm>
                  <a:off x="65453" y="12836586"/>
                  <a:ext cx="1324305" cy="628225"/>
                </a:xfrm>
                <a:custGeom>
                  <a:avLst/>
                  <a:gdLst>
                    <a:gd name="connsiteX0" fmla="*/ 329 w 1324304"/>
                    <a:gd name="connsiteY0" fmla="*/ 0 h 790575"/>
                    <a:gd name="connsiteX1" fmla="*/ 143204 w 1324304"/>
                    <a:gd name="connsiteY1" fmla="*/ 495300 h 790575"/>
                    <a:gd name="connsiteX2" fmla="*/ 876629 w 1324304"/>
                    <a:gd name="connsiteY2" fmla="*/ 723900 h 790575"/>
                    <a:gd name="connsiteX3" fmla="*/ 1324304 w 1324304"/>
                    <a:gd name="connsiteY3" fmla="*/ 790575 h 790575"/>
                  </a:gdLst>
                  <a:ahLst/>
                  <a:cxnLst>
                    <a:cxn ang="0">
                      <a:pos x="connsiteX0" y="connsiteY0"/>
                    </a:cxn>
                    <a:cxn ang="0">
                      <a:pos x="connsiteX1" y="connsiteY1"/>
                    </a:cxn>
                    <a:cxn ang="0">
                      <a:pos x="connsiteX2" y="connsiteY2"/>
                    </a:cxn>
                    <a:cxn ang="0">
                      <a:pos x="connsiteX3" y="connsiteY3"/>
                    </a:cxn>
                  </a:cxnLst>
                  <a:rect l="l" t="t" r="r" b="b"/>
                  <a:pathLst>
                    <a:path w="1324304" h="790575">
                      <a:moveTo>
                        <a:pt x="329" y="0"/>
                      </a:moveTo>
                      <a:cubicBezTo>
                        <a:pt x="-1259" y="187325"/>
                        <a:pt x="-2846" y="374650"/>
                        <a:pt x="143204" y="495300"/>
                      </a:cubicBezTo>
                      <a:cubicBezTo>
                        <a:pt x="289254" y="615950"/>
                        <a:pt x="679779" y="674688"/>
                        <a:pt x="876629" y="723900"/>
                      </a:cubicBezTo>
                      <a:cubicBezTo>
                        <a:pt x="1073479" y="773112"/>
                        <a:pt x="1216354" y="771525"/>
                        <a:pt x="1324304" y="790575"/>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grpSp>
          <p:cxnSp>
            <p:nvCxnSpPr>
              <p:cNvPr id="135" name="直接连接符 102"/>
              <p:cNvCxnSpPr/>
              <p:nvPr/>
            </p:nvCxnSpPr>
            <p:spPr bwMode="auto">
              <a:xfrm>
                <a:off x="3823536" y="12606307"/>
                <a:ext cx="0" cy="879678"/>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6" name="直接连接符 103"/>
              <p:cNvCxnSpPr/>
              <p:nvPr/>
            </p:nvCxnSpPr>
            <p:spPr bwMode="auto">
              <a:xfrm>
                <a:off x="3823536" y="13485985"/>
                <a:ext cx="1408489"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7" name="直接连接符 104"/>
              <p:cNvCxnSpPr/>
              <p:nvPr/>
            </p:nvCxnSpPr>
            <p:spPr bwMode="auto">
              <a:xfrm>
                <a:off x="3815077" y="13693783"/>
                <a:ext cx="0" cy="879678"/>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8" name="直接连接符 105"/>
              <p:cNvCxnSpPr/>
              <p:nvPr/>
            </p:nvCxnSpPr>
            <p:spPr bwMode="auto">
              <a:xfrm>
                <a:off x="3815077" y="14573461"/>
                <a:ext cx="1408489"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9" name="直接连接符 106"/>
              <p:cNvCxnSpPr/>
              <p:nvPr/>
            </p:nvCxnSpPr>
            <p:spPr bwMode="auto">
              <a:xfrm>
                <a:off x="3815077" y="14816502"/>
                <a:ext cx="0" cy="879678"/>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0" name="直接连接符 107"/>
              <p:cNvCxnSpPr/>
              <p:nvPr/>
            </p:nvCxnSpPr>
            <p:spPr bwMode="auto">
              <a:xfrm>
                <a:off x="3815077" y="15696180"/>
                <a:ext cx="1408489"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1" name="任意多边形 108"/>
              <p:cNvSpPr/>
              <p:nvPr/>
            </p:nvSpPr>
            <p:spPr bwMode="auto">
              <a:xfrm>
                <a:off x="3817894" y="14949470"/>
                <a:ext cx="1301371" cy="735219"/>
              </a:xfrm>
              <a:custGeom>
                <a:avLst/>
                <a:gdLst>
                  <a:gd name="connsiteX0" fmla="*/ 0 w 1162050"/>
                  <a:gd name="connsiteY0" fmla="*/ 0 h 647700"/>
                  <a:gd name="connsiteX1" fmla="*/ 323850 w 1162050"/>
                  <a:gd name="connsiteY1" fmla="*/ 390525 h 647700"/>
                  <a:gd name="connsiteX2" fmla="*/ 1162050 w 1162050"/>
                  <a:gd name="connsiteY2" fmla="*/ 647700 h 647700"/>
                </a:gdLst>
                <a:ahLst/>
                <a:cxnLst>
                  <a:cxn ang="0">
                    <a:pos x="connsiteX0" y="connsiteY0"/>
                  </a:cxn>
                  <a:cxn ang="0">
                    <a:pos x="connsiteX1" y="connsiteY1"/>
                  </a:cxn>
                  <a:cxn ang="0">
                    <a:pos x="connsiteX2" y="connsiteY2"/>
                  </a:cxn>
                </a:cxnLst>
                <a:rect l="l" t="t" r="r" b="b"/>
                <a:pathLst>
                  <a:path w="1162050" h="647700">
                    <a:moveTo>
                      <a:pt x="0" y="0"/>
                    </a:moveTo>
                    <a:cubicBezTo>
                      <a:pt x="65087" y="141287"/>
                      <a:pt x="130175" y="282575"/>
                      <a:pt x="323850" y="390525"/>
                    </a:cubicBezTo>
                    <a:cubicBezTo>
                      <a:pt x="517525" y="498475"/>
                      <a:pt x="984250" y="596900"/>
                      <a:pt x="1162050" y="64770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dirty="0">
                  <a:effectLst>
                    <a:outerShdw blurRad="38100" dist="38100" dir="2700000" algn="tl">
                      <a:srgbClr val="000000">
                        <a:alpha val="43137"/>
                      </a:srgbClr>
                    </a:outerShdw>
                  </a:effectLst>
                  <a:latin typeface="Gill Sans MT"/>
                  <a:cs typeface="Gill Sans MT"/>
                </a:endParaRPr>
              </a:p>
            </p:txBody>
          </p:sp>
          <p:sp>
            <p:nvSpPr>
              <p:cNvPr id="142" name="任意多边形 109"/>
              <p:cNvSpPr/>
              <p:nvPr/>
            </p:nvSpPr>
            <p:spPr bwMode="auto">
              <a:xfrm>
                <a:off x="3825394" y="12665654"/>
                <a:ext cx="333362" cy="819149"/>
              </a:xfrm>
              <a:custGeom>
                <a:avLst/>
                <a:gdLst>
                  <a:gd name="connsiteX0" fmla="*/ 0 w 200025"/>
                  <a:gd name="connsiteY0" fmla="*/ 0 h 819150"/>
                  <a:gd name="connsiteX1" fmla="*/ 47625 w 200025"/>
                  <a:gd name="connsiteY1" fmla="*/ 590550 h 819150"/>
                  <a:gd name="connsiteX2" fmla="*/ 200025 w 200025"/>
                  <a:gd name="connsiteY2" fmla="*/ 819150 h 819150"/>
                </a:gdLst>
                <a:ahLst/>
                <a:cxnLst>
                  <a:cxn ang="0">
                    <a:pos x="connsiteX0" y="connsiteY0"/>
                  </a:cxn>
                  <a:cxn ang="0">
                    <a:pos x="connsiteX1" y="connsiteY1"/>
                  </a:cxn>
                  <a:cxn ang="0">
                    <a:pos x="connsiteX2" y="connsiteY2"/>
                  </a:cxn>
                </a:cxnLst>
                <a:rect l="l" t="t" r="r" b="b"/>
                <a:pathLst>
                  <a:path w="200025" h="819150">
                    <a:moveTo>
                      <a:pt x="0" y="0"/>
                    </a:moveTo>
                    <a:cubicBezTo>
                      <a:pt x="7144" y="227012"/>
                      <a:pt x="14288" y="454025"/>
                      <a:pt x="47625" y="590550"/>
                    </a:cubicBezTo>
                    <a:cubicBezTo>
                      <a:pt x="80962" y="727075"/>
                      <a:pt x="42863" y="782638"/>
                      <a:pt x="200025" y="81915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sp>
            <p:nvSpPr>
              <p:cNvPr id="143" name="加号 110"/>
              <p:cNvSpPr/>
              <p:nvPr/>
            </p:nvSpPr>
            <p:spPr bwMode="auto">
              <a:xfrm>
                <a:off x="4432010" y="13558421"/>
                <a:ext cx="214105" cy="214105"/>
              </a:xfrm>
              <a:prstGeom prst="mathPlus">
                <a:avLst/>
              </a:prstGeom>
              <a:solidFill>
                <a:schemeClr val="accent5">
                  <a:lumMod val="60000"/>
                  <a:lumOff val="40000"/>
                </a:scheme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sp>
            <p:nvSpPr>
              <p:cNvPr id="144" name="加号 111"/>
              <p:cNvSpPr/>
              <p:nvPr/>
            </p:nvSpPr>
            <p:spPr bwMode="auto">
              <a:xfrm>
                <a:off x="4412269" y="14654420"/>
                <a:ext cx="214105" cy="214105"/>
              </a:xfrm>
              <a:prstGeom prst="mathPlus">
                <a:avLst/>
              </a:prstGeom>
              <a:solidFill>
                <a:schemeClr val="accent5">
                  <a:lumMod val="60000"/>
                  <a:lumOff val="40000"/>
                </a:scheme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sp>
            <p:nvSpPr>
              <p:cNvPr id="145" name="等于号 77"/>
              <p:cNvSpPr/>
              <p:nvPr/>
            </p:nvSpPr>
            <p:spPr bwMode="auto">
              <a:xfrm>
                <a:off x="3419795" y="14061055"/>
                <a:ext cx="213283" cy="137362"/>
              </a:xfrm>
              <a:prstGeom prst="mathEqual">
                <a:avLst/>
              </a:prstGeom>
              <a:solidFill>
                <a:schemeClr val="accent5">
                  <a:lumMod val="60000"/>
                  <a:lumOff val="40000"/>
                </a:scheme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grpSp>
        <p:sp>
          <p:nvSpPr>
            <p:cNvPr id="130" name="任意多边形 119"/>
            <p:cNvSpPr/>
            <p:nvPr/>
          </p:nvSpPr>
          <p:spPr bwMode="auto">
            <a:xfrm>
              <a:off x="3485263" y="19659394"/>
              <a:ext cx="733424" cy="800099"/>
            </a:xfrm>
            <a:custGeom>
              <a:avLst/>
              <a:gdLst>
                <a:gd name="connsiteX0" fmla="*/ 0 w 733425"/>
                <a:gd name="connsiteY0" fmla="*/ 0 h 800100"/>
                <a:gd name="connsiteX1" fmla="*/ 171450 w 733425"/>
                <a:gd name="connsiteY1" fmla="*/ 600075 h 800100"/>
                <a:gd name="connsiteX2" fmla="*/ 733425 w 733425"/>
                <a:gd name="connsiteY2" fmla="*/ 800100 h 800100"/>
              </a:gdLst>
              <a:ahLst/>
              <a:cxnLst>
                <a:cxn ang="0">
                  <a:pos x="connsiteX0" y="connsiteY0"/>
                </a:cxn>
                <a:cxn ang="0">
                  <a:pos x="connsiteX1" y="connsiteY1"/>
                </a:cxn>
                <a:cxn ang="0">
                  <a:pos x="connsiteX2" y="connsiteY2"/>
                </a:cxn>
              </a:cxnLst>
              <a:rect l="l" t="t" r="r" b="b"/>
              <a:pathLst>
                <a:path w="733425" h="800100">
                  <a:moveTo>
                    <a:pt x="0" y="0"/>
                  </a:moveTo>
                  <a:cubicBezTo>
                    <a:pt x="24606" y="233362"/>
                    <a:pt x="49213" y="466725"/>
                    <a:pt x="171450" y="600075"/>
                  </a:cubicBezTo>
                  <a:cubicBezTo>
                    <a:pt x="293687" y="733425"/>
                    <a:pt x="565150" y="784225"/>
                    <a:pt x="733425" y="80010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bodyPr>
            <a:lstStyle/>
            <a:p>
              <a:pPr eaLnBrk="0" fontAlgn="base" hangingPunct="0">
                <a:spcBef>
                  <a:spcPct val="0"/>
                </a:spcBef>
                <a:spcAft>
                  <a:spcPct val="0"/>
                </a:spcAft>
              </a:pPr>
              <a:endParaRPr lang="zh-CN" altLang="en-US">
                <a:effectLst>
                  <a:outerShdw blurRad="38100" dist="38100" dir="2700000" algn="tl">
                    <a:srgbClr val="000000">
                      <a:alpha val="43137"/>
                    </a:srgbClr>
                  </a:outerShdw>
                </a:effectLst>
                <a:latin typeface="Gill Sans MT"/>
                <a:cs typeface="Gill Sans MT"/>
              </a:endParaRPr>
            </a:p>
          </p:txBody>
        </p:sp>
      </p:grpSp>
      <p:sp>
        <p:nvSpPr>
          <p:cNvPr id="149" name="文本框 122"/>
          <p:cNvSpPr txBox="1"/>
          <p:nvPr/>
        </p:nvSpPr>
        <p:spPr>
          <a:xfrm>
            <a:off x="2588672" y="2058068"/>
            <a:ext cx="913184" cy="715581"/>
          </a:xfrm>
          <a:prstGeom prst="rect">
            <a:avLst/>
          </a:prstGeom>
          <a:noFill/>
        </p:spPr>
        <p:txBody>
          <a:bodyPr wrap="square" rtlCol="0">
            <a:spAutoFit/>
          </a:bodyPr>
          <a:lstStyle/>
          <a:p>
            <a:r>
              <a:rPr lang="en-US" altLang="zh-CN" sz="1350" dirty="0">
                <a:latin typeface="Gill Sans MT"/>
                <a:cs typeface="Gill Sans MT"/>
              </a:rPr>
              <a:t>Free induction decay </a:t>
            </a:r>
            <a:endParaRPr lang="zh-CN" altLang="en-US" sz="1350" dirty="0">
              <a:latin typeface="Gill Sans MT"/>
              <a:cs typeface="Gill Sans MT"/>
            </a:endParaRPr>
          </a:p>
        </p:txBody>
      </p:sp>
      <p:grpSp>
        <p:nvGrpSpPr>
          <p:cNvPr id="150" name="组合 166"/>
          <p:cNvGrpSpPr/>
          <p:nvPr/>
        </p:nvGrpSpPr>
        <p:grpSpPr>
          <a:xfrm>
            <a:off x="1137962" y="1612678"/>
            <a:ext cx="1205527" cy="1170907"/>
            <a:chOff x="8850662" y="18755504"/>
            <a:chExt cx="2752572" cy="3754683"/>
          </a:xfrm>
        </p:grpSpPr>
        <p:grpSp>
          <p:nvGrpSpPr>
            <p:cNvPr id="151" name="组合 165"/>
            <p:cNvGrpSpPr/>
            <p:nvPr/>
          </p:nvGrpSpPr>
          <p:grpSpPr>
            <a:xfrm>
              <a:off x="9140219" y="18755504"/>
              <a:ext cx="1983709" cy="1297707"/>
              <a:chOff x="9140219" y="18755504"/>
              <a:chExt cx="1983709" cy="1297707"/>
            </a:xfrm>
          </p:grpSpPr>
          <p:grpSp>
            <p:nvGrpSpPr>
              <p:cNvPr id="153" name="组合 161"/>
              <p:cNvGrpSpPr/>
              <p:nvPr/>
            </p:nvGrpSpPr>
            <p:grpSpPr>
              <a:xfrm>
                <a:off x="9140219" y="18833230"/>
                <a:ext cx="1983709" cy="1219981"/>
                <a:chOff x="9184671" y="18833230"/>
                <a:chExt cx="1828095" cy="1123737"/>
              </a:xfrm>
            </p:grpSpPr>
            <p:cxnSp>
              <p:nvCxnSpPr>
                <p:cNvPr id="155" name="直接连接符 159"/>
                <p:cNvCxnSpPr/>
                <p:nvPr/>
              </p:nvCxnSpPr>
              <p:spPr bwMode="auto">
                <a:xfrm>
                  <a:off x="9184671" y="18833230"/>
                  <a:ext cx="0" cy="1123737"/>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6" name="直接连接符 160"/>
                <p:cNvCxnSpPr/>
                <p:nvPr/>
              </p:nvCxnSpPr>
              <p:spPr bwMode="auto">
                <a:xfrm>
                  <a:off x="9184671" y="19956967"/>
                  <a:ext cx="182809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54" name="任意多边形 163"/>
              <p:cNvSpPr/>
              <p:nvPr/>
            </p:nvSpPr>
            <p:spPr>
              <a:xfrm>
                <a:off x="9301021" y="18755504"/>
                <a:ext cx="1635440" cy="1296834"/>
              </a:xfrm>
              <a:custGeom>
                <a:avLst/>
                <a:gdLst>
                  <a:gd name="connsiteX0" fmla="*/ 0 w 2028825"/>
                  <a:gd name="connsiteY0" fmla="*/ 1247848 h 1275817"/>
                  <a:gd name="connsiteX1" fmla="*/ 85725 w 2028825"/>
                  <a:gd name="connsiteY1" fmla="*/ 923998 h 1275817"/>
                  <a:gd name="connsiteX2" fmla="*/ 209550 w 2028825"/>
                  <a:gd name="connsiteY2" fmla="*/ 1219273 h 1275817"/>
                  <a:gd name="connsiteX3" fmla="*/ 438150 w 2028825"/>
                  <a:gd name="connsiteY3" fmla="*/ 1209748 h 1275817"/>
                  <a:gd name="connsiteX4" fmla="*/ 590550 w 2028825"/>
                  <a:gd name="connsiteY4" fmla="*/ 542998 h 1275817"/>
                  <a:gd name="connsiteX5" fmla="*/ 857250 w 2028825"/>
                  <a:gd name="connsiteY5" fmla="*/ 1200223 h 1275817"/>
                  <a:gd name="connsiteX6" fmla="*/ 1057275 w 2028825"/>
                  <a:gd name="connsiteY6" fmla="*/ 1114498 h 1275817"/>
                  <a:gd name="connsiteX7" fmla="*/ 1162050 w 2028825"/>
                  <a:gd name="connsiteY7" fmla="*/ 73 h 1275817"/>
                  <a:gd name="connsiteX8" fmla="*/ 1609725 w 2028825"/>
                  <a:gd name="connsiteY8" fmla="*/ 1171648 h 1275817"/>
                  <a:gd name="connsiteX9" fmla="*/ 2028825 w 2028825"/>
                  <a:gd name="connsiteY9" fmla="*/ 1000198 h 1275817"/>
                  <a:gd name="connsiteX0" fmla="*/ 0 w 1780825"/>
                  <a:gd name="connsiteY0" fmla="*/ 1247848 h 1304205"/>
                  <a:gd name="connsiteX1" fmla="*/ 85725 w 1780825"/>
                  <a:gd name="connsiteY1" fmla="*/ 923998 h 1304205"/>
                  <a:gd name="connsiteX2" fmla="*/ 209550 w 1780825"/>
                  <a:gd name="connsiteY2" fmla="*/ 1219273 h 1304205"/>
                  <a:gd name="connsiteX3" fmla="*/ 438150 w 1780825"/>
                  <a:gd name="connsiteY3" fmla="*/ 1209748 h 1304205"/>
                  <a:gd name="connsiteX4" fmla="*/ 590550 w 1780825"/>
                  <a:gd name="connsiteY4" fmla="*/ 542998 h 1304205"/>
                  <a:gd name="connsiteX5" fmla="*/ 857250 w 1780825"/>
                  <a:gd name="connsiteY5" fmla="*/ 1200223 h 1304205"/>
                  <a:gd name="connsiteX6" fmla="*/ 1057275 w 1780825"/>
                  <a:gd name="connsiteY6" fmla="*/ 1114498 h 1304205"/>
                  <a:gd name="connsiteX7" fmla="*/ 1162050 w 1780825"/>
                  <a:gd name="connsiteY7" fmla="*/ 73 h 1304205"/>
                  <a:gd name="connsiteX8" fmla="*/ 1609725 w 1780825"/>
                  <a:gd name="connsiteY8" fmla="*/ 1171648 h 1304205"/>
                  <a:gd name="connsiteX9" fmla="*/ 1780825 w 1780825"/>
                  <a:gd name="connsiteY9" fmla="*/ 1264403 h 1304205"/>
                  <a:gd name="connsiteX0" fmla="*/ 0 w 1714056"/>
                  <a:gd name="connsiteY0" fmla="*/ 1247848 h 1327114"/>
                  <a:gd name="connsiteX1" fmla="*/ 85725 w 1714056"/>
                  <a:gd name="connsiteY1" fmla="*/ 923998 h 1327114"/>
                  <a:gd name="connsiteX2" fmla="*/ 209550 w 1714056"/>
                  <a:gd name="connsiteY2" fmla="*/ 1219273 h 1327114"/>
                  <a:gd name="connsiteX3" fmla="*/ 438150 w 1714056"/>
                  <a:gd name="connsiteY3" fmla="*/ 1209748 h 1327114"/>
                  <a:gd name="connsiteX4" fmla="*/ 590550 w 1714056"/>
                  <a:gd name="connsiteY4" fmla="*/ 542998 h 1327114"/>
                  <a:gd name="connsiteX5" fmla="*/ 857250 w 1714056"/>
                  <a:gd name="connsiteY5" fmla="*/ 1200223 h 1327114"/>
                  <a:gd name="connsiteX6" fmla="*/ 1057275 w 1714056"/>
                  <a:gd name="connsiteY6" fmla="*/ 1114498 h 1327114"/>
                  <a:gd name="connsiteX7" fmla="*/ 1162050 w 1714056"/>
                  <a:gd name="connsiteY7" fmla="*/ 73 h 1327114"/>
                  <a:gd name="connsiteX8" fmla="*/ 1609725 w 1714056"/>
                  <a:gd name="connsiteY8" fmla="*/ 1171648 h 1327114"/>
                  <a:gd name="connsiteX9" fmla="*/ 1714056 w 1714056"/>
                  <a:gd name="connsiteY9" fmla="*/ 1302146 h 1327114"/>
                  <a:gd name="connsiteX0" fmla="*/ 0 w 1714056"/>
                  <a:gd name="connsiteY0" fmla="*/ 1238413 h 1317190"/>
                  <a:gd name="connsiteX1" fmla="*/ 85725 w 1714056"/>
                  <a:gd name="connsiteY1" fmla="*/ 914563 h 1317190"/>
                  <a:gd name="connsiteX2" fmla="*/ 209550 w 1714056"/>
                  <a:gd name="connsiteY2" fmla="*/ 1209838 h 1317190"/>
                  <a:gd name="connsiteX3" fmla="*/ 438150 w 1714056"/>
                  <a:gd name="connsiteY3" fmla="*/ 1200313 h 1317190"/>
                  <a:gd name="connsiteX4" fmla="*/ 590550 w 1714056"/>
                  <a:gd name="connsiteY4" fmla="*/ 533563 h 1317190"/>
                  <a:gd name="connsiteX5" fmla="*/ 857250 w 1714056"/>
                  <a:gd name="connsiteY5" fmla="*/ 1190788 h 1317190"/>
                  <a:gd name="connsiteX6" fmla="*/ 1057275 w 1714056"/>
                  <a:gd name="connsiteY6" fmla="*/ 1105063 h 1317190"/>
                  <a:gd name="connsiteX7" fmla="*/ 1333742 w 1714056"/>
                  <a:gd name="connsiteY7" fmla="*/ 74 h 1317190"/>
                  <a:gd name="connsiteX8" fmla="*/ 1609725 w 1714056"/>
                  <a:gd name="connsiteY8" fmla="*/ 1162213 h 1317190"/>
                  <a:gd name="connsiteX9" fmla="*/ 1714056 w 1714056"/>
                  <a:gd name="connsiteY9" fmla="*/ 1292711 h 1317190"/>
                  <a:gd name="connsiteX0" fmla="*/ 0 w 1694979"/>
                  <a:gd name="connsiteY0" fmla="*/ 1238413 h 1270768"/>
                  <a:gd name="connsiteX1" fmla="*/ 85725 w 1694979"/>
                  <a:gd name="connsiteY1" fmla="*/ 914563 h 1270768"/>
                  <a:gd name="connsiteX2" fmla="*/ 209550 w 1694979"/>
                  <a:gd name="connsiteY2" fmla="*/ 1209838 h 1270768"/>
                  <a:gd name="connsiteX3" fmla="*/ 438150 w 1694979"/>
                  <a:gd name="connsiteY3" fmla="*/ 1200313 h 1270768"/>
                  <a:gd name="connsiteX4" fmla="*/ 590550 w 1694979"/>
                  <a:gd name="connsiteY4" fmla="*/ 533563 h 1270768"/>
                  <a:gd name="connsiteX5" fmla="*/ 857250 w 1694979"/>
                  <a:gd name="connsiteY5" fmla="*/ 1190788 h 1270768"/>
                  <a:gd name="connsiteX6" fmla="*/ 1057275 w 1694979"/>
                  <a:gd name="connsiteY6" fmla="*/ 1105063 h 1270768"/>
                  <a:gd name="connsiteX7" fmla="*/ 1333742 w 1694979"/>
                  <a:gd name="connsiteY7" fmla="*/ 74 h 1270768"/>
                  <a:gd name="connsiteX8" fmla="*/ 1609725 w 1694979"/>
                  <a:gd name="connsiteY8" fmla="*/ 1162213 h 1270768"/>
                  <a:gd name="connsiteX9" fmla="*/ 1694979 w 1694979"/>
                  <a:gd name="connsiteY9" fmla="*/ 1207788 h 1270768"/>
                  <a:gd name="connsiteX0" fmla="*/ 0 w 1704517"/>
                  <a:gd name="connsiteY0" fmla="*/ 1238413 h 1289049"/>
                  <a:gd name="connsiteX1" fmla="*/ 85725 w 1704517"/>
                  <a:gd name="connsiteY1" fmla="*/ 914563 h 1289049"/>
                  <a:gd name="connsiteX2" fmla="*/ 209550 w 1704517"/>
                  <a:gd name="connsiteY2" fmla="*/ 1209838 h 1289049"/>
                  <a:gd name="connsiteX3" fmla="*/ 438150 w 1704517"/>
                  <a:gd name="connsiteY3" fmla="*/ 1200313 h 1289049"/>
                  <a:gd name="connsiteX4" fmla="*/ 590550 w 1704517"/>
                  <a:gd name="connsiteY4" fmla="*/ 533563 h 1289049"/>
                  <a:gd name="connsiteX5" fmla="*/ 857250 w 1704517"/>
                  <a:gd name="connsiteY5" fmla="*/ 1190788 h 1289049"/>
                  <a:gd name="connsiteX6" fmla="*/ 1057275 w 1704517"/>
                  <a:gd name="connsiteY6" fmla="*/ 1105063 h 1289049"/>
                  <a:gd name="connsiteX7" fmla="*/ 1333742 w 1704517"/>
                  <a:gd name="connsiteY7" fmla="*/ 74 h 1289049"/>
                  <a:gd name="connsiteX8" fmla="*/ 1609725 w 1704517"/>
                  <a:gd name="connsiteY8" fmla="*/ 1162213 h 1289049"/>
                  <a:gd name="connsiteX9" fmla="*/ 1704517 w 1704517"/>
                  <a:gd name="connsiteY9" fmla="*/ 1245531 h 1289049"/>
                  <a:gd name="connsiteX0" fmla="*/ 0 w 1714055"/>
                  <a:gd name="connsiteY0" fmla="*/ 1295029 h 1295029"/>
                  <a:gd name="connsiteX1" fmla="*/ 95263 w 1714055"/>
                  <a:gd name="connsiteY1" fmla="*/ 914563 h 1295029"/>
                  <a:gd name="connsiteX2" fmla="*/ 219088 w 1714055"/>
                  <a:gd name="connsiteY2" fmla="*/ 1209838 h 1295029"/>
                  <a:gd name="connsiteX3" fmla="*/ 447688 w 1714055"/>
                  <a:gd name="connsiteY3" fmla="*/ 1200313 h 1295029"/>
                  <a:gd name="connsiteX4" fmla="*/ 600088 w 1714055"/>
                  <a:gd name="connsiteY4" fmla="*/ 533563 h 1295029"/>
                  <a:gd name="connsiteX5" fmla="*/ 866788 w 1714055"/>
                  <a:gd name="connsiteY5" fmla="*/ 1190788 h 1295029"/>
                  <a:gd name="connsiteX6" fmla="*/ 1066813 w 1714055"/>
                  <a:gd name="connsiteY6" fmla="*/ 1105063 h 1295029"/>
                  <a:gd name="connsiteX7" fmla="*/ 1343280 w 1714055"/>
                  <a:gd name="connsiteY7" fmla="*/ 74 h 1295029"/>
                  <a:gd name="connsiteX8" fmla="*/ 1619263 w 1714055"/>
                  <a:gd name="connsiteY8" fmla="*/ 1162213 h 1295029"/>
                  <a:gd name="connsiteX9" fmla="*/ 1714055 w 1714055"/>
                  <a:gd name="connsiteY9" fmla="*/ 1245531 h 1295029"/>
                  <a:gd name="connsiteX0" fmla="*/ 0 w 1704517"/>
                  <a:gd name="connsiteY0" fmla="*/ 1266721 h 1289049"/>
                  <a:gd name="connsiteX1" fmla="*/ 85725 w 1704517"/>
                  <a:gd name="connsiteY1" fmla="*/ 914563 h 1289049"/>
                  <a:gd name="connsiteX2" fmla="*/ 209550 w 1704517"/>
                  <a:gd name="connsiteY2" fmla="*/ 1209838 h 1289049"/>
                  <a:gd name="connsiteX3" fmla="*/ 438150 w 1704517"/>
                  <a:gd name="connsiteY3" fmla="*/ 1200313 h 1289049"/>
                  <a:gd name="connsiteX4" fmla="*/ 590550 w 1704517"/>
                  <a:gd name="connsiteY4" fmla="*/ 533563 h 1289049"/>
                  <a:gd name="connsiteX5" fmla="*/ 857250 w 1704517"/>
                  <a:gd name="connsiteY5" fmla="*/ 1190788 h 1289049"/>
                  <a:gd name="connsiteX6" fmla="*/ 1057275 w 1704517"/>
                  <a:gd name="connsiteY6" fmla="*/ 1105063 h 1289049"/>
                  <a:gd name="connsiteX7" fmla="*/ 1333742 w 1704517"/>
                  <a:gd name="connsiteY7" fmla="*/ 74 h 1289049"/>
                  <a:gd name="connsiteX8" fmla="*/ 1609725 w 1704517"/>
                  <a:gd name="connsiteY8" fmla="*/ 1162213 h 1289049"/>
                  <a:gd name="connsiteX9" fmla="*/ 1704517 w 1704517"/>
                  <a:gd name="connsiteY9" fmla="*/ 1245531 h 1289049"/>
                  <a:gd name="connsiteX0" fmla="*/ 0 w 1647286"/>
                  <a:gd name="connsiteY0" fmla="*/ 1266721 h 1289049"/>
                  <a:gd name="connsiteX1" fmla="*/ 85725 w 1647286"/>
                  <a:gd name="connsiteY1" fmla="*/ 914563 h 1289049"/>
                  <a:gd name="connsiteX2" fmla="*/ 209550 w 1647286"/>
                  <a:gd name="connsiteY2" fmla="*/ 1209838 h 1289049"/>
                  <a:gd name="connsiteX3" fmla="*/ 438150 w 1647286"/>
                  <a:gd name="connsiteY3" fmla="*/ 1200313 h 1289049"/>
                  <a:gd name="connsiteX4" fmla="*/ 590550 w 1647286"/>
                  <a:gd name="connsiteY4" fmla="*/ 533563 h 1289049"/>
                  <a:gd name="connsiteX5" fmla="*/ 857250 w 1647286"/>
                  <a:gd name="connsiteY5" fmla="*/ 1190788 h 1289049"/>
                  <a:gd name="connsiteX6" fmla="*/ 1057275 w 1647286"/>
                  <a:gd name="connsiteY6" fmla="*/ 1105063 h 1289049"/>
                  <a:gd name="connsiteX7" fmla="*/ 1333742 w 1647286"/>
                  <a:gd name="connsiteY7" fmla="*/ 74 h 1289049"/>
                  <a:gd name="connsiteX8" fmla="*/ 1609725 w 1647286"/>
                  <a:gd name="connsiteY8" fmla="*/ 1162213 h 1289049"/>
                  <a:gd name="connsiteX9" fmla="*/ 1647286 w 1647286"/>
                  <a:gd name="connsiteY9" fmla="*/ 1245531 h 1289049"/>
                  <a:gd name="connsiteX0" fmla="*/ 0 w 1647286"/>
                  <a:gd name="connsiteY0" fmla="*/ 1266721 h 1294173"/>
                  <a:gd name="connsiteX1" fmla="*/ 85725 w 1647286"/>
                  <a:gd name="connsiteY1" fmla="*/ 914563 h 1294173"/>
                  <a:gd name="connsiteX2" fmla="*/ 209550 w 1647286"/>
                  <a:gd name="connsiteY2" fmla="*/ 1209838 h 1294173"/>
                  <a:gd name="connsiteX3" fmla="*/ 438150 w 1647286"/>
                  <a:gd name="connsiteY3" fmla="*/ 1200313 h 1294173"/>
                  <a:gd name="connsiteX4" fmla="*/ 590550 w 1647286"/>
                  <a:gd name="connsiteY4" fmla="*/ 533563 h 1294173"/>
                  <a:gd name="connsiteX5" fmla="*/ 857250 w 1647286"/>
                  <a:gd name="connsiteY5" fmla="*/ 1190788 h 1294173"/>
                  <a:gd name="connsiteX6" fmla="*/ 1057275 w 1647286"/>
                  <a:gd name="connsiteY6" fmla="*/ 1105063 h 1294173"/>
                  <a:gd name="connsiteX7" fmla="*/ 1333742 w 1647286"/>
                  <a:gd name="connsiteY7" fmla="*/ 74 h 1294173"/>
                  <a:gd name="connsiteX8" fmla="*/ 1609725 w 1647286"/>
                  <a:gd name="connsiteY8" fmla="*/ 1162213 h 1294173"/>
                  <a:gd name="connsiteX9" fmla="*/ 1647286 w 1647286"/>
                  <a:gd name="connsiteY9" fmla="*/ 1254967 h 1294173"/>
                  <a:gd name="connsiteX0" fmla="*/ 0 w 1694978"/>
                  <a:gd name="connsiteY0" fmla="*/ 1266721 h 1289049"/>
                  <a:gd name="connsiteX1" fmla="*/ 85725 w 1694978"/>
                  <a:gd name="connsiteY1" fmla="*/ 914563 h 1289049"/>
                  <a:gd name="connsiteX2" fmla="*/ 209550 w 1694978"/>
                  <a:gd name="connsiteY2" fmla="*/ 1209838 h 1289049"/>
                  <a:gd name="connsiteX3" fmla="*/ 438150 w 1694978"/>
                  <a:gd name="connsiteY3" fmla="*/ 1200313 h 1289049"/>
                  <a:gd name="connsiteX4" fmla="*/ 590550 w 1694978"/>
                  <a:gd name="connsiteY4" fmla="*/ 533563 h 1289049"/>
                  <a:gd name="connsiteX5" fmla="*/ 857250 w 1694978"/>
                  <a:gd name="connsiteY5" fmla="*/ 1190788 h 1289049"/>
                  <a:gd name="connsiteX6" fmla="*/ 1057275 w 1694978"/>
                  <a:gd name="connsiteY6" fmla="*/ 1105063 h 1289049"/>
                  <a:gd name="connsiteX7" fmla="*/ 1333742 w 1694978"/>
                  <a:gd name="connsiteY7" fmla="*/ 74 h 1289049"/>
                  <a:gd name="connsiteX8" fmla="*/ 1609725 w 1694978"/>
                  <a:gd name="connsiteY8" fmla="*/ 1162213 h 1289049"/>
                  <a:gd name="connsiteX9" fmla="*/ 1694978 w 1694978"/>
                  <a:gd name="connsiteY9" fmla="*/ 1245531 h 1289049"/>
                  <a:gd name="connsiteX0" fmla="*/ 0 w 1733132"/>
                  <a:gd name="connsiteY0" fmla="*/ 1266721 h 1289049"/>
                  <a:gd name="connsiteX1" fmla="*/ 85725 w 1733132"/>
                  <a:gd name="connsiteY1" fmla="*/ 914563 h 1289049"/>
                  <a:gd name="connsiteX2" fmla="*/ 209550 w 1733132"/>
                  <a:gd name="connsiteY2" fmla="*/ 1209838 h 1289049"/>
                  <a:gd name="connsiteX3" fmla="*/ 438150 w 1733132"/>
                  <a:gd name="connsiteY3" fmla="*/ 1200313 h 1289049"/>
                  <a:gd name="connsiteX4" fmla="*/ 590550 w 1733132"/>
                  <a:gd name="connsiteY4" fmla="*/ 533563 h 1289049"/>
                  <a:gd name="connsiteX5" fmla="*/ 857250 w 1733132"/>
                  <a:gd name="connsiteY5" fmla="*/ 1190788 h 1289049"/>
                  <a:gd name="connsiteX6" fmla="*/ 1057275 w 1733132"/>
                  <a:gd name="connsiteY6" fmla="*/ 1105063 h 1289049"/>
                  <a:gd name="connsiteX7" fmla="*/ 1333742 w 1733132"/>
                  <a:gd name="connsiteY7" fmla="*/ 74 h 1289049"/>
                  <a:gd name="connsiteX8" fmla="*/ 1609725 w 1733132"/>
                  <a:gd name="connsiteY8" fmla="*/ 1162213 h 1289049"/>
                  <a:gd name="connsiteX9" fmla="*/ 1733132 w 1733132"/>
                  <a:gd name="connsiteY9" fmla="*/ 1245531 h 1289049"/>
                  <a:gd name="connsiteX0" fmla="*/ 0 w 1733132"/>
                  <a:gd name="connsiteY0" fmla="*/ 1266721 h 1285723"/>
                  <a:gd name="connsiteX1" fmla="*/ 85725 w 1733132"/>
                  <a:gd name="connsiteY1" fmla="*/ 914563 h 1285723"/>
                  <a:gd name="connsiteX2" fmla="*/ 209550 w 1733132"/>
                  <a:gd name="connsiteY2" fmla="*/ 1209838 h 1285723"/>
                  <a:gd name="connsiteX3" fmla="*/ 438150 w 1733132"/>
                  <a:gd name="connsiteY3" fmla="*/ 1200313 h 1285723"/>
                  <a:gd name="connsiteX4" fmla="*/ 590550 w 1733132"/>
                  <a:gd name="connsiteY4" fmla="*/ 533563 h 1285723"/>
                  <a:gd name="connsiteX5" fmla="*/ 857250 w 1733132"/>
                  <a:gd name="connsiteY5" fmla="*/ 1190788 h 1285723"/>
                  <a:gd name="connsiteX6" fmla="*/ 1057275 w 1733132"/>
                  <a:gd name="connsiteY6" fmla="*/ 1105063 h 1285723"/>
                  <a:gd name="connsiteX7" fmla="*/ 1333742 w 1733132"/>
                  <a:gd name="connsiteY7" fmla="*/ 74 h 1285723"/>
                  <a:gd name="connsiteX8" fmla="*/ 1609725 w 1733132"/>
                  <a:gd name="connsiteY8" fmla="*/ 1162213 h 1285723"/>
                  <a:gd name="connsiteX9" fmla="*/ 1733132 w 1733132"/>
                  <a:gd name="connsiteY9" fmla="*/ 1245531 h 1285723"/>
                  <a:gd name="connsiteX0" fmla="*/ 0 w 1733132"/>
                  <a:gd name="connsiteY0" fmla="*/ 1266721 h 1301425"/>
                  <a:gd name="connsiteX1" fmla="*/ 85725 w 1733132"/>
                  <a:gd name="connsiteY1" fmla="*/ 914563 h 1301425"/>
                  <a:gd name="connsiteX2" fmla="*/ 209550 w 1733132"/>
                  <a:gd name="connsiteY2" fmla="*/ 1209838 h 1301425"/>
                  <a:gd name="connsiteX3" fmla="*/ 438150 w 1733132"/>
                  <a:gd name="connsiteY3" fmla="*/ 1200313 h 1301425"/>
                  <a:gd name="connsiteX4" fmla="*/ 590550 w 1733132"/>
                  <a:gd name="connsiteY4" fmla="*/ 533563 h 1301425"/>
                  <a:gd name="connsiteX5" fmla="*/ 857250 w 1733132"/>
                  <a:gd name="connsiteY5" fmla="*/ 1190788 h 1301425"/>
                  <a:gd name="connsiteX6" fmla="*/ 1057275 w 1733132"/>
                  <a:gd name="connsiteY6" fmla="*/ 1105063 h 1301425"/>
                  <a:gd name="connsiteX7" fmla="*/ 1333742 w 1733132"/>
                  <a:gd name="connsiteY7" fmla="*/ 74 h 1301425"/>
                  <a:gd name="connsiteX8" fmla="*/ 1609725 w 1733132"/>
                  <a:gd name="connsiteY8" fmla="*/ 1162213 h 1301425"/>
                  <a:gd name="connsiteX9" fmla="*/ 1733132 w 1733132"/>
                  <a:gd name="connsiteY9" fmla="*/ 1273839 h 1301425"/>
                  <a:gd name="connsiteX0" fmla="*/ 0 w 1733132"/>
                  <a:gd name="connsiteY0" fmla="*/ 1266721 h 1290654"/>
                  <a:gd name="connsiteX1" fmla="*/ 85725 w 1733132"/>
                  <a:gd name="connsiteY1" fmla="*/ 914563 h 1290654"/>
                  <a:gd name="connsiteX2" fmla="*/ 209550 w 1733132"/>
                  <a:gd name="connsiteY2" fmla="*/ 1209838 h 1290654"/>
                  <a:gd name="connsiteX3" fmla="*/ 438150 w 1733132"/>
                  <a:gd name="connsiteY3" fmla="*/ 1200313 h 1290654"/>
                  <a:gd name="connsiteX4" fmla="*/ 590550 w 1733132"/>
                  <a:gd name="connsiteY4" fmla="*/ 533563 h 1290654"/>
                  <a:gd name="connsiteX5" fmla="*/ 857250 w 1733132"/>
                  <a:gd name="connsiteY5" fmla="*/ 1190788 h 1290654"/>
                  <a:gd name="connsiteX6" fmla="*/ 1057275 w 1733132"/>
                  <a:gd name="connsiteY6" fmla="*/ 1105063 h 1290654"/>
                  <a:gd name="connsiteX7" fmla="*/ 1333742 w 1733132"/>
                  <a:gd name="connsiteY7" fmla="*/ 74 h 1290654"/>
                  <a:gd name="connsiteX8" fmla="*/ 1609725 w 1733132"/>
                  <a:gd name="connsiteY8" fmla="*/ 1162213 h 1290654"/>
                  <a:gd name="connsiteX9" fmla="*/ 1733132 w 1733132"/>
                  <a:gd name="connsiteY9" fmla="*/ 1273839 h 1290654"/>
                  <a:gd name="connsiteX0" fmla="*/ 0 w 1733132"/>
                  <a:gd name="connsiteY0" fmla="*/ 1266721 h 1290267"/>
                  <a:gd name="connsiteX1" fmla="*/ 85725 w 1733132"/>
                  <a:gd name="connsiteY1" fmla="*/ 914563 h 1290267"/>
                  <a:gd name="connsiteX2" fmla="*/ 209550 w 1733132"/>
                  <a:gd name="connsiteY2" fmla="*/ 1209838 h 1290267"/>
                  <a:gd name="connsiteX3" fmla="*/ 438150 w 1733132"/>
                  <a:gd name="connsiteY3" fmla="*/ 1200313 h 1290267"/>
                  <a:gd name="connsiteX4" fmla="*/ 590550 w 1733132"/>
                  <a:gd name="connsiteY4" fmla="*/ 533563 h 1290267"/>
                  <a:gd name="connsiteX5" fmla="*/ 857250 w 1733132"/>
                  <a:gd name="connsiteY5" fmla="*/ 1190788 h 1290267"/>
                  <a:gd name="connsiteX6" fmla="*/ 1057275 w 1733132"/>
                  <a:gd name="connsiteY6" fmla="*/ 1105063 h 1290267"/>
                  <a:gd name="connsiteX7" fmla="*/ 1333742 w 1733132"/>
                  <a:gd name="connsiteY7" fmla="*/ 74 h 1290267"/>
                  <a:gd name="connsiteX8" fmla="*/ 1609725 w 1733132"/>
                  <a:gd name="connsiteY8" fmla="*/ 1162213 h 1290267"/>
                  <a:gd name="connsiteX9" fmla="*/ 1664598 w 1733132"/>
                  <a:gd name="connsiteY9" fmla="*/ 1273073 h 1290267"/>
                  <a:gd name="connsiteX10" fmla="*/ 1733132 w 1733132"/>
                  <a:gd name="connsiteY10" fmla="*/ 1273839 h 1290267"/>
                  <a:gd name="connsiteX0" fmla="*/ 0 w 1714055"/>
                  <a:gd name="connsiteY0" fmla="*/ 1266721 h 1290267"/>
                  <a:gd name="connsiteX1" fmla="*/ 85725 w 1714055"/>
                  <a:gd name="connsiteY1" fmla="*/ 914563 h 1290267"/>
                  <a:gd name="connsiteX2" fmla="*/ 209550 w 1714055"/>
                  <a:gd name="connsiteY2" fmla="*/ 1209838 h 1290267"/>
                  <a:gd name="connsiteX3" fmla="*/ 438150 w 1714055"/>
                  <a:gd name="connsiteY3" fmla="*/ 1200313 h 1290267"/>
                  <a:gd name="connsiteX4" fmla="*/ 590550 w 1714055"/>
                  <a:gd name="connsiteY4" fmla="*/ 533563 h 1290267"/>
                  <a:gd name="connsiteX5" fmla="*/ 857250 w 1714055"/>
                  <a:gd name="connsiteY5" fmla="*/ 1190788 h 1290267"/>
                  <a:gd name="connsiteX6" fmla="*/ 1057275 w 1714055"/>
                  <a:gd name="connsiteY6" fmla="*/ 1105063 h 1290267"/>
                  <a:gd name="connsiteX7" fmla="*/ 1333742 w 1714055"/>
                  <a:gd name="connsiteY7" fmla="*/ 74 h 1290267"/>
                  <a:gd name="connsiteX8" fmla="*/ 1609725 w 1714055"/>
                  <a:gd name="connsiteY8" fmla="*/ 1162213 h 1290267"/>
                  <a:gd name="connsiteX9" fmla="*/ 1664598 w 1714055"/>
                  <a:gd name="connsiteY9" fmla="*/ 1273073 h 1290267"/>
                  <a:gd name="connsiteX10" fmla="*/ 1714055 w 1714055"/>
                  <a:gd name="connsiteY10" fmla="*/ 1226660 h 1290267"/>
                  <a:gd name="connsiteX0" fmla="*/ 0 w 1714055"/>
                  <a:gd name="connsiteY0" fmla="*/ 1266721 h 1275943"/>
                  <a:gd name="connsiteX1" fmla="*/ 85725 w 1714055"/>
                  <a:gd name="connsiteY1" fmla="*/ 914563 h 1275943"/>
                  <a:gd name="connsiteX2" fmla="*/ 209550 w 1714055"/>
                  <a:gd name="connsiteY2" fmla="*/ 1209838 h 1275943"/>
                  <a:gd name="connsiteX3" fmla="*/ 438150 w 1714055"/>
                  <a:gd name="connsiteY3" fmla="*/ 1200313 h 1275943"/>
                  <a:gd name="connsiteX4" fmla="*/ 590550 w 1714055"/>
                  <a:gd name="connsiteY4" fmla="*/ 533563 h 1275943"/>
                  <a:gd name="connsiteX5" fmla="*/ 857250 w 1714055"/>
                  <a:gd name="connsiteY5" fmla="*/ 1190788 h 1275943"/>
                  <a:gd name="connsiteX6" fmla="*/ 1057275 w 1714055"/>
                  <a:gd name="connsiteY6" fmla="*/ 1105063 h 1275943"/>
                  <a:gd name="connsiteX7" fmla="*/ 1333742 w 1714055"/>
                  <a:gd name="connsiteY7" fmla="*/ 74 h 1275943"/>
                  <a:gd name="connsiteX8" fmla="*/ 1609725 w 1714055"/>
                  <a:gd name="connsiteY8" fmla="*/ 1162213 h 1275943"/>
                  <a:gd name="connsiteX9" fmla="*/ 1664598 w 1714055"/>
                  <a:gd name="connsiteY9" fmla="*/ 1244766 h 1275943"/>
                  <a:gd name="connsiteX10" fmla="*/ 1714055 w 1714055"/>
                  <a:gd name="connsiteY10" fmla="*/ 1226660 h 1275943"/>
                  <a:gd name="connsiteX0" fmla="*/ 0 w 1714055"/>
                  <a:gd name="connsiteY0" fmla="*/ 1266721 h 1275943"/>
                  <a:gd name="connsiteX1" fmla="*/ 85725 w 1714055"/>
                  <a:gd name="connsiteY1" fmla="*/ 914563 h 1275943"/>
                  <a:gd name="connsiteX2" fmla="*/ 209550 w 1714055"/>
                  <a:gd name="connsiteY2" fmla="*/ 1209838 h 1275943"/>
                  <a:gd name="connsiteX3" fmla="*/ 438150 w 1714055"/>
                  <a:gd name="connsiteY3" fmla="*/ 1200313 h 1275943"/>
                  <a:gd name="connsiteX4" fmla="*/ 590550 w 1714055"/>
                  <a:gd name="connsiteY4" fmla="*/ 533563 h 1275943"/>
                  <a:gd name="connsiteX5" fmla="*/ 857250 w 1714055"/>
                  <a:gd name="connsiteY5" fmla="*/ 1190788 h 1275943"/>
                  <a:gd name="connsiteX6" fmla="*/ 1057275 w 1714055"/>
                  <a:gd name="connsiteY6" fmla="*/ 1105063 h 1275943"/>
                  <a:gd name="connsiteX7" fmla="*/ 1333742 w 1714055"/>
                  <a:gd name="connsiteY7" fmla="*/ 74 h 1275943"/>
                  <a:gd name="connsiteX8" fmla="*/ 1609725 w 1714055"/>
                  <a:gd name="connsiteY8" fmla="*/ 1162213 h 1275943"/>
                  <a:gd name="connsiteX9" fmla="*/ 1664598 w 1714055"/>
                  <a:gd name="connsiteY9" fmla="*/ 1244766 h 1275943"/>
                  <a:gd name="connsiteX10" fmla="*/ 1714055 w 1714055"/>
                  <a:gd name="connsiteY10" fmla="*/ 1264404 h 1275943"/>
                  <a:gd name="connsiteX0" fmla="*/ 0 w 1714055"/>
                  <a:gd name="connsiteY0" fmla="*/ 1266721 h 1284702"/>
                  <a:gd name="connsiteX1" fmla="*/ 85725 w 1714055"/>
                  <a:gd name="connsiteY1" fmla="*/ 914563 h 1284702"/>
                  <a:gd name="connsiteX2" fmla="*/ 209550 w 1714055"/>
                  <a:gd name="connsiteY2" fmla="*/ 1209838 h 1284702"/>
                  <a:gd name="connsiteX3" fmla="*/ 438150 w 1714055"/>
                  <a:gd name="connsiteY3" fmla="*/ 1200313 h 1284702"/>
                  <a:gd name="connsiteX4" fmla="*/ 590550 w 1714055"/>
                  <a:gd name="connsiteY4" fmla="*/ 533563 h 1284702"/>
                  <a:gd name="connsiteX5" fmla="*/ 857250 w 1714055"/>
                  <a:gd name="connsiteY5" fmla="*/ 1190788 h 1284702"/>
                  <a:gd name="connsiteX6" fmla="*/ 1057275 w 1714055"/>
                  <a:gd name="connsiteY6" fmla="*/ 1105063 h 1284702"/>
                  <a:gd name="connsiteX7" fmla="*/ 1333742 w 1714055"/>
                  <a:gd name="connsiteY7" fmla="*/ 74 h 1284702"/>
                  <a:gd name="connsiteX8" fmla="*/ 1609725 w 1714055"/>
                  <a:gd name="connsiteY8" fmla="*/ 1162213 h 1284702"/>
                  <a:gd name="connsiteX9" fmla="*/ 1714055 w 1714055"/>
                  <a:gd name="connsiteY9" fmla="*/ 1264404 h 1284702"/>
                  <a:gd name="connsiteX0" fmla="*/ 0 w 1714055"/>
                  <a:gd name="connsiteY0" fmla="*/ 1266721 h 1284702"/>
                  <a:gd name="connsiteX1" fmla="*/ 85725 w 1714055"/>
                  <a:gd name="connsiteY1" fmla="*/ 914563 h 1284702"/>
                  <a:gd name="connsiteX2" fmla="*/ 209550 w 1714055"/>
                  <a:gd name="connsiteY2" fmla="*/ 1209838 h 1284702"/>
                  <a:gd name="connsiteX3" fmla="*/ 438150 w 1714055"/>
                  <a:gd name="connsiteY3" fmla="*/ 1200313 h 1284702"/>
                  <a:gd name="connsiteX4" fmla="*/ 590550 w 1714055"/>
                  <a:gd name="connsiteY4" fmla="*/ 533563 h 1284702"/>
                  <a:gd name="connsiteX5" fmla="*/ 857250 w 1714055"/>
                  <a:gd name="connsiteY5" fmla="*/ 1190788 h 1284702"/>
                  <a:gd name="connsiteX6" fmla="*/ 1057275 w 1714055"/>
                  <a:gd name="connsiteY6" fmla="*/ 1105063 h 1284702"/>
                  <a:gd name="connsiteX7" fmla="*/ 1333742 w 1714055"/>
                  <a:gd name="connsiteY7" fmla="*/ 74 h 1284702"/>
                  <a:gd name="connsiteX8" fmla="*/ 1609725 w 1714055"/>
                  <a:gd name="connsiteY8" fmla="*/ 1162213 h 1284702"/>
                  <a:gd name="connsiteX9" fmla="*/ 1714055 w 1714055"/>
                  <a:gd name="connsiteY9" fmla="*/ 1264404 h 1284702"/>
                  <a:gd name="connsiteX0" fmla="*/ 0 w 1685440"/>
                  <a:gd name="connsiteY0" fmla="*/ 1266721 h 1405942"/>
                  <a:gd name="connsiteX1" fmla="*/ 85725 w 1685440"/>
                  <a:gd name="connsiteY1" fmla="*/ 914563 h 1405942"/>
                  <a:gd name="connsiteX2" fmla="*/ 209550 w 1685440"/>
                  <a:gd name="connsiteY2" fmla="*/ 1209838 h 1405942"/>
                  <a:gd name="connsiteX3" fmla="*/ 438150 w 1685440"/>
                  <a:gd name="connsiteY3" fmla="*/ 1200313 h 1405942"/>
                  <a:gd name="connsiteX4" fmla="*/ 590550 w 1685440"/>
                  <a:gd name="connsiteY4" fmla="*/ 533563 h 1405942"/>
                  <a:gd name="connsiteX5" fmla="*/ 857250 w 1685440"/>
                  <a:gd name="connsiteY5" fmla="*/ 1190788 h 1405942"/>
                  <a:gd name="connsiteX6" fmla="*/ 1057275 w 1685440"/>
                  <a:gd name="connsiteY6" fmla="*/ 1105063 h 1405942"/>
                  <a:gd name="connsiteX7" fmla="*/ 1333742 w 1685440"/>
                  <a:gd name="connsiteY7" fmla="*/ 74 h 1405942"/>
                  <a:gd name="connsiteX8" fmla="*/ 1609725 w 1685440"/>
                  <a:gd name="connsiteY8" fmla="*/ 1162213 h 1405942"/>
                  <a:gd name="connsiteX9" fmla="*/ 1685440 w 1685440"/>
                  <a:gd name="connsiteY9" fmla="*/ 1405942 h 1405942"/>
                  <a:gd name="connsiteX0" fmla="*/ 0 w 1637748"/>
                  <a:gd name="connsiteY0" fmla="*/ 1266721 h 1289704"/>
                  <a:gd name="connsiteX1" fmla="*/ 85725 w 1637748"/>
                  <a:gd name="connsiteY1" fmla="*/ 914563 h 1289704"/>
                  <a:gd name="connsiteX2" fmla="*/ 209550 w 1637748"/>
                  <a:gd name="connsiteY2" fmla="*/ 1209838 h 1289704"/>
                  <a:gd name="connsiteX3" fmla="*/ 438150 w 1637748"/>
                  <a:gd name="connsiteY3" fmla="*/ 1200313 h 1289704"/>
                  <a:gd name="connsiteX4" fmla="*/ 590550 w 1637748"/>
                  <a:gd name="connsiteY4" fmla="*/ 533563 h 1289704"/>
                  <a:gd name="connsiteX5" fmla="*/ 857250 w 1637748"/>
                  <a:gd name="connsiteY5" fmla="*/ 1190788 h 1289704"/>
                  <a:gd name="connsiteX6" fmla="*/ 1057275 w 1637748"/>
                  <a:gd name="connsiteY6" fmla="*/ 1105063 h 1289704"/>
                  <a:gd name="connsiteX7" fmla="*/ 1333742 w 1637748"/>
                  <a:gd name="connsiteY7" fmla="*/ 74 h 1289704"/>
                  <a:gd name="connsiteX8" fmla="*/ 1609725 w 1637748"/>
                  <a:gd name="connsiteY8" fmla="*/ 1162213 h 1289704"/>
                  <a:gd name="connsiteX9" fmla="*/ 1637748 w 1637748"/>
                  <a:gd name="connsiteY9" fmla="*/ 1273840 h 1289704"/>
                  <a:gd name="connsiteX0" fmla="*/ 0 w 1637748"/>
                  <a:gd name="connsiteY0" fmla="*/ 1266721 h 1284702"/>
                  <a:gd name="connsiteX1" fmla="*/ 85725 w 1637748"/>
                  <a:gd name="connsiteY1" fmla="*/ 914563 h 1284702"/>
                  <a:gd name="connsiteX2" fmla="*/ 209550 w 1637748"/>
                  <a:gd name="connsiteY2" fmla="*/ 1209838 h 1284702"/>
                  <a:gd name="connsiteX3" fmla="*/ 438150 w 1637748"/>
                  <a:gd name="connsiteY3" fmla="*/ 1200313 h 1284702"/>
                  <a:gd name="connsiteX4" fmla="*/ 590550 w 1637748"/>
                  <a:gd name="connsiteY4" fmla="*/ 533563 h 1284702"/>
                  <a:gd name="connsiteX5" fmla="*/ 857250 w 1637748"/>
                  <a:gd name="connsiteY5" fmla="*/ 1190788 h 1284702"/>
                  <a:gd name="connsiteX6" fmla="*/ 1057275 w 1637748"/>
                  <a:gd name="connsiteY6" fmla="*/ 1105063 h 1284702"/>
                  <a:gd name="connsiteX7" fmla="*/ 1333742 w 1637748"/>
                  <a:gd name="connsiteY7" fmla="*/ 74 h 1284702"/>
                  <a:gd name="connsiteX8" fmla="*/ 1609725 w 1637748"/>
                  <a:gd name="connsiteY8" fmla="*/ 1162213 h 1284702"/>
                  <a:gd name="connsiteX9" fmla="*/ 1637748 w 1637748"/>
                  <a:gd name="connsiteY9" fmla="*/ 1264404 h 1284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7748" h="1284702">
                    <a:moveTo>
                      <a:pt x="0" y="1266721"/>
                    </a:moveTo>
                    <a:cubicBezTo>
                      <a:pt x="25400" y="1107177"/>
                      <a:pt x="50800" y="924044"/>
                      <a:pt x="85725" y="914563"/>
                    </a:cubicBezTo>
                    <a:cubicBezTo>
                      <a:pt x="120650" y="905083"/>
                      <a:pt x="150813" y="1162213"/>
                      <a:pt x="209550" y="1209838"/>
                    </a:cubicBezTo>
                    <a:cubicBezTo>
                      <a:pt x="268288" y="1257463"/>
                      <a:pt x="374650" y="1313025"/>
                      <a:pt x="438150" y="1200313"/>
                    </a:cubicBezTo>
                    <a:cubicBezTo>
                      <a:pt x="501650" y="1087601"/>
                      <a:pt x="520700" y="535150"/>
                      <a:pt x="590550" y="533563"/>
                    </a:cubicBezTo>
                    <a:cubicBezTo>
                      <a:pt x="660400" y="531975"/>
                      <a:pt x="779463" y="1095538"/>
                      <a:pt x="857250" y="1190788"/>
                    </a:cubicBezTo>
                    <a:cubicBezTo>
                      <a:pt x="935037" y="1286038"/>
                      <a:pt x="977860" y="1303515"/>
                      <a:pt x="1057275" y="1105063"/>
                    </a:cubicBezTo>
                    <a:cubicBezTo>
                      <a:pt x="1136690" y="906611"/>
                      <a:pt x="1241667" y="-9451"/>
                      <a:pt x="1333742" y="74"/>
                    </a:cubicBezTo>
                    <a:cubicBezTo>
                      <a:pt x="1425817" y="9599"/>
                      <a:pt x="1559057" y="951491"/>
                      <a:pt x="1609725" y="1162213"/>
                    </a:cubicBezTo>
                    <a:cubicBezTo>
                      <a:pt x="1660393" y="1372935"/>
                      <a:pt x="1616013" y="1243114"/>
                      <a:pt x="1637748" y="126440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Gill Sans MT"/>
                  <a:cs typeface="Gill Sans MT"/>
                </a:endParaRPr>
              </a:p>
            </p:txBody>
          </p:sp>
        </p:grpSp>
        <p:sp>
          <p:nvSpPr>
            <p:cNvPr id="152" name="文本框 164"/>
            <p:cNvSpPr txBox="1"/>
            <p:nvPr/>
          </p:nvSpPr>
          <p:spPr>
            <a:xfrm>
              <a:off x="8850662" y="20215573"/>
              <a:ext cx="2752572" cy="2294614"/>
            </a:xfrm>
            <a:prstGeom prst="rect">
              <a:avLst/>
            </a:prstGeom>
            <a:noFill/>
          </p:spPr>
          <p:txBody>
            <a:bodyPr wrap="square" rtlCol="0">
              <a:spAutoFit/>
            </a:bodyPr>
            <a:lstStyle/>
            <a:p>
              <a:r>
                <a:rPr lang="en-US" altLang="zh-CN" sz="1350" dirty="0">
                  <a:latin typeface="Gill Sans MT"/>
                  <a:cs typeface="Gill Sans MT"/>
                </a:rPr>
                <a:t>Relaxation time distribution</a:t>
              </a:r>
              <a:endParaRPr lang="zh-CN" altLang="en-US" sz="1350" dirty="0">
                <a:latin typeface="Gill Sans MT"/>
                <a:cs typeface="Gill Sans MT"/>
              </a:endParaRPr>
            </a:p>
          </p:txBody>
        </p:sp>
      </p:grpSp>
      <p:cxnSp>
        <p:nvCxnSpPr>
          <p:cNvPr id="157" name="Straight Arrow Connector 156"/>
          <p:cNvCxnSpPr/>
          <p:nvPr/>
        </p:nvCxnSpPr>
        <p:spPr>
          <a:xfrm flipH="1">
            <a:off x="2206220" y="1880217"/>
            <a:ext cx="3301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0" name="矩形 47"/>
              <p:cNvSpPr/>
              <p:nvPr/>
            </p:nvSpPr>
            <p:spPr>
              <a:xfrm>
                <a:off x="1570317" y="2945026"/>
                <a:ext cx="1829475" cy="5968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sz="1600" i="1">
                              <a:latin typeface="Cambria Math" panose="02040503050406030204" pitchFamily="18" charset="0"/>
                            </a:rPr>
                          </m:ctrlPr>
                        </m:fPr>
                        <m:num>
                          <m:r>
                            <a:rPr lang="zh-CN" altLang="en-US" sz="1600" i="1">
                              <a:latin typeface="Cambria Math" panose="02040503050406030204" pitchFamily="18" charset="0"/>
                            </a:rPr>
                            <m:t>1</m:t>
                          </m:r>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1">
                                  <a:latin typeface="Cambria Math" panose="02040503050406030204" pitchFamily="18" charset="0"/>
                                </a:rPr>
                                <m:t>2</m:t>
                              </m:r>
                            </m:sub>
                          </m:sSub>
                        </m:den>
                      </m:f>
                      <m:r>
                        <a:rPr lang="zh-CN" altLang="en-US" sz="1600" i="1">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1</m:t>
                          </m:r>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1">
                                  <a:latin typeface="Cambria Math" panose="02040503050406030204" pitchFamily="18" charset="0"/>
                                </a:rPr>
                                <m:t>2</m:t>
                              </m:r>
                              <m:r>
                                <a:rPr lang="en-US" altLang="zh-CN" sz="1600" i="1">
                                  <a:latin typeface="Cambria Math" panose="02040503050406030204" pitchFamily="18" charset="0"/>
                                </a:rPr>
                                <m:t>𝑆</m:t>
                              </m:r>
                            </m:sub>
                          </m:sSub>
                        </m:den>
                      </m:f>
                      <m:r>
                        <a:rPr lang="zh-CN" altLang="en-US" sz="1600" i="1">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𝜌</m:t>
                          </m:r>
                        </m:e>
                        <m:sub>
                          <m:r>
                            <a:rPr lang="zh-CN" altLang="en-US" sz="1600" i="1">
                              <a:latin typeface="Cambria Math" panose="02040503050406030204" pitchFamily="18" charset="0"/>
                            </a:rPr>
                            <m:t>2</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𝑝𝑜𝑟</m:t>
                          </m:r>
                        </m:sub>
                      </m:sSub>
                    </m:oMath>
                  </m:oMathPara>
                </a14:m>
                <a:endParaRPr lang="zh-CN" altLang="en-US" sz="1600" dirty="0">
                  <a:latin typeface="Gill Sans MT" panose="020B0502020104020203" pitchFamily="34" charset="0"/>
                  <a:cs typeface="Times New Roman" panose="02020603050405020304" pitchFamily="18" charset="0"/>
                </a:endParaRPr>
              </a:p>
            </p:txBody>
          </p:sp>
        </mc:Choice>
        <mc:Fallback xmlns="">
          <p:sp>
            <p:nvSpPr>
              <p:cNvPr id="160" name="矩形 47"/>
              <p:cNvSpPr>
                <a:spLocks noRot="1" noChangeAspect="1" noMove="1" noResize="1" noEditPoints="1" noAdjustHandles="1" noChangeArrowheads="1" noChangeShapeType="1" noTextEdit="1"/>
              </p:cNvSpPr>
              <p:nvPr/>
            </p:nvSpPr>
            <p:spPr>
              <a:xfrm>
                <a:off x="1570317" y="2945026"/>
                <a:ext cx="1829475" cy="59683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1" name="Rectangle 160"/>
              <p:cNvSpPr/>
              <p:nvPr/>
            </p:nvSpPr>
            <p:spPr>
              <a:xfrm>
                <a:off x="8033003" y="3204249"/>
                <a:ext cx="1342034"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1600">
                          <a:latin typeface="Cambria Math" panose="02040503050406030204" pitchFamily="18" charset="0"/>
                        </a:rPr>
                        <m:t>σ</m:t>
                      </m:r>
                      <m:r>
                        <a:rPr lang="en-US" sz="1600">
                          <a:latin typeface="Cambria Math" panose="02040503050406030204" pitchFamily="18" charset="0"/>
                        </a:rPr>
                        <m:t>"</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𝑝𝑜𝑟</m:t>
                          </m:r>
                        </m:sub>
                      </m:sSub>
                      <m:sSub>
                        <m:sSubPr>
                          <m:ctrlPr>
                            <a:rPr lang="en-US" sz="1600" i="1">
                              <a:latin typeface="Cambria Math" panose="02040503050406030204" pitchFamily="18" charset="0"/>
                            </a:rPr>
                          </m:ctrlPr>
                        </m:sSubPr>
                        <m:e>
                          <m:r>
                            <m:rPr>
                              <m:sty m:val="p"/>
                            </m:rPr>
                            <a:rPr lang="en-US" sz="1600">
                              <a:latin typeface="Cambria Math" panose="02040503050406030204" pitchFamily="18" charset="0"/>
                            </a:rPr>
                            <m:t>Σ</m:t>
                          </m:r>
                        </m:e>
                        <m:sub>
                          <m:r>
                            <a:rPr lang="en-US" sz="1600" i="1">
                              <a:latin typeface="Cambria Math" panose="02040503050406030204" pitchFamily="18" charset="0"/>
                            </a:rPr>
                            <m:t>𝑠</m:t>
                          </m:r>
                        </m:sub>
                      </m:sSub>
                      <m:r>
                        <a:rPr lang="en-US" sz="1600">
                          <a:latin typeface="Cambria Math" panose="02040503050406030204" pitchFamily="18" charset="0"/>
                        </a:rPr>
                        <m:t>"</m:t>
                      </m:r>
                    </m:oMath>
                  </m:oMathPara>
                </a14:m>
                <a:endParaRPr lang="en-US" sz="1600" dirty="0">
                  <a:latin typeface="Times New Roman" panose="02020603050405020304" pitchFamily="18" charset="0"/>
                  <a:cs typeface="Times New Roman" panose="02020603050405020304" pitchFamily="18" charset="0"/>
                </a:endParaRPr>
              </a:p>
            </p:txBody>
          </p:sp>
        </mc:Choice>
        <mc:Fallback xmlns="">
          <p:sp>
            <p:nvSpPr>
              <p:cNvPr id="161" name="Rectangle 160"/>
              <p:cNvSpPr>
                <a:spLocks noRot="1" noChangeAspect="1" noMove="1" noResize="1" noEditPoints="1" noAdjustHandles="1" noChangeArrowheads="1" noChangeShapeType="1" noTextEdit="1"/>
              </p:cNvSpPr>
              <p:nvPr/>
            </p:nvSpPr>
            <p:spPr>
              <a:xfrm>
                <a:off x="8033003" y="3204249"/>
                <a:ext cx="1342034" cy="357534"/>
              </a:xfrm>
              <a:prstGeom prst="rect">
                <a:avLst/>
              </a:prstGeom>
              <a:blipFill>
                <a:blip r:embed="rId4"/>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2" name="Rectangle 161"/>
              <p:cNvSpPr/>
              <p:nvPr/>
            </p:nvSpPr>
            <p:spPr>
              <a:xfrm>
                <a:off x="8019409" y="2593599"/>
                <a:ext cx="1484381" cy="5533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a:latin typeface="Cambria Math" panose="02040503050406030204" pitchFamily="18" charset="0"/>
                            </a:rPr>
                          </m:ctrlPr>
                        </m:sSupPr>
                        <m:e>
                          <m:r>
                            <m:rPr>
                              <m:sty m:val="p"/>
                            </m:rPr>
                            <a:rPr lang="en-US" sz="1600">
                              <a:latin typeface="Cambria Math" panose="02040503050406030204" pitchFamily="18" charset="0"/>
                            </a:rPr>
                            <m:t>σ</m:t>
                          </m:r>
                        </m:e>
                        <m:sup>
                          <m:r>
                            <a:rPr lang="en-US" sz="1600">
                              <a:latin typeface="Cambria Math" panose="02040503050406030204" pitchFamily="18" charset="0"/>
                            </a:rPr>
                            <m:t>′</m:t>
                          </m:r>
                        </m:sup>
                      </m:sSup>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a:latin typeface="Cambria Math" panose="02040503050406030204" pitchFamily="18" charset="0"/>
                            </a:rPr>
                            <m:t>1</m:t>
                          </m:r>
                        </m:num>
                        <m:den>
                          <m:r>
                            <a:rPr lang="en-US" sz="1600" i="1">
                              <a:latin typeface="Cambria Math" panose="02040503050406030204" pitchFamily="18" charset="0"/>
                            </a:rPr>
                            <m:t>𝐹</m:t>
                          </m:r>
                        </m:den>
                      </m:f>
                      <m:sSub>
                        <m:sSubPr>
                          <m:ctrlPr>
                            <a:rPr lang="en-US" sz="1600" i="1">
                              <a:latin typeface="Cambria Math" panose="02040503050406030204" pitchFamily="18" charset="0"/>
                            </a:rPr>
                          </m:ctrlPr>
                        </m:sSubPr>
                        <m:e>
                          <m:r>
                            <a:rPr lang="en-US" sz="1600" i="1">
                              <a:latin typeface="Cambria Math" panose="02040503050406030204" pitchFamily="18" charset="0"/>
                            </a:rPr>
                            <m:t>𝜎</m:t>
                          </m:r>
                        </m:e>
                        <m:sub>
                          <m:r>
                            <a:rPr lang="en-US" sz="1600" i="1">
                              <a:latin typeface="Cambria Math" panose="02040503050406030204" pitchFamily="18" charset="0"/>
                            </a:rPr>
                            <m:t>𝑓</m:t>
                          </m:r>
                        </m:sub>
                      </m:sSub>
                      <m:r>
                        <a:rPr lang="en-US" sz="1600">
                          <a:latin typeface="Cambria Math" panose="02040503050406030204" pitchFamily="18" charset="0"/>
                        </a:rPr>
                        <m:t>+</m:t>
                      </m:r>
                      <m:sSubSup>
                        <m:sSubSupPr>
                          <m:ctrlPr>
                            <a:rPr lang="en-US" sz="1600" i="1">
                              <a:latin typeface="Cambria Math" panose="02040503050406030204" pitchFamily="18" charset="0"/>
                            </a:rPr>
                          </m:ctrlPr>
                        </m:sSubSupPr>
                        <m:e>
                          <m:r>
                            <a:rPr lang="en-US" sz="1600" i="1">
                              <a:latin typeface="Cambria Math" panose="02040503050406030204" pitchFamily="18" charset="0"/>
                            </a:rPr>
                            <m:t>𝜎</m:t>
                          </m:r>
                        </m:e>
                        <m:sub>
                          <m:r>
                            <a:rPr lang="en-US" sz="1600" i="1">
                              <a:latin typeface="Cambria Math" panose="02040503050406030204" pitchFamily="18" charset="0"/>
                            </a:rPr>
                            <m:t>𝑠</m:t>
                          </m:r>
                        </m:sub>
                        <m:sup>
                          <m:r>
                            <a:rPr lang="en-US" sz="1600">
                              <a:latin typeface="Cambria Math" panose="02040503050406030204" pitchFamily="18" charset="0"/>
                            </a:rPr>
                            <m:t>′</m:t>
                          </m:r>
                        </m:sup>
                      </m:sSubSup>
                    </m:oMath>
                  </m:oMathPara>
                </a14:m>
                <a:endParaRPr lang="en-US" sz="1600" dirty="0">
                  <a:latin typeface="Times New Roman" panose="02020603050405020304" pitchFamily="18" charset="0"/>
                  <a:cs typeface="Times New Roman" panose="02020603050405020304" pitchFamily="18" charset="0"/>
                </a:endParaRPr>
              </a:p>
            </p:txBody>
          </p:sp>
        </mc:Choice>
        <mc:Fallback xmlns="">
          <p:sp>
            <p:nvSpPr>
              <p:cNvPr id="162" name="Rectangle 161"/>
              <p:cNvSpPr>
                <a:spLocks noRot="1" noChangeAspect="1" noMove="1" noResize="1" noEditPoints="1" noAdjustHandles="1" noChangeArrowheads="1" noChangeShapeType="1" noTextEdit="1"/>
              </p:cNvSpPr>
              <p:nvPr/>
            </p:nvSpPr>
            <p:spPr>
              <a:xfrm>
                <a:off x="8019409" y="2593599"/>
                <a:ext cx="1484381" cy="55335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 name="TextBox 162"/>
              <p:cNvSpPr txBox="1"/>
              <p:nvPr/>
            </p:nvSpPr>
            <p:spPr>
              <a:xfrm>
                <a:off x="989151" y="3642370"/>
                <a:ext cx="3138865" cy="475964"/>
              </a:xfrm>
              <a:prstGeom prst="rect">
                <a:avLst/>
              </a:prstGeom>
              <a:noFill/>
            </p:spPr>
            <p:txBody>
              <a:bodyPr wrap="square" rtlCol="0">
                <a:spAutoFit/>
              </a:bodyPr>
              <a:lstStyle/>
              <a:p>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𝑇</m:t>
                        </m:r>
                      </m:e>
                      <m:sub>
                        <m:r>
                          <a:rPr lang="en-US" sz="1200" i="1">
                            <a:latin typeface="Cambria Math" panose="02040503050406030204" pitchFamily="18" charset="0"/>
                          </a:rPr>
                          <m:t>2</m:t>
                        </m:r>
                        <m:r>
                          <a:rPr lang="en-US" sz="1200" i="1">
                            <a:latin typeface="Cambria Math" panose="02040503050406030204" pitchFamily="18" charset="0"/>
                          </a:rPr>
                          <m:t>𝑆</m:t>
                        </m:r>
                      </m:sub>
                    </m:sSub>
                  </m:oMath>
                </a14:m>
                <a:r>
                  <a:rPr lang="en-US" sz="1200" dirty="0">
                    <a:latin typeface="Gill Sans MT" panose="020B0502020104020203" pitchFamily="34" charset="0"/>
                  </a:rPr>
                  <a:t> is surface relaxation time;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𝜌</m:t>
                        </m:r>
                      </m:e>
                      <m:sub>
                        <m:r>
                          <a:rPr lang="en-US" sz="1200" i="1">
                            <a:latin typeface="Cambria Math" panose="02040503050406030204" pitchFamily="18" charset="0"/>
                          </a:rPr>
                          <m:t>2</m:t>
                        </m:r>
                      </m:sub>
                    </m:sSub>
                  </m:oMath>
                </a14:m>
                <a:r>
                  <a:rPr lang="en-US" sz="1200" dirty="0">
                    <a:latin typeface="Gill Sans MT" panose="020B0502020104020203" pitchFamily="34" charset="0"/>
                  </a:rPr>
                  <a:t> is surface </a:t>
                </a:r>
                <a:r>
                  <a:rPr lang="en-US" sz="1200" dirty="0" err="1">
                    <a:latin typeface="Gill Sans MT" panose="020B0502020104020203" pitchFamily="34" charset="0"/>
                  </a:rPr>
                  <a:t>relaxivity</a:t>
                </a:r>
                <a:r>
                  <a:rPr lang="en-US" sz="1200" dirty="0">
                    <a:latin typeface="Gill Sans MT" panose="020B0502020104020203" pitchFamily="34" charset="0"/>
                  </a:rPr>
                  <a: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𝑝𝑜𝑟</m:t>
                        </m:r>
                      </m:sub>
                    </m:sSub>
                  </m:oMath>
                </a14:m>
                <a:r>
                  <a:rPr lang="en-US" sz="1200" dirty="0">
                    <a:latin typeface="Gill Sans MT" panose="020B0502020104020203" pitchFamily="34" charset="0"/>
                  </a:rPr>
                  <a:t> is surface to volume ratio; </a:t>
                </a:r>
              </a:p>
            </p:txBody>
          </p:sp>
        </mc:Choice>
        <mc:Fallback xmlns="">
          <p:sp>
            <p:nvSpPr>
              <p:cNvPr id="163" name="TextBox 162"/>
              <p:cNvSpPr txBox="1">
                <a:spLocks noRot="1" noChangeAspect="1" noMove="1" noResize="1" noEditPoints="1" noAdjustHandles="1" noChangeArrowheads="1" noChangeShapeType="1" noTextEdit="1"/>
              </p:cNvSpPr>
              <p:nvPr/>
            </p:nvSpPr>
            <p:spPr>
              <a:xfrm>
                <a:off x="989151" y="3642370"/>
                <a:ext cx="3138865" cy="475964"/>
              </a:xfrm>
              <a:prstGeom prst="rect">
                <a:avLst/>
              </a:prstGeom>
              <a:blipFill>
                <a:blip r:embed="rId6"/>
                <a:stretch>
                  <a:fillRect t="-1282" b="-6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4" name="TextBox 163"/>
              <p:cNvSpPr txBox="1"/>
              <p:nvPr/>
            </p:nvSpPr>
            <p:spPr>
              <a:xfrm>
                <a:off x="8078701" y="3653325"/>
                <a:ext cx="3185030" cy="461665"/>
              </a:xfrm>
              <a:prstGeom prst="rect">
                <a:avLst/>
              </a:prstGeom>
              <a:noFill/>
            </p:spPr>
            <p:txBody>
              <a:bodyPr wrap="square" rtlCol="0">
                <a:spAutoFit/>
              </a:bodyPr>
              <a:lstStyle/>
              <a:p>
                <a14:m>
                  <m:oMath xmlns:m="http://schemas.openxmlformats.org/officeDocument/2006/math">
                    <m:r>
                      <a:rPr lang="en-US" sz="1200" i="1">
                        <a:latin typeface="Cambria Math" panose="02040503050406030204" pitchFamily="18" charset="0"/>
                      </a:rPr>
                      <m:t>𝐹</m:t>
                    </m:r>
                  </m:oMath>
                </a14:m>
                <a:r>
                  <a:rPr lang="en-US" sz="1200" dirty="0">
                    <a:latin typeface="Gill Sans MT" panose="020B0502020104020203" pitchFamily="34" charset="0"/>
                  </a:rPr>
                  <a:t> is formation factor; </a:t>
                </a:r>
                <a14:m>
                  <m:oMath xmlns:m="http://schemas.openxmlformats.org/officeDocument/2006/math">
                    <m:sSub>
                      <m:sSubPr>
                        <m:ctrlPr>
                          <a:rPr lang="en-US" sz="1200" i="1">
                            <a:latin typeface="Cambria Math" panose="02040503050406030204" pitchFamily="18" charset="0"/>
                          </a:rPr>
                        </m:ctrlPr>
                      </m:sSubPr>
                      <m:e>
                        <m:r>
                          <m:rPr>
                            <m:sty m:val="p"/>
                          </m:rPr>
                          <a:rPr lang="en-US" sz="1200">
                            <a:latin typeface="Cambria Math" panose="02040503050406030204" pitchFamily="18" charset="0"/>
                          </a:rPr>
                          <m:t>Σ</m:t>
                        </m:r>
                      </m:e>
                      <m:sub>
                        <m:r>
                          <a:rPr lang="en-US" sz="1200" i="1">
                            <a:latin typeface="Cambria Math" panose="02040503050406030204" pitchFamily="18" charset="0"/>
                          </a:rPr>
                          <m:t>𝑠</m:t>
                        </m:r>
                      </m:sub>
                    </m:sSub>
                    <m:r>
                      <a:rPr lang="en-US" sz="1200" i="1">
                        <a:latin typeface="Cambria Math" panose="02040503050406030204" pitchFamily="18" charset="0"/>
                      </a:rPr>
                      <m:t>“</m:t>
                    </m:r>
                  </m:oMath>
                </a14:m>
                <a:r>
                  <a:rPr lang="en-US" sz="1200" dirty="0">
                    <a:latin typeface="Gill Sans MT" panose="020B0502020104020203" pitchFamily="34" charset="0"/>
                  </a:rPr>
                  <a:t> imaginary part of specific surface conductance</a:t>
                </a:r>
              </a:p>
            </p:txBody>
          </p:sp>
        </mc:Choice>
        <mc:Fallback xmlns="">
          <p:sp>
            <p:nvSpPr>
              <p:cNvPr id="164" name="TextBox 163"/>
              <p:cNvSpPr txBox="1">
                <a:spLocks noRot="1" noChangeAspect="1" noMove="1" noResize="1" noEditPoints="1" noAdjustHandles="1" noChangeArrowheads="1" noChangeShapeType="1" noTextEdit="1"/>
              </p:cNvSpPr>
              <p:nvPr/>
            </p:nvSpPr>
            <p:spPr>
              <a:xfrm>
                <a:off x="8078701" y="3653325"/>
                <a:ext cx="3185030" cy="461665"/>
              </a:xfrm>
              <a:prstGeom prst="rect">
                <a:avLst/>
              </a:prstGeom>
              <a:blipFill>
                <a:blip r:embed="rId7"/>
                <a:stretch>
                  <a:fillRect b="-9211"/>
                </a:stretch>
              </a:blipFill>
            </p:spPr>
            <p:txBody>
              <a:bodyPr/>
              <a:lstStyle/>
              <a:p>
                <a:r>
                  <a:rPr lang="en-US">
                    <a:noFill/>
                  </a:rPr>
                  <a:t> </a:t>
                </a:r>
              </a:p>
            </p:txBody>
          </p:sp>
        </mc:Fallback>
      </mc:AlternateContent>
      <p:grpSp>
        <p:nvGrpSpPr>
          <p:cNvPr id="165" name="组合 3"/>
          <p:cNvGrpSpPr/>
          <p:nvPr/>
        </p:nvGrpSpPr>
        <p:grpSpPr>
          <a:xfrm>
            <a:off x="7890694" y="1290128"/>
            <a:ext cx="2806182" cy="1224197"/>
            <a:chOff x="6308332" y="1071808"/>
            <a:chExt cx="2806182" cy="1224197"/>
          </a:xfrm>
        </p:grpSpPr>
        <p:grpSp>
          <p:nvGrpSpPr>
            <p:cNvPr id="166" name="Group 165"/>
            <p:cNvGrpSpPr/>
            <p:nvPr/>
          </p:nvGrpSpPr>
          <p:grpSpPr>
            <a:xfrm>
              <a:off x="6308332" y="1071808"/>
              <a:ext cx="1642768" cy="1224197"/>
              <a:chOff x="9024789" y="1274806"/>
              <a:chExt cx="2190357" cy="1632263"/>
            </a:xfrm>
          </p:grpSpPr>
          <p:pic>
            <p:nvPicPr>
              <p:cNvPr id="170" name="Picture 169"/>
              <p:cNvPicPr>
                <a:picLocks noChangeAspect="1"/>
              </p:cNvPicPr>
              <p:nvPr/>
            </p:nvPicPr>
            <p:blipFill>
              <a:blip r:embed="rId8"/>
              <a:stretch>
                <a:fillRect/>
              </a:stretch>
            </p:blipFill>
            <p:spPr>
              <a:xfrm>
                <a:off x="9024789" y="1274806"/>
                <a:ext cx="2190357" cy="1407887"/>
              </a:xfrm>
              <a:prstGeom prst="rect">
                <a:avLst/>
              </a:prstGeom>
            </p:spPr>
          </p:pic>
          <p:sp>
            <p:nvSpPr>
              <p:cNvPr id="171" name="TextBox 170"/>
              <p:cNvSpPr txBox="1"/>
              <p:nvPr/>
            </p:nvSpPr>
            <p:spPr>
              <a:xfrm>
                <a:off x="9196409" y="2229961"/>
                <a:ext cx="1461390" cy="677108"/>
              </a:xfrm>
              <a:prstGeom prst="rect">
                <a:avLst/>
              </a:prstGeom>
              <a:noFill/>
            </p:spPr>
            <p:txBody>
              <a:bodyPr wrap="square" rtlCol="0">
                <a:spAutoFit/>
              </a:bodyPr>
              <a:lstStyle/>
              <a:p>
                <a:r>
                  <a:rPr lang="en-US" sz="1350" dirty="0">
                    <a:latin typeface="Gill Sans MT" panose="020B0502020104020203" pitchFamily="34" charset="0"/>
                  </a:rPr>
                  <a:t>Phase change</a:t>
                </a:r>
              </a:p>
            </p:txBody>
          </p:sp>
        </p:grpSp>
        <p:cxnSp>
          <p:nvCxnSpPr>
            <p:cNvPr id="167" name="Straight Arrow Connector 166"/>
            <p:cNvCxnSpPr/>
            <p:nvPr/>
          </p:nvCxnSpPr>
          <p:spPr>
            <a:xfrm>
              <a:off x="6781809" y="1547602"/>
              <a:ext cx="0" cy="263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TextBox 167"/>
            <p:cNvSpPr txBox="1"/>
            <p:nvPr/>
          </p:nvSpPr>
          <p:spPr>
            <a:xfrm>
              <a:off x="8078039" y="1207157"/>
              <a:ext cx="1036475" cy="507831"/>
            </a:xfrm>
            <a:prstGeom prst="rect">
              <a:avLst/>
            </a:prstGeom>
            <a:noFill/>
          </p:spPr>
          <p:txBody>
            <a:bodyPr wrap="square" rtlCol="0">
              <a:spAutoFit/>
            </a:bodyPr>
            <a:lstStyle/>
            <a:p>
              <a:r>
                <a:rPr lang="en-US" sz="1350" dirty="0">
                  <a:latin typeface="Gill Sans MT" panose="020B0502020104020203" pitchFamily="34" charset="0"/>
                </a:rPr>
                <a:t>Magnitude change</a:t>
              </a:r>
            </a:p>
          </p:txBody>
        </p:sp>
        <p:cxnSp>
          <p:nvCxnSpPr>
            <p:cNvPr id="169" name="Straight Arrow Connector 168"/>
            <p:cNvCxnSpPr>
              <a:endCxn id="168" idx="1"/>
            </p:cNvCxnSpPr>
            <p:nvPr/>
          </p:nvCxnSpPr>
          <p:spPr>
            <a:xfrm>
              <a:off x="7533090" y="1409510"/>
              <a:ext cx="544949" cy="51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8" name="Rectangle 177"/>
              <p:cNvSpPr/>
              <p:nvPr/>
            </p:nvSpPr>
            <p:spPr>
              <a:xfrm>
                <a:off x="8793316" y="4782021"/>
                <a:ext cx="1663339" cy="55573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a:latin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𝐶</m:t>
                          </m:r>
                        </m:e>
                        <m:sub/>
                        <m:sup>
                          <m:r>
                            <a:rPr lang="en-US" sz="1600">
                              <a:latin typeface="Cambria Math" panose="02040503050406030204" pitchFamily="18" charset="0"/>
                            </a:rPr>
                            <m:t>∗</m:t>
                          </m:r>
                        </m:sup>
                      </m:sSubSup>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𝑖</m:t>
                          </m:r>
                          <m:r>
                            <a:rPr lang="en-US" sz="1600" i="1">
                              <a:latin typeface="Cambria Math" panose="02040503050406030204" pitchFamily="18" charset="0"/>
                            </a:rPr>
                            <m:t>𝜔𝜏</m:t>
                          </m:r>
                        </m:num>
                        <m:den>
                          <m:r>
                            <a:rPr lang="en-US" sz="1600">
                              <a:latin typeface="Cambria Math" panose="02040503050406030204" pitchFamily="18" charset="0"/>
                            </a:rPr>
                            <m:t>1+</m:t>
                          </m:r>
                          <m:r>
                            <a:rPr lang="en-US" sz="1600" i="1">
                              <a:latin typeface="Cambria Math" panose="02040503050406030204" pitchFamily="18" charset="0"/>
                            </a:rPr>
                            <m:t>𝑖</m:t>
                          </m:r>
                          <m:r>
                            <a:rPr lang="en-US" sz="1600" i="1">
                              <a:latin typeface="Cambria Math" panose="02040503050406030204" pitchFamily="18" charset="0"/>
                            </a:rPr>
                            <m:t>𝜔𝜏</m:t>
                          </m:r>
                        </m:den>
                      </m:f>
                      <m:sSub>
                        <m:sSubPr>
                          <m:ctrlPr>
                            <a:rPr lang="en-US" sz="1600" i="1">
                              <a:latin typeface="Cambria Math" panose="02040503050406030204" pitchFamily="18" charset="0"/>
                            </a:rPr>
                          </m:ctrlPr>
                        </m:sSubPr>
                        <m:e>
                          <m:r>
                            <m:rPr>
                              <m:sty m:val="p"/>
                            </m:rPr>
                            <a:rPr lang="en-US" sz="1600">
                              <a:latin typeface="Cambria Math" panose="02040503050406030204" pitchFamily="18" charset="0"/>
                            </a:rPr>
                            <m:t>Σ</m:t>
                          </m:r>
                        </m:e>
                        <m:sub>
                          <m:r>
                            <a:rPr lang="en-US" sz="1600" i="1">
                              <a:latin typeface="Cambria Math" panose="02040503050406030204" pitchFamily="18" charset="0"/>
                            </a:rPr>
                            <m:t>𝑆</m:t>
                          </m:r>
                        </m:sub>
                      </m:sSub>
                    </m:oMath>
                  </m:oMathPara>
                </a14:m>
                <a:endParaRPr lang="en-US" sz="1600" dirty="0"/>
              </a:p>
            </p:txBody>
          </p:sp>
        </mc:Choice>
        <mc:Fallback xmlns="">
          <p:sp>
            <p:nvSpPr>
              <p:cNvPr id="178" name="Rectangle 177"/>
              <p:cNvSpPr>
                <a:spLocks noRot="1" noChangeAspect="1" noMove="1" noResize="1" noEditPoints="1" noAdjustHandles="1" noChangeArrowheads="1" noChangeShapeType="1" noTextEdit="1"/>
              </p:cNvSpPr>
              <p:nvPr/>
            </p:nvSpPr>
            <p:spPr>
              <a:xfrm>
                <a:off x="8793316" y="4782021"/>
                <a:ext cx="1663339" cy="555730"/>
              </a:xfrm>
              <a:prstGeom prst="rect">
                <a:avLst/>
              </a:prstGeom>
              <a:blipFill>
                <a:blip r:embed="rId9"/>
                <a:stretch>
                  <a:fillRect/>
                </a:stretch>
              </a:blipFill>
            </p:spPr>
            <p:txBody>
              <a:bodyPr/>
              <a:lstStyle/>
              <a:p>
                <a:r>
                  <a:rPr lang="en-US">
                    <a:noFill/>
                  </a:rPr>
                  <a:t> </a:t>
                </a:r>
              </a:p>
            </p:txBody>
          </p:sp>
        </mc:Fallback>
      </mc:AlternateContent>
      <p:cxnSp>
        <p:nvCxnSpPr>
          <p:cNvPr id="185" name="Straight Arrow Connector 184"/>
          <p:cNvCxnSpPr/>
          <p:nvPr/>
        </p:nvCxnSpPr>
        <p:spPr>
          <a:xfrm>
            <a:off x="4150072" y="6355838"/>
            <a:ext cx="6725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6" name="TextBox 185"/>
          <p:cNvSpPr txBox="1"/>
          <p:nvPr/>
        </p:nvSpPr>
        <p:spPr>
          <a:xfrm>
            <a:off x="4824922" y="6101497"/>
            <a:ext cx="2212772" cy="369332"/>
          </a:xfrm>
          <a:prstGeom prst="rect">
            <a:avLst/>
          </a:prstGeom>
          <a:noFill/>
        </p:spPr>
        <p:txBody>
          <a:bodyPr wrap="square" rtlCol="0">
            <a:spAutoFit/>
          </a:bodyPr>
          <a:lstStyle/>
          <a:p>
            <a:r>
              <a:rPr lang="en-US" dirty="0"/>
              <a:t>Pore size distribution</a:t>
            </a:r>
          </a:p>
        </p:txBody>
      </p:sp>
      <p:cxnSp>
        <p:nvCxnSpPr>
          <p:cNvPr id="188" name="Straight Arrow Connector 187"/>
          <p:cNvCxnSpPr/>
          <p:nvPr/>
        </p:nvCxnSpPr>
        <p:spPr>
          <a:xfrm flipH="1">
            <a:off x="7035376" y="6355838"/>
            <a:ext cx="7749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Rectangle 64"/>
              <p:cNvSpPr/>
              <p:nvPr/>
            </p:nvSpPr>
            <p:spPr>
              <a:xfrm>
                <a:off x="1431782" y="5223341"/>
                <a:ext cx="1973681" cy="80631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𝐸</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a:latin typeface="Cambria Math" panose="02040503050406030204" pitchFamily="18" charset="0"/>
                            </a:rPr>
                            <m:t>0</m:t>
                          </m:r>
                        </m:sub>
                      </m:sSub>
                      <m:nary>
                        <m:naryPr>
                          <m:chr m:val="∑"/>
                          <m:limLoc m:val="undOvr"/>
                          <m:ctrlPr>
                            <a:rPr lang="en-US" sz="1600" i="1">
                              <a:latin typeface="Cambria Math" panose="02040503050406030204" pitchFamily="18" charset="0"/>
                            </a:rPr>
                          </m:ctrlPr>
                        </m:naryPr>
                        <m:sub>
                          <m:r>
                            <a:rPr lang="en-US" sz="1600" i="1">
                              <a:latin typeface="Cambria Math" panose="02040503050406030204" pitchFamily="18" charset="0"/>
                            </a:rPr>
                            <m:t>𝑖</m:t>
                          </m:r>
                        </m:sub>
                        <m:sup/>
                        <m:e>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𝑖</m:t>
                              </m:r>
                            </m:sub>
                          </m:sSub>
                          <m:sSup>
                            <m:sSupPr>
                              <m:ctrlPr>
                                <a:rPr lang="en-US" sz="1600" i="1">
                                  <a:latin typeface="Cambria Math" panose="02040503050406030204" pitchFamily="18" charset="0"/>
                                </a:rPr>
                              </m:ctrlPr>
                            </m:sSupPr>
                            <m:e>
                              <m:r>
                                <a:rPr lang="en-US" sz="1600" i="1">
                                  <a:latin typeface="Cambria Math" panose="02040503050406030204" pitchFamily="18" charset="0"/>
                                </a:rPr>
                                <m:t>𝑒</m:t>
                              </m:r>
                            </m:e>
                            <m:sup>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𝑡</m:t>
                                  </m:r>
                                </m:num>
                                <m:den>
                                  <m:sSubSup>
                                    <m:sSubSupPr>
                                      <m:ctrlPr>
                                        <a:rPr lang="en-US" sz="1600" i="1">
                                          <a:latin typeface="Cambria Math" panose="02040503050406030204" pitchFamily="18" charset="0"/>
                                        </a:rPr>
                                      </m:ctrlPr>
                                    </m:sSubSupPr>
                                    <m:e>
                                      <m:r>
                                        <a:rPr lang="en-US" sz="1600" i="1">
                                          <a:latin typeface="Cambria Math" panose="02040503050406030204" pitchFamily="18" charset="0"/>
                                        </a:rPr>
                                        <m:t>𝑇</m:t>
                                      </m:r>
                                    </m:e>
                                    <m:sub>
                                      <m:r>
                                        <a:rPr lang="en-US" sz="1600">
                                          <a:latin typeface="Cambria Math" panose="02040503050406030204" pitchFamily="18" charset="0"/>
                                        </a:rPr>
                                        <m:t>2</m:t>
                                      </m:r>
                                    </m:sub>
                                    <m:sup>
                                      <m:r>
                                        <a:rPr lang="en-US" sz="1600" i="1">
                                          <a:latin typeface="Cambria Math" panose="02040503050406030204" pitchFamily="18" charset="0"/>
                                        </a:rPr>
                                        <m:t>𝑖</m:t>
                                      </m:r>
                                    </m:sup>
                                  </m:sSubSup>
                                </m:den>
                              </m:f>
                            </m:sup>
                          </m:sSup>
                        </m:e>
                      </m:nary>
                    </m:oMath>
                  </m:oMathPara>
                </a14:m>
                <a:endParaRPr lang="en-US" sz="1600" dirty="0"/>
              </a:p>
            </p:txBody>
          </p:sp>
        </mc:Choice>
        <mc:Fallback xmlns="">
          <p:sp>
            <p:nvSpPr>
              <p:cNvPr id="65" name="Rectangle 64"/>
              <p:cNvSpPr>
                <a:spLocks noRot="1" noChangeAspect="1" noMove="1" noResize="1" noEditPoints="1" noAdjustHandles="1" noChangeArrowheads="1" noChangeShapeType="1" noTextEdit="1"/>
              </p:cNvSpPr>
              <p:nvPr/>
            </p:nvSpPr>
            <p:spPr>
              <a:xfrm>
                <a:off x="1431782" y="5223341"/>
                <a:ext cx="1973681" cy="8063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p:cNvSpPr/>
              <p:nvPr/>
            </p:nvSpPr>
            <p:spPr>
              <a:xfrm>
                <a:off x="8592215" y="5222698"/>
                <a:ext cx="2222595" cy="80631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a:latin typeface="Cambria Math" panose="02040503050406030204" pitchFamily="18" charset="0"/>
                            </a:rPr>
                          </m:ctrlPr>
                        </m:sSubSupPr>
                        <m:e>
                          <m:r>
                            <m:rPr>
                              <m:sty m:val="p"/>
                            </m:rPr>
                            <a:rPr lang="en-US" sz="1600">
                              <a:latin typeface="Cambria Math" panose="02040503050406030204" pitchFamily="18" charset="0"/>
                            </a:rPr>
                            <m:t>C</m:t>
                          </m:r>
                        </m:e>
                        <m:sub/>
                        <m:sup>
                          <m:r>
                            <a:rPr lang="en-US" sz="1600">
                              <a:latin typeface="Cambria Math" panose="02040503050406030204" pitchFamily="18" charset="0"/>
                            </a:rPr>
                            <m:t>∗</m:t>
                          </m:r>
                        </m:sup>
                      </m:sSubSup>
                      <m:r>
                        <a:rPr lang="en-US" sz="1600">
                          <a:latin typeface="Cambria Math" panose="02040503050406030204" pitchFamily="18" charset="0"/>
                        </a:rPr>
                        <m:t>=</m:t>
                      </m:r>
                      <m:nary>
                        <m:naryPr>
                          <m:chr m:val="∑"/>
                          <m:limLoc m:val="undOvr"/>
                          <m:ctrlPr>
                            <a:rPr lang="en-US" sz="1600" i="1">
                              <a:latin typeface="Cambria Math" panose="02040503050406030204" pitchFamily="18" charset="0"/>
                            </a:rPr>
                          </m:ctrlPr>
                        </m:naryPr>
                        <m:sub>
                          <m:r>
                            <a:rPr lang="en-US" sz="1600" i="1">
                              <a:latin typeface="Cambria Math" panose="02040503050406030204" pitchFamily="18" charset="0"/>
                            </a:rPr>
                            <m:t>𝑖</m:t>
                          </m:r>
                        </m:sub>
                        <m:sup/>
                        <m:e>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𝑖</m:t>
                              </m:r>
                            </m:sub>
                          </m:sSub>
                          <m:f>
                            <m:fPr>
                              <m:ctrlPr>
                                <a:rPr lang="en-US" sz="1600" i="1">
                                  <a:latin typeface="Cambria Math" panose="02040503050406030204" pitchFamily="18" charset="0"/>
                                </a:rPr>
                              </m:ctrlPr>
                            </m:fPr>
                            <m:num>
                              <m:r>
                                <a:rPr lang="en-US" sz="1600" i="1">
                                  <a:latin typeface="Cambria Math" panose="02040503050406030204" pitchFamily="18" charset="0"/>
                                </a:rPr>
                                <m:t>𝑖</m:t>
                              </m:r>
                              <m:r>
                                <a:rPr lang="en-US" sz="1600" i="1">
                                  <a:latin typeface="Cambria Math" panose="02040503050406030204" pitchFamily="18" charset="0"/>
                                </a:rPr>
                                <m:t>𝜔</m:t>
                              </m:r>
                              <m:sSub>
                                <m:sSubPr>
                                  <m:ctrlPr>
                                    <a:rPr lang="en-US" sz="1600" i="1">
                                      <a:latin typeface="Cambria Math" panose="02040503050406030204" pitchFamily="18" charset="0"/>
                                    </a:rPr>
                                  </m:ctrlPr>
                                </m:sSubPr>
                                <m:e>
                                  <m:r>
                                    <a:rPr lang="en-US" sz="1600" i="1">
                                      <a:latin typeface="Cambria Math" panose="02040503050406030204" pitchFamily="18" charset="0"/>
                                    </a:rPr>
                                    <m:t>𝜏</m:t>
                                  </m:r>
                                </m:e>
                                <m:sub>
                                  <m:r>
                                    <a:rPr lang="en-US" sz="1600" i="1">
                                      <a:latin typeface="Cambria Math" panose="02040503050406030204" pitchFamily="18" charset="0"/>
                                    </a:rPr>
                                    <m:t>𝑖</m:t>
                                  </m:r>
                                </m:sub>
                              </m:sSub>
                            </m:num>
                            <m:den>
                              <m:r>
                                <a:rPr lang="en-US" sz="1600">
                                  <a:latin typeface="Cambria Math" panose="02040503050406030204" pitchFamily="18" charset="0"/>
                                </a:rPr>
                                <m:t>1+</m:t>
                              </m:r>
                              <m:r>
                                <a:rPr lang="en-US" sz="1600" i="1">
                                  <a:latin typeface="Cambria Math" panose="02040503050406030204" pitchFamily="18" charset="0"/>
                                </a:rPr>
                                <m:t>𝑖</m:t>
                              </m:r>
                              <m:r>
                                <a:rPr lang="en-US" sz="1600" i="1">
                                  <a:latin typeface="Cambria Math" panose="02040503050406030204" pitchFamily="18" charset="0"/>
                                </a:rPr>
                                <m:t>𝜔</m:t>
                              </m:r>
                              <m:sSub>
                                <m:sSubPr>
                                  <m:ctrlPr>
                                    <a:rPr lang="en-US" sz="1600" i="1">
                                      <a:latin typeface="Cambria Math" panose="02040503050406030204" pitchFamily="18" charset="0"/>
                                    </a:rPr>
                                  </m:ctrlPr>
                                </m:sSubPr>
                                <m:e>
                                  <m:r>
                                    <a:rPr lang="en-US" sz="1600" i="1">
                                      <a:latin typeface="Cambria Math" panose="02040503050406030204" pitchFamily="18" charset="0"/>
                                    </a:rPr>
                                    <m:t>𝜏</m:t>
                                  </m:r>
                                </m:e>
                                <m:sub>
                                  <m:r>
                                    <a:rPr lang="en-US" sz="1600" i="1">
                                      <a:latin typeface="Cambria Math" panose="02040503050406030204" pitchFamily="18" charset="0"/>
                                    </a:rPr>
                                    <m:t>𝑖</m:t>
                                  </m:r>
                                </m:sub>
                              </m:sSub>
                            </m:den>
                          </m:f>
                        </m:e>
                      </m:nary>
                      <m:sSub>
                        <m:sSubPr>
                          <m:ctrlPr>
                            <a:rPr lang="en-US" sz="1600" i="1">
                              <a:latin typeface="Cambria Math" panose="02040503050406030204" pitchFamily="18" charset="0"/>
                            </a:rPr>
                          </m:ctrlPr>
                        </m:sSubPr>
                        <m:e>
                          <m:r>
                            <m:rPr>
                              <m:sty m:val="p"/>
                            </m:rPr>
                            <a:rPr lang="en-US" sz="1600">
                              <a:latin typeface="Cambria Math" panose="02040503050406030204" pitchFamily="18" charset="0"/>
                            </a:rPr>
                            <m:t>Σ</m:t>
                          </m:r>
                        </m:e>
                        <m:sub>
                          <m:r>
                            <a:rPr lang="en-US" sz="1600" i="1">
                              <a:latin typeface="Cambria Math" panose="02040503050406030204" pitchFamily="18" charset="0"/>
                            </a:rPr>
                            <m:t>𝑆</m:t>
                          </m:r>
                        </m:sub>
                      </m:sSub>
                    </m:oMath>
                  </m:oMathPara>
                </a14:m>
                <a:endParaRPr lang="en-US" sz="1600" dirty="0"/>
              </a:p>
            </p:txBody>
          </p:sp>
        </mc:Choice>
        <mc:Fallback xmlns="">
          <p:sp>
            <p:nvSpPr>
              <p:cNvPr id="66" name="Rectangle 65"/>
              <p:cNvSpPr>
                <a:spLocks noRot="1" noChangeAspect="1" noMove="1" noResize="1" noEditPoints="1" noAdjustHandles="1" noChangeArrowheads="1" noChangeShapeType="1" noTextEdit="1"/>
              </p:cNvSpPr>
              <p:nvPr/>
            </p:nvSpPr>
            <p:spPr>
              <a:xfrm>
                <a:off x="8592215" y="5222698"/>
                <a:ext cx="2222595" cy="806311"/>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p:cNvSpPr/>
              <p:nvPr/>
            </p:nvSpPr>
            <p:spPr>
              <a:xfrm>
                <a:off x="1539275" y="4809081"/>
                <a:ext cx="1534138" cy="52931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𝑖</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a:latin typeface="Cambria Math" panose="02040503050406030204" pitchFamily="18" charset="0"/>
                            </a:rPr>
                            <m:t>0</m:t>
                          </m:r>
                        </m:sub>
                      </m:sSub>
                      <m:sSup>
                        <m:sSupPr>
                          <m:ctrlPr>
                            <a:rPr lang="en-US" sz="1600" i="1">
                              <a:latin typeface="Cambria Math" panose="02040503050406030204" pitchFamily="18" charset="0"/>
                            </a:rPr>
                          </m:ctrlPr>
                        </m:sSupPr>
                        <m:e>
                          <m:r>
                            <a:rPr lang="en-US" sz="1600" i="1">
                              <a:latin typeface="Cambria Math" panose="02040503050406030204" pitchFamily="18" charset="0"/>
                            </a:rPr>
                            <m:t>𝑒</m:t>
                          </m:r>
                        </m:e>
                        <m:sup>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𝑡</m:t>
                              </m:r>
                            </m:num>
                            <m:den>
                              <m:sSubSup>
                                <m:sSubSupPr>
                                  <m:ctrlPr>
                                    <a:rPr lang="en-US" sz="1600" i="1">
                                      <a:latin typeface="Cambria Math" panose="02040503050406030204" pitchFamily="18" charset="0"/>
                                    </a:rPr>
                                  </m:ctrlPr>
                                </m:sSubSupPr>
                                <m:e>
                                  <m:r>
                                    <a:rPr lang="en-US" sz="1600" i="1">
                                      <a:latin typeface="Cambria Math" panose="02040503050406030204" pitchFamily="18" charset="0"/>
                                    </a:rPr>
                                    <m:t>𝑇</m:t>
                                  </m:r>
                                </m:e>
                                <m:sub>
                                  <m:r>
                                    <a:rPr lang="en-US" sz="1600">
                                      <a:latin typeface="Cambria Math" panose="02040503050406030204" pitchFamily="18" charset="0"/>
                                    </a:rPr>
                                    <m:t>2</m:t>
                                  </m:r>
                                </m:sub>
                                <m:sup>
                                  <m:r>
                                    <a:rPr lang="en-US" sz="1600" i="1">
                                      <a:latin typeface="Cambria Math" panose="02040503050406030204" pitchFamily="18" charset="0"/>
                                    </a:rPr>
                                    <m:t>𝑖</m:t>
                                  </m:r>
                                </m:sup>
                              </m:sSubSup>
                            </m:den>
                          </m:f>
                        </m:sup>
                      </m:sSup>
                    </m:oMath>
                  </m:oMathPara>
                </a14:m>
                <a:endParaRPr lang="en-US" sz="1600" dirty="0"/>
              </a:p>
            </p:txBody>
          </p:sp>
        </mc:Choice>
        <mc:Fallback xmlns="">
          <p:sp>
            <p:nvSpPr>
              <p:cNvPr id="67" name="Rectangle 66"/>
              <p:cNvSpPr>
                <a:spLocks noRot="1" noChangeAspect="1" noMove="1" noResize="1" noEditPoints="1" noAdjustHandles="1" noChangeArrowheads="1" noChangeShapeType="1" noTextEdit="1"/>
              </p:cNvSpPr>
              <p:nvPr/>
            </p:nvSpPr>
            <p:spPr>
              <a:xfrm>
                <a:off x="1539275" y="4809081"/>
                <a:ext cx="1534138" cy="529312"/>
              </a:xfrm>
              <a:prstGeom prst="rect">
                <a:avLst/>
              </a:prstGeom>
              <a:blipFill>
                <a:blip r:embed="rId12"/>
                <a:stretch>
                  <a:fillRect/>
                </a:stretch>
              </a:blipFill>
            </p:spPr>
            <p:txBody>
              <a:bodyPr/>
              <a:lstStyle/>
              <a:p>
                <a:r>
                  <a:rPr lang="en-US">
                    <a:noFill/>
                  </a:rPr>
                  <a:t> </a:t>
                </a:r>
              </a:p>
            </p:txBody>
          </p:sp>
        </mc:Fallback>
      </mc:AlternateContent>
      <p:sp>
        <p:nvSpPr>
          <p:cNvPr id="70" name="TextBox 69"/>
          <p:cNvSpPr txBox="1"/>
          <p:nvPr/>
        </p:nvSpPr>
        <p:spPr>
          <a:xfrm>
            <a:off x="4819006" y="4903370"/>
            <a:ext cx="2428829" cy="338554"/>
          </a:xfrm>
          <a:prstGeom prst="rect">
            <a:avLst/>
          </a:prstGeom>
          <a:noFill/>
        </p:spPr>
        <p:txBody>
          <a:bodyPr wrap="square" rtlCol="0">
            <a:spAutoFit/>
          </a:bodyPr>
          <a:lstStyle/>
          <a:p>
            <a:r>
              <a:rPr lang="en-US" sz="1600" dirty="0"/>
              <a:t>Responses – Single pore</a:t>
            </a:r>
          </a:p>
        </p:txBody>
      </p:sp>
      <p:sp>
        <p:nvSpPr>
          <p:cNvPr id="71" name="TextBox 70"/>
          <p:cNvSpPr txBox="1"/>
          <p:nvPr/>
        </p:nvSpPr>
        <p:spPr>
          <a:xfrm>
            <a:off x="4567138" y="5471895"/>
            <a:ext cx="2820802" cy="338554"/>
          </a:xfrm>
          <a:prstGeom prst="rect">
            <a:avLst/>
          </a:prstGeom>
          <a:noFill/>
        </p:spPr>
        <p:txBody>
          <a:bodyPr wrap="square" rtlCol="0">
            <a:spAutoFit/>
          </a:bodyPr>
          <a:lstStyle/>
          <a:p>
            <a:r>
              <a:rPr lang="en-US" sz="1600" dirty="0"/>
              <a:t>Responses – Multiple pore sizes</a:t>
            </a:r>
          </a:p>
        </p:txBody>
      </p:sp>
      <p:cxnSp>
        <p:nvCxnSpPr>
          <p:cNvPr id="8" name="Straight Arrow Connector 7"/>
          <p:cNvCxnSpPr>
            <a:stCxn id="67" idx="3"/>
            <a:endCxn id="70" idx="1"/>
          </p:cNvCxnSpPr>
          <p:nvPr/>
        </p:nvCxnSpPr>
        <p:spPr>
          <a:xfrm flipV="1">
            <a:off x="3073413" y="5072647"/>
            <a:ext cx="1745593" cy="1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178" idx="1"/>
            <a:endCxn id="70" idx="3"/>
          </p:cNvCxnSpPr>
          <p:nvPr/>
        </p:nvCxnSpPr>
        <p:spPr>
          <a:xfrm flipH="1">
            <a:off x="7247835" y="5059886"/>
            <a:ext cx="1545481" cy="12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5" idx="3"/>
            <a:endCxn id="71" idx="1"/>
          </p:cNvCxnSpPr>
          <p:nvPr/>
        </p:nvCxnSpPr>
        <p:spPr>
          <a:xfrm>
            <a:off x="3405463" y="5626497"/>
            <a:ext cx="1161675" cy="146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6" idx="1"/>
            <a:endCxn id="71" idx="3"/>
          </p:cNvCxnSpPr>
          <p:nvPr/>
        </p:nvCxnSpPr>
        <p:spPr>
          <a:xfrm flipH="1">
            <a:off x="7387940" y="5625854"/>
            <a:ext cx="1204275" cy="15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7926813" y="4294401"/>
            <a:ext cx="3906262" cy="369332"/>
          </a:xfrm>
          <a:prstGeom prst="rect">
            <a:avLst/>
          </a:prstGeom>
          <a:noFill/>
        </p:spPr>
        <p:txBody>
          <a:bodyPr wrap="none" rtlCol="0">
            <a:spAutoFit/>
          </a:bodyPr>
          <a:lstStyle/>
          <a:p>
            <a:r>
              <a:rPr lang="en-US" dirty="0"/>
              <a:t>Electrical double layer(EDL) polarization</a:t>
            </a:r>
          </a:p>
        </p:txBody>
      </p:sp>
      <p:sp>
        <p:nvSpPr>
          <p:cNvPr id="74" name="TextBox 73"/>
          <p:cNvSpPr txBox="1"/>
          <p:nvPr/>
        </p:nvSpPr>
        <p:spPr>
          <a:xfrm>
            <a:off x="1089482" y="4344583"/>
            <a:ext cx="2683683" cy="369332"/>
          </a:xfrm>
          <a:prstGeom prst="rect">
            <a:avLst/>
          </a:prstGeom>
          <a:noFill/>
        </p:spPr>
        <p:txBody>
          <a:bodyPr wrap="none" rtlCol="0">
            <a:spAutoFit/>
          </a:bodyPr>
          <a:lstStyle/>
          <a:p>
            <a:r>
              <a:rPr lang="en-US" dirty="0"/>
              <a:t>NMR transverse relaxation</a:t>
            </a:r>
          </a:p>
        </p:txBody>
      </p:sp>
      <mc:AlternateContent xmlns:mc="http://schemas.openxmlformats.org/markup-compatibility/2006" xmlns:a14="http://schemas.microsoft.com/office/drawing/2010/main">
        <mc:Choice Requires="a14">
          <p:sp>
            <p:nvSpPr>
              <p:cNvPr id="75" name="文本框 162">
                <a:extLst>
                  <a:ext uri="{FF2B5EF4-FFF2-40B4-BE49-F238E27FC236}">
                    <a16:creationId xmlns:a16="http://schemas.microsoft.com/office/drawing/2014/main" id="{EEC6E7D6-6F4F-4F3C-9AE9-10CCCB09A6CC}"/>
                  </a:ext>
                </a:extLst>
              </p:cNvPr>
              <p:cNvSpPr txBox="1"/>
              <p:nvPr/>
            </p:nvSpPr>
            <p:spPr>
              <a:xfrm>
                <a:off x="2228781" y="6165407"/>
                <a:ext cx="2993333" cy="350032"/>
              </a:xfrm>
              <a:prstGeom prst="rect">
                <a:avLst/>
              </a:prstGeom>
              <a:noFill/>
            </p:spPr>
            <p:txBody>
              <a:bodyPr wrap="square" lIns="0" tIns="0" rIns="0" bIns="0" rtlCol="0">
                <a:spAutoFit/>
              </a:bodyPr>
              <a:lstStyle/>
              <a:p>
                <a14:m>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𝑟</m:t>
                        </m:r>
                      </m:e>
                      <m:sub>
                        <m:r>
                          <a:rPr lang="en-US" sz="2000" b="0" i="1" smtClean="0">
                            <a:solidFill>
                              <a:srgbClr val="FF0000"/>
                            </a:solidFill>
                            <a:latin typeface="Cambria Math" panose="02040503050406030204" pitchFamily="18" charset="0"/>
                          </a:rPr>
                          <m:t>𝑖</m:t>
                        </m:r>
                      </m:sub>
                    </m:sSub>
                    <m:r>
                      <a:rPr lang="en-US" sz="2000" i="1">
                        <a:latin typeface="Cambria Math" panose="02040503050406030204" pitchFamily="18" charset="0"/>
                      </a:rPr>
                      <m:t>=</m:t>
                    </m:r>
                  </m:oMath>
                </a14:m>
                <a:r>
                  <a:rPr lang="en-US" sz="2000" dirty="0"/>
                  <a:t> 3</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𝜌</m:t>
                        </m:r>
                      </m:e>
                      <m:sub>
                        <m:r>
                          <a:rPr lang="en-US" sz="2000" i="1">
                            <a:latin typeface="Cambria Math" panose="02040503050406030204" pitchFamily="18" charset="0"/>
                          </a:rPr>
                          <m:t>2</m:t>
                        </m:r>
                      </m:sub>
                    </m:sSub>
                    <m:sSubSup>
                      <m:sSubSupPr>
                        <m:ctrlPr>
                          <a:rPr lang="en-US" sz="2000" i="1">
                            <a:latin typeface="Cambria Math" panose="02040503050406030204" pitchFamily="18" charset="0"/>
                          </a:rPr>
                        </m:ctrlPr>
                      </m:sSubSupPr>
                      <m:e>
                        <m:r>
                          <a:rPr lang="en-US" sz="2000" i="1">
                            <a:latin typeface="Cambria Math" panose="02040503050406030204" pitchFamily="18" charset="0"/>
                          </a:rPr>
                          <m:t>𝑇</m:t>
                        </m:r>
                      </m:e>
                      <m:sub>
                        <m:r>
                          <a:rPr lang="en-US" sz="2000">
                            <a:latin typeface="Cambria Math" panose="02040503050406030204" pitchFamily="18" charset="0"/>
                          </a:rPr>
                          <m:t>2</m:t>
                        </m:r>
                        <m:r>
                          <m:rPr>
                            <m:sty m:val="p"/>
                          </m:rPr>
                          <a:rPr lang="en-US" sz="2000" b="0" i="0" smtClean="0">
                            <a:latin typeface="Cambria Math" panose="02040503050406030204" pitchFamily="18" charset="0"/>
                          </a:rPr>
                          <m:t>i</m:t>
                        </m:r>
                      </m:sub>
                      <m:sup/>
                    </m:sSubSup>
                  </m:oMath>
                </a14:m>
                <a:endParaRPr lang="en-US" sz="2000" dirty="0"/>
              </a:p>
            </p:txBody>
          </p:sp>
        </mc:Choice>
        <mc:Fallback xmlns="">
          <p:sp>
            <p:nvSpPr>
              <p:cNvPr id="75" name="文本框 162">
                <a:extLst>
                  <a:ext uri="{FF2B5EF4-FFF2-40B4-BE49-F238E27FC236}">
                    <a16:creationId xmlns:a16="http://schemas.microsoft.com/office/drawing/2014/main" id="{EEC6E7D6-6F4F-4F3C-9AE9-10CCCB09A6CC}"/>
                  </a:ext>
                </a:extLst>
              </p:cNvPr>
              <p:cNvSpPr txBox="1">
                <a:spLocks noRot="1" noChangeAspect="1" noMove="1" noResize="1" noEditPoints="1" noAdjustHandles="1" noChangeArrowheads="1" noChangeShapeType="1" noTextEdit="1"/>
              </p:cNvSpPr>
              <p:nvPr/>
            </p:nvSpPr>
            <p:spPr>
              <a:xfrm>
                <a:off x="2228781" y="6165407"/>
                <a:ext cx="2993333" cy="350032"/>
              </a:xfrm>
              <a:prstGeom prst="rect">
                <a:avLst/>
              </a:prstGeom>
              <a:blipFill>
                <a:blip r:embed="rId13"/>
                <a:stretch>
                  <a:fillRect l="-2240" t="-10345" b="-43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文本框 26">
                <a:extLst>
                  <a:ext uri="{FF2B5EF4-FFF2-40B4-BE49-F238E27FC236}">
                    <a16:creationId xmlns:a16="http://schemas.microsoft.com/office/drawing/2014/main" id="{392E1ABC-1096-4147-AA24-3530D0579A0D}"/>
                  </a:ext>
                </a:extLst>
              </p:cNvPr>
              <p:cNvSpPr txBox="1"/>
              <p:nvPr/>
            </p:nvSpPr>
            <p:spPr>
              <a:xfrm>
                <a:off x="7926813" y="6165407"/>
                <a:ext cx="1441420" cy="378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𝑟</m:t>
                          </m:r>
                        </m:e>
                        <m:sub>
                          <m:r>
                            <a:rPr lang="en-US" sz="2000" i="1">
                              <a:solidFill>
                                <a:srgbClr val="FF0000"/>
                              </a:solidFill>
                              <a:latin typeface="Cambria Math" panose="02040503050406030204" pitchFamily="18" charset="0"/>
                            </a:rPr>
                            <m:t>𝑖</m:t>
                          </m:r>
                        </m:sub>
                      </m:sSub>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ea typeface="Malgun Gothic" panose="020B0503020000020004" pitchFamily="34" charset="-127"/>
                              <a:cs typeface="Times New Roman" panose="02020603050405020304" pitchFamily="18" charset="0"/>
                            </a:rPr>
                            <m:t>2</m:t>
                          </m:r>
                          <m:sSup>
                            <m:sSupPr>
                              <m:ctrlPr>
                                <a:rPr lang="en-US" sz="2000" i="1">
                                  <a:latin typeface="Cambria Math" panose="02040503050406030204" pitchFamily="18" charset="0"/>
                                  <a:cs typeface="Times New Roman" panose="02020603050405020304" pitchFamily="18" charset="0"/>
                                </a:rPr>
                              </m:ctrlPr>
                            </m:sSupPr>
                            <m:e>
                              <m:r>
                                <a:rPr lang="en-US" sz="2000" i="1">
                                  <a:latin typeface="Cambria Math" panose="02040503050406030204" pitchFamily="18" charset="0"/>
                                  <a:ea typeface="Malgun Gothic" panose="020B0503020000020004" pitchFamily="34" charset="-127"/>
                                  <a:cs typeface="Times New Roman" panose="02020603050405020304" pitchFamily="18" charset="0"/>
                                </a:rPr>
                                <m:t>𝐷</m:t>
                              </m:r>
                            </m:e>
                            <m:sup>
                              <m:r>
                                <a:rPr lang="en-US" sz="2000" i="1">
                                  <a:latin typeface="Cambria Math" panose="02040503050406030204" pitchFamily="18" charset="0"/>
                                  <a:ea typeface="Malgun Gothic" panose="020B0503020000020004" pitchFamily="34" charset="-127"/>
                                  <a:cs typeface="Times New Roman" panose="02020603050405020304" pitchFamily="18" charset="0"/>
                                </a:rPr>
                                <m:t>+</m:t>
                              </m:r>
                            </m:sup>
                          </m:sSup>
                          <m:r>
                            <a:rPr lang="en-US" sz="2000" i="1">
                              <a:latin typeface="Cambria Math" panose="02040503050406030204" pitchFamily="18" charset="0"/>
                              <a:ea typeface="Cambria Math" panose="02040503050406030204" pitchFamily="18" charset="0"/>
                              <a:cs typeface="Times New Roman" panose="02020603050405020304" pitchFamily="18" charset="0"/>
                            </a:rPr>
                            <m:t>𝜏</m:t>
                          </m:r>
                          <m:r>
                            <a:rPr lang="en-US" sz="2000" b="0" i="1" baseline="-25000" smtClean="0">
                              <a:latin typeface="Cambria Math" panose="02040503050406030204" pitchFamily="18" charset="0"/>
                              <a:ea typeface="Cambria Math" panose="02040503050406030204" pitchFamily="18" charset="0"/>
                              <a:cs typeface="Times New Roman" panose="02020603050405020304" pitchFamily="18" charset="0"/>
                            </a:rPr>
                            <m:t>𝑖</m:t>
                          </m:r>
                        </m:e>
                      </m:rad>
                    </m:oMath>
                  </m:oMathPara>
                </a14:m>
                <a:endParaRPr lang="en-US" sz="2000" dirty="0"/>
              </a:p>
            </p:txBody>
          </p:sp>
        </mc:Choice>
        <mc:Fallback xmlns="">
          <p:sp>
            <p:nvSpPr>
              <p:cNvPr id="85" name="文本框 26">
                <a:extLst>
                  <a:ext uri="{FF2B5EF4-FFF2-40B4-BE49-F238E27FC236}">
                    <a16:creationId xmlns:a16="http://schemas.microsoft.com/office/drawing/2014/main" id="{392E1ABC-1096-4147-AA24-3530D0579A0D}"/>
                  </a:ext>
                </a:extLst>
              </p:cNvPr>
              <p:cNvSpPr txBox="1">
                <a:spLocks noRot="1" noChangeAspect="1" noMove="1" noResize="1" noEditPoints="1" noAdjustHandles="1" noChangeArrowheads="1" noChangeShapeType="1" noTextEdit="1"/>
              </p:cNvSpPr>
              <p:nvPr/>
            </p:nvSpPr>
            <p:spPr>
              <a:xfrm>
                <a:off x="7926813" y="6165407"/>
                <a:ext cx="1441420" cy="378950"/>
              </a:xfrm>
              <a:prstGeom prst="rect">
                <a:avLst/>
              </a:prstGeom>
              <a:blipFill>
                <a:blip r:embed="rId14"/>
                <a:stretch>
                  <a:fillRect/>
                </a:stretch>
              </a:blipFill>
            </p:spPr>
            <p:txBody>
              <a:bodyPr/>
              <a:lstStyle/>
              <a:p>
                <a:r>
                  <a:rPr lang="en-US">
                    <a:noFill/>
                  </a:rPr>
                  <a:t> </a:t>
                </a:r>
              </a:p>
            </p:txBody>
          </p:sp>
        </mc:Fallback>
      </mc:AlternateContent>
      <p:sp>
        <p:nvSpPr>
          <p:cNvPr id="3" name="Footer Placeholder 2"/>
          <p:cNvSpPr>
            <a:spLocks noGrp="1"/>
          </p:cNvSpPr>
          <p:nvPr>
            <p:ph type="ftr" sz="quarter" idx="11"/>
          </p:nvPr>
        </p:nvSpPr>
        <p:spPr/>
        <p:txBody>
          <a:bodyPr/>
          <a:lstStyle/>
          <a:p>
            <a:r>
              <a:rPr lang="en-US"/>
              <a:t>SEG 2018</a:t>
            </a:r>
          </a:p>
        </p:txBody>
      </p:sp>
      <p:sp>
        <p:nvSpPr>
          <p:cNvPr id="5" name="Slide Number Placeholder 4"/>
          <p:cNvSpPr>
            <a:spLocks noGrp="1"/>
          </p:cNvSpPr>
          <p:nvPr>
            <p:ph type="sldNum" sz="quarter" idx="12"/>
          </p:nvPr>
        </p:nvSpPr>
        <p:spPr/>
        <p:txBody>
          <a:bodyPr/>
          <a:lstStyle/>
          <a:p>
            <a:fld id="{48265A45-E6A4-4653-9C66-6A1A04113506}" type="slidenum">
              <a:rPr lang="en-US" smtClean="0"/>
              <a:pPr/>
              <a:t>8</a:t>
            </a:fld>
            <a:endParaRPr lang="en-US"/>
          </a:p>
        </p:txBody>
      </p:sp>
    </p:spTree>
    <p:extLst>
      <p:ext uri="{BB962C8B-B14F-4D97-AF65-F5344CB8AC3E}">
        <p14:creationId xmlns:p14="http://schemas.microsoft.com/office/powerpoint/2010/main" val="252613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500"/>
                                        <p:tgtEl>
                                          <p:spTgt spid="1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500"/>
                                        <p:tgtEl>
                                          <p:spTgt spid="6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fade">
                                      <p:cBhvr>
                                        <p:cTn id="13" dur="500"/>
                                        <p:tgtEl>
                                          <p:spTgt spid="70"/>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4"/>
                                        </p:tgtEl>
                                        <p:attrNameLst>
                                          <p:attrName>style.visibility</p:attrName>
                                        </p:attrNameLst>
                                      </p:cBhvr>
                                      <p:to>
                                        <p:strVal val="visible"/>
                                      </p:to>
                                    </p:set>
                                    <p:animEffect transition="in" filter="fade">
                                      <p:cBhvr>
                                        <p:cTn id="25" dur="500"/>
                                        <p:tgtEl>
                                          <p:spTgt spid="7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500"/>
                                        <p:tgtEl>
                                          <p:spTgt spid="6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500"/>
                                        <p:tgtEl>
                                          <p:spTgt spid="6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fade">
                                      <p:cBhvr>
                                        <p:cTn id="36" dur="500"/>
                                        <p:tgtEl>
                                          <p:spTgt spid="71"/>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5"/>
                                        </p:tgtEl>
                                        <p:attrNameLst>
                                          <p:attrName>style.visibility</p:attrName>
                                        </p:attrNameLst>
                                      </p:cBhvr>
                                      <p:to>
                                        <p:strVal val="visible"/>
                                      </p:to>
                                    </p:set>
                                    <p:animEffect transition="in" filter="fade">
                                      <p:cBhvr>
                                        <p:cTn id="47" dur="500"/>
                                        <p:tgtEl>
                                          <p:spTgt spid="18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6"/>
                                        </p:tgtEl>
                                        <p:attrNameLst>
                                          <p:attrName>style.visibility</p:attrName>
                                        </p:attrNameLst>
                                      </p:cBhvr>
                                      <p:to>
                                        <p:strVal val="visible"/>
                                      </p:to>
                                    </p:set>
                                    <p:animEffect transition="in" filter="fade">
                                      <p:cBhvr>
                                        <p:cTn id="50" dur="500"/>
                                        <p:tgtEl>
                                          <p:spTgt spid="186"/>
                                        </p:tgtEl>
                                      </p:cBhvr>
                                    </p:animEffect>
                                  </p:childTnLst>
                                </p:cTn>
                              </p:par>
                              <p:par>
                                <p:cTn id="51" presetID="10" presetClass="entr" presetSubtype="0" fill="hold" nodeType="withEffect">
                                  <p:stCondLst>
                                    <p:cond delay="0"/>
                                  </p:stCondLst>
                                  <p:childTnLst>
                                    <p:set>
                                      <p:cBhvr>
                                        <p:cTn id="52" dur="1" fill="hold">
                                          <p:stCondLst>
                                            <p:cond delay="0"/>
                                          </p:stCondLst>
                                        </p:cTn>
                                        <p:tgtEl>
                                          <p:spTgt spid="188"/>
                                        </p:tgtEl>
                                        <p:attrNameLst>
                                          <p:attrName>style.visibility</p:attrName>
                                        </p:attrNameLst>
                                      </p:cBhvr>
                                      <p:to>
                                        <p:strVal val="visible"/>
                                      </p:to>
                                    </p:set>
                                    <p:animEffect transition="in" filter="fade">
                                      <p:cBhvr>
                                        <p:cTn id="53" dur="500"/>
                                        <p:tgtEl>
                                          <p:spTgt spid="18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75"/>
                                        </p:tgtEl>
                                        <p:attrNameLst>
                                          <p:attrName>style.visibility</p:attrName>
                                        </p:attrNameLst>
                                      </p:cBhvr>
                                      <p:to>
                                        <p:strVal val="visible"/>
                                      </p:to>
                                    </p:set>
                                    <p:animEffect transition="in" filter="fade">
                                      <p:cBhvr>
                                        <p:cTn id="56" dur="500"/>
                                        <p:tgtEl>
                                          <p:spTgt spid="7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animEffect transition="in" filter="fade">
                                      <p:cBhvr>
                                        <p:cTn id="59"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p:bldP spid="186" grpId="0"/>
      <p:bldP spid="65" grpId="0"/>
      <p:bldP spid="66" grpId="0"/>
      <p:bldP spid="67" grpId="0"/>
      <p:bldP spid="70" grpId="0"/>
      <p:bldP spid="71" grpId="0"/>
      <p:bldP spid="4" grpId="0"/>
      <p:bldP spid="74" grpId="0"/>
      <p:bldP spid="75" grpId="0"/>
      <p:bldP spid="8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Inversion Algorithm</a:t>
            </a:r>
          </a:p>
        </p:txBody>
      </p:sp>
      <p:grpSp>
        <p:nvGrpSpPr>
          <p:cNvPr id="3" name="组合 1049">
            <a:extLst>
              <a:ext uri="{FF2B5EF4-FFF2-40B4-BE49-F238E27FC236}">
                <a16:creationId xmlns:a16="http://schemas.microsoft.com/office/drawing/2014/main" id="{B6A2B776-D92C-453D-8F2C-6A640A957CBD}"/>
              </a:ext>
            </a:extLst>
          </p:cNvPr>
          <p:cNvGrpSpPr/>
          <p:nvPr/>
        </p:nvGrpSpPr>
        <p:grpSpPr>
          <a:xfrm>
            <a:off x="2354552" y="1059544"/>
            <a:ext cx="7494845" cy="5682523"/>
            <a:chOff x="12376387" y="4400550"/>
            <a:chExt cx="10026413" cy="9925705"/>
          </a:xfrm>
        </p:grpSpPr>
        <p:sp>
          <p:nvSpPr>
            <p:cNvPr id="4" name="文本框 7">
              <a:extLst>
                <a:ext uri="{FF2B5EF4-FFF2-40B4-BE49-F238E27FC236}">
                  <a16:creationId xmlns:a16="http://schemas.microsoft.com/office/drawing/2014/main" id="{484E5CCB-5DA0-4A4F-B8D5-D78F825AFCF7}"/>
                </a:ext>
              </a:extLst>
            </p:cNvPr>
            <p:cNvSpPr txBox="1"/>
            <p:nvPr/>
          </p:nvSpPr>
          <p:spPr>
            <a:xfrm>
              <a:off x="12985988" y="4419601"/>
              <a:ext cx="4572000" cy="483836"/>
            </a:xfrm>
            <a:prstGeom prst="rect">
              <a:avLst/>
            </a:prstGeom>
            <a:noFill/>
            <a:ln>
              <a:solidFill>
                <a:schemeClr val="tx1"/>
              </a:solidFill>
            </a:ln>
          </p:spPr>
          <p:txBody>
            <a:bodyPr wrap="square" rtlCol="0">
              <a:spAutoFit/>
            </a:bodyPr>
            <a:lstStyle/>
            <a:p>
              <a:pPr algn="ctr"/>
              <a:r>
                <a:rPr lang="en-US" sz="1200" b="1" dirty="0"/>
                <a:t>System information and inputs</a:t>
              </a:r>
            </a:p>
          </p:txBody>
        </p:sp>
        <mc:AlternateContent xmlns:mc="http://schemas.openxmlformats.org/markup-compatibility/2006" xmlns:a14="http://schemas.microsoft.com/office/drawing/2010/main">
          <mc:Choice Requires="a14">
            <p:sp>
              <p:nvSpPr>
                <p:cNvPr id="5" name="文本框 8">
                  <a:extLst>
                    <a:ext uri="{FF2B5EF4-FFF2-40B4-BE49-F238E27FC236}">
                      <a16:creationId xmlns:a16="http://schemas.microsoft.com/office/drawing/2014/main" id="{9C16C670-2E7A-4AA0-B5FB-0C9EF0A3CB7C}"/>
                    </a:ext>
                  </a:extLst>
                </p:cNvPr>
                <p:cNvSpPr txBox="1"/>
                <p:nvPr/>
              </p:nvSpPr>
              <p:spPr>
                <a:xfrm>
                  <a:off x="18059400" y="4400550"/>
                  <a:ext cx="4343400" cy="525052"/>
                </a:xfrm>
                <a:prstGeom prst="rect">
                  <a:avLst/>
                </a:prstGeom>
                <a:noFill/>
                <a:ln>
                  <a:solidFill>
                    <a:schemeClr val="tx1"/>
                  </a:solidFill>
                </a:ln>
              </p:spPr>
              <p:txBody>
                <a:bodyPr wrap="square" rtlCol="0">
                  <a:spAutoFit/>
                </a:bodyPr>
                <a:lstStyle/>
                <a:p>
                  <a:pPr algn="ctr"/>
                  <a:r>
                    <a:rPr lang="en-US" sz="1200" dirty="0"/>
                    <a:t>Observations</a:t>
                  </a:r>
                  <a:r>
                    <a:rPr lang="en-US" sz="1200" b="1" dirty="0"/>
                    <a:t>:</a:t>
                  </a:r>
                  <a14:m>
                    <m:oMath xmlns:m="http://schemas.openxmlformats.org/officeDocument/2006/math">
                      <m:sSup>
                        <m:sSupPr>
                          <m:ctrlPr>
                            <a:rPr lang="en-US" sz="1200" b="1" i="1">
                              <a:solidFill>
                                <a:srgbClr val="FF0000"/>
                              </a:solidFill>
                              <a:latin typeface="Cambria Math" panose="02040503050406030204" pitchFamily="18" charset="0"/>
                            </a:rPr>
                          </m:ctrlPr>
                        </m:sSupPr>
                        <m:e>
                          <m:r>
                            <a:rPr lang="en-US" sz="1200" b="1" i="1">
                              <a:solidFill>
                                <a:srgbClr val="FF0000"/>
                              </a:solidFill>
                              <a:latin typeface="Cambria Math" panose="02040503050406030204" pitchFamily="18" charset="0"/>
                            </a:rPr>
                            <m:t> </m:t>
                          </m:r>
                          <m:r>
                            <a:rPr lang="en-US" sz="1200" b="1" i="1">
                              <a:solidFill>
                                <a:srgbClr val="FF0000"/>
                              </a:solidFill>
                              <a:latin typeface="Cambria Math" panose="02040503050406030204" pitchFamily="18" charset="0"/>
                              <a:ea typeface="Cambria Math" panose="02040503050406030204" pitchFamily="18" charset="0"/>
                            </a:rPr>
                            <m:t>𝝈</m:t>
                          </m:r>
                        </m:e>
                        <m:sup>
                          <m:r>
                            <a:rPr lang="en-US" sz="1200" b="1" i="1">
                              <a:solidFill>
                                <a:srgbClr val="FF0000"/>
                              </a:solidFill>
                              <a:latin typeface="Cambria Math" panose="02040503050406030204" pitchFamily="18" charset="0"/>
                            </a:rPr>
                            <m:t>′</m:t>
                          </m:r>
                        </m:sup>
                      </m:sSup>
                      <m:r>
                        <a:rPr lang="en-US" sz="1200" b="1" i="1">
                          <a:solidFill>
                            <a:srgbClr val="FF0000"/>
                          </a:solidFill>
                          <a:latin typeface="Cambria Math" panose="02040503050406030204" pitchFamily="18" charset="0"/>
                        </a:rPr>
                        <m:t>, </m:t>
                      </m:r>
                      <m:r>
                        <a:rPr lang="en-US" sz="1200" b="1" i="1">
                          <a:solidFill>
                            <a:srgbClr val="FF0000"/>
                          </a:solidFill>
                          <a:latin typeface="Cambria Math" panose="02040503050406030204" pitchFamily="18" charset="0"/>
                          <a:ea typeface="Cambria Math" panose="02040503050406030204" pitchFamily="18" charset="0"/>
                        </a:rPr>
                        <m:t>𝝈</m:t>
                      </m:r>
                      <m:r>
                        <a:rPr lang="en-US" sz="1200" b="1" i="1">
                          <a:solidFill>
                            <a:srgbClr val="FF0000"/>
                          </a:solidFill>
                          <a:latin typeface="Cambria Math" panose="02040503050406030204" pitchFamily="18" charset="0"/>
                          <a:ea typeface="Cambria Math" panose="02040503050406030204" pitchFamily="18" charset="0"/>
                        </a:rPr>
                        <m:t>“, </m:t>
                      </m:r>
                      <m:r>
                        <a:rPr lang="en-US" sz="1200" b="1" i="1">
                          <a:solidFill>
                            <a:srgbClr val="FF0000"/>
                          </a:solidFill>
                          <a:latin typeface="Cambria Math" panose="02040503050406030204" pitchFamily="18" charset="0"/>
                          <a:ea typeface="Cambria Math" panose="02040503050406030204" pitchFamily="18" charset="0"/>
                        </a:rPr>
                        <m:t>𝒇</m:t>
                      </m:r>
                      <m:r>
                        <a:rPr lang="en-US" sz="1200" b="1" i="1">
                          <a:solidFill>
                            <a:srgbClr val="FF0000"/>
                          </a:solidFill>
                          <a:latin typeface="Cambria Math" panose="02040503050406030204" pitchFamily="18" charset="0"/>
                          <a:ea typeface="Cambria Math" panose="02040503050406030204" pitchFamily="18" charset="0"/>
                        </a:rPr>
                        <m:t>,</m:t>
                      </m:r>
                      <m:r>
                        <m:rPr>
                          <m:nor/>
                        </m:rPr>
                        <a:rPr lang="en-US" sz="1200" b="1" i="1" dirty="0">
                          <a:solidFill>
                            <a:srgbClr val="FF0000"/>
                          </a:solidFill>
                        </a:rPr>
                        <m:t>M</m:t>
                      </m:r>
                      <m:r>
                        <m:rPr>
                          <m:nor/>
                        </m:rPr>
                        <a:rPr lang="en-US" sz="1200" b="1" i="1" baseline="-25000" dirty="0">
                          <a:solidFill>
                            <a:srgbClr val="FF0000"/>
                          </a:solidFill>
                        </a:rPr>
                        <m:t>x</m:t>
                      </m:r>
                      <m:r>
                        <m:rPr>
                          <m:nor/>
                        </m:rPr>
                        <a:rPr lang="en-US" sz="1200" b="1" i="1" baseline="-25000" dirty="0">
                          <a:solidFill>
                            <a:srgbClr val="FF0000"/>
                          </a:solidFill>
                        </a:rPr>
                        <m:t>,</m:t>
                      </m:r>
                      <m:r>
                        <m:rPr>
                          <m:nor/>
                        </m:rPr>
                        <a:rPr lang="en-US" sz="1200" b="1" i="1" baseline="-25000" dirty="0">
                          <a:solidFill>
                            <a:srgbClr val="FF0000"/>
                          </a:solidFill>
                        </a:rPr>
                        <m:t>y</m:t>
                      </m:r>
                    </m:oMath>
                  </a14:m>
                  <a:r>
                    <a:rPr lang="en-US" sz="1200" b="1" dirty="0">
                      <a:solidFill>
                        <a:srgbClr val="FF0000"/>
                      </a:solidFill>
                    </a:rPr>
                    <a:t>, </a:t>
                  </a:r>
                  <a14:m>
                    <m:oMath xmlns:m="http://schemas.openxmlformats.org/officeDocument/2006/math">
                      <m:sSubSup>
                        <m:sSubSupPr>
                          <m:ctrlPr>
                            <a:rPr lang="en-US" sz="1200" b="1" i="1">
                              <a:solidFill>
                                <a:srgbClr val="FF0000"/>
                              </a:solidFill>
                              <a:latin typeface="Cambria Math" panose="02040503050406030204" pitchFamily="18" charset="0"/>
                            </a:rPr>
                          </m:ctrlPr>
                        </m:sSubSupPr>
                        <m:e>
                          <m:r>
                            <a:rPr lang="en-US" sz="1200" b="1" i="1">
                              <a:solidFill>
                                <a:srgbClr val="FF0000"/>
                              </a:solidFill>
                              <a:latin typeface="Cambria Math" panose="02040503050406030204" pitchFamily="18" charset="0"/>
                            </a:rPr>
                            <m:t>𝑻</m:t>
                          </m:r>
                        </m:e>
                        <m:sub>
                          <m:r>
                            <a:rPr lang="en-US" sz="1200" b="1" i="1">
                              <a:solidFill>
                                <a:srgbClr val="FF0000"/>
                              </a:solidFill>
                              <a:latin typeface="Cambria Math" panose="02040503050406030204" pitchFamily="18" charset="0"/>
                            </a:rPr>
                            <m:t>𝟐</m:t>
                          </m:r>
                        </m:sub>
                        <m:sup/>
                      </m:sSubSup>
                    </m:oMath>
                  </a14:m>
                  <a:endParaRPr lang="en-US" sz="1200" b="1" dirty="0"/>
                </a:p>
              </p:txBody>
            </p:sp>
          </mc:Choice>
          <mc:Fallback xmlns="">
            <p:sp>
              <p:nvSpPr>
                <p:cNvPr id="5" name="文本框 8">
                  <a:extLst>
                    <a:ext uri="{FF2B5EF4-FFF2-40B4-BE49-F238E27FC236}">
                      <a16:creationId xmlns:a16="http://schemas.microsoft.com/office/drawing/2014/main" id="{9C16C670-2E7A-4AA0-B5FB-0C9EF0A3CB7C}"/>
                    </a:ext>
                  </a:extLst>
                </p:cNvPr>
                <p:cNvSpPr txBox="1">
                  <a:spLocks noRot="1" noChangeAspect="1" noMove="1" noResize="1" noEditPoints="1" noAdjustHandles="1" noChangeArrowheads="1" noChangeShapeType="1" noTextEdit="1"/>
                </p:cNvSpPr>
                <p:nvPr/>
              </p:nvSpPr>
              <p:spPr>
                <a:xfrm>
                  <a:off x="18059400" y="4400550"/>
                  <a:ext cx="4343400" cy="525052"/>
                </a:xfrm>
                <a:prstGeom prst="rect">
                  <a:avLst/>
                </a:prstGeom>
                <a:blipFill>
                  <a:blip r:embed="rId2"/>
                  <a:stretch>
                    <a:fillRect b="-13725"/>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9">
                  <a:extLst>
                    <a:ext uri="{FF2B5EF4-FFF2-40B4-BE49-F238E27FC236}">
                      <a16:creationId xmlns:a16="http://schemas.microsoft.com/office/drawing/2014/main" id="{F3CF3018-A61B-4330-9073-53A16F743686}"/>
                    </a:ext>
                  </a:extLst>
                </p:cNvPr>
                <p:cNvSpPr txBox="1"/>
                <p:nvPr/>
              </p:nvSpPr>
              <p:spPr>
                <a:xfrm>
                  <a:off x="12833587" y="5332841"/>
                  <a:ext cx="4876800" cy="514524"/>
                </a:xfrm>
                <a:prstGeom prst="rect">
                  <a:avLst/>
                </a:prstGeom>
                <a:noFill/>
                <a:ln>
                  <a:solidFill>
                    <a:schemeClr val="tx1"/>
                  </a:solidFill>
                </a:ln>
              </p:spPr>
              <p:txBody>
                <a:bodyPr wrap="square" rtlCol="0">
                  <a:spAutoFit/>
                </a:bodyPr>
                <a:lstStyle/>
                <a:p>
                  <a:pPr algn="ctr"/>
                  <a:r>
                    <a:rPr lang="en-US" sz="1200" dirty="0"/>
                    <a:t>Parameters</a:t>
                  </a:r>
                  <a:r>
                    <a:rPr lang="en-US" sz="1200" b="1" dirty="0"/>
                    <a:t>: </a:t>
                  </a:r>
                  <a14:m>
                    <m:oMath xmlns:m="http://schemas.openxmlformats.org/officeDocument/2006/math">
                      <m:sSub>
                        <m:sSubPr>
                          <m:ctrlPr>
                            <a:rPr lang="en-US" sz="1200" b="1" i="1">
                              <a:solidFill>
                                <a:srgbClr val="00B0F0"/>
                              </a:solidFill>
                              <a:latin typeface="Cambria Math" panose="02040503050406030204" pitchFamily="18" charset="0"/>
                            </a:rPr>
                          </m:ctrlPr>
                        </m:sSubPr>
                        <m:e>
                          <m:sSub>
                            <m:sSubPr>
                              <m:ctrlPr>
                                <a:rPr lang="en-US" sz="1200" b="1" i="1">
                                  <a:solidFill>
                                    <a:srgbClr val="00B0F0"/>
                                  </a:solidFill>
                                  <a:latin typeface="Cambria Math" panose="02040503050406030204" pitchFamily="18" charset="0"/>
                                </a:rPr>
                              </m:ctrlPr>
                            </m:sSubPr>
                            <m:e>
                              <m:r>
                                <a:rPr lang="en-US" sz="1200" b="1" i="1">
                                  <a:solidFill>
                                    <a:srgbClr val="00B0F0"/>
                                  </a:solidFill>
                                  <a:latin typeface="Cambria Math" panose="02040503050406030204" pitchFamily="18" charset="0"/>
                                </a:rPr>
                                <m:t>𝒇</m:t>
                              </m:r>
                            </m:e>
                            <m:sub>
                              <m:r>
                                <a:rPr lang="en-US" sz="1200" b="1" i="1">
                                  <a:solidFill>
                                    <a:srgbClr val="00B0F0"/>
                                  </a:solidFill>
                                  <a:latin typeface="Cambria Math" panose="02040503050406030204" pitchFamily="18" charset="0"/>
                                </a:rPr>
                                <m:t>𝒊</m:t>
                              </m:r>
                            </m:sub>
                          </m:sSub>
                          <m:r>
                            <a:rPr lang="en-US" sz="1200" b="1" i="1">
                              <a:solidFill>
                                <a:srgbClr val="00B0F0"/>
                              </a:solidFill>
                              <a:latin typeface="Cambria Math" panose="02040503050406030204" pitchFamily="18" charset="0"/>
                            </a:rPr>
                            <m:t>,  </m:t>
                          </m:r>
                          <m:r>
                            <a:rPr lang="en-US" sz="1200" b="1" i="1">
                              <a:solidFill>
                                <a:srgbClr val="00B0F0"/>
                              </a:solidFill>
                              <a:latin typeface="Cambria Math" panose="02040503050406030204" pitchFamily="18" charset="0"/>
                              <a:ea typeface="Cambria Math" panose="02040503050406030204" pitchFamily="18" charset="0"/>
                            </a:rPr>
                            <m:t>𝝈</m:t>
                          </m:r>
                        </m:e>
                        <m:sub>
                          <m:r>
                            <a:rPr lang="en-US" sz="1200" b="1" i="1">
                              <a:solidFill>
                                <a:srgbClr val="00B0F0"/>
                              </a:solidFill>
                              <a:latin typeface="Cambria Math" panose="02040503050406030204" pitchFamily="18" charset="0"/>
                              <a:ea typeface="Cambria Math" panose="02040503050406030204" pitchFamily="18" charset="0"/>
                            </a:rPr>
                            <m:t>∞</m:t>
                          </m:r>
                        </m:sub>
                      </m:sSub>
                      <m:r>
                        <a:rPr lang="en-US" sz="1200" b="1" i="1">
                          <a:solidFill>
                            <a:srgbClr val="00B0F0"/>
                          </a:solidFill>
                          <a:latin typeface="Cambria Math" panose="02040503050406030204" pitchFamily="18" charset="0"/>
                          <a:ea typeface="Cambria Math" panose="02040503050406030204" pitchFamily="18" charset="0"/>
                        </a:rPr>
                        <m:t>,  </m:t>
                      </m:r>
                      <m:sSub>
                        <m:sSubPr>
                          <m:ctrlPr>
                            <a:rPr lang="en-US" sz="1200" b="1" i="1">
                              <a:solidFill>
                                <a:srgbClr val="00B0F0"/>
                              </a:solidFill>
                              <a:latin typeface="Cambria Math" panose="02040503050406030204" pitchFamily="18" charset="0"/>
                            </a:rPr>
                          </m:ctrlPr>
                        </m:sSubPr>
                        <m:e>
                          <m:r>
                            <a:rPr lang="en-US" sz="1200" b="1" i="1">
                              <a:solidFill>
                                <a:srgbClr val="00B0F0"/>
                              </a:solidFill>
                              <a:latin typeface="Cambria Math" panose="02040503050406030204" pitchFamily="18" charset="0"/>
                              <a:ea typeface="Cambria Math" panose="02040503050406030204" pitchFamily="18" charset="0"/>
                            </a:rPr>
                            <m:t>𝝈</m:t>
                          </m:r>
                        </m:e>
                        <m:sub>
                          <m:r>
                            <a:rPr lang="en-US" sz="1200" b="1" i="1">
                              <a:solidFill>
                                <a:srgbClr val="00B0F0"/>
                              </a:solidFill>
                              <a:latin typeface="Cambria Math" panose="02040503050406030204" pitchFamily="18" charset="0"/>
                              <a:ea typeface="Cambria Math" panose="02040503050406030204" pitchFamily="18" charset="0"/>
                            </a:rPr>
                            <m:t>𝟎</m:t>
                          </m:r>
                        </m:sub>
                      </m:sSub>
                      <m:r>
                        <a:rPr lang="en-US" sz="1200" b="1" i="1">
                          <a:solidFill>
                            <a:srgbClr val="00B0F0"/>
                          </a:solidFill>
                          <a:latin typeface="Cambria Math" panose="02040503050406030204" pitchFamily="18" charset="0"/>
                          <a:ea typeface="Cambria Math" panose="02040503050406030204" pitchFamily="18" charset="0"/>
                        </a:rPr>
                        <m:t>,</m:t>
                      </m:r>
                      <m:sSub>
                        <m:sSubPr>
                          <m:ctrlPr>
                            <a:rPr lang="en-US" sz="1200" b="1" i="1" dirty="0">
                              <a:solidFill>
                                <a:srgbClr val="00B0F0"/>
                              </a:solidFill>
                              <a:latin typeface="Cambria Math" panose="02040503050406030204" pitchFamily="18" charset="0"/>
                            </a:rPr>
                          </m:ctrlPr>
                        </m:sSubPr>
                        <m:e>
                          <m:r>
                            <m:rPr>
                              <m:nor/>
                            </m:rPr>
                            <a:rPr lang="en-US" sz="1200" b="1" dirty="0">
                              <a:solidFill>
                                <a:srgbClr val="00B0F0"/>
                              </a:solidFill>
                            </a:rPr>
                            <m:t>ε</m:t>
                          </m:r>
                        </m:e>
                        <m:sub>
                          <m:r>
                            <a:rPr lang="en-US" sz="1200" b="1" i="1" dirty="0">
                              <a:solidFill>
                                <a:srgbClr val="00B0F0"/>
                              </a:solidFill>
                              <a:latin typeface="Cambria Math" panose="02040503050406030204" pitchFamily="18" charset="0"/>
                            </a:rPr>
                            <m:t>𝒊𝒏𝒇</m:t>
                          </m:r>
                          <m:r>
                            <a:rPr lang="en-US" sz="1200" b="1" i="1" dirty="0">
                              <a:solidFill>
                                <a:srgbClr val="00B0F0"/>
                              </a:solidFill>
                              <a:latin typeface="Cambria Math" panose="02040503050406030204" pitchFamily="18" charset="0"/>
                            </a:rPr>
                            <m:t>⁡</m:t>
                          </m:r>
                        </m:sub>
                      </m:sSub>
                      <m:r>
                        <a:rPr lang="en-US" sz="1200" b="1" dirty="0">
                          <a:solidFill>
                            <a:srgbClr val="00B0F0"/>
                          </a:solidFill>
                          <a:latin typeface="Cambria Math" panose="02040503050406030204" pitchFamily="18" charset="0"/>
                        </a:rPr>
                        <m:t>,</m:t>
                      </m:r>
                      <m:sSub>
                        <m:sSubPr>
                          <m:ctrlPr>
                            <a:rPr lang="en-US" sz="1200" b="1" i="1">
                              <a:solidFill>
                                <a:srgbClr val="00B0F0"/>
                              </a:solidFill>
                              <a:latin typeface="Cambria Math" panose="02040503050406030204" pitchFamily="18" charset="0"/>
                            </a:rPr>
                          </m:ctrlPr>
                        </m:sSubPr>
                        <m:e>
                          <m:r>
                            <a:rPr lang="en-US" sz="1200" b="1" i="1">
                              <a:solidFill>
                                <a:srgbClr val="00B0F0"/>
                              </a:solidFill>
                              <a:latin typeface="Cambria Math" panose="02040503050406030204" pitchFamily="18" charset="0"/>
                              <a:ea typeface="Cambria Math" panose="02040503050406030204" pitchFamily="18" charset="0"/>
                            </a:rPr>
                            <m:t>𝝆</m:t>
                          </m:r>
                        </m:e>
                        <m:sub>
                          <m:r>
                            <a:rPr lang="en-US" sz="1200" b="1" i="1">
                              <a:solidFill>
                                <a:srgbClr val="00B0F0"/>
                              </a:solidFill>
                              <a:latin typeface="Cambria Math" panose="02040503050406030204" pitchFamily="18" charset="0"/>
                            </a:rPr>
                            <m:t>𝟐</m:t>
                          </m:r>
                        </m:sub>
                      </m:sSub>
                      <m:r>
                        <a:rPr lang="en-US" sz="1200" b="1" i="1">
                          <a:solidFill>
                            <a:srgbClr val="00B0F0"/>
                          </a:solidFill>
                          <a:latin typeface="Cambria Math" panose="02040503050406030204" pitchFamily="18" charset="0"/>
                        </a:rPr>
                        <m:t>,</m:t>
                      </m:r>
                      <m:sSub>
                        <m:sSubPr>
                          <m:ctrlPr>
                            <a:rPr lang="en-US" sz="1200" b="1" i="1">
                              <a:solidFill>
                                <a:srgbClr val="00B0F0"/>
                              </a:solidFill>
                              <a:latin typeface="Cambria Math" panose="02040503050406030204" pitchFamily="18" charset="0"/>
                            </a:rPr>
                          </m:ctrlPr>
                        </m:sSubPr>
                        <m:e>
                          <m:r>
                            <a:rPr lang="en-US" sz="1200" b="1" i="1">
                              <a:solidFill>
                                <a:srgbClr val="00B0F0"/>
                              </a:solidFill>
                              <a:latin typeface="Cambria Math" panose="02040503050406030204" pitchFamily="18" charset="0"/>
                            </a:rPr>
                            <m:t>𝑴</m:t>
                          </m:r>
                        </m:e>
                        <m:sub>
                          <m:r>
                            <a:rPr lang="en-US" sz="1200" b="1" i="1">
                              <a:solidFill>
                                <a:srgbClr val="00B0F0"/>
                              </a:solidFill>
                              <a:latin typeface="Cambria Math" panose="02040503050406030204" pitchFamily="18" charset="0"/>
                            </a:rPr>
                            <m:t>𝟎</m:t>
                          </m:r>
                        </m:sub>
                      </m:sSub>
                    </m:oMath>
                  </a14:m>
                  <a:endParaRPr lang="en-US" sz="1200" b="1" i="1" dirty="0"/>
                </a:p>
              </p:txBody>
            </p:sp>
          </mc:Choice>
          <mc:Fallback xmlns="">
            <p:sp>
              <p:nvSpPr>
                <p:cNvPr id="6" name="文本框 9">
                  <a:extLst>
                    <a:ext uri="{FF2B5EF4-FFF2-40B4-BE49-F238E27FC236}">
                      <a16:creationId xmlns:a16="http://schemas.microsoft.com/office/drawing/2014/main" id="{F3CF3018-A61B-4330-9073-53A16F743686}"/>
                    </a:ext>
                  </a:extLst>
                </p:cNvPr>
                <p:cNvSpPr txBox="1">
                  <a:spLocks noRot="1" noChangeAspect="1" noMove="1" noResize="1" noEditPoints="1" noAdjustHandles="1" noChangeArrowheads="1" noChangeShapeType="1" noTextEdit="1"/>
                </p:cNvSpPr>
                <p:nvPr/>
              </p:nvSpPr>
              <p:spPr>
                <a:xfrm>
                  <a:off x="12833587" y="5332841"/>
                  <a:ext cx="4876800" cy="514524"/>
                </a:xfrm>
                <a:prstGeom prst="rect">
                  <a:avLst/>
                </a:prstGeom>
                <a:blipFill>
                  <a:blip r:embed="rId3"/>
                  <a:stretch>
                    <a:fillRect b="-7843"/>
                  </a:stretch>
                </a:blipFill>
                <a:ln>
                  <a:solidFill>
                    <a:schemeClr val="tx1"/>
                  </a:solidFill>
                </a:ln>
              </p:spPr>
              <p:txBody>
                <a:bodyPr/>
                <a:lstStyle/>
                <a:p>
                  <a:r>
                    <a:rPr lang="en-US">
                      <a:noFill/>
                    </a:rPr>
                    <a:t> </a:t>
                  </a:r>
                </a:p>
              </p:txBody>
            </p:sp>
          </mc:Fallback>
        </mc:AlternateContent>
        <p:cxnSp>
          <p:nvCxnSpPr>
            <p:cNvPr id="7" name="直接箭头连接符 11">
              <a:extLst>
                <a:ext uri="{FF2B5EF4-FFF2-40B4-BE49-F238E27FC236}">
                  <a16:creationId xmlns:a16="http://schemas.microsoft.com/office/drawing/2014/main" id="{6A62B6A5-7887-4621-94CC-BEF8C81C96B8}"/>
                </a:ext>
              </a:extLst>
            </p:cNvPr>
            <p:cNvCxnSpPr>
              <a:stCxn id="5" idx="1"/>
              <a:endCxn id="4" idx="3"/>
            </p:cNvCxnSpPr>
            <p:nvPr/>
          </p:nvCxnSpPr>
          <p:spPr bwMode="auto">
            <a:xfrm flipH="1" flipV="1">
              <a:off x="17557988" y="4661520"/>
              <a:ext cx="501413" cy="155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箭头连接符 14">
              <a:extLst>
                <a:ext uri="{FF2B5EF4-FFF2-40B4-BE49-F238E27FC236}">
                  <a16:creationId xmlns:a16="http://schemas.microsoft.com/office/drawing/2014/main" id="{DA610F22-363E-4CE1-B643-6BA6DB5B64C4}"/>
                </a:ext>
              </a:extLst>
            </p:cNvPr>
            <p:cNvCxnSpPr>
              <a:stCxn id="4" idx="2"/>
              <a:endCxn id="6" idx="0"/>
            </p:cNvCxnSpPr>
            <p:nvPr/>
          </p:nvCxnSpPr>
          <p:spPr bwMode="auto">
            <a:xfrm>
              <a:off x="15271988" y="4903438"/>
              <a:ext cx="0" cy="42940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文本框 21">
              <a:extLst>
                <a:ext uri="{FF2B5EF4-FFF2-40B4-BE49-F238E27FC236}">
                  <a16:creationId xmlns:a16="http://schemas.microsoft.com/office/drawing/2014/main" id="{349BFB18-9E97-499B-85DF-A45D5332306C}"/>
                </a:ext>
              </a:extLst>
            </p:cNvPr>
            <p:cNvSpPr txBox="1"/>
            <p:nvPr/>
          </p:nvSpPr>
          <p:spPr>
            <a:xfrm>
              <a:off x="13562095" y="6247800"/>
              <a:ext cx="3421867" cy="806394"/>
            </a:xfrm>
            <a:prstGeom prst="rect">
              <a:avLst/>
            </a:prstGeom>
            <a:noFill/>
            <a:ln>
              <a:solidFill>
                <a:schemeClr val="tx1"/>
              </a:solidFill>
            </a:ln>
          </p:spPr>
          <p:txBody>
            <a:bodyPr wrap="none" rtlCol="0">
              <a:spAutoFit/>
            </a:bodyPr>
            <a:lstStyle/>
            <a:p>
              <a:pPr algn="ctr"/>
              <a:r>
                <a:rPr lang="en-US" sz="1200" dirty="0"/>
                <a:t>Initial model: </a:t>
              </a:r>
              <a:r>
                <a:rPr lang="en-US" sz="1200" b="1" dirty="0">
                  <a:solidFill>
                    <a:srgbClr val="7030A0"/>
                  </a:solidFill>
                </a:rPr>
                <a:t>m</a:t>
              </a:r>
            </a:p>
            <a:p>
              <a:pPr algn="ctr"/>
              <a:r>
                <a:rPr lang="en-US" sz="1200" dirty="0"/>
                <a:t>Initial guess of pore size distribution </a:t>
              </a:r>
              <a:r>
                <a:rPr lang="en-US" sz="1200" b="1" dirty="0">
                  <a:solidFill>
                    <a:srgbClr val="7030A0"/>
                  </a:solidFill>
                </a:rPr>
                <a:t>r</a:t>
              </a:r>
              <a:r>
                <a:rPr lang="en-US" sz="1200" dirty="0"/>
                <a:t> </a:t>
              </a:r>
            </a:p>
          </p:txBody>
        </p:sp>
        <p:sp>
          <p:nvSpPr>
            <p:cNvPr id="10" name="文本框 24">
              <a:extLst>
                <a:ext uri="{FF2B5EF4-FFF2-40B4-BE49-F238E27FC236}">
                  <a16:creationId xmlns:a16="http://schemas.microsoft.com/office/drawing/2014/main" id="{7E921308-4AF8-465C-83DB-4BAB55AD29D1}"/>
                </a:ext>
              </a:extLst>
            </p:cNvPr>
            <p:cNvSpPr txBox="1"/>
            <p:nvPr/>
          </p:nvSpPr>
          <p:spPr>
            <a:xfrm>
              <a:off x="12527808" y="7473648"/>
              <a:ext cx="1952142" cy="806394"/>
            </a:xfrm>
            <a:prstGeom prst="rect">
              <a:avLst/>
            </a:prstGeom>
            <a:noFill/>
            <a:ln>
              <a:solidFill>
                <a:schemeClr val="tx1"/>
              </a:solidFill>
            </a:ln>
          </p:spPr>
          <p:txBody>
            <a:bodyPr wrap="none" rtlCol="0">
              <a:spAutoFit/>
            </a:bodyPr>
            <a:lstStyle/>
            <a:p>
              <a:pPr algn="ctr"/>
              <a:r>
                <a:rPr lang="en-US" sz="1200" dirty="0"/>
                <a:t>NMR forward model</a:t>
              </a:r>
            </a:p>
            <a:p>
              <a:pPr algn="ctr"/>
              <a:r>
                <a:rPr lang="en-US" sz="1200" dirty="0"/>
                <a:t>T</a:t>
              </a:r>
              <a:r>
                <a:rPr lang="en-US" sz="1200" baseline="-25000" dirty="0"/>
                <a:t>2</a:t>
              </a:r>
              <a:r>
                <a:rPr lang="en-US" sz="1200" dirty="0"/>
                <a:t> </a:t>
              </a:r>
              <a:r>
                <a:rPr lang="en-US" altLang="zh-CN" sz="1200" dirty="0"/>
                <a:t>distribution</a:t>
              </a:r>
              <a:endParaRPr lang="en-US" sz="1200" dirty="0"/>
            </a:p>
          </p:txBody>
        </p:sp>
        <mc:AlternateContent xmlns:mc="http://schemas.openxmlformats.org/markup-compatibility/2006" xmlns:a14="http://schemas.microsoft.com/office/drawing/2010/main">
          <mc:Choice Requires="a14">
            <p:sp>
              <p:nvSpPr>
                <p:cNvPr id="11" name="文本框 87">
                  <a:extLst>
                    <a:ext uri="{FF2B5EF4-FFF2-40B4-BE49-F238E27FC236}">
                      <a16:creationId xmlns:a16="http://schemas.microsoft.com/office/drawing/2014/main" id="{D25FA639-D3E8-4A78-8CC2-5154966A060C}"/>
                    </a:ext>
                  </a:extLst>
                </p:cNvPr>
                <p:cNvSpPr txBox="1"/>
                <p:nvPr/>
              </p:nvSpPr>
              <p:spPr>
                <a:xfrm>
                  <a:off x="16665550" y="7463356"/>
                  <a:ext cx="1784874" cy="806394"/>
                </a:xfrm>
                <a:prstGeom prst="rect">
                  <a:avLst/>
                </a:prstGeom>
                <a:noFill/>
                <a:ln>
                  <a:solidFill>
                    <a:schemeClr val="tx1"/>
                  </a:solidFill>
                </a:ln>
              </p:spPr>
              <p:txBody>
                <a:bodyPr wrap="none" rtlCol="0">
                  <a:spAutoFit/>
                </a:bodyPr>
                <a:lstStyle/>
                <a:p>
                  <a:pPr algn="ctr"/>
                  <a:r>
                    <a:rPr lang="en-US" sz="1200" dirty="0"/>
                    <a:t>SIP forward model</a:t>
                  </a:r>
                </a:p>
                <a:p>
                  <a:pPr algn="ctr"/>
                  <a14:m>
                    <m:oMath xmlns:m="http://schemas.openxmlformats.org/officeDocument/2006/math">
                      <m:r>
                        <a:rPr lang="en-US" sz="1200" i="1">
                          <a:latin typeface="Cambria Math" panose="02040503050406030204" pitchFamily="18" charset="0"/>
                          <a:ea typeface="Cambria Math" panose="02040503050406030204" pitchFamily="18" charset="0"/>
                        </a:rPr>
                        <m:t>𝜏</m:t>
                      </m:r>
                    </m:oMath>
                  </a14:m>
                  <a:r>
                    <a:rPr lang="en-US" sz="1200" dirty="0"/>
                    <a:t> </a:t>
                  </a:r>
                  <a:r>
                    <a:rPr lang="en-US" altLang="zh-CN" sz="1200" dirty="0"/>
                    <a:t>distribution</a:t>
                  </a:r>
                  <a:endParaRPr lang="en-US" sz="1200" dirty="0"/>
                </a:p>
              </p:txBody>
            </p:sp>
          </mc:Choice>
          <mc:Fallback xmlns="">
            <p:sp>
              <p:nvSpPr>
                <p:cNvPr id="11" name="文本框 87">
                  <a:extLst>
                    <a:ext uri="{FF2B5EF4-FFF2-40B4-BE49-F238E27FC236}">
                      <a16:creationId xmlns:a16="http://schemas.microsoft.com/office/drawing/2014/main" id="{D25FA639-D3E8-4A78-8CC2-5154966A060C}"/>
                    </a:ext>
                  </a:extLst>
                </p:cNvPr>
                <p:cNvSpPr txBox="1">
                  <a:spLocks noRot="1" noChangeAspect="1" noMove="1" noResize="1" noEditPoints="1" noAdjustHandles="1" noChangeArrowheads="1" noChangeShapeType="1" noTextEdit="1"/>
                </p:cNvSpPr>
                <p:nvPr/>
              </p:nvSpPr>
              <p:spPr>
                <a:xfrm>
                  <a:off x="16665550" y="7463356"/>
                  <a:ext cx="1784874" cy="806394"/>
                </a:xfrm>
                <a:prstGeom prst="rect">
                  <a:avLst/>
                </a:prstGeom>
                <a:blipFill>
                  <a:blip r:embed="rId4"/>
                  <a:stretch>
                    <a:fillRect b="-7692"/>
                  </a:stretch>
                </a:blipFill>
                <a:ln>
                  <a:solidFill>
                    <a:schemeClr val="tx1"/>
                  </a:solidFill>
                </a:ln>
              </p:spPr>
              <p:txBody>
                <a:bodyPr/>
                <a:lstStyle/>
                <a:p>
                  <a:r>
                    <a:rPr lang="en-US">
                      <a:noFill/>
                    </a:rPr>
                    <a:t> </a:t>
                  </a:r>
                </a:p>
              </p:txBody>
            </p:sp>
          </mc:Fallback>
        </mc:AlternateContent>
        <p:cxnSp>
          <p:nvCxnSpPr>
            <p:cNvPr id="12" name="连接符: 肘形 33">
              <a:extLst>
                <a:ext uri="{FF2B5EF4-FFF2-40B4-BE49-F238E27FC236}">
                  <a16:creationId xmlns:a16="http://schemas.microsoft.com/office/drawing/2014/main" id="{C73E2129-8D2D-40E4-A1B2-6B8BA06FE32F}"/>
                </a:ext>
              </a:extLst>
            </p:cNvPr>
            <p:cNvCxnSpPr>
              <a:cxnSpLocks/>
              <a:stCxn id="9" idx="2"/>
              <a:endCxn id="10" idx="0"/>
            </p:cNvCxnSpPr>
            <p:nvPr/>
          </p:nvCxnSpPr>
          <p:spPr bwMode="auto">
            <a:xfrm rot="5400000">
              <a:off x="14178728" y="6379347"/>
              <a:ext cx="419454" cy="1769149"/>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连接符: 肘形 41">
              <a:extLst>
                <a:ext uri="{FF2B5EF4-FFF2-40B4-BE49-F238E27FC236}">
                  <a16:creationId xmlns:a16="http://schemas.microsoft.com/office/drawing/2014/main" id="{130CA1F7-32F1-451C-85BB-A44D915AD95C}"/>
                </a:ext>
              </a:extLst>
            </p:cNvPr>
            <p:cNvCxnSpPr>
              <a:stCxn id="9" idx="2"/>
              <a:endCxn id="11" idx="0"/>
            </p:cNvCxnSpPr>
            <p:nvPr/>
          </p:nvCxnSpPr>
          <p:spPr bwMode="auto">
            <a:xfrm rot="16200000" flipH="1">
              <a:off x="16210927" y="6116295"/>
              <a:ext cx="409163" cy="228495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连接符: 肘形 47">
              <a:extLst>
                <a:ext uri="{FF2B5EF4-FFF2-40B4-BE49-F238E27FC236}">
                  <a16:creationId xmlns:a16="http://schemas.microsoft.com/office/drawing/2014/main" id="{86EF6623-63E0-4CD6-AAAD-06473B228ADE}"/>
                </a:ext>
              </a:extLst>
            </p:cNvPr>
            <p:cNvCxnSpPr>
              <a:cxnSpLocks/>
              <a:stCxn id="10" idx="2"/>
              <a:endCxn id="29" idx="0"/>
            </p:cNvCxnSpPr>
            <p:nvPr/>
          </p:nvCxnSpPr>
          <p:spPr bwMode="auto">
            <a:xfrm rot="16200000" flipH="1">
              <a:off x="14057652" y="7726268"/>
              <a:ext cx="660563" cy="176810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连接符: 肘形 51">
              <a:extLst>
                <a:ext uri="{FF2B5EF4-FFF2-40B4-BE49-F238E27FC236}">
                  <a16:creationId xmlns:a16="http://schemas.microsoft.com/office/drawing/2014/main" id="{63E54EF9-6494-4E74-BB05-7F8685348BF6}"/>
                </a:ext>
              </a:extLst>
            </p:cNvPr>
            <p:cNvCxnSpPr>
              <a:cxnSpLocks/>
              <a:stCxn id="11" idx="2"/>
              <a:endCxn id="29" idx="0"/>
            </p:cNvCxnSpPr>
            <p:nvPr/>
          </p:nvCxnSpPr>
          <p:spPr bwMode="auto">
            <a:xfrm rot="5400000">
              <a:off x="16079561" y="7462177"/>
              <a:ext cx="670854" cy="2286000"/>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箭头连接符 57">
              <a:extLst>
                <a:ext uri="{FF2B5EF4-FFF2-40B4-BE49-F238E27FC236}">
                  <a16:creationId xmlns:a16="http://schemas.microsoft.com/office/drawing/2014/main" id="{2E8298AE-4AD0-4E7F-9904-68778683AA01}"/>
                </a:ext>
              </a:extLst>
            </p:cNvPr>
            <p:cNvCxnSpPr>
              <a:stCxn id="6" idx="2"/>
              <a:endCxn id="9" idx="0"/>
            </p:cNvCxnSpPr>
            <p:nvPr/>
          </p:nvCxnSpPr>
          <p:spPr bwMode="auto">
            <a:xfrm>
              <a:off x="15271988" y="5847365"/>
              <a:ext cx="1041" cy="40043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连接符: 肘形 82">
              <a:extLst>
                <a:ext uri="{FF2B5EF4-FFF2-40B4-BE49-F238E27FC236}">
                  <a16:creationId xmlns:a16="http://schemas.microsoft.com/office/drawing/2014/main" id="{290F5F6B-7731-496D-9C86-79EC42CE4374}"/>
                </a:ext>
              </a:extLst>
            </p:cNvPr>
            <p:cNvCxnSpPr>
              <a:cxnSpLocks/>
              <a:stCxn id="29" idx="3"/>
              <a:endCxn id="6" idx="3"/>
            </p:cNvCxnSpPr>
            <p:nvPr/>
          </p:nvCxnSpPr>
          <p:spPr bwMode="auto">
            <a:xfrm flipH="1" flipV="1">
              <a:off x="17710387" y="5590103"/>
              <a:ext cx="457201" cy="5217401"/>
            </a:xfrm>
            <a:prstGeom prst="bentConnector3">
              <a:avLst>
                <a:gd name="adj1" fmla="val -437564"/>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 name="组合 1027">
              <a:extLst>
                <a:ext uri="{FF2B5EF4-FFF2-40B4-BE49-F238E27FC236}">
                  <a16:creationId xmlns:a16="http://schemas.microsoft.com/office/drawing/2014/main" id="{3FCBECA8-CB62-47AB-B0B9-762E54E65342}"/>
                </a:ext>
              </a:extLst>
            </p:cNvPr>
            <p:cNvGrpSpPr/>
            <p:nvPr/>
          </p:nvGrpSpPr>
          <p:grpSpPr>
            <a:xfrm>
              <a:off x="12376387" y="8940605"/>
              <a:ext cx="5791200" cy="3733800"/>
              <a:chOff x="12376387" y="8940605"/>
              <a:chExt cx="5791200" cy="3733800"/>
            </a:xfrm>
          </p:grpSpPr>
          <mc:AlternateContent xmlns:mc="http://schemas.openxmlformats.org/markup-compatibility/2006" xmlns:a14="http://schemas.microsoft.com/office/drawing/2010/main">
            <mc:Choice Requires="a14">
              <p:sp>
                <p:nvSpPr>
                  <p:cNvPr id="27" name="文本框 74">
                    <a:extLst>
                      <a:ext uri="{FF2B5EF4-FFF2-40B4-BE49-F238E27FC236}">
                        <a16:creationId xmlns:a16="http://schemas.microsoft.com/office/drawing/2014/main" id="{9648DDF4-DD1C-4381-814D-DE2A7D8BF9B9}"/>
                      </a:ext>
                    </a:extLst>
                  </p:cNvPr>
                  <p:cNvSpPr txBox="1"/>
                  <p:nvPr/>
                </p:nvSpPr>
                <p:spPr>
                  <a:xfrm>
                    <a:off x="12573001" y="9601199"/>
                    <a:ext cx="5054914" cy="95580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𝐽</m:t>
                              </m:r>
                            </m:e>
                            <m:sub>
                              <m:r>
                                <a:rPr lang="en-US" sz="1400" i="1">
                                  <a:latin typeface="Cambria Math" panose="02040503050406030204" pitchFamily="18" charset="0"/>
                                </a:rPr>
                                <m:t>𝑚</m:t>
                              </m:r>
                            </m:sub>
                          </m:sSub>
                          <m:r>
                            <a:rPr lang="en-US" sz="1400" i="1">
                              <a:latin typeface="Cambria Math" panose="02040503050406030204" pitchFamily="18" charset="0"/>
                            </a:rPr>
                            <m:t>=</m:t>
                          </m:r>
                          <m:nary>
                            <m:naryPr>
                              <m:chr m:val="∑"/>
                              <m:supHide m:val="on"/>
                              <m:ctrlPr>
                                <a:rPr lang="en-US" sz="1400" i="1">
                                  <a:latin typeface="Cambria Math" panose="02040503050406030204" pitchFamily="18" charset="0"/>
                                </a:rPr>
                              </m:ctrlPr>
                            </m:naryPr>
                            <m:sub>
                              <m:r>
                                <m:rPr>
                                  <m:brk m:alnAt="23"/>
                                </m:rPr>
                                <a:rPr lang="en-US" sz="1400" i="1">
                                  <a:latin typeface="Cambria Math" panose="02040503050406030204" pitchFamily="18" charset="0"/>
                                </a:rPr>
                                <m:t>𝑖</m:t>
                              </m:r>
                              <m:r>
                                <a:rPr lang="en-US" sz="1400" i="1">
                                  <a:latin typeface="Cambria Math" panose="02040503050406030204" pitchFamily="18" charset="0"/>
                                </a:rPr>
                                <m:t>=1</m:t>
                              </m:r>
                            </m:sub>
                            <m:sup/>
                            <m:e>
                              <m:nary>
                                <m:naryPr>
                                  <m:chr m:val="∑"/>
                                  <m:supHide m:val="on"/>
                                  <m:ctrlPr>
                                    <a:rPr lang="en-US" sz="1400" i="1">
                                      <a:latin typeface="Cambria Math" panose="02040503050406030204" pitchFamily="18" charset="0"/>
                                    </a:rPr>
                                  </m:ctrlPr>
                                </m:naryPr>
                                <m:sub>
                                  <m:r>
                                    <m:rPr>
                                      <m:brk m:alnAt="23"/>
                                    </m:rPr>
                                    <a:rPr lang="en-US" sz="1400" i="1">
                                      <a:latin typeface="Cambria Math" panose="02040503050406030204" pitchFamily="18" charset="0"/>
                                    </a:rPr>
                                    <m:t>𝑗</m:t>
                                  </m:r>
                                  <m:r>
                                    <a:rPr lang="en-US" sz="1400" i="1">
                                      <a:latin typeface="Cambria Math" panose="02040503050406030204" pitchFamily="18" charset="0"/>
                                    </a:rPr>
                                    <m:t>=1</m:t>
                                  </m:r>
                                </m:sub>
                                <m:sup/>
                                <m:e>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𝜔</m:t>
                                      </m:r>
                                    </m:e>
                                    <m:sub>
                                      <m:r>
                                        <a:rPr lang="en-US" sz="1400" i="1">
                                          <a:latin typeface="Cambria Math" panose="02040503050406030204" pitchFamily="18" charset="0"/>
                                          <a:ea typeface="Cambria Math" panose="02040503050406030204" pitchFamily="18" charset="0"/>
                                        </a:rPr>
                                        <m:t>𝑖</m:t>
                                      </m:r>
                                    </m:sub>
                                    <m:sup>
                                      <m:r>
                                        <a:rPr lang="en-US" sz="1400" i="1">
                                          <a:latin typeface="Cambria Math" panose="02040503050406030204" pitchFamily="18" charset="0"/>
                                        </a:rPr>
                                        <m:t>𝑑</m:t>
                                      </m:r>
                                    </m:sup>
                                  </m:sSubSup>
                                  <m:sSubSup>
                                    <m:sSubSupPr>
                                      <m:ctrlPr>
                                        <a:rPr lang="en-US" sz="1400" i="1">
                                          <a:latin typeface="Cambria Math" panose="02040503050406030204" pitchFamily="18" charset="0"/>
                                        </a:rPr>
                                      </m:ctrlPr>
                                    </m:sSubSup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𝑑</m:t>
                                          </m:r>
                                          <m:r>
                                            <a:rPr lang="en-US" sz="1400" i="1">
                                              <a:latin typeface="Cambria Math" panose="02040503050406030204" pitchFamily="18" charset="0"/>
                                            </a:rPr>
                                            <m:t>−</m:t>
                                          </m:r>
                                          <m:r>
                                            <a:rPr lang="en-US" sz="1400" i="1">
                                              <a:latin typeface="Cambria Math" panose="02040503050406030204" pitchFamily="18" charset="0"/>
                                            </a:rPr>
                                            <m:t>𝐺</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𝑘</m:t>
                                                  </m:r>
                                                </m:sub>
                                              </m:sSub>
                                            </m:e>
                                          </m:d>
                                        </m:e>
                                      </m:d>
                                    </m:e>
                                    <m:sub>
                                      <m:r>
                                        <a:rPr lang="en-US" sz="1400" i="1">
                                          <a:latin typeface="Cambria Math" panose="02040503050406030204" pitchFamily="18" charset="0"/>
                                        </a:rPr>
                                        <m:t>2</m:t>
                                      </m:r>
                                    </m:sub>
                                    <m:sup>
                                      <m:r>
                                        <a:rPr lang="en-US" sz="1400" i="1">
                                          <a:latin typeface="Cambria Math" panose="02040503050406030204" pitchFamily="18" charset="0"/>
                                        </a:rPr>
                                        <m:t>2</m:t>
                                      </m:r>
                                    </m:sup>
                                  </m:sSubSup>
                                </m:e>
                              </m:nary>
                            </m:e>
                          </m:nary>
                          <m:r>
                            <a:rPr lang="en-US" sz="1400">
                              <a:latin typeface="Cambria Math" panose="02040503050406030204" pitchFamily="18" charset="0"/>
                            </a:rPr>
                            <m:t>+</m:t>
                          </m:r>
                          <m:r>
                            <a:rPr lang="el-GR" sz="1400" b="1" i="1">
                              <a:solidFill>
                                <a:srgbClr val="FFC000"/>
                              </a:solidFill>
                              <a:latin typeface="Cambria Math" panose="02040503050406030204" pitchFamily="18" charset="0"/>
                              <a:ea typeface="Cambria Math" panose="02040503050406030204" pitchFamily="18" charset="0"/>
                            </a:rPr>
                            <m:t>𝝀</m:t>
                          </m:r>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𝜔</m:t>
                              </m:r>
                            </m:e>
                            <m:sub>
                              <m:r>
                                <a:rPr lang="en-US" sz="1400" i="1">
                                  <a:latin typeface="Cambria Math" panose="02040503050406030204" pitchFamily="18" charset="0"/>
                                </a:rPr>
                                <m:t>𝑖</m:t>
                              </m:r>
                            </m:sub>
                            <m:sup>
                              <m:r>
                                <a:rPr lang="en-US" sz="1400" i="1">
                                  <a:latin typeface="Cambria Math" panose="02040503050406030204" pitchFamily="18" charset="0"/>
                                </a:rPr>
                                <m:t>𝑚</m:t>
                              </m:r>
                            </m:sup>
                          </m:sSubSup>
                          <m:sSubSup>
                            <m:sSubSupPr>
                              <m:ctrlPr>
                                <a:rPr lang="en-US" sz="1400" i="1">
                                  <a:latin typeface="Cambria Math" panose="02040503050406030204" pitchFamily="18" charset="0"/>
                                </a:rPr>
                              </m:ctrlPr>
                            </m:sSubSup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𝐿</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𝑘</m:t>
                                          </m:r>
                                        </m:sub>
                                      </m:sSub>
                                    </m:e>
                                  </m:d>
                                </m:e>
                              </m:d>
                            </m:e>
                            <m:sub>
                              <m:r>
                                <a:rPr lang="en-US" sz="1400" i="1">
                                  <a:latin typeface="Cambria Math" panose="02040503050406030204" pitchFamily="18" charset="0"/>
                                </a:rPr>
                                <m:t>1,2</m:t>
                              </m:r>
                            </m:sub>
                            <m:sup>
                              <m:r>
                                <a:rPr lang="en-US" sz="1400" i="1">
                                  <a:latin typeface="Cambria Math" panose="02040503050406030204" pitchFamily="18" charset="0"/>
                                </a:rPr>
                                <m:t>2</m:t>
                              </m:r>
                            </m:sup>
                          </m:sSubSup>
                        </m:oMath>
                      </m:oMathPara>
                    </a14:m>
                    <a:endParaRPr lang="en-US" sz="1400" dirty="0"/>
                  </a:p>
                </p:txBody>
              </p:sp>
            </mc:Choice>
            <mc:Fallback xmlns="">
              <p:sp>
                <p:nvSpPr>
                  <p:cNvPr id="27" name="文本框 74">
                    <a:extLst>
                      <a:ext uri="{FF2B5EF4-FFF2-40B4-BE49-F238E27FC236}">
                        <a16:creationId xmlns:a16="http://schemas.microsoft.com/office/drawing/2014/main" id="{9648DDF4-DD1C-4381-814D-DE2A7D8BF9B9}"/>
                      </a:ext>
                    </a:extLst>
                  </p:cNvPr>
                  <p:cNvSpPr txBox="1">
                    <a:spLocks noRot="1" noChangeAspect="1" noMove="1" noResize="1" noEditPoints="1" noAdjustHandles="1" noChangeArrowheads="1" noChangeShapeType="1" noTextEdit="1"/>
                  </p:cNvSpPr>
                  <p:nvPr/>
                </p:nvSpPr>
                <p:spPr>
                  <a:xfrm>
                    <a:off x="12573001" y="9601199"/>
                    <a:ext cx="5054914" cy="955800"/>
                  </a:xfrm>
                  <a:prstGeom prst="rect">
                    <a:avLst/>
                  </a:prstGeom>
                  <a:blipFill>
                    <a:blip r:embed="rId5"/>
                    <a:stretch>
                      <a:fillRect l="-5645" t="-137778" b="-191111"/>
                    </a:stretch>
                  </a:blipFill>
                </p:spPr>
                <p:txBody>
                  <a:bodyPr/>
                  <a:lstStyle/>
                  <a:p>
                    <a:r>
                      <a:rPr lang="en-US">
                        <a:noFill/>
                      </a:rPr>
                      <a:t> </a:t>
                    </a:r>
                  </a:p>
                </p:txBody>
              </p:sp>
            </mc:Fallback>
          </mc:AlternateContent>
          <p:sp>
            <p:nvSpPr>
              <p:cNvPr id="28" name="文本框 6">
                <a:extLst>
                  <a:ext uri="{FF2B5EF4-FFF2-40B4-BE49-F238E27FC236}">
                    <a16:creationId xmlns:a16="http://schemas.microsoft.com/office/drawing/2014/main" id="{31D6C805-B7EC-495B-ACC1-201BC0B4DD2C}"/>
                  </a:ext>
                </a:extLst>
              </p:cNvPr>
              <p:cNvSpPr txBox="1"/>
              <p:nvPr/>
            </p:nvSpPr>
            <p:spPr>
              <a:xfrm>
                <a:off x="12496800" y="9139536"/>
                <a:ext cx="2948629" cy="483836"/>
              </a:xfrm>
              <a:prstGeom prst="rect">
                <a:avLst/>
              </a:prstGeom>
              <a:noFill/>
            </p:spPr>
            <p:txBody>
              <a:bodyPr wrap="none" rtlCol="0">
                <a:spAutoFit/>
              </a:bodyPr>
              <a:lstStyle/>
              <a:p>
                <a:pPr algn="ctr"/>
                <a:r>
                  <a:rPr lang="en-US" sz="1200" dirty="0"/>
                  <a:t>Tikhonov regularization scheme:</a:t>
                </a:r>
              </a:p>
            </p:txBody>
          </p:sp>
          <p:sp>
            <p:nvSpPr>
              <p:cNvPr id="29" name="矩形 17">
                <a:extLst>
                  <a:ext uri="{FF2B5EF4-FFF2-40B4-BE49-F238E27FC236}">
                    <a16:creationId xmlns:a16="http://schemas.microsoft.com/office/drawing/2014/main" id="{D6A68445-F1C4-4594-B215-F5D9C06744B7}"/>
                  </a:ext>
                </a:extLst>
              </p:cNvPr>
              <p:cNvSpPr/>
              <p:nvPr/>
            </p:nvSpPr>
            <p:spPr bwMode="auto">
              <a:xfrm>
                <a:off x="12376387" y="8940605"/>
                <a:ext cx="5791200" cy="37338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endParaRPr lang="en-US" sz="1600" dirty="0">
                  <a:latin typeface="Times New Roman" pitchFamily="18" charset="0"/>
                </a:endParaRPr>
              </a:p>
            </p:txBody>
          </p:sp>
          <p:sp>
            <p:nvSpPr>
              <p:cNvPr id="30" name="文本框 80">
                <a:extLst>
                  <a:ext uri="{FF2B5EF4-FFF2-40B4-BE49-F238E27FC236}">
                    <a16:creationId xmlns:a16="http://schemas.microsoft.com/office/drawing/2014/main" id="{3CA4AC4A-BF8B-4741-8482-CC2F49C3B4F3}"/>
                  </a:ext>
                </a:extLst>
              </p:cNvPr>
              <p:cNvSpPr txBox="1"/>
              <p:nvPr/>
            </p:nvSpPr>
            <p:spPr>
              <a:xfrm>
                <a:off x="12496800" y="10439398"/>
                <a:ext cx="1149000" cy="483836"/>
              </a:xfrm>
              <a:prstGeom prst="rect">
                <a:avLst/>
              </a:prstGeom>
              <a:noFill/>
            </p:spPr>
            <p:txBody>
              <a:bodyPr wrap="none" rtlCol="0">
                <a:spAutoFit/>
              </a:bodyPr>
              <a:lstStyle/>
              <a:p>
                <a:pPr algn="ctr"/>
                <a:r>
                  <a:rPr lang="en-US" sz="1200" dirty="0"/>
                  <a:t>Weighting:</a:t>
                </a:r>
              </a:p>
            </p:txBody>
          </p:sp>
          <mc:AlternateContent xmlns:mc="http://schemas.openxmlformats.org/markup-compatibility/2006" xmlns:a14="http://schemas.microsoft.com/office/drawing/2010/main">
            <mc:Choice Requires="a14">
              <p:sp>
                <p:nvSpPr>
                  <p:cNvPr id="31" name="文本框 19">
                    <a:extLst>
                      <a:ext uri="{FF2B5EF4-FFF2-40B4-BE49-F238E27FC236}">
                        <a16:creationId xmlns:a16="http://schemas.microsoft.com/office/drawing/2014/main" id="{252A0BB2-B813-4DF6-8F06-07763DCE86B3}"/>
                      </a:ext>
                    </a:extLst>
                  </p:cNvPr>
                  <p:cNvSpPr txBox="1"/>
                  <p:nvPr/>
                </p:nvSpPr>
                <p:spPr>
                  <a:xfrm>
                    <a:off x="12573001" y="10970108"/>
                    <a:ext cx="939616" cy="805835"/>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𝜔</m:t>
                              </m:r>
                            </m:e>
                            <m:sup>
                              <m:r>
                                <a:rPr lang="en-US" sz="1400" i="1">
                                  <a:latin typeface="Cambria Math" panose="02040503050406030204" pitchFamily="18" charset="0"/>
                                </a:rPr>
                                <m:t>𝑑</m:t>
                              </m:r>
                            </m:sup>
                          </m:sSup>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sSubSup>
                                <m:sSubSupPr>
                                  <m:ctrlPr>
                                    <a:rPr lang="en-US" sz="1400" i="1">
                                      <a:latin typeface="Cambria Math" panose="02040503050406030204" pitchFamily="18" charset="0"/>
                                    </a:rPr>
                                  </m:ctrlPr>
                                </m:sSubSupPr>
                                <m:e>
                                  <m:r>
                                    <a:rPr lang="en-US" sz="1400" i="1">
                                      <a:latin typeface="Cambria Math" panose="02040503050406030204" pitchFamily="18" charset="0"/>
                                    </a:rPr>
                                    <m:t>𝜎</m:t>
                                  </m:r>
                                </m:e>
                                <m:sub>
                                  <m:r>
                                    <a:rPr lang="en-US" sz="1400" i="1">
                                      <a:latin typeface="Cambria Math" panose="02040503050406030204" pitchFamily="18" charset="0"/>
                                    </a:rPr>
                                    <m:t>𝑖</m:t>
                                  </m:r>
                                </m:sub>
                                <m:sup>
                                  <m:r>
                                    <a:rPr lang="en-US" sz="1400" i="1">
                                      <a:latin typeface="Cambria Math" panose="02040503050406030204" pitchFamily="18" charset="0"/>
                                    </a:rPr>
                                    <m:t>2</m:t>
                                  </m:r>
                                </m:sup>
                              </m:sSubSup>
                            </m:den>
                          </m:f>
                        </m:oMath>
                      </m:oMathPara>
                    </a14:m>
                    <a:endParaRPr lang="en-US" sz="1400" dirty="0"/>
                  </a:p>
                </p:txBody>
              </p:sp>
            </mc:Choice>
            <mc:Fallback xmlns="">
              <p:sp>
                <p:nvSpPr>
                  <p:cNvPr id="31" name="文本框 19">
                    <a:extLst>
                      <a:ext uri="{FF2B5EF4-FFF2-40B4-BE49-F238E27FC236}">
                        <a16:creationId xmlns:a16="http://schemas.microsoft.com/office/drawing/2014/main" id="{252A0BB2-B813-4DF6-8F06-07763DCE86B3}"/>
                      </a:ext>
                    </a:extLst>
                  </p:cNvPr>
                  <p:cNvSpPr txBox="1">
                    <a:spLocks noRot="1" noChangeAspect="1" noMove="1" noResize="1" noEditPoints="1" noAdjustHandles="1" noChangeArrowheads="1" noChangeShapeType="1" noTextEdit="1"/>
                  </p:cNvSpPr>
                  <p:nvPr/>
                </p:nvSpPr>
                <p:spPr>
                  <a:xfrm>
                    <a:off x="12573001" y="10970108"/>
                    <a:ext cx="939616" cy="805835"/>
                  </a:xfrm>
                  <a:prstGeom prst="rect">
                    <a:avLst/>
                  </a:prstGeom>
                  <a:blipFill>
                    <a:blip r:embed="rId6"/>
                    <a:stretch>
                      <a:fillRect l="-2586" r="-862"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文本框 81">
                    <a:extLst>
                      <a:ext uri="{FF2B5EF4-FFF2-40B4-BE49-F238E27FC236}">
                        <a16:creationId xmlns:a16="http://schemas.microsoft.com/office/drawing/2014/main" id="{B63DB551-2907-4326-8151-B939271FEB5B}"/>
                      </a:ext>
                    </a:extLst>
                  </p:cNvPr>
                  <p:cNvSpPr txBox="1"/>
                  <p:nvPr/>
                </p:nvSpPr>
                <p:spPr>
                  <a:xfrm>
                    <a:off x="14241730" y="10679705"/>
                    <a:ext cx="3505200" cy="1405701"/>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𝜔</m:t>
                              </m:r>
                            </m:e>
                            <m:sup>
                              <m:r>
                                <a:rPr lang="en-US" sz="1400" i="1">
                                  <a:latin typeface="Cambria Math" panose="02040503050406030204" pitchFamily="18" charset="0"/>
                                </a:rPr>
                                <m:t>𝑚</m:t>
                              </m:r>
                            </m:sup>
                          </m:sSup>
                          <m:r>
                            <a:rPr lang="en-US" sz="1400" i="1">
                              <a:latin typeface="Cambria Math" panose="02040503050406030204" pitchFamily="18" charset="0"/>
                            </a:rPr>
                            <m:t>=</m:t>
                          </m:r>
                          <m:r>
                            <a:rPr lang="en-US" sz="1400" b="1">
                              <a:latin typeface="Cambria Math" panose="02040503050406030204" pitchFamily="18" charset="0"/>
                            </a:rPr>
                            <m:t>𝐈</m:t>
                          </m:r>
                          <m:d>
                            <m:dPr>
                              <m:ctrlPr>
                                <a:rPr lang="en-US" sz="1400" i="1">
                                  <a:latin typeface="Cambria Math" panose="02040503050406030204" pitchFamily="18" charset="0"/>
                                </a:rPr>
                              </m:ctrlPr>
                            </m:dPr>
                            <m:e>
                              <m:m>
                                <m:mPr>
                                  <m:mcs>
                                    <m:mc>
                                      <m:mcPr>
                                        <m:count m:val="1"/>
                                        <m:mcJc m:val="center"/>
                                      </m:mcPr>
                                    </m:mc>
                                  </m:mcs>
                                  <m:ctrlPr>
                                    <a:rPr lang="en-US" sz="1400" i="1">
                                      <a:latin typeface="Cambria Math" panose="02040503050406030204" pitchFamily="18" charset="0"/>
                                    </a:rPr>
                                  </m:ctrlPr>
                                </m:mPr>
                                <m:mr>
                                  <m:e>
                                    <m:r>
                                      <m:rPr>
                                        <m:brk m:alnAt="7"/>
                                      </m:rPr>
                                      <a:rPr lang="en-US" sz="1400" b="1" i="1">
                                        <a:solidFill>
                                          <a:srgbClr val="00B050"/>
                                        </a:solidFill>
                                        <a:latin typeface="Cambria Math" panose="02040503050406030204" pitchFamily="18" charset="0"/>
                                        <a:ea typeface="Cambria Math" panose="02040503050406030204" pitchFamily="18" charset="0"/>
                                      </a:rPr>
                                      <m:t>𝜷</m:t>
                                    </m:r>
                                    <m:r>
                                      <m:rPr>
                                        <m:brk m:alnAt="7"/>
                                      </m:rPr>
                                      <a:rPr lang="en-US" sz="1400" i="1">
                                        <a:latin typeface="Cambria Math" panose="02040503050406030204" pitchFamily="18" charset="0"/>
                                        <a:ea typeface="Cambria Math" panose="02040503050406030204" pitchFamily="18" charset="0"/>
                                      </a:rPr>
                                      <m:t> </m:t>
                                    </m:r>
                                    <m:r>
                                      <a:rPr lang="en-US" sz="1400" i="1">
                                        <a:latin typeface="Cambria Math" panose="02040503050406030204" pitchFamily="18" charset="0"/>
                                      </a:rPr>
                                      <m:t>𝑑𝑖𝑎𝑔</m:t>
                                    </m:r>
                                    <m:f>
                                      <m:fPr>
                                        <m:type m:val="lin"/>
                                        <m:ctrlPr>
                                          <a:rPr lang="en-US" sz="1400" i="1">
                                            <a:latin typeface="Cambria Math" panose="02040503050406030204" pitchFamily="18" charset="0"/>
                                          </a:rPr>
                                        </m:ctrlPr>
                                      </m:fPr>
                                      <m:num>
                                        <m:r>
                                          <a:rPr lang="en-US" sz="1400" i="1">
                                            <a:latin typeface="Cambria Math" panose="02040503050406030204" pitchFamily="18" charset="0"/>
                                          </a:rPr>
                                          <m:t>1</m:t>
                                        </m:r>
                                      </m:num>
                                      <m:den>
                                        <m:sSubSup>
                                          <m:sSubSupPr>
                                            <m:ctrlPr>
                                              <a:rPr lang="en-US" sz="1400" i="1">
                                                <a:latin typeface="Cambria Math" panose="02040503050406030204" pitchFamily="18" charset="0"/>
                                              </a:rPr>
                                            </m:ctrlPr>
                                          </m:sSubSupPr>
                                          <m:e>
                                            <m:r>
                                              <a:rPr lang="en-US" sz="1400" i="1">
                                                <a:latin typeface="Cambria Math" panose="02040503050406030204" pitchFamily="18" charset="0"/>
                                              </a:rPr>
                                              <m:t>𝜎</m:t>
                                            </m:r>
                                          </m:e>
                                          <m:sub>
                                            <m:r>
                                              <a:rPr lang="en-US" sz="1400" i="1">
                                                <a:latin typeface="Cambria Math" panose="02040503050406030204" pitchFamily="18" charset="0"/>
                                              </a:rPr>
                                              <m:t>𝑝</m:t>
                                            </m:r>
                                            <m:r>
                                              <a:rPr lang="en-US" sz="1400" i="1">
                                                <a:latin typeface="Cambria Math" panose="02040503050406030204" pitchFamily="18" charset="0"/>
                                              </a:rPr>
                                              <m:t> </m:t>
                                            </m:r>
                                            <m:r>
                                              <a:rPr lang="en-US" sz="1400" i="1">
                                                <a:latin typeface="Cambria Math" panose="02040503050406030204" pitchFamily="18" charset="0"/>
                                              </a:rPr>
                                              <m:t>𝑅𝑒</m:t>
                                            </m:r>
                                          </m:sub>
                                          <m:sup>
                                            <m:r>
                                              <a:rPr lang="en-US" sz="1400" i="1">
                                                <a:latin typeface="Cambria Math" panose="02040503050406030204" pitchFamily="18" charset="0"/>
                                              </a:rPr>
                                              <m:t>2</m:t>
                                            </m:r>
                                          </m:sup>
                                        </m:sSubSup>
                                      </m:den>
                                    </m:f>
                                  </m:e>
                                </m:mr>
                                <m:mr>
                                  <m:e>
                                    <m:r>
                                      <a:rPr lang="en-US" sz="1400" b="1" i="1">
                                        <a:solidFill>
                                          <a:srgbClr val="00B050"/>
                                        </a:solidFill>
                                        <a:latin typeface="Cambria Math" panose="02040503050406030204" pitchFamily="18" charset="0"/>
                                        <a:ea typeface="Cambria Math" panose="02040503050406030204" pitchFamily="18" charset="0"/>
                                      </a:rPr>
                                      <m:t>𝜷</m:t>
                                    </m:r>
                                    <m:r>
                                      <a:rPr lang="en-US" sz="1400" i="1">
                                        <a:latin typeface="Cambria Math" panose="02040503050406030204" pitchFamily="18" charset="0"/>
                                        <a:ea typeface="Cambria Math" panose="02040503050406030204" pitchFamily="18" charset="0"/>
                                      </a:rPr>
                                      <m:t> </m:t>
                                    </m:r>
                                    <m:r>
                                      <a:rPr lang="en-US" sz="1400" i="1">
                                        <a:latin typeface="Cambria Math" panose="02040503050406030204" pitchFamily="18" charset="0"/>
                                      </a:rPr>
                                      <m:t>𝑑𝑖𝑎𝑔</m:t>
                                    </m:r>
                                    <m:f>
                                      <m:fPr>
                                        <m:type m:val="lin"/>
                                        <m:ctrlPr>
                                          <a:rPr lang="en-US" sz="1400" i="1">
                                            <a:latin typeface="Cambria Math" panose="02040503050406030204" pitchFamily="18" charset="0"/>
                                          </a:rPr>
                                        </m:ctrlPr>
                                      </m:fPr>
                                      <m:num>
                                        <m:r>
                                          <a:rPr lang="en-US" sz="1400" i="1">
                                            <a:latin typeface="Cambria Math" panose="02040503050406030204" pitchFamily="18" charset="0"/>
                                          </a:rPr>
                                          <m:t>1</m:t>
                                        </m:r>
                                      </m:num>
                                      <m:den>
                                        <m:sSubSup>
                                          <m:sSubSupPr>
                                            <m:ctrlPr>
                                              <a:rPr lang="en-US" sz="1400" i="1">
                                                <a:latin typeface="Cambria Math" panose="02040503050406030204" pitchFamily="18" charset="0"/>
                                              </a:rPr>
                                            </m:ctrlPr>
                                          </m:sSubSupPr>
                                          <m:e>
                                            <m:r>
                                              <a:rPr lang="en-US" sz="1400" i="1">
                                                <a:latin typeface="Cambria Math" panose="02040503050406030204" pitchFamily="18" charset="0"/>
                                              </a:rPr>
                                              <m:t>𝜎</m:t>
                                            </m:r>
                                          </m:e>
                                          <m:sub>
                                            <m:r>
                                              <a:rPr lang="en-US" sz="1400" i="1">
                                                <a:latin typeface="Cambria Math" panose="02040503050406030204" pitchFamily="18" charset="0"/>
                                              </a:rPr>
                                              <m:t>𝑝</m:t>
                                            </m:r>
                                            <m:r>
                                              <a:rPr lang="en-US" sz="1400" i="1">
                                                <a:latin typeface="Cambria Math" panose="02040503050406030204" pitchFamily="18" charset="0"/>
                                              </a:rPr>
                                              <m:t> </m:t>
                                            </m:r>
                                            <m:r>
                                              <a:rPr lang="en-US" sz="1400" i="1">
                                                <a:latin typeface="Cambria Math" panose="02040503050406030204" pitchFamily="18" charset="0"/>
                                              </a:rPr>
                                              <m:t>𝐼𝑚</m:t>
                                            </m:r>
                                          </m:sub>
                                          <m:sup>
                                            <m:r>
                                              <a:rPr lang="en-US" sz="1400" i="1">
                                                <a:latin typeface="Cambria Math" panose="02040503050406030204" pitchFamily="18" charset="0"/>
                                              </a:rPr>
                                              <m:t>2</m:t>
                                            </m:r>
                                          </m:sup>
                                        </m:sSubSup>
                                      </m:den>
                                    </m:f>
                                  </m:e>
                                </m:mr>
                                <m:mr>
                                  <m:e>
                                    <m:r>
                                      <a:rPr lang="en-US" sz="1400" i="1">
                                        <a:latin typeface="Cambria Math" panose="02040503050406030204" pitchFamily="18" charset="0"/>
                                      </a:rPr>
                                      <m:t>𝑑𝑖𝑎𝑔</m:t>
                                    </m:r>
                                    <m:f>
                                      <m:fPr>
                                        <m:type m:val="lin"/>
                                        <m:ctrlPr>
                                          <a:rPr lang="en-US" sz="1400" i="1">
                                            <a:latin typeface="Cambria Math" panose="02040503050406030204" pitchFamily="18" charset="0"/>
                                          </a:rPr>
                                        </m:ctrlPr>
                                      </m:fPr>
                                      <m:num>
                                        <m:r>
                                          <a:rPr lang="en-US" sz="1400" i="1">
                                            <a:latin typeface="Cambria Math" panose="02040503050406030204" pitchFamily="18" charset="0"/>
                                          </a:rPr>
                                          <m:t>1</m:t>
                                        </m:r>
                                      </m:num>
                                      <m:den>
                                        <m:sSubSup>
                                          <m:sSubSupPr>
                                            <m:ctrlPr>
                                              <a:rPr lang="en-US" sz="1400" i="1">
                                                <a:latin typeface="Cambria Math" panose="02040503050406030204" pitchFamily="18" charset="0"/>
                                              </a:rPr>
                                            </m:ctrlPr>
                                          </m:sSubSupPr>
                                          <m:e>
                                            <m:r>
                                              <a:rPr lang="en-US" sz="1400" i="1">
                                                <a:latin typeface="Cambria Math" panose="02040503050406030204" pitchFamily="18" charset="0"/>
                                              </a:rPr>
                                              <m:t>𝜎</m:t>
                                            </m:r>
                                          </m:e>
                                          <m:sub>
                                            <m:r>
                                              <a:rPr lang="en-US" sz="1400" i="1">
                                                <a:latin typeface="Cambria Math" panose="02040503050406030204" pitchFamily="18" charset="0"/>
                                              </a:rPr>
                                              <m:t>𝑞</m:t>
                                            </m:r>
                                            <m:r>
                                              <a:rPr lang="en-US" sz="1400" i="1">
                                                <a:latin typeface="Cambria Math" panose="02040503050406030204" pitchFamily="18" charset="0"/>
                                              </a:rPr>
                                              <m:t> </m:t>
                                            </m:r>
                                            <m:r>
                                              <a:rPr lang="en-US" sz="1400" i="1">
                                                <a:latin typeface="Cambria Math" panose="02040503050406030204" pitchFamily="18" charset="0"/>
                                              </a:rPr>
                                              <m:t>𝑁𝑀𝑅</m:t>
                                            </m:r>
                                          </m:sub>
                                          <m:sup>
                                            <m:r>
                                              <a:rPr lang="en-US" sz="1400" i="1">
                                                <a:latin typeface="Cambria Math" panose="02040503050406030204" pitchFamily="18" charset="0"/>
                                              </a:rPr>
                                              <m:t>2</m:t>
                                            </m:r>
                                          </m:sup>
                                        </m:sSubSup>
                                      </m:den>
                                    </m:f>
                                  </m:e>
                                </m:mr>
                              </m:m>
                            </m:e>
                          </m:d>
                        </m:oMath>
                      </m:oMathPara>
                    </a14:m>
                    <a:endParaRPr lang="en-US" sz="1400" dirty="0"/>
                  </a:p>
                </p:txBody>
              </p:sp>
            </mc:Choice>
            <mc:Fallback xmlns="">
              <p:sp>
                <p:nvSpPr>
                  <p:cNvPr id="32" name="文本框 81">
                    <a:extLst>
                      <a:ext uri="{FF2B5EF4-FFF2-40B4-BE49-F238E27FC236}">
                        <a16:creationId xmlns:a16="http://schemas.microsoft.com/office/drawing/2014/main" id="{B63DB551-2907-4326-8151-B939271FEB5B}"/>
                      </a:ext>
                    </a:extLst>
                  </p:cNvPr>
                  <p:cNvSpPr txBox="1">
                    <a:spLocks noRot="1" noChangeAspect="1" noMove="1" noResize="1" noEditPoints="1" noAdjustHandles="1" noChangeArrowheads="1" noChangeShapeType="1" noTextEdit="1"/>
                  </p:cNvSpPr>
                  <p:nvPr/>
                </p:nvSpPr>
                <p:spPr>
                  <a:xfrm>
                    <a:off x="14241730" y="10679705"/>
                    <a:ext cx="3505200" cy="140570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文本框 99">
                    <a:extLst>
                      <a:ext uri="{FF2B5EF4-FFF2-40B4-BE49-F238E27FC236}">
                        <a16:creationId xmlns:a16="http://schemas.microsoft.com/office/drawing/2014/main" id="{7E576775-FE31-47EE-8362-82CB648E13E1}"/>
                      </a:ext>
                    </a:extLst>
                  </p:cNvPr>
                  <p:cNvSpPr txBox="1"/>
                  <p:nvPr/>
                </p:nvSpPr>
                <p:spPr>
                  <a:xfrm>
                    <a:off x="12496800" y="12115801"/>
                    <a:ext cx="3966303" cy="483836"/>
                  </a:xfrm>
                  <a:prstGeom prst="rect">
                    <a:avLst/>
                  </a:prstGeom>
                  <a:noFill/>
                </p:spPr>
                <p:txBody>
                  <a:bodyPr wrap="none" rtlCol="0">
                    <a:spAutoFit/>
                  </a:bodyPr>
                  <a:lstStyle/>
                  <a:p>
                    <a:pPr algn="ctr"/>
                    <a:r>
                      <a:rPr lang="en-US" sz="1200" dirty="0"/>
                      <a:t>F</a:t>
                    </a:r>
                    <a:r>
                      <a:rPr lang="en-US" altLang="zh-CN" sz="1200" dirty="0"/>
                      <a:t>ix </a:t>
                    </a:r>
                    <a:r>
                      <a:rPr lang="en-US" sz="1200" dirty="0"/>
                      <a:t>regularization</a:t>
                    </a:r>
                    <a:r>
                      <a:rPr lang="el-GR" sz="1200" b="1" dirty="0">
                        <a:solidFill>
                          <a:schemeClr val="accent3">
                            <a:lumMod val="75000"/>
                          </a:schemeClr>
                        </a:solidFill>
                        <a:ea typeface="Cambria Math" panose="02040503050406030204" pitchFamily="18" charset="0"/>
                      </a:rPr>
                      <a:t> </a:t>
                    </a:r>
                    <a14:m>
                      <m:oMath xmlns:m="http://schemas.openxmlformats.org/officeDocument/2006/math">
                        <m:r>
                          <a:rPr lang="el-GR" sz="1200" b="1" i="1">
                            <a:solidFill>
                              <a:srgbClr val="FFC000"/>
                            </a:solidFill>
                            <a:latin typeface="Cambria Math" panose="02040503050406030204" pitchFamily="18" charset="0"/>
                            <a:ea typeface="Cambria Math" panose="02040503050406030204" pitchFamily="18" charset="0"/>
                          </a:rPr>
                          <m:t>𝝀</m:t>
                        </m:r>
                        <m:r>
                          <a:rPr lang="el-GR" sz="1200" b="1" i="1">
                            <a:solidFill>
                              <a:schemeClr val="accent3">
                                <a:lumMod val="75000"/>
                              </a:schemeClr>
                            </a:solidFill>
                            <a:latin typeface="Cambria Math" panose="02040503050406030204" pitchFamily="18" charset="0"/>
                            <a:ea typeface="Cambria Math" panose="02040503050406030204" pitchFamily="18" charset="0"/>
                          </a:rPr>
                          <m:t> </m:t>
                        </m:r>
                      </m:oMath>
                    </a14:m>
                    <a:r>
                      <a:rPr lang="en-US" sz="1200" dirty="0"/>
                      <a:t>/weighting parameters </a:t>
                    </a:r>
                    <a14:m>
                      <m:oMath xmlns:m="http://schemas.openxmlformats.org/officeDocument/2006/math">
                        <m:r>
                          <m:rPr>
                            <m:brk m:alnAt="7"/>
                          </m:rPr>
                          <a:rPr lang="en-US" sz="1200" b="1" i="1">
                            <a:solidFill>
                              <a:srgbClr val="00B050"/>
                            </a:solidFill>
                            <a:latin typeface="Cambria Math" panose="02040503050406030204" pitchFamily="18" charset="0"/>
                            <a:ea typeface="Cambria Math" panose="02040503050406030204" pitchFamily="18" charset="0"/>
                          </a:rPr>
                          <m:t>𝜷</m:t>
                        </m:r>
                      </m:oMath>
                    </a14:m>
                    <a:endParaRPr lang="en-US" sz="1200" dirty="0">
                      <a:solidFill>
                        <a:srgbClr val="00B050"/>
                      </a:solidFill>
                    </a:endParaRPr>
                  </a:p>
                </p:txBody>
              </p:sp>
            </mc:Choice>
            <mc:Fallback xmlns="">
              <p:sp>
                <p:nvSpPr>
                  <p:cNvPr id="33" name="文本框 99">
                    <a:extLst>
                      <a:ext uri="{FF2B5EF4-FFF2-40B4-BE49-F238E27FC236}">
                        <a16:creationId xmlns:a16="http://schemas.microsoft.com/office/drawing/2014/main" id="{7E576775-FE31-47EE-8362-82CB648E13E1}"/>
                      </a:ext>
                    </a:extLst>
                  </p:cNvPr>
                  <p:cNvSpPr txBox="1">
                    <a:spLocks noRot="1" noChangeAspect="1" noMove="1" noResize="1" noEditPoints="1" noAdjustHandles="1" noChangeArrowheads="1" noChangeShapeType="1" noTextEdit="1"/>
                  </p:cNvSpPr>
                  <p:nvPr/>
                </p:nvSpPr>
                <p:spPr>
                  <a:xfrm>
                    <a:off x="12496800" y="12115801"/>
                    <a:ext cx="3966303" cy="483836"/>
                  </a:xfrm>
                  <a:prstGeom prst="rect">
                    <a:avLst/>
                  </a:prstGeom>
                  <a:blipFill>
                    <a:blip r:embed="rId8"/>
                    <a:stretch>
                      <a:fillRect b="-15217"/>
                    </a:stretch>
                  </a:blipFill>
                </p:spPr>
                <p:txBody>
                  <a:bodyPr/>
                  <a:lstStyle/>
                  <a:p>
                    <a:r>
                      <a:rPr lang="en-US">
                        <a:noFill/>
                      </a:rPr>
                      <a:t> </a:t>
                    </a:r>
                  </a:p>
                </p:txBody>
              </p:sp>
            </mc:Fallback>
          </mc:AlternateContent>
        </p:grpSp>
        <p:sp>
          <p:nvSpPr>
            <p:cNvPr id="19" name="文本框 1023">
              <a:extLst>
                <a:ext uri="{FF2B5EF4-FFF2-40B4-BE49-F238E27FC236}">
                  <a16:creationId xmlns:a16="http://schemas.microsoft.com/office/drawing/2014/main" id="{9AD9EBC0-24ED-48A0-8C86-FEAFA1F03A69}"/>
                </a:ext>
              </a:extLst>
            </p:cNvPr>
            <p:cNvSpPr txBox="1"/>
            <p:nvPr/>
          </p:nvSpPr>
          <p:spPr>
            <a:xfrm>
              <a:off x="18693159" y="10404306"/>
              <a:ext cx="1600200" cy="806394"/>
            </a:xfrm>
            <a:prstGeom prst="rect">
              <a:avLst/>
            </a:prstGeom>
            <a:noFill/>
          </p:spPr>
          <p:txBody>
            <a:bodyPr wrap="square" rtlCol="0">
              <a:spAutoFit/>
            </a:bodyPr>
            <a:lstStyle/>
            <a:p>
              <a:pPr algn="ctr"/>
              <a:r>
                <a:rPr lang="en-US" sz="1200" dirty="0"/>
                <a:t>P</a:t>
              </a:r>
              <a:r>
                <a:rPr lang="en-US" altLang="zh-CN" sz="1200" dirty="0"/>
                <a:t>arameter estimation</a:t>
              </a:r>
              <a:endParaRPr lang="en-US" sz="1200" dirty="0"/>
            </a:p>
          </p:txBody>
        </p:sp>
        <p:sp>
          <p:nvSpPr>
            <p:cNvPr id="20" name="文本框 150">
              <a:extLst>
                <a:ext uri="{FF2B5EF4-FFF2-40B4-BE49-F238E27FC236}">
                  <a16:creationId xmlns:a16="http://schemas.microsoft.com/office/drawing/2014/main" id="{F90A6E4C-917B-4A21-ADA3-46363CE4CCB6}"/>
                </a:ext>
              </a:extLst>
            </p:cNvPr>
            <p:cNvSpPr txBox="1"/>
            <p:nvPr/>
          </p:nvSpPr>
          <p:spPr>
            <a:xfrm>
              <a:off x="18681147" y="5186905"/>
              <a:ext cx="1961384" cy="806394"/>
            </a:xfrm>
            <a:prstGeom prst="rect">
              <a:avLst/>
            </a:prstGeom>
            <a:noFill/>
          </p:spPr>
          <p:txBody>
            <a:bodyPr wrap="square" rtlCol="0">
              <a:spAutoFit/>
            </a:bodyPr>
            <a:lstStyle/>
            <a:p>
              <a:pPr algn="ctr"/>
              <a:r>
                <a:rPr lang="en-US" sz="1200" dirty="0"/>
                <a:t>Update </a:t>
              </a:r>
            </a:p>
            <a:p>
              <a:pPr algn="ctr"/>
              <a:r>
                <a:rPr lang="en-US" sz="1200" dirty="0"/>
                <a:t>parameters</a:t>
              </a:r>
            </a:p>
          </p:txBody>
        </p:sp>
        <p:sp>
          <p:nvSpPr>
            <p:cNvPr id="21" name="文本框 1024">
              <a:extLst>
                <a:ext uri="{FF2B5EF4-FFF2-40B4-BE49-F238E27FC236}">
                  <a16:creationId xmlns:a16="http://schemas.microsoft.com/office/drawing/2014/main" id="{DA8F080F-D199-40D3-9F60-8E67F4F84B3B}"/>
                </a:ext>
              </a:extLst>
            </p:cNvPr>
            <p:cNvSpPr txBox="1"/>
            <p:nvPr/>
          </p:nvSpPr>
          <p:spPr>
            <a:xfrm>
              <a:off x="13971115" y="13036053"/>
              <a:ext cx="2590800" cy="483836"/>
            </a:xfrm>
            <a:prstGeom prst="rect">
              <a:avLst/>
            </a:prstGeom>
            <a:noFill/>
            <a:ln>
              <a:solidFill>
                <a:schemeClr val="tx1"/>
              </a:solidFill>
            </a:ln>
          </p:spPr>
          <p:txBody>
            <a:bodyPr wrap="square" rtlCol="0">
              <a:spAutoFit/>
            </a:bodyPr>
            <a:lstStyle/>
            <a:p>
              <a:pPr algn="ctr"/>
              <a:r>
                <a:rPr lang="en-US" sz="1200" dirty="0"/>
                <a:t>Evaluate model fit</a:t>
              </a:r>
            </a:p>
          </p:txBody>
        </p:sp>
        <p:cxnSp>
          <p:nvCxnSpPr>
            <p:cNvPr id="22" name="直接箭头连接符 1031">
              <a:extLst>
                <a:ext uri="{FF2B5EF4-FFF2-40B4-BE49-F238E27FC236}">
                  <a16:creationId xmlns:a16="http://schemas.microsoft.com/office/drawing/2014/main" id="{FBB62FF4-CCDD-4F99-A47B-7622ECAA52A5}"/>
                </a:ext>
              </a:extLst>
            </p:cNvPr>
            <p:cNvCxnSpPr>
              <a:cxnSpLocks/>
              <a:stCxn id="29" idx="2"/>
              <a:endCxn id="21" idx="0"/>
            </p:cNvCxnSpPr>
            <p:nvPr/>
          </p:nvCxnSpPr>
          <p:spPr bwMode="auto">
            <a:xfrm flipH="1">
              <a:off x="15266515" y="12674405"/>
              <a:ext cx="5473" cy="36164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连接符: 肘形 1037">
              <a:extLst>
                <a:ext uri="{FF2B5EF4-FFF2-40B4-BE49-F238E27FC236}">
                  <a16:creationId xmlns:a16="http://schemas.microsoft.com/office/drawing/2014/main" id="{D3F9450C-B77B-4851-B5ED-3CB793AB65EF}"/>
                </a:ext>
              </a:extLst>
            </p:cNvPr>
            <p:cNvCxnSpPr>
              <a:stCxn id="21" idx="3"/>
              <a:endCxn id="9" idx="3"/>
            </p:cNvCxnSpPr>
            <p:nvPr/>
          </p:nvCxnSpPr>
          <p:spPr bwMode="auto">
            <a:xfrm flipV="1">
              <a:off x="16561914" y="6650997"/>
              <a:ext cx="422048" cy="6626975"/>
            </a:xfrm>
            <a:prstGeom prst="bentConnector3">
              <a:avLst>
                <a:gd name="adj1" fmla="val 1120476"/>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文本框 169">
              <a:extLst>
                <a:ext uri="{FF2B5EF4-FFF2-40B4-BE49-F238E27FC236}">
                  <a16:creationId xmlns:a16="http://schemas.microsoft.com/office/drawing/2014/main" id="{34AE2A63-DD4F-4239-B66E-0527DAACFB0D}"/>
                </a:ext>
              </a:extLst>
            </p:cNvPr>
            <p:cNvSpPr txBox="1"/>
            <p:nvPr/>
          </p:nvSpPr>
          <p:spPr>
            <a:xfrm>
              <a:off x="19977871" y="6247798"/>
              <a:ext cx="1600200" cy="806394"/>
            </a:xfrm>
            <a:prstGeom prst="rect">
              <a:avLst/>
            </a:prstGeom>
            <a:noFill/>
          </p:spPr>
          <p:txBody>
            <a:bodyPr wrap="square" rtlCol="0">
              <a:spAutoFit/>
            </a:bodyPr>
            <a:lstStyle/>
            <a:p>
              <a:pPr algn="ctr"/>
              <a:r>
                <a:rPr lang="en-US" sz="1200" dirty="0"/>
                <a:t>M</a:t>
              </a:r>
              <a:r>
                <a:rPr lang="en-US" altLang="zh-CN" sz="1200" dirty="0"/>
                <a:t>odel </a:t>
              </a:r>
              <a:r>
                <a:rPr lang="en-US" sz="1200" dirty="0"/>
                <a:t> adjustment</a:t>
              </a:r>
            </a:p>
          </p:txBody>
        </p:sp>
        <p:sp>
          <p:nvSpPr>
            <p:cNvPr id="25" name="文本框 1042">
              <a:extLst>
                <a:ext uri="{FF2B5EF4-FFF2-40B4-BE49-F238E27FC236}">
                  <a16:creationId xmlns:a16="http://schemas.microsoft.com/office/drawing/2014/main" id="{BD890F26-59C0-481C-984A-0CD6EE91AFE7}"/>
                </a:ext>
              </a:extLst>
            </p:cNvPr>
            <p:cNvSpPr txBox="1"/>
            <p:nvPr/>
          </p:nvSpPr>
          <p:spPr>
            <a:xfrm>
              <a:off x="13573337" y="13842419"/>
              <a:ext cx="3386354" cy="483836"/>
            </a:xfrm>
            <a:prstGeom prst="rect">
              <a:avLst/>
            </a:prstGeom>
            <a:noFill/>
            <a:ln>
              <a:solidFill>
                <a:schemeClr val="tx1"/>
              </a:solidFill>
            </a:ln>
          </p:spPr>
          <p:txBody>
            <a:bodyPr wrap="none" rtlCol="0">
              <a:spAutoFit/>
            </a:bodyPr>
            <a:lstStyle/>
            <a:p>
              <a:pPr algn="ctr"/>
              <a:r>
                <a:rPr lang="en-US" sz="1200" dirty="0"/>
                <a:t>Output inverted pore size distribution</a:t>
              </a:r>
            </a:p>
          </p:txBody>
        </p:sp>
        <p:cxnSp>
          <p:nvCxnSpPr>
            <p:cNvPr id="26" name="直接箭头连接符 1045">
              <a:extLst>
                <a:ext uri="{FF2B5EF4-FFF2-40B4-BE49-F238E27FC236}">
                  <a16:creationId xmlns:a16="http://schemas.microsoft.com/office/drawing/2014/main" id="{B67FBE46-9EA7-41A4-BCE5-19BCD0F32D99}"/>
                </a:ext>
              </a:extLst>
            </p:cNvPr>
            <p:cNvCxnSpPr>
              <a:cxnSpLocks/>
              <a:stCxn id="21" idx="2"/>
              <a:endCxn id="25" idx="0"/>
            </p:cNvCxnSpPr>
            <p:nvPr/>
          </p:nvCxnSpPr>
          <p:spPr bwMode="auto">
            <a:xfrm flipH="1">
              <a:off x="15266514" y="13519889"/>
              <a:ext cx="1" cy="32253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Rectangle 36"/>
          <p:cNvSpPr/>
          <p:nvPr/>
        </p:nvSpPr>
        <p:spPr>
          <a:xfrm>
            <a:off x="8996960" y="4036945"/>
            <a:ext cx="1477029" cy="646331"/>
          </a:xfrm>
          <a:prstGeom prst="rect">
            <a:avLst/>
          </a:prstGeom>
        </p:spPr>
        <p:txBody>
          <a:bodyPr wrap="square">
            <a:spAutoFit/>
          </a:bodyPr>
          <a:lstStyle/>
          <a:p>
            <a:r>
              <a:rPr lang="en-US" sz="1200" dirty="0" err="1">
                <a:ea typeface="Times New Roman" panose="02020603050405020304" pitchFamily="18" charset="0"/>
              </a:rPr>
              <a:t>Levenberg</a:t>
            </a:r>
            <a:r>
              <a:rPr lang="en-US" sz="1200" dirty="0">
                <a:ea typeface="Times New Roman" panose="02020603050405020304" pitchFamily="18" charset="0"/>
              </a:rPr>
              <a:t>–Marquardt algorithm </a:t>
            </a:r>
            <a:endParaRPr lang="en-US" sz="1200" dirty="0"/>
          </a:p>
        </p:txBody>
      </p:sp>
      <p:sp>
        <p:nvSpPr>
          <p:cNvPr id="34" name="Footer Placeholder 33"/>
          <p:cNvSpPr>
            <a:spLocks noGrp="1"/>
          </p:cNvSpPr>
          <p:nvPr>
            <p:ph type="ftr" sz="quarter" idx="11"/>
          </p:nvPr>
        </p:nvSpPr>
        <p:spPr/>
        <p:txBody>
          <a:bodyPr/>
          <a:lstStyle/>
          <a:p>
            <a:r>
              <a:rPr lang="en-US"/>
              <a:t>SEG 2018</a:t>
            </a:r>
          </a:p>
        </p:txBody>
      </p:sp>
      <p:sp>
        <p:nvSpPr>
          <p:cNvPr id="35" name="Slide Number Placeholder 34"/>
          <p:cNvSpPr>
            <a:spLocks noGrp="1"/>
          </p:cNvSpPr>
          <p:nvPr>
            <p:ph type="sldNum" sz="quarter" idx="12"/>
          </p:nvPr>
        </p:nvSpPr>
        <p:spPr/>
        <p:txBody>
          <a:bodyPr/>
          <a:lstStyle/>
          <a:p>
            <a:fld id="{48265A45-E6A4-4653-9C66-6A1A04113506}" type="slidenum">
              <a:rPr lang="en-US" smtClean="0"/>
              <a:pPr/>
              <a:t>9</a:t>
            </a:fld>
            <a:endParaRPr lang="en-US"/>
          </a:p>
        </p:txBody>
      </p:sp>
    </p:spTree>
    <p:extLst>
      <p:ext uri="{BB962C8B-B14F-4D97-AF65-F5344CB8AC3E}">
        <p14:creationId xmlns:p14="http://schemas.microsoft.com/office/powerpoint/2010/main" val="2246324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inversion results</a:t>
            </a:r>
          </a:p>
        </p:txBody>
      </p:sp>
      <p:grpSp>
        <p:nvGrpSpPr>
          <p:cNvPr id="7" name="Group 6"/>
          <p:cNvGrpSpPr/>
          <p:nvPr/>
        </p:nvGrpSpPr>
        <p:grpSpPr>
          <a:xfrm>
            <a:off x="1635604" y="1906545"/>
            <a:ext cx="8820695" cy="3503394"/>
            <a:chOff x="20676078" y="5164095"/>
            <a:chExt cx="8820695" cy="3503394"/>
          </a:xfrm>
        </p:grpSpPr>
        <p:grpSp>
          <p:nvGrpSpPr>
            <p:cNvPr id="8" name="组合 1076">
              <a:extLst>
                <a:ext uri="{FF2B5EF4-FFF2-40B4-BE49-F238E27FC236}">
                  <a16:creationId xmlns:a16="http://schemas.microsoft.com/office/drawing/2014/main" id="{935B8206-E475-44AD-851A-3FCBF20B35E6}"/>
                </a:ext>
              </a:extLst>
            </p:cNvPr>
            <p:cNvGrpSpPr/>
            <p:nvPr/>
          </p:nvGrpSpPr>
          <p:grpSpPr>
            <a:xfrm>
              <a:off x="20676078" y="5164095"/>
              <a:ext cx="8820695" cy="3503394"/>
              <a:chOff x="20523676" y="5540008"/>
              <a:chExt cx="11308819" cy="4491625"/>
            </a:xfrm>
          </p:grpSpPr>
          <p:pic>
            <p:nvPicPr>
              <p:cNvPr id="10" name="图片 50">
                <a:extLst>
                  <a:ext uri="{FF2B5EF4-FFF2-40B4-BE49-F238E27FC236}">
                    <a16:creationId xmlns:a16="http://schemas.microsoft.com/office/drawing/2014/main" id="{53D51D43-0D62-49F5-8891-C9399A0BE0B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932" t="6663" r="9809"/>
              <a:stretch/>
            </p:blipFill>
            <p:spPr>
              <a:xfrm>
                <a:off x="20523676" y="5563132"/>
                <a:ext cx="5334000" cy="4468501"/>
              </a:xfrm>
              <a:prstGeom prst="rect">
                <a:avLst/>
              </a:prstGeom>
            </p:spPr>
          </p:pic>
          <p:pic>
            <p:nvPicPr>
              <p:cNvPr id="11" name="图片 36">
                <a:extLst>
                  <a:ext uri="{FF2B5EF4-FFF2-40B4-BE49-F238E27FC236}">
                    <a16:creationId xmlns:a16="http://schemas.microsoft.com/office/drawing/2014/main" id="{A778E368-84D6-4B9D-8635-AAF3B65F6F6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138" t="10049" r="11105"/>
              <a:stretch/>
            </p:blipFill>
            <p:spPr>
              <a:xfrm>
                <a:off x="26346096" y="5540008"/>
                <a:ext cx="5486399" cy="4455638"/>
              </a:xfrm>
              <a:prstGeom prst="rect">
                <a:avLst/>
              </a:prstGeom>
            </p:spPr>
          </p:pic>
        </p:grpSp>
        <mc:AlternateContent xmlns:mc="http://schemas.openxmlformats.org/markup-compatibility/2006" xmlns:a14="http://schemas.microsoft.com/office/drawing/2010/main">
          <mc:Choice Requires="a14">
            <p:sp>
              <p:nvSpPr>
                <p:cNvPr id="9" name="文本框 132">
                  <a:extLst>
                    <a:ext uri="{FF2B5EF4-FFF2-40B4-BE49-F238E27FC236}">
                      <a16:creationId xmlns:a16="http://schemas.microsoft.com/office/drawing/2014/main" id="{8CCE0E7B-BAFB-45BD-A31A-4C0A9A9A4CF7}"/>
                    </a:ext>
                  </a:extLst>
                </p:cNvPr>
                <p:cNvSpPr txBox="1"/>
                <p:nvPr/>
              </p:nvSpPr>
              <p:spPr>
                <a:xfrm>
                  <a:off x="23567225" y="8301871"/>
                  <a:ext cx="198677" cy="26161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a:latin typeface="Cambria Math" panose="02040503050406030204" pitchFamily="18" charset="0"/>
                            <a:ea typeface="Cambria Math" panose="02040503050406030204" pitchFamily="18" charset="0"/>
                          </a:rPr>
                          <m:t>𝛽</m:t>
                        </m:r>
                      </m:oMath>
                    </m:oMathPara>
                  </a14:m>
                  <a:endParaRPr lang="en-US" sz="1100" i="1" dirty="0"/>
                </a:p>
              </p:txBody>
            </p:sp>
          </mc:Choice>
          <mc:Fallback xmlns="">
            <p:sp>
              <p:nvSpPr>
                <p:cNvPr id="133" name="文本框 132">
                  <a:extLst>
                    <a:ext uri="{FF2B5EF4-FFF2-40B4-BE49-F238E27FC236}">
                      <a16:creationId xmlns:a16="http://schemas.microsoft.com/office/drawing/2014/main" id="{8CCE0E7B-BAFB-45BD-A31A-4C0A9A9A4CF7}"/>
                    </a:ext>
                  </a:extLst>
                </p:cNvPr>
                <p:cNvSpPr txBox="1">
                  <a:spLocks noRot="1" noChangeAspect="1" noMove="1" noResize="1" noEditPoints="1" noAdjustHandles="1" noChangeArrowheads="1" noChangeShapeType="1" noTextEdit="1"/>
                </p:cNvSpPr>
                <p:nvPr/>
              </p:nvSpPr>
              <p:spPr>
                <a:xfrm>
                  <a:off x="23567225" y="8301871"/>
                  <a:ext cx="198677" cy="261610"/>
                </a:xfrm>
                <a:prstGeom prst="rect">
                  <a:avLst/>
                </a:prstGeom>
                <a:blipFill>
                  <a:blip r:embed="rId33"/>
                  <a:stretch>
                    <a:fillRect r="-21212" b="-465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 name="Content Placeholder 2"/>
              <p:cNvSpPr txBox="1">
                <a:spLocks/>
              </p:cNvSpPr>
              <p:nvPr/>
            </p:nvSpPr>
            <p:spPr>
              <a:xfrm>
                <a:off x="1947147" y="1496304"/>
                <a:ext cx="8357918" cy="5422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l-GR" sz="2000" b="1" i="1">
                        <a:latin typeface="Cambria Math" panose="02040503050406030204" pitchFamily="18" charset="0"/>
                        <a:ea typeface="Cambria Math" panose="02040503050406030204" pitchFamily="18" charset="0"/>
                      </a:rPr>
                      <m:t>𝝀</m:t>
                    </m:r>
                  </m:oMath>
                </a14:m>
                <a:r>
                  <a:rPr lang="en-US" sz="2000" dirty="0"/>
                  <a:t> and </a:t>
                </a:r>
                <a14:m>
                  <m:oMath xmlns:m="http://schemas.openxmlformats.org/officeDocument/2006/math">
                    <m:r>
                      <m:rPr>
                        <m:brk m:alnAt="7"/>
                      </m:rPr>
                      <a:rPr lang="en-US" sz="2000" b="1" i="1">
                        <a:latin typeface="Cambria Math" panose="02040503050406030204" pitchFamily="18" charset="0"/>
                        <a:ea typeface="Cambria Math" panose="02040503050406030204" pitchFamily="18" charset="0"/>
                      </a:rPr>
                      <m:t>𝜷</m:t>
                    </m:r>
                  </m:oMath>
                </a14:m>
                <a:r>
                  <a:rPr lang="en-US" sz="2000" dirty="0"/>
                  <a:t> searching </a:t>
                </a:r>
              </a:p>
            </p:txBody>
          </p:sp>
        </mc:Choice>
        <mc:Fallback xmlns="">
          <p:sp>
            <p:nvSpPr>
              <p:cNvPr id="12" name="Content Placeholder 2"/>
              <p:cNvSpPr txBox="1">
                <a:spLocks noRot="1" noChangeAspect="1" noMove="1" noResize="1" noEditPoints="1" noAdjustHandles="1" noChangeArrowheads="1" noChangeShapeType="1" noTextEdit="1"/>
              </p:cNvSpPr>
              <p:nvPr/>
            </p:nvSpPr>
            <p:spPr>
              <a:xfrm>
                <a:off x="1947147" y="1496304"/>
                <a:ext cx="8357918" cy="542294"/>
              </a:xfrm>
              <a:prstGeom prst="rect">
                <a:avLst/>
              </a:prstGeom>
              <a:blipFill>
                <a:blip r:embed="rId34"/>
                <a:stretch>
                  <a:fillRect l="-656" t="-11236"/>
                </a:stretch>
              </a:blipFill>
            </p:spPr>
            <p:txBody>
              <a:bodyPr/>
              <a:lstStyle/>
              <a:p>
                <a:r>
                  <a:rPr lang="en-US">
                    <a:noFill/>
                  </a:rPr>
                  <a:t> </a:t>
                </a:r>
              </a:p>
            </p:txBody>
          </p:sp>
        </mc:Fallback>
      </mc:AlternateContent>
      <p:sp>
        <p:nvSpPr>
          <p:cNvPr id="3" name="Footer Placeholder 2"/>
          <p:cNvSpPr>
            <a:spLocks noGrp="1"/>
          </p:cNvSpPr>
          <p:nvPr>
            <p:ph type="ftr" sz="quarter" idx="11"/>
          </p:nvPr>
        </p:nvSpPr>
        <p:spPr/>
        <p:txBody>
          <a:bodyPr/>
          <a:lstStyle/>
          <a:p>
            <a:r>
              <a:rPr lang="en-US"/>
              <a:t>SEG 2018</a:t>
            </a:r>
          </a:p>
        </p:txBody>
      </p:sp>
      <p:sp>
        <p:nvSpPr>
          <p:cNvPr id="4" name="Slide Number Placeholder 3"/>
          <p:cNvSpPr>
            <a:spLocks noGrp="1"/>
          </p:cNvSpPr>
          <p:nvPr>
            <p:ph type="sldNum" sz="quarter" idx="12"/>
          </p:nvPr>
        </p:nvSpPr>
        <p:spPr/>
        <p:txBody>
          <a:bodyPr/>
          <a:lstStyle/>
          <a:p>
            <a:fld id="{48265A45-E6A4-4653-9C66-6A1A04113506}" type="slidenum">
              <a:rPr lang="en-US" smtClean="0"/>
              <a:pPr/>
              <a:t>10</a:t>
            </a:fld>
            <a:endParaRPr lang="en-US"/>
          </a:p>
        </p:txBody>
      </p:sp>
    </p:spTree>
    <p:extLst>
      <p:ext uri="{BB962C8B-B14F-4D97-AF65-F5344CB8AC3E}">
        <p14:creationId xmlns:p14="http://schemas.microsoft.com/office/powerpoint/2010/main" val="114057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0345" y="4541520"/>
            <a:ext cx="2987040" cy="1991922"/>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961" y="579204"/>
            <a:ext cx="3045173" cy="4061376"/>
          </a:xfrm>
          <a:prstGeom prst="rect">
            <a:avLst/>
          </a:prstGeom>
        </p:spPr>
      </p:pic>
      <p:sp>
        <p:nvSpPr>
          <p:cNvPr id="9" name="Oval 8"/>
          <p:cNvSpPr/>
          <p:nvPr/>
        </p:nvSpPr>
        <p:spPr>
          <a:xfrm>
            <a:off x="2026695" y="3381375"/>
            <a:ext cx="819150" cy="723900"/>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Content Placeholder 2"/>
          <p:cNvSpPr txBox="1">
            <a:spLocks/>
          </p:cNvSpPr>
          <p:nvPr/>
        </p:nvSpPr>
        <p:spPr>
          <a:xfrm>
            <a:off x="705235" y="142037"/>
            <a:ext cx="2396253" cy="5422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Berea Sandstone</a:t>
            </a:r>
          </a:p>
        </p:txBody>
      </p:sp>
      <p:sp>
        <p:nvSpPr>
          <p:cNvPr id="14" name="Content Placeholder 2"/>
          <p:cNvSpPr txBox="1">
            <a:spLocks/>
          </p:cNvSpPr>
          <p:nvPr/>
        </p:nvSpPr>
        <p:spPr>
          <a:xfrm>
            <a:off x="6688848" y="142037"/>
            <a:ext cx="4212073" cy="5422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Carbonate (</a:t>
            </a:r>
            <a:r>
              <a:rPr lang="en-US" sz="2000" dirty="0" err="1"/>
              <a:t>Oomoldic</a:t>
            </a:r>
            <a:r>
              <a:rPr lang="en-US" sz="2000" dirty="0"/>
              <a:t> </a:t>
            </a:r>
            <a:r>
              <a:rPr lang="en-US" sz="2000" dirty="0" err="1"/>
              <a:t>grainstone</a:t>
            </a:r>
            <a:r>
              <a:rPr lang="en-US" sz="2000" dirty="0"/>
              <a:t>)</a:t>
            </a:r>
          </a:p>
        </p:txBody>
      </p:sp>
      <p:sp>
        <p:nvSpPr>
          <p:cNvPr id="15" name="TextBox 14"/>
          <p:cNvSpPr txBox="1"/>
          <p:nvPr/>
        </p:nvSpPr>
        <p:spPr>
          <a:xfrm>
            <a:off x="750346" y="6533443"/>
            <a:ext cx="1817641" cy="307777"/>
          </a:xfrm>
          <a:prstGeom prst="rect">
            <a:avLst/>
          </a:prstGeom>
          <a:noFill/>
        </p:spPr>
        <p:txBody>
          <a:bodyPr wrap="square" rtlCol="0">
            <a:spAutoFit/>
          </a:bodyPr>
          <a:lstStyle/>
          <a:p>
            <a:r>
              <a:rPr lang="en-US" sz="1400" dirty="0"/>
              <a:t>(</a:t>
            </a:r>
            <a:r>
              <a:rPr lang="en-US" sz="1400" dirty="0" err="1"/>
              <a:t>Niu</a:t>
            </a:r>
            <a:r>
              <a:rPr lang="en-US" sz="1400" dirty="0"/>
              <a:t>, 2018)</a:t>
            </a:r>
          </a:p>
        </p:txBody>
      </p:sp>
      <p:grpSp>
        <p:nvGrpSpPr>
          <p:cNvPr id="13" name="Group 12"/>
          <p:cNvGrpSpPr/>
          <p:nvPr/>
        </p:nvGrpSpPr>
        <p:grpSpPr>
          <a:xfrm>
            <a:off x="3737385" y="488997"/>
            <a:ext cx="8310134" cy="6252827"/>
            <a:chOff x="10993183" y="4850953"/>
            <a:chExt cx="13464813" cy="10508857"/>
          </a:xfrm>
        </p:grpSpPr>
        <p:grpSp>
          <p:nvGrpSpPr>
            <p:cNvPr id="16" name="Group 15"/>
            <p:cNvGrpSpPr/>
            <p:nvPr/>
          </p:nvGrpSpPr>
          <p:grpSpPr>
            <a:xfrm>
              <a:off x="10993183" y="4871715"/>
              <a:ext cx="13464813" cy="10488095"/>
              <a:chOff x="12183219" y="5839511"/>
              <a:chExt cx="18157892" cy="14143656"/>
            </a:xfrm>
          </p:grpSpPr>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774639" y="14932356"/>
                <a:ext cx="6566472" cy="5026498"/>
              </a:xfrm>
              <a:prstGeom prst="rect">
                <a:avLst/>
              </a:prstGeom>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r="2126"/>
              <a:stretch/>
            </p:blipFill>
            <p:spPr>
              <a:xfrm>
                <a:off x="18033361" y="14945962"/>
                <a:ext cx="6426839" cy="5026498"/>
              </a:xfrm>
              <a:prstGeom prst="rect">
                <a:avLst/>
              </a:prstGeom>
            </p:spPr>
          </p:pic>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185760" y="14956669"/>
                <a:ext cx="6566472" cy="5026498"/>
              </a:xfrm>
              <a:prstGeom prst="rect">
                <a:avLst/>
              </a:prstGeom>
            </p:spPr>
          </p:pic>
          <p:grpSp>
            <p:nvGrpSpPr>
              <p:cNvPr id="26" name="Group 25"/>
              <p:cNvGrpSpPr/>
              <p:nvPr/>
            </p:nvGrpSpPr>
            <p:grpSpPr>
              <a:xfrm>
                <a:off x="12183219" y="5839511"/>
                <a:ext cx="18114194" cy="9600012"/>
                <a:chOff x="12183219" y="5839511"/>
                <a:chExt cx="18114194" cy="9600012"/>
              </a:xfrm>
            </p:grpSpPr>
            <p:pic>
              <p:nvPicPr>
                <p:cNvPr id="27" name="Picture 2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729813" y="10413757"/>
                  <a:ext cx="6567600" cy="5025766"/>
                </a:xfrm>
                <a:prstGeom prst="rect">
                  <a:avLst/>
                </a:prstGeom>
              </p:spPr>
            </p:pic>
            <p:pic>
              <p:nvPicPr>
                <p:cNvPr id="28" name="Picture 2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7943961" y="10398456"/>
                  <a:ext cx="6567600" cy="5025766"/>
                </a:xfrm>
                <a:prstGeom prst="rect">
                  <a:avLst/>
                </a:prstGeom>
              </p:spPr>
            </p:pic>
            <p:pic>
              <p:nvPicPr>
                <p:cNvPr id="29" name="Picture 2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724790" y="5839511"/>
                  <a:ext cx="6566472" cy="5026498"/>
                </a:xfrm>
                <a:prstGeom prst="rect">
                  <a:avLst/>
                </a:prstGeom>
              </p:spPr>
            </p:pic>
            <p:pic>
              <p:nvPicPr>
                <p:cNvPr id="30" name="Picture 2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944525" y="5839511"/>
                  <a:ext cx="6566472" cy="5026498"/>
                </a:xfrm>
                <a:prstGeom prst="rect">
                  <a:avLst/>
                </a:prstGeom>
              </p:spPr>
            </p:pic>
            <p:pic>
              <p:nvPicPr>
                <p:cNvPr id="31" name="Picture 3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186708" y="10398456"/>
                  <a:ext cx="6567600" cy="5025766"/>
                </a:xfrm>
                <a:prstGeom prst="rect">
                  <a:avLst/>
                </a:prstGeom>
              </p:spPr>
            </p:pic>
            <p:pic>
              <p:nvPicPr>
                <p:cNvPr id="32" name="Picture 3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2183219" y="5839511"/>
                  <a:ext cx="6566472" cy="5026498"/>
                </a:xfrm>
                <a:prstGeom prst="rect">
                  <a:avLst/>
                </a:prstGeom>
              </p:spPr>
            </p:pic>
          </p:grpSp>
        </p:grpSp>
        <p:sp>
          <p:nvSpPr>
            <p:cNvPr id="17" name="TextBox 16"/>
            <p:cNvSpPr txBox="1"/>
            <p:nvPr/>
          </p:nvSpPr>
          <p:spPr>
            <a:xfrm>
              <a:off x="13009860" y="4850953"/>
              <a:ext cx="987780" cy="464050"/>
            </a:xfrm>
            <a:prstGeom prst="rect">
              <a:avLst/>
            </a:prstGeom>
            <a:noFill/>
          </p:spPr>
          <p:txBody>
            <a:bodyPr wrap="none" rtlCol="0">
              <a:spAutoFit/>
            </a:bodyPr>
            <a:lstStyle/>
            <a:p>
              <a:r>
                <a:rPr lang="en-US" sz="1400" dirty="0"/>
                <a:t>LKC-53</a:t>
              </a:r>
            </a:p>
          </p:txBody>
        </p:sp>
        <p:sp>
          <p:nvSpPr>
            <p:cNvPr id="18" name="TextBox 17"/>
            <p:cNvSpPr txBox="1"/>
            <p:nvPr/>
          </p:nvSpPr>
          <p:spPr>
            <a:xfrm>
              <a:off x="17289131" y="4850953"/>
              <a:ext cx="987780" cy="464050"/>
            </a:xfrm>
            <a:prstGeom prst="rect">
              <a:avLst/>
            </a:prstGeom>
            <a:noFill/>
          </p:spPr>
          <p:txBody>
            <a:bodyPr wrap="none" rtlCol="0">
              <a:spAutoFit/>
            </a:bodyPr>
            <a:lstStyle/>
            <a:p>
              <a:r>
                <a:rPr lang="en-US" sz="1400" dirty="0"/>
                <a:t>LKC-59</a:t>
              </a:r>
            </a:p>
          </p:txBody>
        </p:sp>
        <p:sp>
          <p:nvSpPr>
            <p:cNvPr id="19" name="TextBox 18"/>
            <p:cNvSpPr txBox="1"/>
            <p:nvPr/>
          </p:nvSpPr>
          <p:spPr>
            <a:xfrm>
              <a:off x="21612397" y="4850953"/>
              <a:ext cx="987780" cy="464050"/>
            </a:xfrm>
            <a:prstGeom prst="rect">
              <a:avLst/>
            </a:prstGeom>
            <a:noFill/>
          </p:spPr>
          <p:txBody>
            <a:bodyPr wrap="none" rtlCol="0">
              <a:spAutoFit/>
            </a:bodyPr>
            <a:lstStyle/>
            <a:p>
              <a:r>
                <a:rPr lang="en-US" sz="1400" dirty="0"/>
                <a:t>LKC-92</a:t>
              </a:r>
            </a:p>
          </p:txBody>
        </p:sp>
      </p:grpSp>
      <p:sp>
        <p:nvSpPr>
          <p:cNvPr id="33" name="Oval 32"/>
          <p:cNvSpPr/>
          <p:nvPr/>
        </p:nvSpPr>
        <p:spPr>
          <a:xfrm>
            <a:off x="5308600" y="3156329"/>
            <a:ext cx="654520" cy="602871"/>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4" name="Oval 33"/>
          <p:cNvSpPr/>
          <p:nvPr/>
        </p:nvSpPr>
        <p:spPr>
          <a:xfrm>
            <a:off x="7721600" y="3530601"/>
            <a:ext cx="767573" cy="684268"/>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5" name="Oval 34"/>
          <p:cNvSpPr/>
          <p:nvPr/>
        </p:nvSpPr>
        <p:spPr>
          <a:xfrm>
            <a:off x="10356462" y="3530601"/>
            <a:ext cx="717938" cy="564960"/>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Footer Placeholder 1"/>
          <p:cNvSpPr>
            <a:spLocks noGrp="1"/>
          </p:cNvSpPr>
          <p:nvPr>
            <p:ph type="ftr" sz="quarter" idx="11"/>
          </p:nvPr>
        </p:nvSpPr>
        <p:spPr/>
        <p:txBody>
          <a:bodyPr/>
          <a:lstStyle/>
          <a:p>
            <a:r>
              <a:rPr lang="en-US"/>
              <a:t>SEG 2018</a:t>
            </a:r>
            <a:endParaRPr lang="en-US" dirty="0"/>
          </a:p>
        </p:txBody>
      </p:sp>
      <p:sp>
        <p:nvSpPr>
          <p:cNvPr id="3" name="Slide Number Placeholder 2"/>
          <p:cNvSpPr>
            <a:spLocks noGrp="1"/>
          </p:cNvSpPr>
          <p:nvPr>
            <p:ph type="sldNum" sz="quarter" idx="12"/>
          </p:nvPr>
        </p:nvSpPr>
        <p:spPr/>
        <p:txBody>
          <a:bodyPr/>
          <a:lstStyle/>
          <a:p>
            <a:fld id="{774D434B-DAEE-4BF7-9AC2-3255F1C5EAFE}" type="slidenum">
              <a:rPr lang="en-US" smtClean="0"/>
              <a:pPr/>
              <a:t>11</a:t>
            </a:fld>
            <a:endParaRPr lang="en-US" dirty="0"/>
          </a:p>
        </p:txBody>
      </p:sp>
    </p:spTree>
    <p:extLst>
      <p:ext uri="{BB962C8B-B14F-4D97-AF65-F5344CB8AC3E}">
        <p14:creationId xmlns:p14="http://schemas.microsoft.com/office/powerpoint/2010/main" val="2097566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 model</a:t>
            </a:r>
          </a:p>
        </p:txBody>
      </p:sp>
      <p:sp>
        <p:nvSpPr>
          <p:cNvPr id="3" name="Rectangle 3"/>
          <p:cNvSpPr>
            <a:spLocks noChangeArrowheads="1"/>
          </p:cNvSpPr>
          <p:nvPr/>
        </p:nvSpPr>
        <p:spPr bwMode="auto">
          <a:xfrm>
            <a:off x="2286620" y="138475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4"/>
          <p:cNvSpPr>
            <a:spLocks noChangeArrowheads="1"/>
          </p:cNvSpPr>
          <p:nvPr/>
        </p:nvSpPr>
        <p:spPr bwMode="auto">
          <a:xfrm>
            <a:off x="7917744" y="3539031"/>
            <a:ext cx="3866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defTabSz="914400" eaLnBrk="0" fontAlgn="base" hangingPunct="0">
              <a:spcBef>
                <a:spcPct val="0"/>
              </a:spcBef>
              <a:spcAft>
                <a:spcPct val="0"/>
              </a:spcAft>
            </a:pPr>
            <a:r>
              <a:rPr lang="en-US" altLang="en-US" sz="1200">
                <a:latin typeface="Cambria" panose="02040503050406030204" pitchFamily="18" charset="0"/>
                <a:ea typeface="Times New Roman" panose="02020603050405020304" pitchFamily="18" charset="0"/>
              </a:rPr>
              <a:t>      </a:t>
            </a:r>
            <a:endParaRPr lang="en-US" altLang="en-US">
              <a:latin typeface="Arial" panose="020B0604020202020204" pitchFamily="34" charset="0"/>
            </a:endParaRPr>
          </a:p>
        </p:txBody>
      </p:sp>
      <p:sp>
        <p:nvSpPr>
          <p:cNvPr id="5" name="Rectangle 5"/>
          <p:cNvSpPr>
            <a:spLocks noChangeArrowheads="1"/>
          </p:cNvSpPr>
          <p:nvPr/>
        </p:nvSpPr>
        <p:spPr bwMode="auto">
          <a:xfrm>
            <a:off x="2286620" y="513760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TextBox 19"/>
          <p:cNvSpPr txBox="1"/>
          <p:nvPr/>
        </p:nvSpPr>
        <p:spPr>
          <a:xfrm>
            <a:off x="2100417" y="3549429"/>
            <a:ext cx="2585381" cy="707886"/>
          </a:xfrm>
          <a:prstGeom prst="rect">
            <a:avLst/>
          </a:prstGeom>
          <a:noFill/>
        </p:spPr>
        <p:txBody>
          <a:bodyPr wrap="square" rtlCol="0">
            <a:spAutoFit/>
          </a:bodyPr>
          <a:lstStyle/>
          <a:p>
            <a:r>
              <a:rPr lang="en-US" sz="2000" dirty="0"/>
              <a:t>EDL (Electrochemical) Polarization</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90441" y="4377745"/>
            <a:ext cx="2258380" cy="2258380"/>
          </a:xfrm>
          <a:prstGeom prst="rect">
            <a:avLst/>
          </a:prstGeom>
        </p:spPr>
      </p:pic>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8062" y="1130292"/>
            <a:ext cx="2258380" cy="2298708"/>
          </a:xfrm>
          <a:prstGeom prst="rect">
            <a:avLst/>
          </a:prstGeom>
        </p:spPr>
      </p:pic>
      <p:pic>
        <p:nvPicPr>
          <p:cNvPr id="31" name="Picture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9821" y="1578357"/>
            <a:ext cx="4115092" cy="4198345"/>
          </a:xfrm>
          <a:prstGeom prst="rect">
            <a:avLst/>
          </a:prstGeom>
        </p:spPr>
      </p:pic>
      <p:sp>
        <p:nvSpPr>
          <p:cNvPr id="6" name="Footer Placeholder 5"/>
          <p:cNvSpPr>
            <a:spLocks noGrp="1"/>
          </p:cNvSpPr>
          <p:nvPr>
            <p:ph type="ftr" sz="quarter" idx="11"/>
          </p:nvPr>
        </p:nvSpPr>
        <p:spPr/>
        <p:txBody>
          <a:bodyPr/>
          <a:lstStyle/>
          <a:p>
            <a:r>
              <a:rPr lang="en-US"/>
              <a:t>SEG 2018</a:t>
            </a:r>
          </a:p>
        </p:txBody>
      </p:sp>
      <p:sp>
        <p:nvSpPr>
          <p:cNvPr id="7" name="Slide Number Placeholder 6"/>
          <p:cNvSpPr>
            <a:spLocks noGrp="1"/>
          </p:cNvSpPr>
          <p:nvPr>
            <p:ph type="sldNum" sz="quarter" idx="12"/>
          </p:nvPr>
        </p:nvSpPr>
        <p:spPr/>
        <p:txBody>
          <a:bodyPr/>
          <a:lstStyle/>
          <a:p>
            <a:fld id="{48265A45-E6A4-4653-9C66-6A1A04113506}" type="slidenum">
              <a:rPr lang="en-US" smtClean="0"/>
              <a:pPr/>
              <a:t>12</a:t>
            </a:fld>
            <a:endParaRPr lang="en-US"/>
          </a:p>
        </p:txBody>
      </p:sp>
    </p:spTree>
    <p:extLst>
      <p:ext uri="{BB962C8B-B14F-4D97-AF65-F5344CB8AC3E}">
        <p14:creationId xmlns:p14="http://schemas.microsoft.com/office/powerpoint/2010/main" val="105872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EE8826-C8E2-4D75-BA68-BC2F73791203}"/>
              </a:ext>
            </a:extLst>
          </p:cNvPr>
          <p:cNvSpPr txBox="1">
            <a:spLocks/>
          </p:cNvSpPr>
          <p:nvPr/>
        </p:nvSpPr>
        <p:spPr>
          <a:xfrm>
            <a:off x="1344734" y="-142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dirty="0"/>
              <a:t>Membrane polarization</a:t>
            </a:r>
          </a:p>
        </p:txBody>
      </p:sp>
      <p:grpSp>
        <p:nvGrpSpPr>
          <p:cNvPr id="336" name="Group 335">
            <a:extLst>
              <a:ext uri="{FF2B5EF4-FFF2-40B4-BE49-F238E27FC236}">
                <a16:creationId xmlns:a16="http://schemas.microsoft.com/office/drawing/2014/main" id="{7520C043-A82F-4792-9F82-65C8410E0ABB}"/>
              </a:ext>
            </a:extLst>
          </p:cNvPr>
          <p:cNvGrpSpPr/>
          <p:nvPr/>
        </p:nvGrpSpPr>
        <p:grpSpPr>
          <a:xfrm>
            <a:off x="4858868" y="2314299"/>
            <a:ext cx="3368876" cy="3368876"/>
            <a:chOff x="1074741" y="1317810"/>
            <a:chExt cx="4572000" cy="4572000"/>
          </a:xfrm>
        </p:grpSpPr>
        <p:grpSp>
          <p:nvGrpSpPr>
            <p:cNvPr id="337" name="Group 336">
              <a:extLst>
                <a:ext uri="{FF2B5EF4-FFF2-40B4-BE49-F238E27FC236}">
                  <a16:creationId xmlns:a16="http://schemas.microsoft.com/office/drawing/2014/main" id="{059789D2-D769-437B-97A7-6D4869F6445D}"/>
                </a:ext>
              </a:extLst>
            </p:cNvPr>
            <p:cNvGrpSpPr/>
            <p:nvPr/>
          </p:nvGrpSpPr>
          <p:grpSpPr>
            <a:xfrm>
              <a:off x="1074741" y="1317810"/>
              <a:ext cx="4572000" cy="4572000"/>
              <a:chOff x="3844835" y="1233799"/>
              <a:chExt cx="4572000" cy="4572000"/>
            </a:xfrm>
          </p:grpSpPr>
          <p:sp>
            <p:nvSpPr>
              <p:cNvPr id="486" name="矩形 4">
                <a:extLst>
                  <a:ext uri="{FF2B5EF4-FFF2-40B4-BE49-F238E27FC236}">
                    <a16:creationId xmlns:a16="http://schemas.microsoft.com/office/drawing/2014/main" id="{7302753B-33EE-4156-A30A-48A6D12D34C0}"/>
                  </a:ext>
                </a:extLst>
              </p:cNvPr>
              <p:cNvSpPr/>
              <p:nvPr/>
            </p:nvSpPr>
            <p:spPr>
              <a:xfrm>
                <a:off x="3844835" y="1233799"/>
                <a:ext cx="4572000" cy="457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487" name="Rectangle 486">
                <a:extLst>
                  <a:ext uri="{FF2B5EF4-FFF2-40B4-BE49-F238E27FC236}">
                    <a16:creationId xmlns:a16="http://schemas.microsoft.com/office/drawing/2014/main" id="{966D01A5-2B15-434D-9C57-38046C1EA3F9}"/>
                  </a:ext>
                </a:extLst>
              </p:cNvPr>
              <p:cNvSpPr/>
              <p:nvPr/>
            </p:nvSpPr>
            <p:spPr>
              <a:xfrm>
                <a:off x="3844835" y="2214329"/>
                <a:ext cx="1268185" cy="26852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8" name="Rectangle 487">
                <a:extLst>
                  <a:ext uri="{FF2B5EF4-FFF2-40B4-BE49-F238E27FC236}">
                    <a16:creationId xmlns:a16="http://schemas.microsoft.com/office/drawing/2014/main" id="{654505EA-6191-487A-A867-DBFFEBF14C60}"/>
                  </a:ext>
                </a:extLst>
              </p:cNvPr>
              <p:cNvSpPr/>
              <p:nvPr/>
            </p:nvSpPr>
            <p:spPr>
              <a:xfrm>
                <a:off x="3860433" y="4325934"/>
                <a:ext cx="1268185" cy="26960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9" name="Rectangle 488">
                <a:extLst>
                  <a:ext uri="{FF2B5EF4-FFF2-40B4-BE49-F238E27FC236}">
                    <a16:creationId xmlns:a16="http://schemas.microsoft.com/office/drawing/2014/main" id="{8BF3F2F4-90BC-480A-AFA0-CD21F8182E93}"/>
                  </a:ext>
                </a:extLst>
              </p:cNvPr>
              <p:cNvSpPr/>
              <p:nvPr/>
            </p:nvSpPr>
            <p:spPr>
              <a:xfrm>
                <a:off x="5308510" y="2774209"/>
                <a:ext cx="1670140" cy="26845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0" name="Rectangle 489">
                <a:extLst>
                  <a:ext uri="{FF2B5EF4-FFF2-40B4-BE49-F238E27FC236}">
                    <a16:creationId xmlns:a16="http://schemas.microsoft.com/office/drawing/2014/main" id="{FB9B688F-8286-413F-8BCA-5C303C0567D5}"/>
                  </a:ext>
                </a:extLst>
              </p:cNvPr>
              <p:cNvSpPr/>
              <p:nvPr/>
            </p:nvSpPr>
            <p:spPr>
              <a:xfrm>
                <a:off x="5308308" y="3764493"/>
                <a:ext cx="1670140" cy="25459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1" name="Rectangle 490">
                <a:extLst>
                  <a:ext uri="{FF2B5EF4-FFF2-40B4-BE49-F238E27FC236}">
                    <a16:creationId xmlns:a16="http://schemas.microsoft.com/office/drawing/2014/main" id="{50E37F95-A1E6-4BEC-BFF0-B5D14FF5C018}"/>
                  </a:ext>
                </a:extLst>
              </p:cNvPr>
              <p:cNvSpPr/>
              <p:nvPr/>
            </p:nvSpPr>
            <p:spPr>
              <a:xfrm rot="5400000">
                <a:off x="4766065" y="2491082"/>
                <a:ext cx="827412" cy="27574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2" name="Rectangle 491">
                <a:extLst>
                  <a:ext uri="{FF2B5EF4-FFF2-40B4-BE49-F238E27FC236}">
                    <a16:creationId xmlns:a16="http://schemas.microsoft.com/office/drawing/2014/main" id="{C72DE1F1-DB7B-4554-A840-C65AA286184E}"/>
                  </a:ext>
                </a:extLst>
              </p:cNvPr>
              <p:cNvSpPr/>
              <p:nvPr/>
            </p:nvSpPr>
            <p:spPr>
              <a:xfrm rot="5400000">
                <a:off x="4756229" y="4043585"/>
                <a:ext cx="835388" cy="26852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3" name="Rectangle 492">
                <a:extLst>
                  <a:ext uri="{FF2B5EF4-FFF2-40B4-BE49-F238E27FC236}">
                    <a16:creationId xmlns:a16="http://schemas.microsoft.com/office/drawing/2014/main" id="{C0A06B51-66B9-4795-A1EC-189CFED4ED2A}"/>
                  </a:ext>
                </a:extLst>
              </p:cNvPr>
              <p:cNvSpPr/>
              <p:nvPr/>
            </p:nvSpPr>
            <p:spPr>
              <a:xfrm rot="5400000">
                <a:off x="6680976" y="4043585"/>
                <a:ext cx="835388" cy="26852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4" name="Rectangle 493">
                <a:extLst>
                  <a:ext uri="{FF2B5EF4-FFF2-40B4-BE49-F238E27FC236}">
                    <a16:creationId xmlns:a16="http://schemas.microsoft.com/office/drawing/2014/main" id="{F552D925-B9D4-44F6-9DAF-93550D3BC66F}"/>
                  </a:ext>
                </a:extLst>
              </p:cNvPr>
              <p:cNvSpPr/>
              <p:nvPr/>
            </p:nvSpPr>
            <p:spPr>
              <a:xfrm rot="5400000">
                <a:off x="6697986" y="2493676"/>
                <a:ext cx="829444" cy="26852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5" name="Rectangle 494">
                <a:extLst>
                  <a:ext uri="{FF2B5EF4-FFF2-40B4-BE49-F238E27FC236}">
                    <a16:creationId xmlns:a16="http://schemas.microsoft.com/office/drawing/2014/main" id="{BDB41E87-9423-42DA-8426-3319E8F0AFD5}"/>
                  </a:ext>
                </a:extLst>
              </p:cNvPr>
              <p:cNvSpPr/>
              <p:nvPr/>
            </p:nvSpPr>
            <p:spPr>
              <a:xfrm>
                <a:off x="7148650" y="2214284"/>
                <a:ext cx="1268185" cy="275787"/>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6" name="Rectangle 495">
                <a:extLst>
                  <a:ext uri="{FF2B5EF4-FFF2-40B4-BE49-F238E27FC236}">
                    <a16:creationId xmlns:a16="http://schemas.microsoft.com/office/drawing/2014/main" id="{C3171145-4979-477B-BCE9-D536F3612EE0}"/>
                  </a:ext>
                </a:extLst>
              </p:cNvPr>
              <p:cNvSpPr/>
              <p:nvPr/>
            </p:nvSpPr>
            <p:spPr>
              <a:xfrm>
                <a:off x="7148649" y="4325934"/>
                <a:ext cx="1268185" cy="26960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7" name="Rectangle 496">
                <a:extLst>
                  <a:ext uri="{FF2B5EF4-FFF2-40B4-BE49-F238E27FC236}">
                    <a16:creationId xmlns:a16="http://schemas.microsoft.com/office/drawing/2014/main" id="{049B4A1E-959B-4D07-B119-3A17C9F2974C}"/>
                  </a:ext>
                </a:extLst>
              </p:cNvPr>
              <p:cNvSpPr/>
              <p:nvPr/>
            </p:nvSpPr>
            <p:spPr>
              <a:xfrm>
                <a:off x="3844835" y="2482806"/>
                <a:ext cx="1194951" cy="1827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8" name="Rectangle 497">
                <a:extLst>
                  <a:ext uri="{FF2B5EF4-FFF2-40B4-BE49-F238E27FC236}">
                    <a16:creationId xmlns:a16="http://schemas.microsoft.com/office/drawing/2014/main" id="{A33C0070-75CC-4513-B7DA-8B998208A33F}"/>
                  </a:ext>
                </a:extLst>
              </p:cNvPr>
              <p:cNvSpPr/>
              <p:nvPr/>
            </p:nvSpPr>
            <p:spPr>
              <a:xfrm>
                <a:off x="7221635" y="2490072"/>
                <a:ext cx="1194951" cy="1835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499" name="Rectangle 498">
                <a:extLst>
                  <a:ext uri="{FF2B5EF4-FFF2-40B4-BE49-F238E27FC236}">
                    <a16:creationId xmlns:a16="http://schemas.microsoft.com/office/drawing/2014/main" id="{B3467A74-D46F-4A43-8ABB-830D9F1361B9}"/>
                  </a:ext>
                </a:extLst>
              </p:cNvPr>
              <p:cNvSpPr/>
              <p:nvPr/>
            </p:nvSpPr>
            <p:spPr>
              <a:xfrm>
                <a:off x="5037782" y="3054086"/>
                <a:ext cx="2250411" cy="721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338" name="减号 204">
              <a:extLst>
                <a:ext uri="{FF2B5EF4-FFF2-40B4-BE49-F238E27FC236}">
                  <a16:creationId xmlns:a16="http://schemas.microsoft.com/office/drawing/2014/main" id="{498F5CE5-BDB3-4ABD-AB5E-46F61FCE3229}"/>
                </a:ext>
              </a:extLst>
            </p:cNvPr>
            <p:cNvSpPr/>
            <p:nvPr/>
          </p:nvSpPr>
          <p:spPr>
            <a:xfrm>
              <a:off x="1109644" y="204481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39" name="减号 204">
              <a:extLst>
                <a:ext uri="{FF2B5EF4-FFF2-40B4-BE49-F238E27FC236}">
                  <a16:creationId xmlns:a16="http://schemas.microsoft.com/office/drawing/2014/main" id="{E2383519-236B-4E0F-AF9A-EFF26C28DA9B}"/>
                </a:ext>
              </a:extLst>
            </p:cNvPr>
            <p:cNvSpPr/>
            <p:nvPr/>
          </p:nvSpPr>
          <p:spPr>
            <a:xfrm>
              <a:off x="1348027" y="204481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0" name="减号 204">
              <a:extLst>
                <a:ext uri="{FF2B5EF4-FFF2-40B4-BE49-F238E27FC236}">
                  <a16:creationId xmlns:a16="http://schemas.microsoft.com/office/drawing/2014/main" id="{40BFC9EB-BD92-4402-B354-0119587E4DC9}"/>
                </a:ext>
              </a:extLst>
            </p:cNvPr>
            <p:cNvSpPr/>
            <p:nvPr/>
          </p:nvSpPr>
          <p:spPr>
            <a:xfrm>
              <a:off x="1586410" y="204481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1" name="减号 204">
              <a:extLst>
                <a:ext uri="{FF2B5EF4-FFF2-40B4-BE49-F238E27FC236}">
                  <a16:creationId xmlns:a16="http://schemas.microsoft.com/office/drawing/2014/main" id="{CF01296E-89E9-4D24-8B33-FD6778FD3EEF}"/>
                </a:ext>
              </a:extLst>
            </p:cNvPr>
            <p:cNvSpPr/>
            <p:nvPr/>
          </p:nvSpPr>
          <p:spPr>
            <a:xfrm>
              <a:off x="1824793" y="204481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2" name="减号 204">
              <a:extLst>
                <a:ext uri="{FF2B5EF4-FFF2-40B4-BE49-F238E27FC236}">
                  <a16:creationId xmlns:a16="http://schemas.microsoft.com/office/drawing/2014/main" id="{8381F9A1-257D-4B96-B34E-F999CDE18689}"/>
                </a:ext>
              </a:extLst>
            </p:cNvPr>
            <p:cNvSpPr/>
            <p:nvPr/>
          </p:nvSpPr>
          <p:spPr>
            <a:xfrm>
              <a:off x="2066982" y="2051616"/>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3" name="减号 204">
              <a:extLst>
                <a:ext uri="{FF2B5EF4-FFF2-40B4-BE49-F238E27FC236}">
                  <a16:creationId xmlns:a16="http://schemas.microsoft.com/office/drawing/2014/main" id="{B42D4FC7-D590-4328-9F02-6FA3DD1C80D6}"/>
                </a:ext>
              </a:extLst>
            </p:cNvPr>
            <p:cNvSpPr/>
            <p:nvPr/>
          </p:nvSpPr>
          <p:spPr>
            <a:xfrm>
              <a:off x="4499032" y="204481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4" name="减号 204">
              <a:extLst>
                <a:ext uri="{FF2B5EF4-FFF2-40B4-BE49-F238E27FC236}">
                  <a16:creationId xmlns:a16="http://schemas.microsoft.com/office/drawing/2014/main" id="{BAC02E27-E42B-4B8C-9C29-0FC91D563ADB}"/>
                </a:ext>
              </a:extLst>
            </p:cNvPr>
            <p:cNvSpPr/>
            <p:nvPr/>
          </p:nvSpPr>
          <p:spPr>
            <a:xfrm>
              <a:off x="4737415" y="204481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5" name="减号 204">
              <a:extLst>
                <a:ext uri="{FF2B5EF4-FFF2-40B4-BE49-F238E27FC236}">
                  <a16:creationId xmlns:a16="http://schemas.microsoft.com/office/drawing/2014/main" id="{B0C0F8A7-303E-4E63-8335-DFEE15EC8EDA}"/>
                </a:ext>
              </a:extLst>
            </p:cNvPr>
            <p:cNvSpPr/>
            <p:nvPr/>
          </p:nvSpPr>
          <p:spPr>
            <a:xfrm>
              <a:off x="4975798" y="204481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6" name="减号 204">
              <a:extLst>
                <a:ext uri="{FF2B5EF4-FFF2-40B4-BE49-F238E27FC236}">
                  <a16:creationId xmlns:a16="http://schemas.microsoft.com/office/drawing/2014/main" id="{4E04BD4D-6D98-4BD2-9852-F996651C2057}"/>
                </a:ext>
              </a:extLst>
            </p:cNvPr>
            <p:cNvSpPr/>
            <p:nvPr/>
          </p:nvSpPr>
          <p:spPr>
            <a:xfrm>
              <a:off x="5214181" y="204481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7" name="减号 204">
              <a:extLst>
                <a:ext uri="{FF2B5EF4-FFF2-40B4-BE49-F238E27FC236}">
                  <a16:creationId xmlns:a16="http://schemas.microsoft.com/office/drawing/2014/main" id="{9F1E1BD4-EFE6-42DA-99E6-F5AD63AC26B5}"/>
                </a:ext>
              </a:extLst>
            </p:cNvPr>
            <p:cNvSpPr/>
            <p:nvPr/>
          </p:nvSpPr>
          <p:spPr>
            <a:xfrm>
              <a:off x="5456370" y="2051616"/>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8" name="减号 204">
              <a:extLst>
                <a:ext uri="{FF2B5EF4-FFF2-40B4-BE49-F238E27FC236}">
                  <a16:creationId xmlns:a16="http://schemas.microsoft.com/office/drawing/2014/main" id="{8CDEE0C2-F430-4194-82B3-326DB04D251C}"/>
                </a:ext>
              </a:extLst>
            </p:cNvPr>
            <p:cNvSpPr/>
            <p:nvPr/>
          </p:nvSpPr>
          <p:spPr>
            <a:xfrm>
              <a:off x="4499032" y="4817506"/>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9" name="减号 204">
              <a:extLst>
                <a:ext uri="{FF2B5EF4-FFF2-40B4-BE49-F238E27FC236}">
                  <a16:creationId xmlns:a16="http://schemas.microsoft.com/office/drawing/2014/main" id="{20991BBE-7B3B-48D5-BADE-EE3342D64DAB}"/>
                </a:ext>
              </a:extLst>
            </p:cNvPr>
            <p:cNvSpPr/>
            <p:nvPr/>
          </p:nvSpPr>
          <p:spPr>
            <a:xfrm>
              <a:off x="4737415" y="481750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0" name="减号 204">
              <a:extLst>
                <a:ext uri="{FF2B5EF4-FFF2-40B4-BE49-F238E27FC236}">
                  <a16:creationId xmlns:a16="http://schemas.microsoft.com/office/drawing/2014/main" id="{726DB796-7AB3-472D-BC80-E37E60ED44DA}"/>
                </a:ext>
              </a:extLst>
            </p:cNvPr>
            <p:cNvSpPr/>
            <p:nvPr/>
          </p:nvSpPr>
          <p:spPr>
            <a:xfrm>
              <a:off x="4975798" y="481750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1" name="减号 204">
              <a:extLst>
                <a:ext uri="{FF2B5EF4-FFF2-40B4-BE49-F238E27FC236}">
                  <a16:creationId xmlns:a16="http://schemas.microsoft.com/office/drawing/2014/main" id="{0ED7D498-8841-4B16-B2C0-8EF0AA7D71FE}"/>
                </a:ext>
              </a:extLst>
            </p:cNvPr>
            <p:cNvSpPr/>
            <p:nvPr/>
          </p:nvSpPr>
          <p:spPr>
            <a:xfrm>
              <a:off x="5214181" y="481750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2" name="减号 204">
              <a:extLst>
                <a:ext uri="{FF2B5EF4-FFF2-40B4-BE49-F238E27FC236}">
                  <a16:creationId xmlns:a16="http://schemas.microsoft.com/office/drawing/2014/main" id="{C41A550E-93C6-46FA-8F16-31B02EC6BD86}"/>
                </a:ext>
              </a:extLst>
            </p:cNvPr>
            <p:cNvSpPr/>
            <p:nvPr/>
          </p:nvSpPr>
          <p:spPr>
            <a:xfrm>
              <a:off x="5456370" y="482430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3" name="减号 204">
              <a:extLst>
                <a:ext uri="{FF2B5EF4-FFF2-40B4-BE49-F238E27FC236}">
                  <a16:creationId xmlns:a16="http://schemas.microsoft.com/office/drawing/2014/main" id="{6E7BE5C6-EBB1-4A7C-9624-1D913F9527FC}"/>
                </a:ext>
              </a:extLst>
            </p:cNvPr>
            <p:cNvSpPr/>
            <p:nvPr/>
          </p:nvSpPr>
          <p:spPr>
            <a:xfrm>
              <a:off x="1109644" y="482244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4" name="减号 204">
              <a:extLst>
                <a:ext uri="{FF2B5EF4-FFF2-40B4-BE49-F238E27FC236}">
                  <a16:creationId xmlns:a16="http://schemas.microsoft.com/office/drawing/2014/main" id="{A142BF10-D482-4546-A801-A38FA53E8A1C}"/>
                </a:ext>
              </a:extLst>
            </p:cNvPr>
            <p:cNvSpPr/>
            <p:nvPr/>
          </p:nvSpPr>
          <p:spPr>
            <a:xfrm>
              <a:off x="1348027" y="482244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5" name="减号 204">
              <a:extLst>
                <a:ext uri="{FF2B5EF4-FFF2-40B4-BE49-F238E27FC236}">
                  <a16:creationId xmlns:a16="http://schemas.microsoft.com/office/drawing/2014/main" id="{65EC87ED-4A15-4187-A0BD-E53B324675C7}"/>
                </a:ext>
              </a:extLst>
            </p:cNvPr>
            <p:cNvSpPr/>
            <p:nvPr/>
          </p:nvSpPr>
          <p:spPr>
            <a:xfrm>
              <a:off x="1586410" y="482244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6" name="减号 204">
              <a:extLst>
                <a:ext uri="{FF2B5EF4-FFF2-40B4-BE49-F238E27FC236}">
                  <a16:creationId xmlns:a16="http://schemas.microsoft.com/office/drawing/2014/main" id="{A40230A5-12C3-4CF9-A98C-2A6F2C7234C8}"/>
                </a:ext>
              </a:extLst>
            </p:cNvPr>
            <p:cNvSpPr/>
            <p:nvPr/>
          </p:nvSpPr>
          <p:spPr>
            <a:xfrm>
              <a:off x="1824793" y="482244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7" name="减号 204">
              <a:extLst>
                <a:ext uri="{FF2B5EF4-FFF2-40B4-BE49-F238E27FC236}">
                  <a16:creationId xmlns:a16="http://schemas.microsoft.com/office/drawing/2014/main" id="{56D83B3A-D5C9-41A5-848F-467C2E1B58C2}"/>
                </a:ext>
              </a:extLst>
            </p:cNvPr>
            <p:cNvSpPr/>
            <p:nvPr/>
          </p:nvSpPr>
          <p:spPr>
            <a:xfrm>
              <a:off x="2066982" y="482924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8" name="减号 204">
              <a:extLst>
                <a:ext uri="{FF2B5EF4-FFF2-40B4-BE49-F238E27FC236}">
                  <a16:creationId xmlns:a16="http://schemas.microsoft.com/office/drawing/2014/main" id="{1B48D81A-16B0-4A6D-987B-7FAE533B7E35}"/>
                </a:ext>
              </a:extLst>
            </p:cNvPr>
            <p:cNvSpPr/>
            <p:nvPr/>
          </p:nvSpPr>
          <p:spPr>
            <a:xfrm>
              <a:off x="2693378" y="421464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9" name="减号 204">
              <a:extLst>
                <a:ext uri="{FF2B5EF4-FFF2-40B4-BE49-F238E27FC236}">
                  <a16:creationId xmlns:a16="http://schemas.microsoft.com/office/drawing/2014/main" id="{F7B8B21D-B68A-4125-BECE-BDAAE799B6EF}"/>
                </a:ext>
              </a:extLst>
            </p:cNvPr>
            <p:cNvSpPr/>
            <p:nvPr/>
          </p:nvSpPr>
          <p:spPr>
            <a:xfrm>
              <a:off x="2931761" y="421464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0" name="减号 204">
              <a:extLst>
                <a:ext uri="{FF2B5EF4-FFF2-40B4-BE49-F238E27FC236}">
                  <a16:creationId xmlns:a16="http://schemas.microsoft.com/office/drawing/2014/main" id="{3A1CF36C-18CA-41B4-BB85-7E2C158B8937}"/>
                </a:ext>
              </a:extLst>
            </p:cNvPr>
            <p:cNvSpPr/>
            <p:nvPr/>
          </p:nvSpPr>
          <p:spPr>
            <a:xfrm>
              <a:off x="3170144" y="421464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1" name="减号 204">
              <a:extLst>
                <a:ext uri="{FF2B5EF4-FFF2-40B4-BE49-F238E27FC236}">
                  <a16:creationId xmlns:a16="http://schemas.microsoft.com/office/drawing/2014/main" id="{752D9AC3-8DFF-4E41-8614-10E9E2749F65}"/>
                </a:ext>
              </a:extLst>
            </p:cNvPr>
            <p:cNvSpPr/>
            <p:nvPr/>
          </p:nvSpPr>
          <p:spPr>
            <a:xfrm>
              <a:off x="3408527" y="421464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2" name="减号 204">
              <a:extLst>
                <a:ext uri="{FF2B5EF4-FFF2-40B4-BE49-F238E27FC236}">
                  <a16:creationId xmlns:a16="http://schemas.microsoft.com/office/drawing/2014/main" id="{8188437C-9148-4988-B2CF-DA9E4E520C26}"/>
                </a:ext>
              </a:extLst>
            </p:cNvPr>
            <p:cNvSpPr/>
            <p:nvPr/>
          </p:nvSpPr>
          <p:spPr>
            <a:xfrm>
              <a:off x="3650716" y="422144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3" name="减号 204">
              <a:extLst>
                <a:ext uri="{FF2B5EF4-FFF2-40B4-BE49-F238E27FC236}">
                  <a16:creationId xmlns:a16="http://schemas.microsoft.com/office/drawing/2014/main" id="{135CDE3D-608A-4C1E-95AB-2E94CDEF2056}"/>
                </a:ext>
              </a:extLst>
            </p:cNvPr>
            <p:cNvSpPr/>
            <p:nvPr/>
          </p:nvSpPr>
          <p:spPr>
            <a:xfrm>
              <a:off x="2693378" y="262532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4" name="减号 204">
              <a:extLst>
                <a:ext uri="{FF2B5EF4-FFF2-40B4-BE49-F238E27FC236}">
                  <a16:creationId xmlns:a16="http://schemas.microsoft.com/office/drawing/2014/main" id="{B1052B65-21DB-4906-9C12-D201A7F8033D}"/>
                </a:ext>
              </a:extLst>
            </p:cNvPr>
            <p:cNvSpPr/>
            <p:nvPr/>
          </p:nvSpPr>
          <p:spPr>
            <a:xfrm>
              <a:off x="2931761" y="262532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5" name="减号 204">
              <a:extLst>
                <a:ext uri="{FF2B5EF4-FFF2-40B4-BE49-F238E27FC236}">
                  <a16:creationId xmlns:a16="http://schemas.microsoft.com/office/drawing/2014/main" id="{09C80669-16B7-4849-894D-7F71B72CA157}"/>
                </a:ext>
              </a:extLst>
            </p:cNvPr>
            <p:cNvSpPr/>
            <p:nvPr/>
          </p:nvSpPr>
          <p:spPr>
            <a:xfrm>
              <a:off x="3170144" y="262532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6" name="减号 204">
              <a:extLst>
                <a:ext uri="{FF2B5EF4-FFF2-40B4-BE49-F238E27FC236}">
                  <a16:creationId xmlns:a16="http://schemas.microsoft.com/office/drawing/2014/main" id="{572CD884-843E-495E-90F5-031178C0F02F}"/>
                </a:ext>
              </a:extLst>
            </p:cNvPr>
            <p:cNvSpPr/>
            <p:nvPr/>
          </p:nvSpPr>
          <p:spPr>
            <a:xfrm>
              <a:off x="3408527" y="262532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7" name="减号 204">
              <a:extLst>
                <a:ext uri="{FF2B5EF4-FFF2-40B4-BE49-F238E27FC236}">
                  <a16:creationId xmlns:a16="http://schemas.microsoft.com/office/drawing/2014/main" id="{C493B989-D512-42A2-8510-15D72D3091AA}"/>
                </a:ext>
              </a:extLst>
            </p:cNvPr>
            <p:cNvSpPr/>
            <p:nvPr/>
          </p:nvSpPr>
          <p:spPr>
            <a:xfrm>
              <a:off x="3650716" y="263212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8" name="减号 204">
              <a:extLst>
                <a:ext uri="{FF2B5EF4-FFF2-40B4-BE49-F238E27FC236}">
                  <a16:creationId xmlns:a16="http://schemas.microsoft.com/office/drawing/2014/main" id="{1D5659FC-C896-4159-96F3-D2745F1EE109}"/>
                </a:ext>
              </a:extLst>
            </p:cNvPr>
            <p:cNvSpPr/>
            <p:nvPr/>
          </p:nvSpPr>
          <p:spPr>
            <a:xfrm>
              <a:off x="3893701" y="422611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9" name="减号 204">
              <a:extLst>
                <a:ext uri="{FF2B5EF4-FFF2-40B4-BE49-F238E27FC236}">
                  <a16:creationId xmlns:a16="http://schemas.microsoft.com/office/drawing/2014/main" id="{CB31078F-4F2B-445A-B8E6-5B2C19649B40}"/>
                </a:ext>
              </a:extLst>
            </p:cNvPr>
            <p:cNvSpPr/>
            <p:nvPr/>
          </p:nvSpPr>
          <p:spPr>
            <a:xfrm>
              <a:off x="3893102" y="262895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0" name="减号 204">
              <a:extLst>
                <a:ext uri="{FF2B5EF4-FFF2-40B4-BE49-F238E27FC236}">
                  <a16:creationId xmlns:a16="http://schemas.microsoft.com/office/drawing/2014/main" id="{83B4ACA1-25DF-42A7-A998-541CEF9A382B}"/>
                </a:ext>
              </a:extLst>
            </p:cNvPr>
            <p:cNvSpPr/>
            <p:nvPr/>
          </p:nvSpPr>
          <p:spPr>
            <a:xfrm>
              <a:off x="2329986" y="205338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1" name="减号 204">
              <a:extLst>
                <a:ext uri="{FF2B5EF4-FFF2-40B4-BE49-F238E27FC236}">
                  <a16:creationId xmlns:a16="http://schemas.microsoft.com/office/drawing/2014/main" id="{E73E154D-C64F-4187-98C3-885EF28C415D}"/>
                </a:ext>
              </a:extLst>
            </p:cNvPr>
            <p:cNvSpPr/>
            <p:nvPr/>
          </p:nvSpPr>
          <p:spPr>
            <a:xfrm>
              <a:off x="4240924" y="204855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2" name="减号 204">
              <a:extLst>
                <a:ext uri="{FF2B5EF4-FFF2-40B4-BE49-F238E27FC236}">
                  <a16:creationId xmlns:a16="http://schemas.microsoft.com/office/drawing/2014/main" id="{F5926764-2E7B-4968-902B-EF44D9D02235}"/>
                </a:ext>
              </a:extLst>
            </p:cNvPr>
            <p:cNvSpPr/>
            <p:nvPr/>
          </p:nvSpPr>
          <p:spPr>
            <a:xfrm>
              <a:off x="4238996" y="481925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3" name="减号 204">
              <a:extLst>
                <a:ext uri="{FF2B5EF4-FFF2-40B4-BE49-F238E27FC236}">
                  <a16:creationId xmlns:a16="http://schemas.microsoft.com/office/drawing/2014/main" id="{30887731-8C5B-4F63-A4AA-C868F32BE157}"/>
                </a:ext>
              </a:extLst>
            </p:cNvPr>
            <p:cNvSpPr/>
            <p:nvPr/>
          </p:nvSpPr>
          <p:spPr>
            <a:xfrm>
              <a:off x="2320064" y="482388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4" name="减号 204">
              <a:extLst>
                <a:ext uri="{FF2B5EF4-FFF2-40B4-BE49-F238E27FC236}">
                  <a16:creationId xmlns:a16="http://schemas.microsoft.com/office/drawing/2014/main" id="{E53660D4-E501-4A78-9171-8B0777E2313C}"/>
                </a:ext>
              </a:extLst>
            </p:cNvPr>
            <p:cNvSpPr/>
            <p:nvPr/>
          </p:nvSpPr>
          <p:spPr>
            <a:xfrm rot="10800000">
              <a:off x="3919901" y="451657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5" name="减号 204">
              <a:extLst>
                <a:ext uri="{FF2B5EF4-FFF2-40B4-BE49-F238E27FC236}">
                  <a16:creationId xmlns:a16="http://schemas.microsoft.com/office/drawing/2014/main" id="{8FAB80F4-FEF9-41B4-90CC-70CF42BE5318}"/>
                </a:ext>
              </a:extLst>
            </p:cNvPr>
            <p:cNvSpPr/>
            <p:nvPr/>
          </p:nvSpPr>
          <p:spPr>
            <a:xfrm rot="10800000">
              <a:off x="3955683" y="477629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6" name="减号 204">
              <a:extLst>
                <a:ext uri="{FF2B5EF4-FFF2-40B4-BE49-F238E27FC236}">
                  <a16:creationId xmlns:a16="http://schemas.microsoft.com/office/drawing/2014/main" id="{6C909DAC-A1B9-460C-9946-7E5D478BB333}"/>
                </a:ext>
              </a:extLst>
            </p:cNvPr>
            <p:cNvSpPr/>
            <p:nvPr/>
          </p:nvSpPr>
          <p:spPr>
            <a:xfrm>
              <a:off x="3964325" y="209095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7" name="减号 204">
              <a:extLst>
                <a:ext uri="{FF2B5EF4-FFF2-40B4-BE49-F238E27FC236}">
                  <a16:creationId xmlns:a16="http://schemas.microsoft.com/office/drawing/2014/main" id="{8438F05B-B63A-4C2A-B568-C48189FAC395}"/>
                </a:ext>
              </a:extLst>
            </p:cNvPr>
            <p:cNvSpPr/>
            <p:nvPr/>
          </p:nvSpPr>
          <p:spPr>
            <a:xfrm>
              <a:off x="3922267" y="235995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8" name="减号 204">
              <a:extLst>
                <a:ext uri="{FF2B5EF4-FFF2-40B4-BE49-F238E27FC236}">
                  <a16:creationId xmlns:a16="http://schemas.microsoft.com/office/drawing/2014/main" id="{FA490F1E-E101-4C33-B20A-8B1EBF911CBE}"/>
                </a:ext>
              </a:extLst>
            </p:cNvPr>
            <p:cNvSpPr/>
            <p:nvPr/>
          </p:nvSpPr>
          <p:spPr>
            <a:xfrm rot="10800000">
              <a:off x="2639173" y="478158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9" name="减号 204">
              <a:extLst>
                <a:ext uri="{FF2B5EF4-FFF2-40B4-BE49-F238E27FC236}">
                  <a16:creationId xmlns:a16="http://schemas.microsoft.com/office/drawing/2014/main" id="{F29E6EBC-1C85-4526-B5C1-37FB4D8C021F}"/>
                </a:ext>
              </a:extLst>
            </p:cNvPr>
            <p:cNvSpPr/>
            <p:nvPr/>
          </p:nvSpPr>
          <p:spPr>
            <a:xfrm rot="10800000">
              <a:off x="2681231" y="451258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0" name="减号 204">
              <a:extLst>
                <a:ext uri="{FF2B5EF4-FFF2-40B4-BE49-F238E27FC236}">
                  <a16:creationId xmlns:a16="http://schemas.microsoft.com/office/drawing/2014/main" id="{8608B09B-7D6E-481F-8C41-A4CAA282244D}"/>
                </a:ext>
              </a:extLst>
            </p:cNvPr>
            <p:cNvSpPr/>
            <p:nvPr/>
          </p:nvSpPr>
          <p:spPr>
            <a:xfrm>
              <a:off x="2679344" y="235512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1" name="减号 204">
              <a:extLst>
                <a:ext uri="{FF2B5EF4-FFF2-40B4-BE49-F238E27FC236}">
                  <a16:creationId xmlns:a16="http://schemas.microsoft.com/office/drawing/2014/main" id="{E01A1DF2-ED99-4031-9458-0A578142CEA0}"/>
                </a:ext>
              </a:extLst>
            </p:cNvPr>
            <p:cNvSpPr/>
            <p:nvPr/>
          </p:nvSpPr>
          <p:spPr>
            <a:xfrm>
              <a:off x="2643562" y="209540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2" name="十字形 56">
              <a:extLst>
                <a:ext uri="{FF2B5EF4-FFF2-40B4-BE49-F238E27FC236}">
                  <a16:creationId xmlns:a16="http://schemas.microsoft.com/office/drawing/2014/main" id="{83BEA34F-B976-43D0-A922-3DA38A66E1C5}"/>
                </a:ext>
              </a:extLst>
            </p:cNvPr>
            <p:cNvSpPr/>
            <p:nvPr/>
          </p:nvSpPr>
          <p:spPr>
            <a:xfrm>
              <a:off x="1135120" y="237563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3" name="十字形 56">
              <a:extLst>
                <a:ext uri="{FF2B5EF4-FFF2-40B4-BE49-F238E27FC236}">
                  <a16:creationId xmlns:a16="http://schemas.microsoft.com/office/drawing/2014/main" id="{1169350B-400C-4BB3-B833-56EB722DB64C}"/>
                </a:ext>
              </a:extLst>
            </p:cNvPr>
            <p:cNvSpPr/>
            <p:nvPr/>
          </p:nvSpPr>
          <p:spPr>
            <a:xfrm>
              <a:off x="1370340" y="237834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4" name="十字形 56">
              <a:extLst>
                <a:ext uri="{FF2B5EF4-FFF2-40B4-BE49-F238E27FC236}">
                  <a16:creationId xmlns:a16="http://schemas.microsoft.com/office/drawing/2014/main" id="{A192FBEB-1B65-4E9F-B0BF-B055CBB4A17C}"/>
                </a:ext>
              </a:extLst>
            </p:cNvPr>
            <p:cNvSpPr/>
            <p:nvPr/>
          </p:nvSpPr>
          <p:spPr>
            <a:xfrm>
              <a:off x="1604973" y="237597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5" name="十字形 56">
              <a:extLst>
                <a:ext uri="{FF2B5EF4-FFF2-40B4-BE49-F238E27FC236}">
                  <a16:creationId xmlns:a16="http://schemas.microsoft.com/office/drawing/2014/main" id="{0DF93338-5C98-45E3-8180-0BD0A8F2814E}"/>
                </a:ext>
              </a:extLst>
            </p:cNvPr>
            <p:cNvSpPr/>
            <p:nvPr/>
          </p:nvSpPr>
          <p:spPr>
            <a:xfrm>
              <a:off x="1846449" y="238256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6" name="十字形 56">
              <a:extLst>
                <a:ext uri="{FF2B5EF4-FFF2-40B4-BE49-F238E27FC236}">
                  <a16:creationId xmlns:a16="http://schemas.microsoft.com/office/drawing/2014/main" id="{C142BEF9-A8DC-497F-9691-71BB1BA896FE}"/>
                </a:ext>
              </a:extLst>
            </p:cNvPr>
            <p:cNvSpPr/>
            <p:nvPr/>
          </p:nvSpPr>
          <p:spPr>
            <a:xfrm>
              <a:off x="2081669" y="238527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7" name="十字形 56">
              <a:extLst>
                <a:ext uri="{FF2B5EF4-FFF2-40B4-BE49-F238E27FC236}">
                  <a16:creationId xmlns:a16="http://schemas.microsoft.com/office/drawing/2014/main" id="{B2CD5428-B259-4866-A07C-536EF1C46723}"/>
                </a:ext>
              </a:extLst>
            </p:cNvPr>
            <p:cNvSpPr/>
            <p:nvPr/>
          </p:nvSpPr>
          <p:spPr>
            <a:xfrm>
              <a:off x="2316302" y="238290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8" name="十字形 56">
              <a:extLst>
                <a:ext uri="{FF2B5EF4-FFF2-40B4-BE49-F238E27FC236}">
                  <a16:creationId xmlns:a16="http://schemas.microsoft.com/office/drawing/2014/main" id="{C27BB3F5-2142-4CB1-BC78-080A78AE19E7}"/>
                </a:ext>
              </a:extLst>
            </p:cNvPr>
            <p:cNvSpPr/>
            <p:nvPr/>
          </p:nvSpPr>
          <p:spPr>
            <a:xfrm>
              <a:off x="4282879" y="236842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9" name="十字形 56">
              <a:extLst>
                <a:ext uri="{FF2B5EF4-FFF2-40B4-BE49-F238E27FC236}">
                  <a16:creationId xmlns:a16="http://schemas.microsoft.com/office/drawing/2014/main" id="{DE330020-7D86-4F85-B61F-3961B42F5708}"/>
                </a:ext>
              </a:extLst>
            </p:cNvPr>
            <p:cNvSpPr/>
            <p:nvPr/>
          </p:nvSpPr>
          <p:spPr>
            <a:xfrm>
              <a:off x="4518099" y="237113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0" name="十字形 56">
              <a:extLst>
                <a:ext uri="{FF2B5EF4-FFF2-40B4-BE49-F238E27FC236}">
                  <a16:creationId xmlns:a16="http://schemas.microsoft.com/office/drawing/2014/main" id="{CEA71E96-BDC7-4045-B3E5-BBED78E3ABB3}"/>
                </a:ext>
              </a:extLst>
            </p:cNvPr>
            <p:cNvSpPr/>
            <p:nvPr/>
          </p:nvSpPr>
          <p:spPr>
            <a:xfrm>
              <a:off x="4752732" y="2368756"/>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1" name="十字形 56">
              <a:extLst>
                <a:ext uri="{FF2B5EF4-FFF2-40B4-BE49-F238E27FC236}">
                  <a16:creationId xmlns:a16="http://schemas.microsoft.com/office/drawing/2014/main" id="{2BCC37A3-0D51-48A4-8C19-B626FC83CA2F}"/>
                </a:ext>
              </a:extLst>
            </p:cNvPr>
            <p:cNvSpPr/>
            <p:nvPr/>
          </p:nvSpPr>
          <p:spPr>
            <a:xfrm>
              <a:off x="4994208" y="237535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2" name="十字形 56">
              <a:extLst>
                <a:ext uri="{FF2B5EF4-FFF2-40B4-BE49-F238E27FC236}">
                  <a16:creationId xmlns:a16="http://schemas.microsoft.com/office/drawing/2014/main" id="{87785319-DE19-49DB-96F4-814FC0076754}"/>
                </a:ext>
              </a:extLst>
            </p:cNvPr>
            <p:cNvSpPr/>
            <p:nvPr/>
          </p:nvSpPr>
          <p:spPr>
            <a:xfrm>
              <a:off x="5229428" y="237806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3" name="十字形 56">
              <a:extLst>
                <a:ext uri="{FF2B5EF4-FFF2-40B4-BE49-F238E27FC236}">
                  <a16:creationId xmlns:a16="http://schemas.microsoft.com/office/drawing/2014/main" id="{FF385E87-5577-435E-97CE-8E7B807E9F39}"/>
                </a:ext>
              </a:extLst>
            </p:cNvPr>
            <p:cNvSpPr/>
            <p:nvPr/>
          </p:nvSpPr>
          <p:spPr>
            <a:xfrm>
              <a:off x="5464061" y="237568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4" name="十字形 56">
              <a:extLst>
                <a:ext uri="{FF2B5EF4-FFF2-40B4-BE49-F238E27FC236}">
                  <a16:creationId xmlns:a16="http://schemas.microsoft.com/office/drawing/2014/main" id="{D90483BA-DF68-47E1-B173-6EA463CA9CC0}"/>
                </a:ext>
              </a:extLst>
            </p:cNvPr>
            <p:cNvSpPr/>
            <p:nvPr/>
          </p:nvSpPr>
          <p:spPr>
            <a:xfrm>
              <a:off x="4282879" y="448760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5" name="十字形 56">
              <a:extLst>
                <a:ext uri="{FF2B5EF4-FFF2-40B4-BE49-F238E27FC236}">
                  <a16:creationId xmlns:a16="http://schemas.microsoft.com/office/drawing/2014/main" id="{10262DA6-F3C1-4A2A-8025-E813E04CD7F4}"/>
                </a:ext>
              </a:extLst>
            </p:cNvPr>
            <p:cNvSpPr/>
            <p:nvPr/>
          </p:nvSpPr>
          <p:spPr>
            <a:xfrm>
              <a:off x="4518099" y="449031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6" name="十字形 56">
              <a:extLst>
                <a:ext uri="{FF2B5EF4-FFF2-40B4-BE49-F238E27FC236}">
                  <a16:creationId xmlns:a16="http://schemas.microsoft.com/office/drawing/2014/main" id="{5C6A709F-D40C-460A-B791-075A3BB9CD79}"/>
                </a:ext>
              </a:extLst>
            </p:cNvPr>
            <p:cNvSpPr/>
            <p:nvPr/>
          </p:nvSpPr>
          <p:spPr>
            <a:xfrm>
              <a:off x="4752732" y="4487936"/>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7" name="十字形 56">
              <a:extLst>
                <a:ext uri="{FF2B5EF4-FFF2-40B4-BE49-F238E27FC236}">
                  <a16:creationId xmlns:a16="http://schemas.microsoft.com/office/drawing/2014/main" id="{786FCE02-BE3A-4AFE-9377-CF8FF338BEB1}"/>
                </a:ext>
              </a:extLst>
            </p:cNvPr>
            <p:cNvSpPr/>
            <p:nvPr/>
          </p:nvSpPr>
          <p:spPr>
            <a:xfrm>
              <a:off x="4994208" y="449453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8" name="十字形 56">
              <a:extLst>
                <a:ext uri="{FF2B5EF4-FFF2-40B4-BE49-F238E27FC236}">
                  <a16:creationId xmlns:a16="http://schemas.microsoft.com/office/drawing/2014/main" id="{235B45C2-9842-4C5D-9704-C80B6E3C6976}"/>
                </a:ext>
              </a:extLst>
            </p:cNvPr>
            <p:cNvSpPr/>
            <p:nvPr/>
          </p:nvSpPr>
          <p:spPr>
            <a:xfrm>
              <a:off x="5229428" y="449724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9" name="十字形 56">
              <a:extLst>
                <a:ext uri="{FF2B5EF4-FFF2-40B4-BE49-F238E27FC236}">
                  <a16:creationId xmlns:a16="http://schemas.microsoft.com/office/drawing/2014/main" id="{1300CA32-0913-411F-9588-C3BE7522BD99}"/>
                </a:ext>
              </a:extLst>
            </p:cNvPr>
            <p:cNvSpPr/>
            <p:nvPr/>
          </p:nvSpPr>
          <p:spPr>
            <a:xfrm>
              <a:off x="5464061" y="449486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0" name="十字形 56">
              <a:extLst>
                <a:ext uri="{FF2B5EF4-FFF2-40B4-BE49-F238E27FC236}">
                  <a16:creationId xmlns:a16="http://schemas.microsoft.com/office/drawing/2014/main" id="{A475F559-B4C6-4A2C-8997-731ED4595E34}"/>
                </a:ext>
              </a:extLst>
            </p:cNvPr>
            <p:cNvSpPr/>
            <p:nvPr/>
          </p:nvSpPr>
          <p:spPr>
            <a:xfrm>
              <a:off x="1134527" y="4487965"/>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1" name="十字形 56">
              <a:extLst>
                <a:ext uri="{FF2B5EF4-FFF2-40B4-BE49-F238E27FC236}">
                  <a16:creationId xmlns:a16="http://schemas.microsoft.com/office/drawing/2014/main" id="{5914F2E6-0801-43C0-8548-255055674061}"/>
                </a:ext>
              </a:extLst>
            </p:cNvPr>
            <p:cNvSpPr/>
            <p:nvPr/>
          </p:nvSpPr>
          <p:spPr>
            <a:xfrm>
              <a:off x="1369747" y="4490676"/>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2" name="十字形 56">
              <a:extLst>
                <a:ext uri="{FF2B5EF4-FFF2-40B4-BE49-F238E27FC236}">
                  <a16:creationId xmlns:a16="http://schemas.microsoft.com/office/drawing/2014/main" id="{09FBC962-B22F-4A6A-9DD5-1DFBCBA4CD33}"/>
                </a:ext>
              </a:extLst>
            </p:cNvPr>
            <p:cNvSpPr/>
            <p:nvPr/>
          </p:nvSpPr>
          <p:spPr>
            <a:xfrm>
              <a:off x="1604380" y="448830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3" name="十字形 56">
              <a:extLst>
                <a:ext uri="{FF2B5EF4-FFF2-40B4-BE49-F238E27FC236}">
                  <a16:creationId xmlns:a16="http://schemas.microsoft.com/office/drawing/2014/main" id="{3F9423F5-8C24-40F0-9622-4A2D03653899}"/>
                </a:ext>
              </a:extLst>
            </p:cNvPr>
            <p:cNvSpPr/>
            <p:nvPr/>
          </p:nvSpPr>
          <p:spPr>
            <a:xfrm>
              <a:off x="1845856" y="4494896"/>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4" name="十字形 56">
              <a:extLst>
                <a:ext uri="{FF2B5EF4-FFF2-40B4-BE49-F238E27FC236}">
                  <a16:creationId xmlns:a16="http://schemas.microsoft.com/office/drawing/2014/main" id="{54704681-BBDC-45DC-8F12-43FBE40E45D7}"/>
                </a:ext>
              </a:extLst>
            </p:cNvPr>
            <p:cNvSpPr/>
            <p:nvPr/>
          </p:nvSpPr>
          <p:spPr>
            <a:xfrm>
              <a:off x="2081076" y="449760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5" name="十字形 56">
              <a:extLst>
                <a:ext uri="{FF2B5EF4-FFF2-40B4-BE49-F238E27FC236}">
                  <a16:creationId xmlns:a16="http://schemas.microsoft.com/office/drawing/2014/main" id="{31737105-4D01-478E-AD14-F7B6645390C0}"/>
                </a:ext>
              </a:extLst>
            </p:cNvPr>
            <p:cNvSpPr/>
            <p:nvPr/>
          </p:nvSpPr>
          <p:spPr>
            <a:xfrm>
              <a:off x="2315709" y="449523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6" name="十字形 56">
              <a:extLst>
                <a:ext uri="{FF2B5EF4-FFF2-40B4-BE49-F238E27FC236}">
                  <a16:creationId xmlns:a16="http://schemas.microsoft.com/office/drawing/2014/main" id="{E0C75964-E15E-4A6D-8A9D-A3F6EDED3C0C}"/>
                </a:ext>
              </a:extLst>
            </p:cNvPr>
            <p:cNvSpPr/>
            <p:nvPr/>
          </p:nvSpPr>
          <p:spPr>
            <a:xfrm>
              <a:off x="2715692" y="293480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7" name="十字形 56">
              <a:extLst>
                <a:ext uri="{FF2B5EF4-FFF2-40B4-BE49-F238E27FC236}">
                  <a16:creationId xmlns:a16="http://schemas.microsoft.com/office/drawing/2014/main" id="{B78840C3-FD1B-4ADB-9433-784ADCA621F7}"/>
                </a:ext>
              </a:extLst>
            </p:cNvPr>
            <p:cNvSpPr/>
            <p:nvPr/>
          </p:nvSpPr>
          <p:spPr>
            <a:xfrm>
              <a:off x="2950912" y="293751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8" name="十字形 56">
              <a:extLst>
                <a:ext uri="{FF2B5EF4-FFF2-40B4-BE49-F238E27FC236}">
                  <a16:creationId xmlns:a16="http://schemas.microsoft.com/office/drawing/2014/main" id="{357FE793-2ED9-4871-AE3B-72C9ACD6824A}"/>
                </a:ext>
              </a:extLst>
            </p:cNvPr>
            <p:cNvSpPr/>
            <p:nvPr/>
          </p:nvSpPr>
          <p:spPr>
            <a:xfrm>
              <a:off x="3185545" y="293513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9" name="十字形 56">
              <a:extLst>
                <a:ext uri="{FF2B5EF4-FFF2-40B4-BE49-F238E27FC236}">
                  <a16:creationId xmlns:a16="http://schemas.microsoft.com/office/drawing/2014/main" id="{A73D64CA-8F38-4762-9FAC-2EBF26D965DB}"/>
                </a:ext>
              </a:extLst>
            </p:cNvPr>
            <p:cNvSpPr/>
            <p:nvPr/>
          </p:nvSpPr>
          <p:spPr>
            <a:xfrm>
              <a:off x="3427021" y="294173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0" name="十字形 56">
              <a:extLst>
                <a:ext uri="{FF2B5EF4-FFF2-40B4-BE49-F238E27FC236}">
                  <a16:creationId xmlns:a16="http://schemas.microsoft.com/office/drawing/2014/main" id="{CD800A01-85E2-4DC8-812C-79F265A38E75}"/>
                </a:ext>
              </a:extLst>
            </p:cNvPr>
            <p:cNvSpPr/>
            <p:nvPr/>
          </p:nvSpPr>
          <p:spPr>
            <a:xfrm>
              <a:off x="3662241" y="294444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1" name="十字形 56">
              <a:extLst>
                <a:ext uri="{FF2B5EF4-FFF2-40B4-BE49-F238E27FC236}">
                  <a16:creationId xmlns:a16="http://schemas.microsoft.com/office/drawing/2014/main" id="{3B688102-1D96-439D-9C33-86B2D0757988}"/>
                </a:ext>
              </a:extLst>
            </p:cNvPr>
            <p:cNvSpPr/>
            <p:nvPr/>
          </p:nvSpPr>
          <p:spPr>
            <a:xfrm>
              <a:off x="3896874" y="294206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2" name="十字形 56">
              <a:extLst>
                <a:ext uri="{FF2B5EF4-FFF2-40B4-BE49-F238E27FC236}">
                  <a16:creationId xmlns:a16="http://schemas.microsoft.com/office/drawing/2014/main" id="{30C05B61-8AAC-46E9-ACD4-F29CA8219E39}"/>
                </a:ext>
              </a:extLst>
            </p:cNvPr>
            <p:cNvSpPr/>
            <p:nvPr/>
          </p:nvSpPr>
          <p:spPr>
            <a:xfrm>
              <a:off x="2696318" y="390975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3" name="十字形 56">
              <a:extLst>
                <a:ext uri="{FF2B5EF4-FFF2-40B4-BE49-F238E27FC236}">
                  <a16:creationId xmlns:a16="http://schemas.microsoft.com/office/drawing/2014/main" id="{F2D0D11B-8FEB-4103-A206-DECE4A0CA07F}"/>
                </a:ext>
              </a:extLst>
            </p:cNvPr>
            <p:cNvSpPr/>
            <p:nvPr/>
          </p:nvSpPr>
          <p:spPr>
            <a:xfrm>
              <a:off x="2931538" y="391246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4" name="十字形 56">
              <a:extLst>
                <a:ext uri="{FF2B5EF4-FFF2-40B4-BE49-F238E27FC236}">
                  <a16:creationId xmlns:a16="http://schemas.microsoft.com/office/drawing/2014/main" id="{A6EE0641-ADBC-4592-8DE4-9DCFF0BDA5E4}"/>
                </a:ext>
              </a:extLst>
            </p:cNvPr>
            <p:cNvSpPr/>
            <p:nvPr/>
          </p:nvSpPr>
          <p:spPr>
            <a:xfrm>
              <a:off x="3166171" y="391009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5" name="十字形 56">
              <a:extLst>
                <a:ext uri="{FF2B5EF4-FFF2-40B4-BE49-F238E27FC236}">
                  <a16:creationId xmlns:a16="http://schemas.microsoft.com/office/drawing/2014/main" id="{411546BE-DC98-4E08-BC6A-1FFE5874B240}"/>
                </a:ext>
              </a:extLst>
            </p:cNvPr>
            <p:cNvSpPr/>
            <p:nvPr/>
          </p:nvSpPr>
          <p:spPr>
            <a:xfrm>
              <a:off x="3407647" y="391668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6" name="十字形 56">
              <a:extLst>
                <a:ext uri="{FF2B5EF4-FFF2-40B4-BE49-F238E27FC236}">
                  <a16:creationId xmlns:a16="http://schemas.microsoft.com/office/drawing/2014/main" id="{AD4E6466-F2A7-43B6-902D-8ED1636894FB}"/>
                </a:ext>
              </a:extLst>
            </p:cNvPr>
            <p:cNvSpPr/>
            <p:nvPr/>
          </p:nvSpPr>
          <p:spPr>
            <a:xfrm>
              <a:off x="3642867" y="391939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7" name="十字形 56">
              <a:extLst>
                <a:ext uri="{FF2B5EF4-FFF2-40B4-BE49-F238E27FC236}">
                  <a16:creationId xmlns:a16="http://schemas.microsoft.com/office/drawing/2014/main" id="{BA97B42F-3D0F-42A2-95C9-8B95B1DE8D9B}"/>
                </a:ext>
              </a:extLst>
            </p:cNvPr>
            <p:cNvSpPr/>
            <p:nvPr/>
          </p:nvSpPr>
          <p:spPr>
            <a:xfrm>
              <a:off x="3877500" y="391702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8" name="十字形 56">
              <a:extLst>
                <a:ext uri="{FF2B5EF4-FFF2-40B4-BE49-F238E27FC236}">
                  <a16:creationId xmlns:a16="http://schemas.microsoft.com/office/drawing/2014/main" id="{BBC8D54B-C8C0-4050-A184-584EDC5DBE72}"/>
                </a:ext>
              </a:extLst>
            </p:cNvPr>
            <p:cNvSpPr/>
            <p:nvPr/>
          </p:nvSpPr>
          <p:spPr>
            <a:xfrm>
              <a:off x="2361096" y="2650136"/>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9" name="十字形 56">
              <a:extLst>
                <a:ext uri="{FF2B5EF4-FFF2-40B4-BE49-F238E27FC236}">
                  <a16:creationId xmlns:a16="http://schemas.microsoft.com/office/drawing/2014/main" id="{4C91B6A0-49A8-4427-A757-5D5F43EA5E22}"/>
                </a:ext>
              </a:extLst>
            </p:cNvPr>
            <p:cNvSpPr/>
            <p:nvPr/>
          </p:nvSpPr>
          <p:spPr>
            <a:xfrm>
              <a:off x="2398513" y="293480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0" name="十字形 56">
              <a:extLst>
                <a:ext uri="{FF2B5EF4-FFF2-40B4-BE49-F238E27FC236}">
                  <a16:creationId xmlns:a16="http://schemas.microsoft.com/office/drawing/2014/main" id="{4E921346-D675-4D4D-95FE-013B06A11E7F}"/>
                </a:ext>
              </a:extLst>
            </p:cNvPr>
            <p:cNvSpPr/>
            <p:nvPr/>
          </p:nvSpPr>
          <p:spPr>
            <a:xfrm>
              <a:off x="2386287" y="393196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1" name="十字形 56">
              <a:extLst>
                <a:ext uri="{FF2B5EF4-FFF2-40B4-BE49-F238E27FC236}">
                  <a16:creationId xmlns:a16="http://schemas.microsoft.com/office/drawing/2014/main" id="{6C384BD5-BBF9-485D-B69F-3E44A92FF2BE}"/>
                </a:ext>
              </a:extLst>
            </p:cNvPr>
            <p:cNvSpPr/>
            <p:nvPr/>
          </p:nvSpPr>
          <p:spPr>
            <a:xfrm>
              <a:off x="2361023" y="421097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2" name="十字形 56">
              <a:extLst>
                <a:ext uri="{FF2B5EF4-FFF2-40B4-BE49-F238E27FC236}">
                  <a16:creationId xmlns:a16="http://schemas.microsoft.com/office/drawing/2014/main" id="{9F0C6A54-624E-4A22-9183-87A5F8FACDA5}"/>
                </a:ext>
              </a:extLst>
            </p:cNvPr>
            <p:cNvSpPr/>
            <p:nvPr/>
          </p:nvSpPr>
          <p:spPr>
            <a:xfrm>
              <a:off x="4270778" y="264973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3" name="十字形 56">
              <a:extLst>
                <a:ext uri="{FF2B5EF4-FFF2-40B4-BE49-F238E27FC236}">
                  <a16:creationId xmlns:a16="http://schemas.microsoft.com/office/drawing/2014/main" id="{18B28685-310B-4B0B-BF6D-8840863EEC16}"/>
                </a:ext>
              </a:extLst>
            </p:cNvPr>
            <p:cNvSpPr/>
            <p:nvPr/>
          </p:nvSpPr>
          <p:spPr>
            <a:xfrm>
              <a:off x="4270749" y="4204755"/>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4" name="十字形 56">
              <a:extLst>
                <a:ext uri="{FF2B5EF4-FFF2-40B4-BE49-F238E27FC236}">
                  <a16:creationId xmlns:a16="http://schemas.microsoft.com/office/drawing/2014/main" id="{593BF33E-E667-491A-8DB4-1C62C77FA99F}"/>
                </a:ext>
              </a:extLst>
            </p:cNvPr>
            <p:cNvSpPr/>
            <p:nvPr/>
          </p:nvSpPr>
          <p:spPr>
            <a:xfrm>
              <a:off x="4197656" y="391301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5" name="十字形 56">
              <a:extLst>
                <a:ext uri="{FF2B5EF4-FFF2-40B4-BE49-F238E27FC236}">
                  <a16:creationId xmlns:a16="http://schemas.microsoft.com/office/drawing/2014/main" id="{5D7B1ADB-5B23-4C1C-8863-5F849DCC3E0E}"/>
                </a:ext>
              </a:extLst>
            </p:cNvPr>
            <p:cNvSpPr/>
            <p:nvPr/>
          </p:nvSpPr>
          <p:spPr>
            <a:xfrm>
              <a:off x="4189012" y="292920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6" name="十字形 56">
              <a:extLst>
                <a:ext uri="{FF2B5EF4-FFF2-40B4-BE49-F238E27FC236}">
                  <a16:creationId xmlns:a16="http://schemas.microsoft.com/office/drawing/2014/main" id="{BFB71853-4446-48E1-85F8-757A4B5C3E74}"/>
                </a:ext>
              </a:extLst>
            </p:cNvPr>
            <p:cNvSpPr/>
            <p:nvPr/>
          </p:nvSpPr>
          <p:spPr>
            <a:xfrm>
              <a:off x="5185994" y="411665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7" name="Straight Arrow Connector 426">
              <a:extLst>
                <a:ext uri="{FF2B5EF4-FFF2-40B4-BE49-F238E27FC236}">
                  <a16:creationId xmlns:a16="http://schemas.microsoft.com/office/drawing/2014/main" id="{7C1BB33B-6B5D-44C3-AF6B-D020546AE56E}"/>
                </a:ext>
              </a:extLst>
            </p:cNvPr>
            <p:cNvCxnSpPr/>
            <p:nvPr/>
          </p:nvCxnSpPr>
          <p:spPr>
            <a:xfrm>
              <a:off x="1091999" y="5184628"/>
              <a:ext cx="54621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8" name="Straight Arrow Connector 427">
              <a:extLst>
                <a:ext uri="{FF2B5EF4-FFF2-40B4-BE49-F238E27FC236}">
                  <a16:creationId xmlns:a16="http://schemas.microsoft.com/office/drawing/2014/main" id="{6B96282E-FF47-4606-88E8-2517884B6BD5}"/>
                </a:ext>
              </a:extLst>
            </p:cNvPr>
            <p:cNvCxnSpPr>
              <a:cxnSpLocks/>
            </p:cNvCxnSpPr>
            <p:nvPr/>
          </p:nvCxnSpPr>
          <p:spPr>
            <a:xfrm flipH="1">
              <a:off x="2026201" y="5184628"/>
              <a:ext cx="5441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9" name="Straight Arrow Connector 428">
              <a:extLst>
                <a:ext uri="{FF2B5EF4-FFF2-40B4-BE49-F238E27FC236}">
                  <a16:creationId xmlns:a16="http://schemas.microsoft.com/office/drawing/2014/main" id="{C0E06087-FAA1-43F5-BB18-44548ACC2F8B}"/>
                </a:ext>
              </a:extLst>
            </p:cNvPr>
            <p:cNvCxnSpPr>
              <a:cxnSpLocks/>
            </p:cNvCxnSpPr>
            <p:nvPr/>
          </p:nvCxnSpPr>
          <p:spPr>
            <a:xfrm flipH="1">
              <a:off x="3574727" y="5184628"/>
              <a:ext cx="5774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0" name="Straight Arrow Connector 429">
              <a:extLst>
                <a:ext uri="{FF2B5EF4-FFF2-40B4-BE49-F238E27FC236}">
                  <a16:creationId xmlns:a16="http://schemas.microsoft.com/office/drawing/2014/main" id="{215CF90B-5782-4679-A880-0C95189264AA}"/>
                </a:ext>
              </a:extLst>
            </p:cNvPr>
            <p:cNvCxnSpPr/>
            <p:nvPr/>
          </p:nvCxnSpPr>
          <p:spPr>
            <a:xfrm>
              <a:off x="2634691" y="5184628"/>
              <a:ext cx="54621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1" name="TextBox 430">
              <a:extLst>
                <a:ext uri="{FF2B5EF4-FFF2-40B4-BE49-F238E27FC236}">
                  <a16:creationId xmlns:a16="http://schemas.microsoft.com/office/drawing/2014/main" id="{F93730E6-C5BC-4EA8-BBF6-2A3CCE34CB6E}"/>
                </a:ext>
              </a:extLst>
            </p:cNvPr>
            <p:cNvSpPr txBox="1"/>
            <p:nvPr/>
          </p:nvSpPr>
          <p:spPr>
            <a:xfrm>
              <a:off x="1635143" y="4993284"/>
              <a:ext cx="435533" cy="417693"/>
            </a:xfrm>
            <a:prstGeom prst="rect">
              <a:avLst/>
            </a:prstGeom>
            <a:noFill/>
          </p:spPr>
          <p:txBody>
            <a:bodyPr wrap="none" rtlCol="0">
              <a:spAutoFit/>
            </a:bodyPr>
            <a:lstStyle/>
            <a:p>
              <a:r>
                <a:rPr lang="en-US" sz="1400" b="1" dirty="0"/>
                <a:t>L</a:t>
              </a:r>
              <a:r>
                <a:rPr lang="en-US" sz="1400" b="1" baseline="-25000" dirty="0"/>
                <a:t>1</a:t>
              </a:r>
            </a:p>
          </p:txBody>
        </p:sp>
        <p:sp>
          <p:nvSpPr>
            <p:cNvPr id="432" name="TextBox 431">
              <a:extLst>
                <a:ext uri="{FF2B5EF4-FFF2-40B4-BE49-F238E27FC236}">
                  <a16:creationId xmlns:a16="http://schemas.microsoft.com/office/drawing/2014/main" id="{2B62F11D-FCBA-4B94-BFE0-7A872FEEC155}"/>
                </a:ext>
              </a:extLst>
            </p:cNvPr>
            <p:cNvSpPr txBox="1"/>
            <p:nvPr/>
          </p:nvSpPr>
          <p:spPr>
            <a:xfrm>
              <a:off x="3200963" y="4996321"/>
              <a:ext cx="435533" cy="417693"/>
            </a:xfrm>
            <a:prstGeom prst="rect">
              <a:avLst/>
            </a:prstGeom>
            <a:noFill/>
          </p:spPr>
          <p:txBody>
            <a:bodyPr wrap="none" rtlCol="0">
              <a:spAutoFit/>
            </a:bodyPr>
            <a:lstStyle/>
            <a:p>
              <a:r>
                <a:rPr lang="en-US" sz="1400" b="1" dirty="0"/>
                <a:t>L</a:t>
              </a:r>
              <a:r>
                <a:rPr lang="en-US" sz="1400" b="1" baseline="-25000" dirty="0"/>
                <a:t>2</a:t>
              </a:r>
            </a:p>
          </p:txBody>
        </p:sp>
        <p:cxnSp>
          <p:nvCxnSpPr>
            <p:cNvPr id="433" name="Straight Arrow Connector 432">
              <a:extLst>
                <a:ext uri="{FF2B5EF4-FFF2-40B4-BE49-F238E27FC236}">
                  <a16:creationId xmlns:a16="http://schemas.microsoft.com/office/drawing/2014/main" id="{296ACC13-FCC3-45E8-8DD9-21D3281BDA13}"/>
                </a:ext>
              </a:extLst>
            </p:cNvPr>
            <p:cNvCxnSpPr>
              <a:cxnSpLocks/>
            </p:cNvCxnSpPr>
            <p:nvPr/>
          </p:nvCxnSpPr>
          <p:spPr>
            <a:xfrm flipH="1" flipV="1">
              <a:off x="1671214" y="2295975"/>
              <a:ext cx="1002" cy="11825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4" name="Straight Arrow Connector 433">
              <a:extLst>
                <a:ext uri="{FF2B5EF4-FFF2-40B4-BE49-F238E27FC236}">
                  <a16:creationId xmlns:a16="http://schemas.microsoft.com/office/drawing/2014/main" id="{9BC67624-753A-46A7-AC57-81563934735D}"/>
                </a:ext>
              </a:extLst>
            </p:cNvPr>
            <p:cNvCxnSpPr>
              <a:cxnSpLocks/>
            </p:cNvCxnSpPr>
            <p:nvPr/>
          </p:nvCxnSpPr>
          <p:spPr>
            <a:xfrm flipV="1">
              <a:off x="3350821" y="2854871"/>
              <a:ext cx="1" cy="6224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5" name="TextBox 434">
              <a:extLst>
                <a:ext uri="{FF2B5EF4-FFF2-40B4-BE49-F238E27FC236}">
                  <a16:creationId xmlns:a16="http://schemas.microsoft.com/office/drawing/2014/main" id="{E5738A32-332F-4FC2-A57F-5054BC3480E7}"/>
                </a:ext>
              </a:extLst>
            </p:cNvPr>
            <p:cNvSpPr txBox="1"/>
            <p:nvPr/>
          </p:nvSpPr>
          <p:spPr>
            <a:xfrm>
              <a:off x="1681015" y="2713100"/>
              <a:ext cx="420303" cy="417693"/>
            </a:xfrm>
            <a:prstGeom prst="rect">
              <a:avLst/>
            </a:prstGeom>
            <a:noFill/>
          </p:spPr>
          <p:txBody>
            <a:bodyPr wrap="none" rtlCol="0">
              <a:spAutoFit/>
            </a:bodyPr>
            <a:lstStyle/>
            <a:p>
              <a:r>
                <a:rPr lang="en-US" sz="1400" b="1" dirty="0"/>
                <a:t>r</a:t>
              </a:r>
              <a:r>
                <a:rPr lang="en-US" sz="1400" b="1" baseline="-25000" dirty="0"/>
                <a:t>1</a:t>
              </a:r>
            </a:p>
          </p:txBody>
        </p:sp>
        <p:sp>
          <p:nvSpPr>
            <p:cNvPr id="436" name="TextBox 435">
              <a:extLst>
                <a:ext uri="{FF2B5EF4-FFF2-40B4-BE49-F238E27FC236}">
                  <a16:creationId xmlns:a16="http://schemas.microsoft.com/office/drawing/2014/main" id="{C15CAE2A-BE43-43D1-8B56-C1BE13E61B49}"/>
                </a:ext>
              </a:extLst>
            </p:cNvPr>
            <p:cNvSpPr txBox="1"/>
            <p:nvPr/>
          </p:nvSpPr>
          <p:spPr>
            <a:xfrm>
              <a:off x="3344666" y="2957597"/>
              <a:ext cx="420303" cy="417693"/>
            </a:xfrm>
            <a:prstGeom prst="rect">
              <a:avLst/>
            </a:prstGeom>
            <a:noFill/>
          </p:spPr>
          <p:txBody>
            <a:bodyPr wrap="none" rtlCol="0">
              <a:spAutoFit/>
            </a:bodyPr>
            <a:lstStyle/>
            <a:p>
              <a:r>
                <a:rPr lang="en-US" sz="1400" b="1" dirty="0"/>
                <a:t>r</a:t>
              </a:r>
              <a:r>
                <a:rPr lang="en-US" sz="1400" b="1" baseline="-25000" dirty="0"/>
                <a:t>2</a:t>
              </a:r>
            </a:p>
          </p:txBody>
        </p:sp>
        <p:sp>
          <p:nvSpPr>
            <p:cNvPr id="437" name="文本框 335">
              <a:extLst>
                <a:ext uri="{FF2B5EF4-FFF2-40B4-BE49-F238E27FC236}">
                  <a16:creationId xmlns:a16="http://schemas.microsoft.com/office/drawing/2014/main" id="{7A239271-062E-44C4-AAB3-945A203EB6C6}"/>
                </a:ext>
              </a:extLst>
            </p:cNvPr>
            <p:cNvSpPr txBox="1"/>
            <p:nvPr/>
          </p:nvSpPr>
          <p:spPr>
            <a:xfrm>
              <a:off x="1199592" y="1426912"/>
              <a:ext cx="1435100" cy="413806"/>
            </a:xfrm>
            <a:prstGeom prst="rect">
              <a:avLst/>
            </a:prstGeom>
            <a:noFill/>
          </p:spPr>
          <p:txBody>
            <a:bodyPr wrap="square" rtlCol="0">
              <a:spAutoFit/>
            </a:bodyPr>
            <a:lstStyle/>
            <a:p>
              <a:r>
                <a:rPr lang="en-US" sz="1400" b="1" dirty="0"/>
                <a:t>Solid Phase</a:t>
              </a:r>
            </a:p>
          </p:txBody>
        </p:sp>
        <p:sp>
          <p:nvSpPr>
            <p:cNvPr id="438" name="文本框 335">
              <a:extLst>
                <a:ext uri="{FF2B5EF4-FFF2-40B4-BE49-F238E27FC236}">
                  <a16:creationId xmlns:a16="http://schemas.microsoft.com/office/drawing/2014/main" id="{E3E04868-E42C-4B6E-9363-6DF8D1B3EE65}"/>
                </a:ext>
              </a:extLst>
            </p:cNvPr>
            <p:cNvSpPr txBox="1"/>
            <p:nvPr/>
          </p:nvSpPr>
          <p:spPr>
            <a:xfrm>
              <a:off x="1235531" y="5431948"/>
              <a:ext cx="1435100" cy="413806"/>
            </a:xfrm>
            <a:prstGeom prst="rect">
              <a:avLst/>
            </a:prstGeom>
            <a:noFill/>
          </p:spPr>
          <p:txBody>
            <a:bodyPr wrap="square" rtlCol="0">
              <a:spAutoFit/>
            </a:bodyPr>
            <a:lstStyle/>
            <a:p>
              <a:r>
                <a:rPr lang="en-US" sz="1400" b="1" dirty="0"/>
                <a:t>Active Zone</a:t>
              </a:r>
            </a:p>
          </p:txBody>
        </p:sp>
        <p:sp>
          <p:nvSpPr>
            <p:cNvPr id="439" name="文本框 335">
              <a:extLst>
                <a:ext uri="{FF2B5EF4-FFF2-40B4-BE49-F238E27FC236}">
                  <a16:creationId xmlns:a16="http://schemas.microsoft.com/office/drawing/2014/main" id="{4B5617AD-7B72-455D-9EFA-7D14BCB26641}"/>
                </a:ext>
              </a:extLst>
            </p:cNvPr>
            <p:cNvSpPr txBox="1"/>
            <p:nvPr/>
          </p:nvSpPr>
          <p:spPr>
            <a:xfrm>
              <a:off x="2723586" y="5427918"/>
              <a:ext cx="1596724" cy="413806"/>
            </a:xfrm>
            <a:prstGeom prst="rect">
              <a:avLst/>
            </a:prstGeom>
            <a:noFill/>
          </p:spPr>
          <p:txBody>
            <a:bodyPr wrap="square" rtlCol="0">
              <a:spAutoFit/>
            </a:bodyPr>
            <a:lstStyle/>
            <a:p>
              <a:r>
                <a:rPr lang="en-US" sz="1400" b="1" dirty="0"/>
                <a:t>Passive Zone</a:t>
              </a:r>
            </a:p>
          </p:txBody>
        </p:sp>
        <p:grpSp>
          <p:nvGrpSpPr>
            <p:cNvPr id="440" name="Group 439">
              <a:extLst>
                <a:ext uri="{FF2B5EF4-FFF2-40B4-BE49-F238E27FC236}">
                  <a16:creationId xmlns:a16="http://schemas.microsoft.com/office/drawing/2014/main" id="{A8DDFFBD-738C-4418-A741-B3A3B17E0B71}"/>
                </a:ext>
              </a:extLst>
            </p:cNvPr>
            <p:cNvGrpSpPr/>
            <p:nvPr/>
          </p:nvGrpSpPr>
          <p:grpSpPr>
            <a:xfrm>
              <a:off x="3646150" y="3193776"/>
              <a:ext cx="150018" cy="593058"/>
              <a:chOff x="3984725" y="3172482"/>
              <a:chExt cx="150018" cy="593058"/>
            </a:xfrm>
          </p:grpSpPr>
          <p:sp>
            <p:nvSpPr>
              <p:cNvPr id="481" name="十字形 56">
                <a:extLst>
                  <a:ext uri="{FF2B5EF4-FFF2-40B4-BE49-F238E27FC236}">
                    <a16:creationId xmlns:a16="http://schemas.microsoft.com/office/drawing/2014/main" id="{A1A4DD55-0FA2-4AAD-B517-13DFD4446AF3}"/>
                  </a:ext>
                </a:extLst>
              </p:cNvPr>
              <p:cNvSpPr/>
              <p:nvPr/>
            </p:nvSpPr>
            <p:spPr>
              <a:xfrm>
                <a:off x="4007118" y="328614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2" name="减号 204">
                <a:extLst>
                  <a:ext uri="{FF2B5EF4-FFF2-40B4-BE49-F238E27FC236}">
                    <a16:creationId xmlns:a16="http://schemas.microsoft.com/office/drawing/2014/main" id="{281C36EF-A4E6-4960-A99D-FC1A42C96081}"/>
                  </a:ext>
                </a:extLst>
              </p:cNvPr>
              <p:cNvSpPr/>
              <p:nvPr/>
            </p:nvSpPr>
            <p:spPr>
              <a:xfrm>
                <a:off x="3984725" y="317248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3" name="十字形 56">
                <a:extLst>
                  <a:ext uri="{FF2B5EF4-FFF2-40B4-BE49-F238E27FC236}">
                    <a16:creationId xmlns:a16="http://schemas.microsoft.com/office/drawing/2014/main" id="{2E0CCC10-0CB7-484A-8BA2-A6BDBEBE321A}"/>
                  </a:ext>
                </a:extLst>
              </p:cNvPr>
              <p:cNvSpPr/>
              <p:nvPr/>
            </p:nvSpPr>
            <p:spPr>
              <a:xfrm>
                <a:off x="4008203" y="352540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4" name="减号 204">
                <a:extLst>
                  <a:ext uri="{FF2B5EF4-FFF2-40B4-BE49-F238E27FC236}">
                    <a16:creationId xmlns:a16="http://schemas.microsoft.com/office/drawing/2014/main" id="{7C2649E6-373D-452C-A05A-0DCD7A461810}"/>
                  </a:ext>
                </a:extLst>
              </p:cNvPr>
              <p:cNvSpPr/>
              <p:nvPr/>
            </p:nvSpPr>
            <p:spPr>
              <a:xfrm>
                <a:off x="3984725" y="340887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5" name="减号 204">
                <a:extLst>
                  <a:ext uri="{FF2B5EF4-FFF2-40B4-BE49-F238E27FC236}">
                    <a16:creationId xmlns:a16="http://schemas.microsoft.com/office/drawing/2014/main" id="{21DBA508-904B-4ED5-AD10-2D747C89AEA5}"/>
                  </a:ext>
                </a:extLst>
              </p:cNvPr>
              <p:cNvSpPr/>
              <p:nvPr/>
            </p:nvSpPr>
            <p:spPr>
              <a:xfrm>
                <a:off x="3984725" y="366790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41" name="Group 440">
              <a:extLst>
                <a:ext uri="{FF2B5EF4-FFF2-40B4-BE49-F238E27FC236}">
                  <a16:creationId xmlns:a16="http://schemas.microsoft.com/office/drawing/2014/main" id="{F445F28C-4F25-48EA-9A47-E6B881AE4833}"/>
                </a:ext>
              </a:extLst>
            </p:cNvPr>
            <p:cNvGrpSpPr/>
            <p:nvPr/>
          </p:nvGrpSpPr>
          <p:grpSpPr>
            <a:xfrm>
              <a:off x="2940350" y="3279859"/>
              <a:ext cx="151725" cy="429303"/>
              <a:chOff x="3405452" y="3302909"/>
              <a:chExt cx="151725" cy="429303"/>
            </a:xfrm>
          </p:grpSpPr>
          <p:sp>
            <p:nvSpPr>
              <p:cNvPr id="478" name="十字形 56">
                <a:extLst>
                  <a:ext uri="{FF2B5EF4-FFF2-40B4-BE49-F238E27FC236}">
                    <a16:creationId xmlns:a16="http://schemas.microsoft.com/office/drawing/2014/main" id="{6A9B5A23-FEB3-4815-924F-BB8EE883BD90}"/>
                  </a:ext>
                </a:extLst>
              </p:cNvPr>
              <p:cNvSpPr/>
              <p:nvPr/>
            </p:nvSpPr>
            <p:spPr>
              <a:xfrm>
                <a:off x="3427021" y="346942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9" name="减号 204">
                <a:extLst>
                  <a:ext uri="{FF2B5EF4-FFF2-40B4-BE49-F238E27FC236}">
                    <a16:creationId xmlns:a16="http://schemas.microsoft.com/office/drawing/2014/main" id="{C1E20111-FF4D-4ED1-BE41-B9FD000A521F}"/>
                  </a:ext>
                </a:extLst>
              </p:cNvPr>
              <p:cNvSpPr/>
              <p:nvPr/>
            </p:nvSpPr>
            <p:spPr>
              <a:xfrm>
                <a:off x="3407159" y="363458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0" name="减号 204">
                <a:extLst>
                  <a:ext uri="{FF2B5EF4-FFF2-40B4-BE49-F238E27FC236}">
                    <a16:creationId xmlns:a16="http://schemas.microsoft.com/office/drawing/2014/main" id="{9B87AA00-5C4C-4CAF-80E1-7C95680A7D12}"/>
                  </a:ext>
                </a:extLst>
              </p:cNvPr>
              <p:cNvSpPr/>
              <p:nvPr/>
            </p:nvSpPr>
            <p:spPr>
              <a:xfrm>
                <a:off x="3405452" y="330290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42" name="Group 441">
              <a:extLst>
                <a:ext uri="{FF2B5EF4-FFF2-40B4-BE49-F238E27FC236}">
                  <a16:creationId xmlns:a16="http://schemas.microsoft.com/office/drawing/2014/main" id="{9E9711BC-30C0-4B9B-BACA-76738418266E}"/>
                </a:ext>
              </a:extLst>
            </p:cNvPr>
            <p:cNvGrpSpPr/>
            <p:nvPr/>
          </p:nvGrpSpPr>
          <p:grpSpPr>
            <a:xfrm>
              <a:off x="2457803" y="3311816"/>
              <a:ext cx="150018" cy="320979"/>
              <a:chOff x="2679344" y="3302909"/>
              <a:chExt cx="150018" cy="320979"/>
            </a:xfrm>
          </p:grpSpPr>
          <p:sp>
            <p:nvSpPr>
              <p:cNvPr id="476" name="十字形 56">
                <a:extLst>
                  <a:ext uri="{FF2B5EF4-FFF2-40B4-BE49-F238E27FC236}">
                    <a16:creationId xmlns:a16="http://schemas.microsoft.com/office/drawing/2014/main" id="{9C7E5B6F-7A01-4DEA-A653-F4337380C84C}"/>
                  </a:ext>
                </a:extLst>
              </p:cNvPr>
              <p:cNvSpPr/>
              <p:nvPr/>
            </p:nvSpPr>
            <p:spPr>
              <a:xfrm>
                <a:off x="2696318" y="351666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7" name="减号 204">
                <a:extLst>
                  <a:ext uri="{FF2B5EF4-FFF2-40B4-BE49-F238E27FC236}">
                    <a16:creationId xmlns:a16="http://schemas.microsoft.com/office/drawing/2014/main" id="{3FD7529D-06FE-4D5F-B94E-8862C748B6D0}"/>
                  </a:ext>
                </a:extLst>
              </p:cNvPr>
              <p:cNvSpPr/>
              <p:nvPr/>
            </p:nvSpPr>
            <p:spPr>
              <a:xfrm>
                <a:off x="2679344" y="330290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43" name="Group 442">
              <a:extLst>
                <a:ext uri="{FF2B5EF4-FFF2-40B4-BE49-F238E27FC236}">
                  <a16:creationId xmlns:a16="http://schemas.microsoft.com/office/drawing/2014/main" id="{FEC5DE08-CE54-4434-9FEC-E9028D7E6314}"/>
                </a:ext>
              </a:extLst>
            </p:cNvPr>
            <p:cNvGrpSpPr/>
            <p:nvPr/>
          </p:nvGrpSpPr>
          <p:grpSpPr>
            <a:xfrm>
              <a:off x="4170291" y="3119525"/>
              <a:ext cx="158656" cy="737752"/>
              <a:chOff x="4170291" y="3119525"/>
              <a:chExt cx="158656" cy="737752"/>
            </a:xfrm>
          </p:grpSpPr>
          <p:sp>
            <p:nvSpPr>
              <p:cNvPr id="469" name="十字形 56">
                <a:extLst>
                  <a:ext uri="{FF2B5EF4-FFF2-40B4-BE49-F238E27FC236}">
                    <a16:creationId xmlns:a16="http://schemas.microsoft.com/office/drawing/2014/main" id="{3B095B0D-2ADE-40BF-A9BA-93721AC908E5}"/>
                  </a:ext>
                </a:extLst>
              </p:cNvPr>
              <p:cNvSpPr/>
              <p:nvPr/>
            </p:nvSpPr>
            <p:spPr>
              <a:xfrm>
                <a:off x="4197655" y="364456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0" name="十字形 56">
                <a:extLst>
                  <a:ext uri="{FF2B5EF4-FFF2-40B4-BE49-F238E27FC236}">
                    <a16:creationId xmlns:a16="http://schemas.microsoft.com/office/drawing/2014/main" id="{CBE2563D-414E-46F4-9DDE-337C56840C4F}"/>
                  </a:ext>
                </a:extLst>
              </p:cNvPr>
              <p:cNvSpPr/>
              <p:nvPr/>
            </p:nvSpPr>
            <p:spPr>
              <a:xfrm>
                <a:off x="4197655" y="321806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1" name="减号 204">
                <a:extLst>
                  <a:ext uri="{FF2B5EF4-FFF2-40B4-BE49-F238E27FC236}">
                    <a16:creationId xmlns:a16="http://schemas.microsoft.com/office/drawing/2014/main" id="{DB6A4E2B-C681-497C-BE8C-C2A59C251063}"/>
                  </a:ext>
                </a:extLst>
              </p:cNvPr>
              <p:cNvSpPr/>
              <p:nvPr/>
            </p:nvSpPr>
            <p:spPr>
              <a:xfrm>
                <a:off x="4170291" y="332601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2" name="减号 204">
                <a:extLst>
                  <a:ext uri="{FF2B5EF4-FFF2-40B4-BE49-F238E27FC236}">
                    <a16:creationId xmlns:a16="http://schemas.microsoft.com/office/drawing/2014/main" id="{EBF58267-8FED-463C-BEC0-E95F35B031B9}"/>
                  </a:ext>
                </a:extLst>
              </p:cNvPr>
              <p:cNvSpPr/>
              <p:nvPr/>
            </p:nvSpPr>
            <p:spPr>
              <a:xfrm>
                <a:off x="4170291" y="354794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3" name="十字形 56">
                <a:extLst>
                  <a:ext uri="{FF2B5EF4-FFF2-40B4-BE49-F238E27FC236}">
                    <a16:creationId xmlns:a16="http://schemas.microsoft.com/office/drawing/2014/main" id="{E8707CAA-BE6A-487B-8164-A464681009C0}"/>
                  </a:ext>
                </a:extLst>
              </p:cNvPr>
              <p:cNvSpPr/>
              <p:nvPr/>
            </p:nvSpPr>
            <p:spPr>
              <a:xfrm>
                <a:off x="4197655" y="342491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4" name="减号 204">
                <a:extLst>
                  <a:ext uri="{FF2B5EF4-FFF2-40B4-BE49-F238E27FC236}">
                    <a16:creationId xmlns:a16="http://schemas.microsoft.com/office/drawing/2014/main" id="{4C013ABE-8CFA-43CF-8DEA-6E2304B5A659}"/>
                  </a:ext>
                </a:extLst>
              </p:cNvPr>
              <p:cNvSpPr/>
              <p:nvPr/>
            </p:nvSpPr>
            <p:spPr>
              <a:xfrm>
                <a:off x="4178929" y="311952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5" name="减号 204">
                <a:extLst>
                  <a:ext uri="{FF2B5EF4-FFF2-40B4-BE49-F238E27FC236}">
                    <a16:creationId xmlns:a16="http://schemas.microsoft.com/office/drawing/2014/main" id="{4D4BFE9C-29E0-4E54-9271-F1B7CD6894EA}"/>
                  </a:ext>
                </a:extLst>
              </p:cNvPr>
              <p:cNvSpPr/>
              <p:nvPr/>
            </p:nvSpPr>
            <p:spPr>
              <a:xfrm>
                <a:off x="4171341" y="3759646"/>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44" name="Group 443">
              <a:extLst>
                <a:ext uri="{FF2B5EF4-FFF2-40B4-BE49-F238E27FC236}">
                  <a16:creationId xmlns:a16="http://schemas.microsoft.com/office/drawing/2014/main" id="{2547FDDB-7986-45E8-81A7-58963B4A487A}"/>
                </a:ext>
              </a:extLst>
            </p:cNvPr>
            <p:cNvGrpSpPr/>
            <p:nvPr/>
          </p:nvGrpSpPr>
          <p:grpSpPr>
            <a:xfrm>
              <a:off x="4623272" y="2685085"/>
              <a:ext cx="165076" cy="1317254"/>
              <a:chOff x="4155233" y="2685517"/>
              <a:chExt cx="165076" cy="1317254"/>
            </a:xfrm>
          </p:grpSpPr>
          <p:sp>
            <p:nvSpPr>
              <p:cNvPr id="462" name="十字形 56">
                <a:extLst>
                  <a:ext uri="{FF2B5EF4-FFF2-40B4-BE49-F238E27FC236}">
                    <a16:creationId xmlns:a16="http://schemas.microsoft.com/office/drawing/2014/main" id="{C1D807A4-C59C-4F17-BC63-9C4850A8C9A7}"/>
                  </a:ext>
                </a:extLst>
              </p:cNvPr>
              <p:cNvSpPr/>
              <p:nvPr/>
            </p:nvSpPr>
            <p:spPr>
              <a:xfrm>
                <a:off x="4197191" y="371200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3" name="十字形 56">
                <a:extLst>
                  <a:ext uri="{FF2B5EF4-FFF2-40B4-BE49-F238E27FC236}">
                    <a16:creationId xmlns:a16="http://schemas.microsoft.com/office/drawing/2014/main" id="{7991A7DE-F379-455E-8625-2B4051D18241}"/>
                  </a:ext>
                </a:extLst>
              </p:cNvPr>
              <p:cNvSpPr/>
              <p:nvPr/>
            </p:nvSpPr>
            <p:spPr>
              <a:xfrm>
                <a:off x="4182204" y="290461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4" name="减号 204">
                <a:extLst>
                  <a:ext uri="{FF2B5EF4-FFF2-40B4-BE49-F238E27FC236}">
                    <a16:creationId xmlns:a16="http://schemas.microsoft.com/office/drawing/2014/main" id="{C41CCDE4-1CCD-446D-B913-1D333DF22BF9}"/>
                  </a:ext>
                </a:extLst>
              </p:cNvPr>
              <p:cNvSpPr/>
              <p:nvPr/>
            </p:nvSpPr>
            <p:spPr>
              <a:xfrm>
                <a:off x="4155233" y="314193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5" name="减号 204">
                <a:extLst>
                  <a:ext uri="{FF2B5EF4-FFF2-40B4-BE49-F238E27FC236}">
                    <a16:creationId xmlns:a16="http://schemas.microsoft.com/office/drawing/2014/main" id="{9981F20F-8863-403B-A0AA-508C051E9CBD}"/>
                  </a:ext>
                </a:extLst>
              </p:cNvPr>
              <p:cNvSpPr/>
              <p:nvPr/>
            </p:nvSpPr>
            <p:spPr>
              <a:xfrm>
                <a:off x="4170291" y="354794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6" name="十字形 56">
                <a:extLst>
                  <a:ext uri="{FF2B5EF4-FFF2-40B4-BE49-F238E27FC236}">
                    <a16:creationId xmlns:a16="http://schemas.microsoft.com/office/drawing/2014/main" id="{876CCBB7-00F9-4E3F-8D71-BC17447128E9}"/>
                  </a:ext>
                </a:extLst>
              </p:cNvPr>
              <p:cNvSpPr/>
              <p:nvPr/>
            </p:nvSpPr>
            <p:spPr>
              <a:xfrm>
                <a:off x="4182557" y="3340145"/>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7" name="减号 204">
                <a:extLst>
                  <a:ext uri="{FF2B5EF4-FFF2-40B4-BE49-F238E27FC236}">
                    <a16:creationId xmlns:a16="http://schemas.microsoft.com/office/drawing/2014/main" id="{972221EA-BDD2-45D0-BC78-96135B33E061}"/>
                  </a:ext>
                </a:extLst>
              </p:cNvPr>
              <p:cNvSpPr/>
              <p:nvPr/>
            </p:nvSpPr>
            <p:spPr>
              <a:xfrm>
                <a:off x="4166507" y="268551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8" name="减号 204">
                <a:extLst>
                  <a:ext uri="{FF2B5EF4-FFF2-40B4-BE49-F238E27FC236}">
                    <a16:creationId xmlns:a16="http://schemas.microsoft.com/office/drawing/2014/main" id="{DAC083CC-42BB-4F11-9EF9-81E2F47F9501}"/>
                  </a:ext>
                </a:extLst>
              </p:cNvPr>
              <p:cNvSpPr/>
              <p:nvPr/>
            </p:nvSpPr>
            <p:spPr>
              <a:xfrm>
                <a:off x="4164282" y="390514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445" name="十字形 56">
              <a:extLst>
                <a:ext uri="{FF2B5EF4-FFF2-40B4-BE49-F238E27FC236}">
                  <a16:creationId xmlns:a16="http://schemas.microsoft.com/office/drawing/2014/main" id="{0939EE11-16CC-496D-AA91-FCB12B971E97}"/>
                </a:ext>
              </a:extLst>
            </p:cNvPr>
            <p:cNvSpPr/>
            <p:nvPr/>
          </p:nvSpPr>
          <p:spPr>
            <a:xfrm>
              <a:off x="4658489" y="410030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6" name="减号 204">
              <a:extLst>
                <a:ext uri="{FF2B5EF4-FFF2-40B4-BE49-F238E27FC236}">
                  <a16:creationId xmlns:a16="http://schemas.microsoft.com/office/drawing/2014/main" id="{550FB5E4-F092-4FAE-A6F0-07293069823B}"/>
                </a:ext>
              </a:extLst>
            </p:cNvPr>
            <p:cNvSpPr/>
            <p:nvPr/>
          </p:nvSpPr>
          <p:spPr>
            <a:xfrm>
              <a:off x="4618141" y="426302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47" name="Group 446">
              <a:extLst>
                <a:ext uri="{FF2B5EF4-FFF2-40B4-BE49-F238E27FC236}">
                  <a16:creationId xmlns:a16="http://schemas.microsoft.com/office/drawing/2014/main" id="{6D67E320-E91A-42C4-B7D8-22EBBC0CA529}"/>
                </a:ext>
              </a:extLst>
            </p:cNvPr>
            <p:cNvGrpSpPr/>
            <p:nvPr/>
          </p:nvGrpSpPr>
          <p:grpSpPr>
            <a:xfrm>
              <a:off x="5157298" y="2827389"/>
              <a:ext cx="165375" cy="1094881"/>
              <a:chOff x="5172215" y="2796763"/>
              <a:chExt cx="165375" cy="1094881"/>
            </a:xfrm>
          </p:grpSpPr>
          <p:sp>
            <p:nvSpPr>
              <p:cNvPr id="458" name="十字形 56">
                <a:extLst>
                  <a:ext uri="{FF2B5EF4-FFF2-40B4-BE49-F238E27FC236}">
                    <a16:creationId xmlns:a16="http://schemas.microsoft.com/office/drawing/2014/main" id="{697689A2-B17E-4F0A-9586-0112FADF66AA}"/>
                  </a:ext>
                </a:extLst>
              </p:cNvPr>
              <p:cNvSpPr/>
              <p:nvPr/>
            </p:nvSpPr>
            <p:spPr>
              <a:xfrm>
                <a:off x="5220425" y="341562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9" name="十字形 56">
                <a:extLst>
                  <a:ext uri="{FF2B5EF4-FFF2-40B4-BE49-F238E27FC236}">
                    <a16:creationId xmlns:a16="http://schemas.microsoft.com/office/drawing/2014/main" id="{65FAF523-B9C7-4324-960F-14F6FD527F0E}"/>
                  </a:ext>
                </a:extLst>
              </p:cNvPr>
              <p:cNvSpPr/>
              <p:nvPr/>
            </p:nvSpPr>
            <p:spPr>
              <a:xfrm>
                <a:off x="5193611" y="279676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0" name="减号 204">
                <a:extLst>
                  <a:ext uri="{FF2B5EF4-FFF2-40B4-BE49-F238E27FC236}">
                    <a16:creationId xmlns:a16="http://schemas.microsoft.com/office/drawing/2014/main" id="{3D04D327-68A1-463D-B9BA-19EF87143A1B}"/>
                  </a:ext>
                </a:extLst>
              </p:cNvPr>
              <p:cNvSpPr/>
              <p:nvPr/>
            </p:nvSpPr>
            <p:spPr>
              <a:xfrm>
                <a:off x="5172215" y="307226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1" name="减号 204">
                <a:extLst>
                  <a:ext uri="{FF2B5EF4-FFF2-40B4-BE49-F238E27FC236}">
                    <a16:creationId xmlns:a16="http://schemas.microsoft.com/office/drawing/2014/main" id="{C4078BC4-CA2B-4750-9B15-6A52C8FEF11D}"/>
                  </a:ext>
                </a:extLst>
              </p:cNvPr>
              <p:cNvSpPr/>
              <p:nvPr/>
            </p:nvSpPr>
            <p:spPr>
              <a:xfrm>
                <a:off x="5187572" y="379401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48" name="Group 447">
              <a:extLst>
                <a:ext uri="{FF2B5EF4-FFF2-40B4-BE49-F238E27FC236}">
                  <a16:creationId xmlns:a16="http://schemas.microsoft.com/office/drawing/2014/main" id="{66744C70-70F6-4991-A62F-BD153F1D234B}"/>
                </a:ext>
              </a:extLst>
            </p:cNvPr>
            <p:cNvGrpSpPr/>
            <p:nvPr/>
          </p:nvGrpSpPr>
          <p:grpSpPr>
            <a:xfrm>
              <a:off x="1890490" y="2929200"/>
              <a:ext cx="196048" cy="1139973"/>
              <a:chOff x="5126295" y="2752114"/>
              <a:chExt cx="196048" cy="1139973"/>
            </a:xfrm>
          </p:grpSpPr>
          <p:sp>
            <p:nvSpPr>
              <p:cNvPr id="455" name="十字形 56">
                <a:extLst>
                  <a:ext uri="{FF2B5EF4-FFF2-40B4-BE49-F238E27FC236}">
                    <a16:creationId xmlns:a16="http://schemas.microsoft.com/office/drawing/2014/main" id="{EE71E847-0DC3-400C-833B-1ADEC6D0C0A2}"/>
                  </a:ext>
                </a:extLst>
              </p:cNvPr>
              <p:cNvSpPr/>
              <p:nvPr/>
            </p:nvSpPr>
            <p:spPr>
              <a:xfrm>
                <a:off x="5166687" y="329403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6" name="减号 204">
                <a:extLst>
                  <a:ext uri="{FF2B5EF4-FFF2-40B4-BE49-F238E27FC236}">
                    <a16:creationId xmlns:a16="http://schemas.microsoft.com/office/drawing/2014/main" id="{B8D66471-FFBD-4A62-9F0E-0B2A06C0DD61}"/>
                  </a:ext>
                </a:extLst>
              </p:cNvPr>
              <p:cNvSpPr/>
              <p:nvPr/>
            </p:nvSpPr>
            <p:spPr>
              <a:xfrm>
                <a:off x="5172325" y="275211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7" name="减号 204">
                <a:extLst>
                  <a:ext uri="{FF2B5EF4-FFF2-40B4-BE49-F238E27FC236}">
                    <a16:creationId xmlns:a16="http://schemas.microsoft.com/office/drawing/2014/main" id="{BC168649-99FB-4E22-AB5B-69F114DB2DCA}"/>
                  </a:ext>
                </a:extLst>
              </p:cNvPr>
              <p:cNvSpPr/>
              <p:nvPr/>
            </p:nvSpPr>
            <p:spPr>
              <a:xfrm>
                <a:off x="5126295" y="3794456"/>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49" name="Group 448">
              <a:extLst>
                <a:ext uri="{FF2B5EF4-FFF2-40B4-BE49-F238E27FC236}">
                  <a16:creationId xmlns:a16="http://schemas.microsoft.com/office/drawing/2014/main" id="{4CF1ACDE-F1A7-43C6-BEA5-9161117451B2}"/>
                </a:ext>
              </a:extLst>
            </p:cNvPr>
            <p:cNvGrpSpPr/>
            <p:nvPr/>
          </p:nvGrpSpPr>
          <p:grpSpPr>
            <a:xfrm>
              <a:off x="1293895" y="3125390"/>
              <a:ext cx="165375" cy="1094881"/>
              <a:chOff x="5172215" y="2796763"/>
              <a:chExt cx="165375" cy="1094881"/>
            </a:xfrm>
          </p:grpSpPr>
          <p:sp>
            <p:nvSpPr>
              <p:cNvPr id="451" name="十字形 56">
                <a:extLst>
                  <a:ext uri="{FF2B5EF4-FFF2-40B4-BE49-F238E27FC236}">
                    <a16:creationId xmlns:a16="http://schemas.microsoft.com/office/drawing/2014/main" id="{4457AB46-3D37-4671-8341-28220A114AB9}"/>
                  </a:ext>
                </a:extLst>
              </p:cNvPr>
              <p:cNvSpPr/>
              <p:nvPr/>
            </p:nvSpPr>
            <p:spPr>
              <a:xfrm>
                <a:off x="5220425" y="341562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2" name="十字形 56">
                <a:extLst>
                  <a:ext uri="{FF2B5EF4-FFF2-40B4-BE49-F238E27FC236}">
                    <a16:creationId xmlns:a16="http://schemas.microsoft.com/office/drawing/2014/main" id="{731DA8E6-9634-470A-ADF0-759390968A98}"/>
                  </a:ext>
                </a:extLst>
              </p:cNvPr>
              <p:cNvSpPr/>
              <p:nvPr/>
            </p:nvSpPr>
            <p:spPr>
              <a:xfrm>
                <a:off x="5193611" y="279676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3" name="减号 204">
                <a:extLst>
                  <a:ext uri="{FF2B5EF4-FFF2-40B4-BE49-F238E27FC236}">
                    <a16:creationId xmlns:a16="http://schemas.microsoft.com/office/drawing/2014/main" id="{3414A759-3CF1-468C-951A-9F48C59BAF94}"/>
                  </a:ext>
                </a:extLst>
              </p:cNvPr>
              <p:cNvSpPr/>
              <p:nvPr/>
            </p:nvSpPr>
            <p:spPr>
              <a:xfrm>
                <a:off x="5172215" y="307226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4" name="减号 204">
                <a:extLst>
                  <a:ext uri="{FF2B5EF4-FFF2-40B4-BE49-F238E27FC236}">
                    <a16:creationId xmlns:a16="http://schemas.microsoft.com/office/drawing/2014/main" id="{5B0A9C6C-0FFD-4A83-9717-A9DCECEF1BB2}"/>
                  </a:ext>
                </a:extLst>
              </p:cNvPr>
              <p:cNvSpPr/>
              <p:nvPr/>
            </p:nvSpPr>
            <p:spPr>
              <a:xfrm>
                <a:off x="5187572" y="379401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450" name="减号 204">
              <a:extLst>
                <a:ext uri="{FF2B5EF4-FFF2-40B4-BE49-F238E27FC236}">
                  <a16:creationId xmlns:a16="http://schemas.microsoft.com/office/drawing/2014/main" id="{606B62EA-DE10-44FD-8B4C-1B1989D35FB1}"/>
                </a:ext>
              </a:extLst>
            </p:cNvPr>
            <p:cNvSpPr/>
            <p:nvPr/>
          </p:nvSpPr>
          <p:spPr>
            <a:xfrm>
              <a:off x="1309252" y="280654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500" name="Group 499">
            <a:extLst>
              <a:ext uri="{FF2B5EF4-FFF2-40B4-BE49-F238E27FC236}">
                <a16:creationId xmlns:a16="http://schemas.microsoft.com/office/drawing/2014/main" id="{034F3220-706A-4938-8BFE-AD28B41D0ECB}"/>
              </a:ext>
            </a:extLst>
          </p:cNvPr>
          <p:cNvGrpSpPr/>
          <p:nvPr/>
        </p:nvGrpSpPr>
        <p:grpSpPr>
          <a:xfrm>
            <a:off x="944174" y="2316876"/>
            <a:ext cx="3368876" cy="3368876"/>
            <a:chOff x="513086" y="1426556"/>
            <a:chExt cx="4572000" cy="4572000"/>
          </a:xfrm>
        </p:grpSpPr>
        <p:grpSp>
          <p:nvGrpSpPr>
            <p:cNvPr id="501" name="Group 500">
              <a:extLst>
                <a:ext uri="{FF2B5EF4-FFF2-40B4-BE49-F238E27FC236}">
                  <a16:creationId xmlns:a16="http://schemas.microsoft.com/office/drawing/2014/main" id="{A6D49E63-5EAE-4705-A427-77B9931BB341}"/>
                </a:ext>
              </a:extLst>
            </p:cNvPr>
            <p:cNvGrpSpPr/>
            <p:nvPr/>
          </p:nvGrpSpPr>
          <p:grpSpPr>
            <a:xfrm>
              <a:off x="513086" y="1426556"/>
              <a:ext cx="4572000" cy="4572000"/>
              <a:chOff x="3844835" y="1233799"/>
              <a:chExt cx="4572000" cy="4572000"/>
            </a:xfrm>
          </p:grpSpPr>
          <p:sp>
            <p:nvSpPr>
              <p:cNvPr id="647" name="矩形 4">
                <a:extLst>
                  <a:ext uri="{FF2B5EF4-FFF2-40B4-BE49-F238E27FC236}">
                    <a16:creationId xmlns:a16="http://schemas.microsoft.com/office/drawing/2014/main" id="{C3EE8460-E1F9-4AA8-8661-F7BAAEFBD988}"/>
                  </a:ext>
                </a:extLst>
              </p:cNvPr>
              <p:cNvSpPr/>
              <p:nvPr/>
            </p:nvSpPr>
            <p:spPr>
              <a:xfrm>
                <a:off x="3844835" y="1233799"/>
                <a:ext cx="4572000" cy="457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48" name="Rectangle 647">
                <a:extLst>
                  <a:ext uri="{FF2B5EF4-FFF2-40B4-BE49-F238E27FC236}">
                    <a16:creationId xmlns:a16="http://schemas.microsoft.com/office/drawing/2014/main" id="{907066F2-F6E0-4389-A035-F64D5D0304E3}"/>
                  </a:ext>
                </a:extLst>
              </p:cNvPr>
              <p:cNvSpPr/>
              <p:nvPr/>
            </p:nvSpPr>
            <p:spPr>
              <a:xfrm>
                <a:off x="3844835" y="2214329"/>
                <a:ext cx="1268185" cy="26852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9" name="Rectangle 648">
                <a:extLst>
                  <a:ext uri="{FF2B5EF4-FFF2-40B4-BE49-F238E27FC236}">
                    <a16:creationId xmlns:a16="http://schemas.microsoft.com/office/drawing/2014/main" id="{FF51827F-7A45-4576-913F-7A8C4CE655BB}"/>
                  </a:ext>
                </a:extLst>
              </p:cNvPr>
              <p:cNvSpPr/>
              <p:nvPr/>
            </p:nvSpPr>
            <p:spPr>
              <a:xfrm>
                <a:off x="3860433" y="4325934"/>
                <a:ext cx="1268185" cy="26960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0" name="Rectangle 649">
                <a:extLst>
                  <a:ext uri="{FF2B5EF4-FFF2-40B4-BE49-F238E27FC236}">
                    <a16:creationId xmlns:a16="http://schemas.microsoft.com/office/drawing/2014/main" id="{D9BD62F9-1F01-40DF-9EB8-770674B23F8F}"/>
                  </a:ext>
                </a:extLst>
              </p:cNvPr>
              <p:cNvSpPr/>
              <p:nvPr/>
            </p:nvSpPr>
            <p:spPr>
              <a:xfrm>
                <a:off x="5308510" y="2774209"/>
                <a:ext cx="1670140" cy="26845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1" name="Rectangle 650">
                <a:extLst>
                  <a:ext uri="{FF2B5EF4-FFF2-40B4-BE49-F238E27FC236}">
                    <a16:creationId xmlns:a16="http://schemas.microsoft.com/office/drawing/2014/main" id="{C3F022D4-0855-4DDF-B3A4-01BC35C8B138}"/>
                  </a:ext>
                </a:extLst>
              </p:cNvPr>
              <p:cNvSpPr/>
              <p:nvPr/>
            </p:nvSpPr>
            <p:spPr>
              <a:xfrm>
                <a:off x="5308308" y="3764493"/>
                <a:ext cx="1670140" cy="25459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2" name="Rectangle 651">
                <a:extLst>
                  <a:ext uri="{FF2B5EF4-FFF2-40B4-BE49-F238E27FC236}">
                    <a16:creationId xmlns:a16="http://schemas.microsoft.com/office/drawing/2014/main" id="{F0A1FD35-BDE3-4932-B2B2-8FEF5E0FA0B0}"/>
                  </a:ext>
                </a:extLst>
              </p:cNvPr>
              <p:cNvSpPr/>
              <p:nvPr/>
            </p:nvSpPr>
            <p:spPr>
              <a:xfrm rot="5400000">
                <a:off x="4766065" y="2491082"/>
                <a:ext cx="827412" cy="27574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3" name="Rectangle 652">
                <a:extLst>
                  <a:ext uri="{FF2B5EF4-FFF2-40B4-BE49-F238E27FC236}">
                    <a16:creationId xmlns:a16="http://schemas.microsoft.com/office/drawing/2014/main" id="{666139D8-751E-42F8-A8F4-2CD339F3E60B}"/>
                  </a:ext>
                </a:extLst>
              </p:cNvPr>
              <p:cNvSpPr/>
              <p:nvPr/>
            </p:nvSpPr>
            <p:spPr>
              <a:xfrm rot="5400000">
                <a:off x="4756229" y="4043585"/>
                <a:ext cx="835388" cy="26852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4" name="Rectangle 653">
                <a:extLst>
                  <a:ext uri="{FF2B5EF4-FFF2-40B4-BE49-F238E27FC236}">
                    <a16:creationId xmlns:a16="http://schemas.microsoft.com/office/drawing/2014/main" id="{783CF205-857C-4EA6-86BE-4AAA2D8436F0}"/>
                  </a:ext>
                </a:extLst>
              </p:cNvPr>
              <p:cNvSpPr/>
              <p:nvPr/>
            </p:nvSpPr>
            <p:spPr>
              <a:xfrm rot="5400000">
                <a:off x="6680976" y="4043585"/>
                <a:ext cx="835388" cy="26852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5" name="Rectangle 654">
                <a:extLst>
                  <a:ext uri="{FF2B5EF4-FFF2-40B4-BE49-F238E27FC236}">
                    <a16:creationId xmlns:a16="http://schemas.microsoft.com/office/drawing/2014/main" id="{FB0167A8-E786-4595-9C65-F6FC16C169F5}"/>
                  </a:ext>
                </a:extLst>
              </p:cNvPr>
              <p:cNvSpPr/>
              <p:nvPr/>
            </p:nvSpPr>
            <p:spPr>
              <a:xfrm rot="5400000">
                <a:off x="6697986" y="2493676"/>
                <a:ext cx="829444" cy="26852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6" name="Rectangle 655">
                <a:extLst>
                  <a:ext uri="{FF2B5EF4-FFF2-40B4-BE49-F238E27FC236}">
                    <a16:creationId xmlns:a16="http://schemas.microsoft.com/office/drawing/2014/main" id="{94D22598-748F-4B32-BF35-2F9C5DCAE9EB}"/>
                  </a:ext>
                </a:extLst>
              </p:cNvPr>
              <p:cNvSpPr/>
              <p:nvPr/>
            </p:nvSpPr>
            <p:spPr>
              <a:xfrm>
                <a:off x="7148650" y="2214284"/>
                <a:ext cx="1268185" cy="275787"/>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7" name="Rectangle 656">
                <a:extLst>
                  <a:ext uri="{FF2B5EF4-FFF2-40B4-BE49-F238E27FC236}">
                    <a16:creationId xmlns:a16="http://schemas.microsoft.com/office/drawing/2014/main" id="{E207B1BA-4801-4232-BAD1-7FF68BAEAA82}"/>
                  </a:ext>
                </a:extLst>
              </p:cNvPr>
              <p:cNvSpPr/>
              <p:nvPr/>
            </p:nvSpPr>
            <p:spPr>
              <a:xfrm>
                <a:off x="7148649" y="4325934"/>
                <a:ext cx="1268185" cy="26960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8" name="Rectangle 657">
                <a:extLst>
                  <a:ext uri="{FF2B5EF4-FFF2-40B4-BE49-F238E27FC236}">
                    <a16:creationId xmlns:a16="http://schemas.microsoft.com/office/drawing/2014/main" id="{3A3F6B5E-0599-4C6B-B2F2-E6C42BBF3734}"/>
                  </a:ext>
                </a:extLst>
              </p:cNvPr>
              <p:cNvSpPr/>
              <p:nvPr/>
            </p:nvSpPr>
            <p:spPr>
              <a:xfrm>
                <a:off x="3844835" y="2482806"/>
                <a:ext cx="1194951" cy="1827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9" name="Rectangle 658">
                <a:extLst>
                  <a:ext uri="{FF2B5EF4-FFF2-40B4-BE49-F238E27FC236}">
                    <a16:creationId xmlns:a16="http://schemas.microsoft.com/office/drawing/2014/main" id="{B55075C1-FC50-4770-820A-21EEA2545C0D}"/>
                  </a:ext>
                </a:extLst>
              </p:cNvPr>
              <p:cNvSpPr/>
              <p:nvPr/>
            </p:nvSpPr>
            <p:spPr>
              <a:xfrm>
                <a:off x="7221635" y="2490072"/>
                <a:ext cx="1194951" cy="1835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60" name="Rectangle 659">
                <a:extLst>
                  <a:ext uri="{FF2B5EF4-FFF2-40B4-BE49-F238E27FC236}">
                    <a16:creationId xmlns:a16="http://schemas.microsoft.com/office/drawing/2014/main" id="{FB0B00F6-242D-4F2D-8353-AAF79D1B3DB4}"/>
                  </a:ext>
                </a:extLst>
              </p:cNvPr>
              <p:cNvSpPr/>
              <p:nvPr/>
            </p:nvSpPr>
            <p:spPr>
              <a:xfrm>
                <a:off x="5037782" y="3054086"/>
                <a:ext cx="2250411" cy="721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502" name="减号 204">
              <a:extLst>
                <a:ext uri="{FF2B5EF4-FFF2-40B4-BE49-F238E27FC236}">
                  <a16:creationId xmlns:a16="http://schemas.microsoft.com/office/drawing/2014/main" id="{7AC45CC9-24C4-4214-85EA-C7ABBA324701}"/>
                </a:ext>
              </a:extLst>
            </p:cNvPr>
            <p:cNvSpPr/>
            <p:nvPr/>
          </p:nvSpPr>
          <p:spPr>
            <a:xfrm>
              <a:off x="547989" y="215356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3" name="减号 204">
              <a:extLst>
                <a:ext uri="{FF2B5EF4-FFF2-40B4-BE49-F238E27FC236}">
                  <a16:creationId xmlns:a16="http://schemas.microsoft.com/office/drawing/2014/main" id="{6E998FB4-2800-414A-89C3-5A981C1DFF62}"/>
                </a:ext>
              </a:extLst>
            </p:cNvPr>
            <p:cNvSpPr/>
            <p:nvPr/>
          </p:nvSpPr>
          <p:spPr>
            <a:xfrm>
              <a:off x="786372" y="215356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4" name="减号 204">
              <a:extLst>
                <a:ext uri="{FF2B5EF4-FFF2-40B4-BE49-F238E27FC236}">
                  <a16:creationId xmlns:a16="http://schemas.microsoft.com/office/drawing/2014/main" id="{05A7B40B-1803-46BE-803F-5CD85363C03E}"/>
                </a:ext>
              </a:extLst>
            </p:cNvPr>
            <p:cNvSpPr/>
            <p:nvPr/>
          </p:nvSpPr>
          <p:spPr>
            <a:xfrm>
              <a:off x="1024755" y="215356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5" name="减号 204">
              <a:extLst>
                <a:ext uri="{FF2B5EF4-FFF2-40B4-BE49-F238E27FC236}">
                  <a16:creationId xmlns:a16="http://schemas.microsoft.com/office/drawing/2014/main" id="{2DB75A4D-125A-479D-B331-C00C3902191E}"/>
                </a:ext>
              </a:extLst>
            </p:cNvPr>
            <p:cNvSpPr/>
            <p:nvPr/>
          </p:nvSpPr>
          <p:spPr>
            <a:xfrm>
              <a:off x="1263138" y="215356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6" name="减号 204">
              <a:extLst>
                <a:ext uri="{FF2B5EF4-FFF2-40B4-BE49-F238E27FC236}">
                  <a16:creationId xmlns:a16="http://schemas.microsoft.com/office/drawing/2014/main" id="{BA2F58E4-CBE3-411C-AA73-6B68DC4DBC11}"/>
                </a:ext>
              </a:extLst>
            </p:cNvPr>
            <p:cNvSpPr/>
            <p:nvPr/>
          </p:nvSpPr>
          <p:spPr>
            <a:xfrm>
              <a:off x="1505327" y="216036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7" name="减号 204">
              <a:extLst>
                <a:ext uri="{FF2B5EF4-FFF2-40B4-BE49-F238E27FC236}">
                  <a16:creationId xmlns:a16="http://schemas.microsoft.com/office/drawing/2014/main" id="{FA3843FB-F514-434A-A931-83DE615FBE0F}"/>
                </a:ext>
              </a:extLst>
            </p:cNvPr>
            <p:cNvSpPr/>
            <p:nvPr/>
          </p:nvSpPr>
          <p:spPr>
            <a:xfrm>
              <a:off x="3937377" y="215356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8" name="减号 204">
              <a:extLst>
                <a:ext uri="{FF2B5EF4-FFF2-40B4-BE49-F238E27FC236}">
                  <a16:creationId xmlns:a16="http://schemas.microsoft.com/office/drawing/2014/main" id="{49DF738D-588B-46BB-BCB4-880790AFA735}"/>
                </a:ext>
              </a:extLst>
            </p:cNvPr>
            <p:cNvSpPr/>
            <p:nvPr/>
          </p:nvSpPr>
          <p:spPr>
            <a:xfrm>
              <a:off x="4175760" y="215356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9" name="减号 204">
              <a:extLst>
                <a:ext uri="{FF2B5EF4-FFF2-40B4-BE49-F238E27FC236}">
                  <a16:creationId xmlns:a16="http://schemas.microsoft.com/office/drawing/2014/main" id="{7685D3FB-8CB9-4061-AFFD-1DCE4AF2C460}"/>
                </a:ext>
              </a:extLst>
            </p:cNvPr>
            <p:cNvSpPr/>
            <p:nvPr/>
          </p:nvSpPr>
          <p:spPr>
            <a:xfrm>
              <a:off x="4414143" y="215356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0" name="减号 204">
              <a:extLst>
                <a:ext uri="{FF2B5EF4-FFF2-40B4-BE49-F238E27FC236}">
                  <a16:creationId xmlns:a16="http://schemas.microsoft.com/office/drawing/2014/main" id="{3111E22B-10EB-45C3-AA0A-A28A8F9D83EA}"/>
                </a:ext>
              </a:extLst>
            </p:cNvPr>
            <p:cNvSpPr/>
            <p:nvPr/>
          </p:nvSpPr>
          <p:spPr>
            <a:xfrm>
              <a:off x="4652526" y="215356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1" name="减号 204">
              <a:extLst>
                <a:ext uri="{FF2B5EF4-FFF2-40B4-BE49-F238E27FC236}">
                  <a16:creationId xmlns:a16="http://schemas.microsoft.com/office/drawing/2014/main" id="{DBFA900B-8395-4E69-9F2E-470836E5C583}"/>
                </a:ext>
              </a:extLst>
            </p:cNvPr>
            <p:cNvSpPr/>
            <p:nvPr/>
          </p:nvSpPr>
          <p:spPr>
            <a:xfrm>
              <a:off x="4894715" y="216036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2" name="减号 204">
              <a:extLst>
                <a:ext uri="{FF2B5EF4-FFF2-40B4-BE49-F238E27FC236}">
                  <a16:creationId xmlns:a16="http://schemas.microsoft.com/office/drawing/2014/main" id="{A9BC0E89-653E-427B-9B01-491A61ECC80D}"/>
                </a:ext>
              </a:extLst>
            </p:cNvPr>
            <p:cNvSpPr/>
            <p:nvPr/>
          </p:nvSpPr>
          <p:spPr>
            <a:xfrm>
              <a:off x="3937377" y="4926252"/>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3" name="减号 204">
              <a:extLst>
                <a:ext uri="{FF2B5EF4-FFF2-40B4-BE49-F238E27FC236}">
                  <a16:creationId xmlns:a16="http://schemas.microsoft.com/office/drawing/2014/main" id="{C8F8C0FE-102C-47E3-AC3E-0EFADDAD3D83}"/>
                </a:ext>
              </a:extLst>
            </p:cNvPr>
            <p:cNvSpPr/>
            <p:nvPr/>
          </p:nvSpPr>
          <p:spPr>
            <a:xfrm>
              <a:off x="4175760" y="492625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4" name="减号 204">
              <a:extLst>
                <a:ext uri="{FF2B5EF4-FFF2-40B4-BE49-F238E27FC236}">
                  <a16:creationId xmlns:a16="http://schemas.microsoft.com/office/drawing/2014/main" id="{206603E8-D92A-47E6-967E-498CA1529C36}"/>
                </a:ext>
              </a:extLst>
            </p:cNvPr>
            <p:cNvSpPr/>
            <p:nvPr/>
          </p:nvSpPr>
          <p:spPr>
            <a:xfrm>
              <a:off x="4414143" y="492625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5" name="减号 204">
              <a:extLst>
                <a:ext uri="{FF2B5EF4-FFF2-40B4-BE49-F238E27FC236}">
                  <a16:creationId xmlns:a16="http://schemas.microsoft.com/office/drawing/2014/main" id="{694E8049-AE5B-4F65-BB65-F03CCA8D8C37}"/>
                </a:ext>
              </a:extLst>
            </p:cNvPr>
            <p:cNvSpPr/>
            <p:nvPr/>
          </p:nvSpPr>
          <p:spPr>
            <a:xfrm>
              <a:off x="4652526" y="492625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6" name="减号 204">
              <a:extLst>
                <a:ext uri="{FF2B5EF4-FFF2-40B4-BE49-F238E27FC236}">
                  <a16:creationId xmlns:a16="http://schemas.microsoft.com/office/drawing/2014/main" id="{FCCC8048-4978-4961-8F93-3C86DAC05EF4}"/>
                </a:ext>
              </a:extLst>
            </p:cNvPr>
            <p:cNvSpPr/>
            <p:nvPr/>
          </p:nvSpPr>
          <p:spPr>
            <a:xfrm>
              <a:off x="4894715" y="493304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7" name="减号 204">
              <a:extLst>
                <a:ext uri="{FF2B5EF4-FFF2-40B4-BE49-F238E27FC236}">
                  <a16:creationId xmlns:a16="http://schemas.microsoft.com/office/drawing/2014/main" id="{1C4E9FB7-BBCE-41D8-8C55-0B0FD0A5AC83}"/>
                </a:ext>
              </a:extLst>
            </p:cNvPr>
            <p:cNvSpPr/>
            <p:nvPr/>
          </p:nvSpPr>
          <p:spPr>
            <a:xfrm>
              <a:off x="547989" y="493118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8" name="减号 204">
              <a:extLst>
                <a:ext uri="{FF2B5EF4-FFF2-40B4-BE49-F238E27FC236}">
                  <a16:creationId xmlns:a16="http://schemas.microsoft.com/office/drawing/2014/main" id="{59BD3135-DDD7-4FE3-AC98-9962F047E8A8}"/>
                </a:ext>
              </a:extLst>
            </p:cNvPr>
            <p:cNvSpPr/>
            <p:nvPr/>
          </p:nvSpPr>
          <p:spPr>
            <a:xfrm>
              <a:off x="786372" y="493118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9" name="减号 204">
              <a:extLst>
                <a:ext uri="{FF2B5EF4-FFF2-40B4-BE49-F238E27FC236}">
                  <a16:creationId xmlns:a16="http://schemas.microsoft.com/office/drawing/2014/main" id="{7BC095F6-3911-46D2-9ACD-A17FC67BDC81}"/>
                </a:ext>
              </a:extLst>
            </p:cNvPr>
            <p:cNvSpPr/>
            <p:nvPr/>
          </p:nvSpPr>
          <p:spPr>
            <a:xfrm>
              <a:off x="1024755" y="493118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0" name="减号 204">
              <a:extLst>
                <a:ext uri="{FF2B5EF4-FFF2-40B4-BE49-F238E27FC236}">
                  <a16:creationId xmlns:a16="http://schemas.microsoft.com/office/drawing/2014/main" id="{A26402BF-9E05-46B0-A8EE-2DA31CA980B4}"/>
                </a:ext>
              </a:extLst>
            </p:cNvPr>
            <p:cNvSpPr/>
            <p:nvPr/>
          </p:nvSpPr>
          <p:spPr>
            <a:xfrm>
              <a:off x="1263138" y="493118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1" name="减号 204">
              <a:extLst>
                <a:ext uri="{FF2B5EF4-FFF2-40B4-BE49-F238E27FC236}">
                  <a16:creationId xmlns:a16="http://schemas.microsoft.com/office/drawing/2014/main" id="{400301F7-9A73-4004-A27B-4F4254293E88}"/>
                </a:ext>
              </a:extLst>
            </p:cNvPr>
            <p:cNvSpPr/>
            <p:nvPr/>
          </p:nvSpPr>
          <p:spPr>
            <a:xfrm>
              <a:off x="1505327" y="4937986"/>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2" name="减号 204">
              <a:extLst>
                <a:ext uri="{FF2B5EF4-FFF2-40B4-BE49-F238E27FC236}">
                  <a16:creationId xmlns:a16="http://schemas.microsoft.com/office/drawing/2014/main" id="{3B5EC617-8252-4076-84B2-EBE13F991DEF}"/>
                </a:ext>
              </a:extLst>
            </p:cNvPr>
            <p:cNvSpPr/>
            <p:nvPr/>
          </p:nvSpPr>
          <p:spPr>
            <a:xfrm>
              <a:off x="2131723" y="432339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3" name="减号 204">
              <a:extLst>
                <a:ext uri="{FF2B5EF4-FFF2-40B4-BE49-F238E27FC236}">
                  <a16:creationId xmlns:a16="http://schemas.microsoft.com/office/drawing/2014/main" id="{7DFD1491-D677-4888-A415-F7FC0EF00E45}"/>
                </a:ext>
              </a:extLst>
            </p:cNvPr>
            <p:cNvSpPr/>
            <p:nvPr/>
          </p:nvSpPr>
          <p:spPr>
            <a:xfrm>
              <a:off x="2370106" y="432339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4" name="减号 204">
              <a:extLst>
                <a:ext uri="{FF2B5EF4-FFF2-40B4-BE49-F238E27FC236}">
                  <a16:creationId xmlns:a16="http://schemas.microsoft.com/office/drawing/2014/main" id="{F8B76CFD-D5A7-458D-829F-6719F0FF85E8}"/>
                </a:ext>
              </a:extLst>
            </p:cNvPr>
            <p:cNvSpPr/>
            <p:nvPr/>
          </p:nvSpPr>
          <p:spPr>
            <a:xfrm>
              <a:off x="2608489" y="432339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5" name="减号 204">
              <a:extLst>
                <a:ext uri="{FF2B5EF4-FFF2-40B4-BE49-F238E27FC236}">
                  <a16:creationId xmlns:a16="http://schemas.microsoft.com/office/drawing/2014/main" id="{CF99A68D-5CDF-4627-A795-35838D357F8F}"/>
                </a:ext>
              </a:extLst>
            </p:cNvPr>
            <p:cNvSpPr/>
            <p:nvPr/>
          </p:nvSpPr>
          <p:spPr>
            <a:xfrm>
              <a:off x="2846872" y="432338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6" name="减号 204">
              <a:extLst>
                <a:ext uri="{FF2B5EF4-FFF2-40B4-BE49-F238E27FC236}">
                  <a16:creationId xmlns:a16="http://schemas.microsoft.com/office/drawing/2014/main" id="{8E64CDC6-9651-4549-9525-F140DEC8118E}"/>
                </a:ext>
              </a:extLst>
            </p:cNvPr>
            <p:cNvSpPr/>
            <p:nvPr/>
          </p:nvSpPr>
          <p:spPr>
            <a:xfrm>
              <a:off x="3089061" y="433018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7" name="减号 204">
              <a:extLst>
                <a:ext uri="{FF2B5EF4-FFF2-40B4-BE49-F238E27FC236}">
                  <a16:creationId xmlns:a16="http://schemas.microsoft.com/office/drawing/2014/main" id="{36ADF5F4-F9BF-4AB2-9791-A6D1A7471B7D}"/>
                </a:ext>
              </a:extLst>
            </p:cNvPr>
            <p:cNvSpPr/>
            <p:nvPr/>
          </p:nvSpPr>
          <p:spPr>
            <a:xfrm>
              <a:off x="2131723" y="273407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8" name="减号 204">
              <a:extLst>
                <a:ext uri="{FF2B5EF4-FFF2-40B4-BE49-F238E27FC236}">
                  <a16:creationId xmlns:a16="http://schemas.microsoft.com/office/drawing/2014/main" id="{C7B1CA98-9AAF-44DF-A39B-2BF2609D8768}"/>
                </a:ext>
              </a:extLst>
            </p:cNvPr>
            <p:cNvSpPr/>
            <p:nvPr/>
          </p:nvSpPr>
          <p:spPr>
            <a:xfrm>
              <a:off x="2370106" y="273406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9" name="减号 204">
              <a:extLst>
                <a:ext uri="{FF2B5EF4-FFF2-40B4-BE49-F238E27FC236}">
                  <a16:creationId xmlns:a16="http://schemas.microsoft.com/office/drawing/2014/main" id="{486FB964-4165-4EA2-8E76-FA56FFADAF00}"/>
                </a:ext>
              </a:extLst>
            </p:cNvPr>
            <p:cNvSpPr/>
            <p:nvPr/>
          </p:nvSpPr>
          <p:spPr>
            <a:xfrm>
              <a:off x="2608489" y="273406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0" name="减号 204">
              <a:extLst>
                <a:ext uri="{FF2B5EF4-FFF2-40B4-BE49-F238E27FC236}">
                  <a16:creationId xmlns:a16="http://schemas.microsoft.com/office/drawing/2014/main" id="{9FDC52BA-9E06-45C6-A313-D98B978D8D12}"/>
                </a:ext>
              </a:extLst>
            </p:cNvPr>
            <p:cNvSpPr/>
            <p:nvPr/>
          </p:nvSpPr>
          <p:spPr>
            <a:xfrm>
              <a:off x="2846872" y="273406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1" name="减号 204">
              <a:extLst>
                <a:ext uri="{FF2B5EF4-FFF2-40B4-BE49-F238E27FC236}">
                  <a16:creationId xmlns:a16="http://schemas.microsoft.com/office/drawing/2014/main" id="{2B4BAF4E-FDF6-4C42-8CB1-F63BD072BC16}"/>
                </a:ext>
              </a:extLst>
            </p:cNvPr>
            <p:cNvSpPr/>
            <p:nvPr/>
          </p:nvSpPr>
          <p:spPr>
            <a:xfrm>
              <a:off x="3089061" y="274086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2" name="减号 204">
              <a:extLst>
                <a:ext uri="{FF2B5EF4-FFF2-40B4-BE49-F238E27FC236}">
                  <a16:creationId xmlns:a16="http://schemas.microsoft.com/office/drawing/2014/main" id="{9644BFD0-6775-4DC7-A44B-4F10151D702B}"/>
                </a:ext>
              </a:extLst>
            </p:cNvPr>
            <p:cNvSpPr/>
            <p:nvPr/>
          </p:nvSpPr>
          <p:spPr>
            <a:xfrm>
              <a:off x="3332046" y="433486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3" name="减号 204">
              <a:extLst>
                <a:ext uri="{FF2B5EF4-FFF2-40B4-BE49-F238E27FC236}">
                  <a16:creationId xmlns:a16="http://schemas.microsoft.com/office/drawing/2014/main" id="{2BA6A084-CBEB-423B-BA89-8EC0453839B2}"/>
                </a:ext>
              </a:extLst>
            </p:cNvPr>
            <p:cNvSpPr/>
            <p:nvPr/>
          </p:nvSpPr>
          <p:spPr>
            <a:xfrm>
              <a:off x="3331447" y="273770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4" name="减号 204">
              <a:extLst>
                <a:ext uri="{FF2B5EF4-FFF2-40B4-BE49-F238E27FC236}">
                  <a16:creationId xmlns:a16="http://schemas.microsoft.com/office/drawing/2014/main" id="{4ADB3E8F-1B74-47EF-9336-AE1E1FFBB034}"/>
                </a:ext>
              </a:extLst>
            </p:cNvPr>
            <p:cNvSpPr/>
            <p:nvPr/>
          </p:nvSpPr>
          <p:spPr>
            <a:xfrm>
              <a:off x="1768331" y="216212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5" name="减号 204">
              <a:extLst>
                <a:ext uri="{FF2B5EF4-FFF2-40B4-BE49-F238E27FC236}">
                  <a16:creationId xmlns:a16="http://schemas.microsoft.com/office/drawing/2014/main" id="{8E619C52-B735-4BA8-BC6E-99CE97380F09}"/>
                </a:ext>
              </a:extLst>
            </p:cNvPr>
            <p:cNvSpPr/>
            <p:nvPr/>
          </p:nvSpPr>
          <p:spPr>
            <a:xfrm>
              <a:off x="3679269" y="215730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6" name="减号 204">
              <a:extLst>
                <a:ext uri="{FF2B5EF4-FFF2-40B4-BE49-F238E27FC236}">
                  <a16:creationId xmlns:a16="http://schemas.microsoft.com/office/drawing/2014/main" id="{C0973108-889A-4777-B241-5B4BBA008256}"/>
                </a:ext>
              </a:extLst>
            </p:cNvPr>
            <p:cNvSpPr/>
            <p:nvPr/>
          </p:nvSpPr>
          <p:spPr>
            <a:xfrm>
              <a:off x="3677341" y="492800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7" name="减号 204">
              <a:extLst>
                <a:ext uri="{FF2B5EF4-FFF2-40B4-BE49-F238E27FC236}">
                  <a16:creationId xmlns:a16="http://schemas.microsoft.com/office/drawing/2014/main" id="{C612836D-B9DD-4088-A538-4322331953F9}"/>
                </a:ext>
              </a:extLst>
            </p:cNvPr>
            <p:cNvSpPr/>
            <p:nvPr/>
          </p:nvSpPr>
          <p:spPr>
            <a:xfrm>
              <a:off x="1758409" y="493263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8" name="减号 204">
              <a:extLst>
                <a:ext uri="{FF2B5EF4-FFF2-40B4-BE49-F238E27FC236}">
                  <a16:creationId xmlns:a16="http://schemas.microsoft.com/office/drawing/2014/main" id="{156B1EF9-BCF8-4EF1-8F63-5260C91E311E}"/>
                </a:ext>
              </a:extLst>
            </p:cNvPr>
            <p:cNvSpPr/>
            <p:nvPr/>
          </p:nvSpPr>
          <p:spPr>
            <a:xfrm rot="10800000">
              <a:off x="3358246" y="462532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9" name="减号 204">
              <a:extLst>
                <a:ext uri="{FF2B5EF4-FFF2-40B4-BE49-F238E27FC236}">
                  <a16:creationId xmlns:a16="http://schemas.microsoft.com/office/drawing/2014/main" id="{53545BCD-ED4A-41FC-A021-27E2CBB99797}"/>
                </a:ext>
              </a:extLst>
            </p:cNvPr>
            <p:cNvSpPr/>
            <p:nvPr/>
          </p:nvSpPr>
          <p:spPr>
            <a:xfrm rot="10800000">
              <a:off x="3394028" y="488504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0" name="减号 204">
              <a:extLst>
                <a:ext uri="{FF2B5EF4-FFF2-40B4-BE49-F238E27FC236}">
                  <a16:creationId xmlns:a16="http://schemas.microsoft.com/office/drawing/2014/main" id="{1BC88AB3-8054-4055-A86B-624F3B7C7258}"/>
                </a:ext>
              </a:extLst>
            </p:cNvPr>
            <p:cNvSpPr/>
            <p:nvPr/>
          </p:nvSpPr>
          <p:spPr>
            <a:xfrm>
              <a:off x="3402670" y="219969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1" name="减号 204">
              <a:extLst>
                <a:ext uri="{FF2B5EF4-FFF2-40B4-BE49-F238E27FC236}">
                  <a16:creationId xmlns:a16="http://schemas.microsoft.com/office/drawing/2014/main" id="{C536DFCD-1453-4C5C-8F9E-11BF14140347}"/>
                </a:ext>
              </a:extLst>
            </p:cNvPr>
            <p:cNvSpPr/>
            <p:nvPr/>
          </p:nvSpPr>
          <p:spPr>
            <a:xfrm>
              <a:off x="3360612" y="246869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2" name="减号 204">
              <a:extLst>
                <a:ext uri="{FF2B5EF4-FFF2-40B4-BE49-F238E27FC236}">
                  <a16:creationId xmlns:a16="http://schemas.microsoft.com/office/drawing/2014/main" id="{784D4CCB-611F-4648-92C3-D5A4473E7C72}"/>
                </a:ext>
              </a:extLst>
            </p:cNvPr>
            <p:cNvSpPr/>
            <p:nvPr/>
          </p:nvSpPr>
          <p:spPr>
            <a:xfrm rot="10800000">
              <a:off x="2077518" y="4890335"/>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3" name="减号 204">
              <a:extLst>
                <a:ext uri="{FF2B5EF4-FFF2-40B4-BE49-F238E27FC236}">
                  <a16:creationId xmlns:a16="http://schemas.microsoft.com/office/drawing/2014/main" id="{C09FB627-E3CF-4389-9C66-25BAF7B73009}"/>
                </a:ext>
              </a:extLst>
            </p:cNvPr>
            <p:cNvSpPr/>
            <p:nvPr/>
          </p:nvSpPr>
          <p:spPr>
            <a:xfrm rot="10800000">
              <a:off x="2119576" y="462133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4" name="减号 204">
              <a:extLst>
                <a:ext uri="{FF2B5EF4-FFF2-40B4-BE49-F238E27FC236}">
                  <a16:creationId xmlns:a16="http://schemas.microsoft.com/office/drawing/2014/main" id="{01FB9C9E-6E16-42EE-98C8-58A31D71850D}"/>
                </a:ext>
              </a:extLst>
            </p:cNvPr>
            <p:cNvSpPr/>
            <p:nvPr/>
          </p:nvSpPr>
          <p:spPr>
            <a:xfrm>
              <a:off x="2117689" y="246386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5" name="减号 204">
              <a:extLst>
                <a:ext uri="{FF2B5EF4-FFF2-40B4-BE49-F238E27FC236}">
                  <a16:creationId xmlns:a16="http://schemas.microsoft.com/office/drawing/2014/main" id="{C5BA94F9-A85C-423F-9E40-F2DE0766395A}"/>
                </a:ext>
              </a:extLst>
            </p:cNvPr>
            <p:cNvSpPr/>
            <p:nvPr/>
          </p:nvSpPr>
          <p:spPr>
            <a:xfrm>
              <a:off x="2081907" y="220414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6" name="十字形 56">
              <a:extLst>
                <a:ext uri="{FF2B5EF4-FFF2-40B4-BE49-F238E27FC236}">
                  <a16:creationId xmlns:a16="http://schemas.microsoft.com/office/drawing/2014/main" id="{4B03EADC-DA58-4B9F-B59D-5F3B8EE9C657}"/>
                </a:ext>
              </a:extLst>
            </p:cNvPr>
            <p:cNvSpPr/>
            <p:nvPr/>
          </p:nvSpPr>
          <p:spPr>
            <a:xfrm>
              <a:off x="573465" y="248438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7" name="十字形 56">
              <a:extLst>
                <a:ext uri="{FF2B5EF4-FFF2-40B4-BE49-F238E27FC236}">
                  <a16:creationId xmlns:a16="http://schemas.microsoft.com/office/drawing/2014/main" id="{E3339EE8-364A-4167-B2C8-854D9B8E13D5}"/>
                </a:ext>
              </a:extLst>
            </p:cNvPr>
            <p:cNvSpPr/>
            <p:nvPr/>
          </p:nvSpPr>
          <p:spPr>
            <a:xfrm>
              <a:off x="808685" y="248709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8" name="十字形 56">
              <a:extLst>
                <a:ext uri="{FF2B5EF4-FFF2-40B4-BE49-F238E27FC236}">
                  <a16:creationId xmlns:a16="http://schemas.microsoft.com/office/drawing/2014/main" id="{64B5EF93-DAE0-4160-981B-C4F5E8E4AA88}"/>
                </a:ext>
              </a:extLst>
            </p:cNvPr>
            <p:cNvSpPr/>
            <p:nvPr/>
          </p:nvSpPr>
          <p:spPr>
            <a:xfrm>
              <a:off x="1043318" y="248471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9" name="十字形 56">
              <a:extLst>
                <a:ext uri="{FF2B5EF4-FFF2-40B4-BE49-F238E27FC236}">
                  <a16:creationId xmlns:a16="http://schemas.microsoft.com/office/drawing/2014/main" id="{A449BDE3-AE4B-4C19-9EF4-AAB5C0F59B91}"/>
                </a:ext>
              </a:extLst>
            </p:cNvPr>
            <p:cNvSpPr/>
            <p:nvPr/>
          </p:nvSpPr>
          <p:spPr>
            <a:xfrm>
              <a:off x="1284794" y="249131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0" name="十字形 56">
              <a:extLst>
                <a:ext uri="{FF2B5EF4-FFF2-40B4-BE49-F238E27FC236}">
                  <a16:creationId xmlns:a16="http://schemas.microsoft.com/office/drawing/2014/main" id="{5F94B95C-65BE-41C5-A97A-C6CE66C8750E}"/>
                </a:ext>
              </a:extLst>
            </p:cNvPr>
            <p:cNvSpPr/>
            <p:nvPr/>
          </p:nvSpPr>
          <p:spPr>
            <a:xfrm>
              <a:off x="1520014" y="2494025"/>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1" name="十字形 56">
              <a:extLst>
                <a:ext uri="{FF2B5EF4-FFF2-40B4-BE49-F238E27FC236}">
                  <a16:creationId xmlns:a16="http://schemas.microsoft.com/office/drawing/2014/main" id="{6FB241DB-7289-4753-B66B-D423F93C6265}"/>
                </a:ext>
              </a:extLst>
            </p:cNvPr>
            <p:cNvSpPr/>
            <p:nvPr/>
          </p:nvSpPr>
          <p:spPr>
            <a:xfrm>
              <a:off x="1754647" y="249165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2" name="十字形 56">
              <a:extLst>
                <a:ext uri="{FF2B5EF4-FFF2-40B4-BE49-F238E27FC236}">
                  <a16:creationId xmlns:a16="http://schemas.microsoft.com/office/drawing/2014/main" id="{3B93DC9A-3A6C-4123-9130-8C09CAB1F760}"/>
                </a:ext>
              </a:extLst>
            </p:cNvPr>
            <p:cNvSpPr/>
            <p:nvPr/>
          </p:nvSpPr>
          <p:spPr>
            <a:xfrm>
              <a:off x="3721224" y="2477166"/>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3" name="十字形 56">
              <a:extLst>
                <a:ext uri="{FF2B5EF4-FFF2-40B4-BE49-F238E27FC236}">
                  <a16:creationId xmlns:a16="http://schemas.microsoft.com/office/drawing/2014/main" id="{66B745B5-C9B4-4BB2-8B5A-A0152A9ECC09}"/>
                </a:ext>
              </a:extLst>
            </p:cNvPr>
            <p:cNvSpPr/>
            <p:nvPr/>
          </p:nvSpPr>
          <p:spPr>
            <a:xfrm>
              <a:off x="3956444" y="247987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4" name="十字形 56">
              <a:extLst>
                <a:ext uri="{FF2B5EF4-FFF2-40B4-BE49-F238E27FC236}">
                  <a16:creationId xmlns:a16="http://schemas.microsoft.com/office/drawing/2014/main" id="{0FA6DA02-9C74-4981-9CA9-A2FDB0086046}"/>
                </a:ext>
              </a:extLst>
            </p:cNvPr>
            <p:cNvSpPr/>
            <p:nvPr/>
          </p:nvSpPr>
          <p:spPr>
            <a:xfrm>
              <a:off x="4191077" y="247750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5" name="十字形 56">
              <a:extLst>
                <a:ext uri="{FF2B5EF4-FFF2-40B4-BE49-F238E27FC236}">
                  <a16:creationId xmlns:a16="http://schemas.microsoft.com/office/drawing/2014/main" id="{BFBE618D-7249-4515-A65B-8B418DB88A5C}"/>
                </a:ext>
              </a:extLst>
            </p:cNvPr>
            <p:cNvSpPr/>
            <p:nvPr/>
          </p:nvSpPr>
          <p:spPr>
            <a:xfrm>
              <a:off x="4432553" y="248409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6" name="十字形 56">
              <a:extLst>
                <a:ext uri="{FF2B5EF4-FFF2-40B4-BE49-F238E27FC236}">
                  <a16:creationId xmlns:a16="http://schemas.microsoft.com/office/drawing/2014/main" id="{258BFEAD-1F5B-485D-9861-A9306359BFC0}"/>
                </a:ext>
              </a:extLst>
            </p:cNvPr>
            <p:cNvSpPr/>
            <p:nvPr/>
          </p:nvSpPr>
          <p:spPr>
            <a:xfrm>
              <a:off x="4667773" y="248680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7" name="十字形 56">
              <a:extLst>
                <a:ext uri="{FF2B5EF4-FFF2-40B4-BE49-F238E27FC236}">
                  <a16:creationId xmlns:a16="http://schemas.microsoft.com/office/drawing/2014/main" id="{D07AFF51-4A38-4760-ABC2-CFA8BB7B9504}"/>
                </a:ext>
              </a:extLst>
            </p:cNvPr>
            <p:cNvSpPr/>
            <p:nvPr/>
          </p:nvSpPr>
          <p:spPr>
            <a:xfrm>
              <a:off x="4902406" y="248443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8" name="十字形 56">
              <a:extLst>
                <a:ext uri="{FF2B5EF4-FFF2-40B4-BE49-F238E27FC236}">
                  <a16:creationId xmlns:a16="http://schemas.microsoft.com/office/drawing/2014/main" id="{75F91C25-22B8-4BC2-A3C3-D547589B7D46}"/>
                </a:ext>
              </a:extLst>
            </p:cNvPr>
            <p:cNvSpPr/>
            <p:nvPr/>
          </p:nvSpPr>
          <p:spPr>
            <a:xfrm>
              <a:off x="3721224" y="4596346"/>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9" name="十字形 56">
              <a:extLst>
                <a:ext uri="{FF2B5EF4-FFF2-40B4-BE49-F238E27FC236}">
                  <a16:creationId xmlns:a16="http://schemas.microsoft.com/office/drawing/2014/main" id="{5ABEEFA1-F95E-40D8-9B12-1AD6C980703E}"/>
                </a:ext>
              </a:extLst>
            </p:cNvPr>
            <p:cNvSpPr/>
            <p:nvPr/>
          </p:nvSpPr>
          <p:spPr>
            <a:xfrm>
              <a:off x="3956444" y="459905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0" name="十字形 56">
              <a:extLst>
                <a:ext uri="{FF2B5EF4-FFF2-40B4-BE49-F238E27FC236}">
                  <a16:creationId xmlns:a16="http://schemas.microsoft.com/office/drawing/2014/main" id="{04263EDA-5A1E-4DFC-B6E3-674E665A6B31}"/>
                </a:ext>
              </a:extLst>
            </p:cNvPr>
            <p:cNvSpPr/>
            <p:nvPr/>
          </p:nvSpPr>
          <p:spPr>
            <a:xfrm>
              <a:off x="4191077" y="459668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1" name="十字形 56">
              <a:extLst>
                <a:ext uri="{FF2B5EF4-FFF2-40B4-BE49-F238E27FC236}">
                  <a16:creationId xmlns:a16="http://schemas.microsoft.com/office/drawing/2014/main" id="{A31DA335-9169-419A-A510-AECF94E13659}"/>
                </a:ext>
              </a:extLst>
            </p:cNvPr>
            <p:cNvSpPr/>
            <p:nvPr/>
          </p:nvSpPr>
          <p:spPr>
            <a:xfrm>
              <a:off x="4432553" y="460327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2" name="十字形 56">
              <a:extLst>
                <a:ext uri="{FF2B5EF4-FFF2-40B4-BE49-F238E27FC236}">
                  <a16:creationId xmlns:a16="http://schemas.microsoft.com/office/drawing/2014/main" id="{255A686E-87C2-44A4-827E-923DE2BAEDB4}"/>
                </a:ext>
              </a:extLst>
            </p:cNvPr>
            <p:cNvSpPr/>
            <p:nvPr/>
          </p:nvSpPr>
          <p:spPr>
            <a:xfrm>
              <a:off x="4667773" y="460598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3" name="十字形 56">
              <a:extLst>
                <a:ext uri="{FF2B5EF4-FFF2-40B4-BE49-F238E27FC236}">
                  <a16:creationId xmlns:a16="http://schemas.microsoft.com/office/drawing/2014/main" id="{E04A604B-E0CB-4C00-B5E2-C9D4FB791409}"/>
                </a:ext>
              </a:extLst>
            </p:cNvPr>
            <p:cNvSpPr/>
            <p:nvPr/>
          </p:nvSpPr>
          <p:spPr>
            <a:xfrm>
              <a:off x="4902406" y="460361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4" name="十字形 56">
              <a:extLst>
                <a:ext uri="{FF2B5EF4-FFF2-40B4-BE49-F238E27FC236}">
                  <a16:creationId xmlns:a16="http://schemas.microsoft.com/office/drawing/2014/main" id="{DE012725-A6D9-4F28-9E9A-0E59064135E6}"/>
                </a:ext>
              </a:extLst>
            </p:cNvPr>
            <p:cNvSpPr/>
            <p:nvPr/>
          </p:nvSpPr>
          <p:spPr>
            <a:xfrm>
              <a:off x="572872" y="459671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5" name="十字形 56">
              <a:extLst>
                <a:ext uri="{FF2B5EF4-FFF2-40B4-BE49-F238E27FC236}">
                  <a16:creationId xmlns:a16="http://schemas.microsoft.com/office/drawing/2014/main" id="{CE935EB4-C269-42D1-9931-D113ED1B67A6}"/>
                </a:ext>
              </a:extLst>
            </p:cNvPr>
            <p:cNvSpPr/>
            <p:nvPr/>
          </p:nvSpPr>
          <p:spPr>
            <a:xfrm>
              <a:off x="808092" y="459942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6" name="十字形 56">
              <a:extLst>
                <a:ext uri="{FF2B5EF4-FFF2-40B4-BE49-F238E27FC236}">
                  <a16:creationId xmlns:a16="http://schemas.microsoft.com/office/drawing/2014/main" id="{9087D603-2B40-4F5C-8622-6E8753816B90}"/>
                </a:ext>
              </a:extLst>
            </p:cNvPr>
            <p:cNvSpPr/>
            <p:nvPr/>
          </p:nvSpPr>
          <p:spPr>
            <a:xfrm>
              <a:off x="1042725" y="459704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7" name="十字形 56">
              <a:extLst>
                <a:ext uri="{FF2B5EF4-FFF2-40B4-BE49-F238E27FC236}">
                  <a16:creationId xmlns:a16="http://schemas.microsoft.com/office/drawing/2014/main" id="{137B9037-B1E2-4308-B703-D94AEAC3D8C7}"/>
                </a:ext>
              </a:extLst>
            </p:cNvPr>
            <p:cNvSpPr/>
            <p:nvPr/>
          </p:nvSpPr>
          <p:spPr>
            <a:xfrm>
              <a:off x="1284201" y="460364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8" name="十字形 56">
              <a:extLst>
                <a:ext uri="{FF2B5EF4-FFF2-40B4-BE49-F238E27FC236}">
                  <a16:creationId xmlns:a16="http://schemas.microsoft.com/office/drawing/2014/main" id="{3A8D721A-A663-47F5-9781-114C0230799F}"/>
                </a:ext>
              </a:extLst>
            </p:cNvPr>
            <p:cNvSpPr/>
            <p:nvPr/>
          </p:nvSpPr>
          <p:spPr>
            <a:xfrm>
              <a:off x="1519421" y="460635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9" name="十字形 56">
              <a:extLst>
                <a:ext uri="{FF2B5EF4-FFF2-40B4-BE49-F238E27FC236}">
                  <a16:creationId xmlns:a16="http://schemas.microsoft.com/office/drawing/2014/main" id="{0B8762BA-970D-45A6-AD42-4FB2BC0A52C1}"/>
                </a:ext>
              </a:extLst>
            </p:cNvPr>
            <p:cNvSpPr/>
            <p:nvPr/>
          </p:nvSpPr>
          <p:spPr>
            <a:xfrm>
              <a:off x="1754054" y="460397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0" name="十字形 56">
              <a:extLst>
                <a:ext uri="{FF2B5EF4-FFF2-40B4-BE49-F238E27FC236}">
                  <a16:creationId xmlns:a16="http://schemas.microsoft.com/office/drawing/2014/main" id="{391464C9-6754-45C0-A0F6-B4738580F751}"/>
                </a:ext>
              </a:extLst>
            </p:cNvPr>
            <p:cNvSpPr/>
            <p:nvPr/>
          </p:nvSpPr>
          <p:spPr>
            <a:xfrm>
              <a:off x="2154037" y="304354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1" name="十字形 56">
              <a:extLst>
                <a:ext uri="{FF2B5EF4-FFF2-40B4-BE49-F238E27FC236}">
                  <a16:creationId xmlns:a16="http://schemas.microsoft.com/office/drawing/2014/main" id="{397DE7DD-E11E-41B8-873F-D0D2821E391B}"/>
                </a:ext>
              </a:extLst>
            </p:cNvPr>
            <p:cNvSpPr/>
            <p:nvPr/>
          </p:nvSpPr>
          <p:spPr>
            <a:xfrm>
              <a:off x="2389257" y="304625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2" name="十字形 56">
              <a:extLst>
                <a:ext uri="{FF2B5EF4-FFF2-40B4-BE49-F238E27FC236}">
                  <a16:creationId xmlns:a16="http://schemas.microsoft.com/office/drawing/2014/main" id="{C4C8781D-41EB-45B7-B47C-54CB2FAD5C95}"/>
                </a:ext>
              </a:extLst>
            </p:cNvPr>
            <p:cNvSpPr/>
            <p:nvPr/>
          </p:nvSpPr>
          <p:spPr>
            <a:xfrm>
              <a:off x="2623890" y="304388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3" name="十字形 56">
              <a:extLst>
                <a:ext uri="{FF2B5EF4-FFF2-40B4-BE49-F238E27FC236}">
                  <a16:creationId xmlns:a16="http://schemas.microsoft.com/office/drawing/2014/main" id="{83D57455-FCDE-4C27-8B15-A0068976A045}"/>
                </a:ext>
              </a:extLst>
            </p:cNvPr>
            <p:cNvSpPr/>
            <p:nvPr/>
          </p:nvSpPr>
          <p:spPr>
            <a:xfrm>
              <a:off x="2865366" y="305047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4" name="十字形 56">
              <a:extLst>
                <a:ext uri="{FF2B5EF4-FFF2-40B4-BE49-F238E27FC236}">
                  <a16:creationId xmlns:a16="http://schemas.microsoft.com/office/drawing/2014/main" id="{F6D24718-067B-4B52-B05E-D20E334298EE}"/>
                </a:ext>
              </a:extLst>
            </p:cNvPr>
            <p:cNvSpPr/>
            <p:nvPr/>
          </p:nvSpPr>
          <p:spPr>
            <a:xfrm>
              <a:off x="3100586" y="305318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5" name="十字形 56">
              <a:extLst>
                <a:ext uri="{FF2B5EF4-FFF2-40B4-BE49-F238E27FC236}">
                  <a16:creationId xmlns:a16="http://schemas.microsoft.com/office/drawing/2014/main" id="{F8A0A78D-58E8-4632-973C-3A1ACF1C0116}"/>
                </a:ext>
              </a:extLst>
            </p:cNvPr>
            <p:cNvSpPr/>
            <p:nvPr/>
          </p:nvSpPr>
          <p:spPr>
            <a:xfrm>
              <a:off x="3335219" y="305081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6" name="十字形 56">
              <a:extLst>
                <a:ext uri="{FF2B5EF4-FFF2-40B4-BE49-F238E27FC236}">
                  <a16:creationId xmlns:a16="http://schemas.microsoft.com/office/drawing/2014/main" id="{C7C27137-0F29-437A-BA80-09E9E96C703C}"/>
                </a:ext>
              </a:extLst>
            </p:cNvPr>
            <p:cNvSpPr/>
            <p:nvPr/>
          </p:nvSpPr>
          <p:spPr>
            <a:xfrm>
              <a:off x="2134663" y="401850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7" name="十字形 56">
              <a:extLst>
                <a:ext uri="{FF2B5EF4-FFF2-40B4-BE49-F238E27FC236}">
                  <a16:creationId xmlns:a16="http://schemas.microsoft.com/office/drawing/2014/main" id="{80884DC9-7F15-4995-B241-A34DC9BAEDAB}"/>
                </a:ext>
              </a:extLst>
            </p:cNvPr>
            <p:cNvSpPr/>
            <p:nvPr/>
          </p:nvSpPr>
          <p:spPr>
            <a:xfrm>
              <a:off x="2369883" y="402121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8" name="十字形 56">
              <a:extLst>
                <a:ext uri="{FF2B5EF4-FFF2-40B4-BE49-F238E27FC236}">
                  <a16:creationId xmlns:a16="http://schemas.microsoft.com/office/drawing/2014/main" id="{E558C274-A25B-4B81-A3DC-198A219EC07E}"/>
                </a:ext>
              </a:extLst>
            </p:cNvPr>
            <p:cNvSpPr/>
            <p:nvPr/>
          </p:nvSpPr>
          <p:spPr>
            <a:xfrm>
              <a:off x="2604516" y="401883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9" name="十字形 56">
              <a:extLst>
                <a:ext uri="{FF2B5EF4-FFF2-40B4-BE49-F238E27FC236}">
                  <a16:creationId xmlns:a16="http://schemas.microsoft.com/office/drawing/2014/main" id="{17675CB5-32A0-4749-8053-57C3E276348E}"/>
                </a:ext>
              </a:extLst>
            </p:cNvPr>
            <p:cNvSpPr/>
            <p:nvPr/>
          </p:nvSpPr>
          <p:spPr>
            <a:xfrm>
              <a:off x="2845992" y="402543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0" name="十字形 56">
              <a:extLst>
                <a:ext uri="{FF2B5EF4-FFF2-40B4-BE49-F238E27FC236}">
                  <a16:creationId xmlns:a16="http://schemas.microsoft.com/office/drawing/2014/main" id="{833475CB-84F2-4C04-8DA2-469DB7DC2EDE}"/>
                </a:ext>
              </a:extLst>
            </p:cNvPr>
            <p:cNvSpPr/>
            <p:nvPr/>
          </p:nvSpPr>
          <p:spPr>
            <a:xfrm>
              <a:off x="3081212" y="4028145"/>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1" name="十字形 56">
              <a:extLst>
                <a:ext uri="{FF2B5EF4-FFF2-40B4-BE49-F238E27FC236}">
                  <a16:creationId xmlns:a16="http://schemas.microsoft.com/office/drawing/2014/main" id="{0CBE6206-D825-4CC5-B205-C3A38B419F12}"/>
                </a:ext>
              </a:extLst>
            </p:cNvPr>
            <p:cNvSpPr/>
            <p:nvPr/>
          </p:nvSpPr>
          <p:spPr>
            <a:xfrm>
              <a:off x="3315845" y="402577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2" name="十字形 56">
              <a:extLst>
                <a:ext uri="{FF2B5EF4-FFF2-40B4-BE49-F238E27FC236}">
                  <a16:creationId xmlns:a16="http://schemas.microsoft.com/office/drawing/2014/main" id="{DD1DD7D8-B090-4D55-9657-81FFBAAC575D}"/>
                </a:ext>
              </a:extLst>
            </p:cNvPr>
            <p:cNvSpPr/>
            <p:nvPr/>
          </p:nvSpPr>
          <p:spPr>
            <a:xfrm>
              <a:off x="1799441" y="275888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3" name="十字形 56">
              <a:extLst>
                <a:ext uri="{FF2B5EF4-FFF2-40B4-BE49-F238E27FC236}">
                  <a16:creationId xmlns:a16="http://schemas.microsoft.com/office/drawing/2014/main" id="{1654D426-DB25-4993-80AC-582498D38FEC}"/>
                </a:ext>
              </a:extLst>
            </p:cNvPr>
            <p:cNvSpPr/>
            <p:nvPr/>
          </p:nvSpPr>
          <p:spPr>
            <a:xfrm>
              <a:off x="1836858" y="304354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84" name="十字形 56">
              <a:extLst>
                <a:ext uri="{FF2B5EF4-FFF2-40B4-BE49-F238E27FC236}">
                  <a16:creationId xmlns:a16="http://schemas.microsoft.com/office/drawing/2014/main" id="{19FBCB94-D37B-4ECB-A3C3-0671E2DA42BB}"/>
                </a:ext>
              </a:extLst>
            </p:cNvPr>
            <p:cNvSpPr/>
            <p:nvPr/>
          </p:nvSpPr>
          <p:spPr>
            <a:xfrm>
              <a:off x="1824632" y="404071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85" name="十字形 56">
              <a:extLst>
                <a:ext uri="{FF2B5EF4-FFF2-40B4-BE49-F238E27FC236}">
                  <a16:creationId xmlns:a16="http://schemas.microsoft.com/office/drawing/2014/main" id="{FD74BE16-CD9E-4A5D-A7B2-0ABB8CC0DBC9}"/>
                </a:ext>
              </a:extLst>
            </p:cNvPr>
            <p:cNvSpPr/>
            <p:nvPr/>
          </p:nvSpPr>
          <p:spPr>
            <a:xfrm>
              <a:off x="1799368" y="431972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86" name="十字形 56">
              <a:extLst>
                <a:ext uri="{FF2B5EF4-FFF2-40B4-BE49-F238E27FC236}">
                  <a16:creationId xmlns:a16="http://schemas.microsoft.com/office/drawing/2014/main" id="{7EBDCC6D-A6F5-481F-95D1-D3F32A76D13F}"/>
                </a:ext>
              </a:extLst>
            </p:cNvPr>
            <p:cNvSpPr/>
            <p:nvPr/>
          </p:nvSpPr>
          <p:spPr>
            <a:xfrm>
              <a:off x="3709123" y="2758478"/>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7" name="十字形 56">
              <a:extLst>
                <a:ext uri="{FF2B5EF4-FFF2-40B4-BE49-F238E27FC236}">
                  <a16:creationId xmlns:a16="http://schemas.microsoft.com/office/drawing/2014/main" id="{020AF878-C1F1-46CB-8F3A-776E43158EB9}"/>
                </a:ext>
              </a:extLst>
            </p:cNvPr>
            <p:cNvSpPr/>
            <p:nvPr/>
          </p:nvSpPr>
          <p:spPr>
            <a:xfrm>
              <a:off x="3709094" y="4313501"/>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8" name="十字形 56">
              <a:extLst>
                <a:ext uri="{FF2B5EF4-FFF2-40B4-BE49-F238E27FC236}">
                  <a16:creationId xmlns:a16="http://schemas.microsoft.com/office/drawing/2014/main" id="{C1C3BFD6-7444-495D-9789-51FC75B0A43C}"/>
                </a:ext>
              </a:extLst>
            </p:cNvPr>
            <p:cNvSpPr/>
            <p:nvPr/>
          </p:nvSpPr>
          <p:spPr>
            <a:xfrm>
              <a:off x="3636001" y="4021757"/>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9" name="十字形 56">
              <a:extLst>
                <a:ext uri="{FF2B5EF4-FFF2-40B4-BE49-F238E27FC236}">
                  <a16:creationId xmlns:a16="http://schemas.microsoft.com/office/drawing/2014/main" id="{065321E8-4A66-4795-BB3A-C4AF11845454}"/>
                </a:ext>
              </a:extLst>
            </p:cNvPr>
            <p:cNvSpPr/>
            <p:nvPr/>
          </p:nvSpPr>
          <p:spPr>
            <a:xfrm>
              <a:off x="3627357" y="3037946"/>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90" name="Straight Arrow Connector 589">
              <a:extLst>
                <a:ext uri="{FF2B5EF4-FFF2-40B4-BE49-F238E27FC236}">
                  <a16:creationId xmlns:a16="http://schemas.microsoft.com/office/drawing/2014/main" id="{20A13FB6-33EB-4377-9F6D-8596749EC2E9}"/>
                </a:ext>
              </a:extLst>
            </p:cNvPr>
            <p:cNvCxnSpPr/>
            <p:nvPr/>
          </p:nvCxnSpPr>
          <p:spPr>
            <a:xfrm>
              <a:off x="530344" y="5293374"/>
              <a:ext cx="54621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1" name="Straight Arrow Connector 590">
              <a:extLst>
                <a:ext uri="{FF2B5EF4-FFF2-40B4-BE49-F238E27FC236}">
                  <a16:creationId xmlns:a16="http://schemas.microsoft.com/office/drawing/2014/main" id="{39E93C4A-C835-4A35-AB3B-3ABDA7D98E5F}"/>
                </a:ext>
              </a:extLst>
            </p:cNvPr>
            <p:cNvCxnSpPr>
              <a:cxnSpLocks/>
            </p:cNvCxnSpPr>
            <p:nvPr/>
          </p:nvCxnSpPr>
          <p:spPr>
            <a:xfrm flipH="1">
              <a:off x="1464546" y="5293374"/>
              <a:ext cx="5441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2" name="Straight Arrow Connector 591">
              <a:extLst>
                <a:ext uri="{FF2B5EF4-FFF2-40B4-BE49-F238E27FC236}">
                  <a16:creationId xmlns:a16="http://schemas.microsoft.com/office/drawing/2014/main" id="{1760DD97-B120-4DFA-8915-1B74047000AD}"/>
                </a:ext>
              </a:extLst>
            </p:cNvPr>
            <p:cNvCxnSpPr>
              <a:cxnSpLocks/>
            </p:cNvCxnSpPr>
            <p:nvPr/>
          </p:nvCxnSpPr>
          <p:spPr>
            <a:xfrm flipH="1">
              <a:off x="3013072" y="5293374"/>
              <a:ext cx="5774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3" name="Straight Arrow Connector 592">
              <a:extLst>
                <a:ext uri="{FF2B5EF4-FFF2-40B4-BE49-F238E27FC236}">
                  <a16:creationId xmlns:a16="http://schemas.microsoft.com/office/drawing/2014/main" id="{712220BB-784B-44B5-96B7-913721DBF9DB}"/>
                </a:ext>
              </a:extLst>
            </p:cNvPr>
            <p:cNvCxnSpPr/>
            <p:nvPr/>
          </p:nvCxnSpPr>
          <p:spPr>
            <a:xfrm>
              <a:off x="2073036" y="5293374"/>
              <a:ext cx="54621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4" name="TextBox 593">
              <a:extLst>
                <a:ext uri="{FF2B5EF4-FFF2-40B4-BE49-F238E27FC236}">
                  <a16:creationId xmlns:a16="http://schemas.microsoft.com/office/drawing/2014/main" id="{C91046D9-4FC9-477D-B032-29E3704A790B}"/>
                </a:ext>
              </a:extLst>
            </p:cNvPr>
            <p:cNvSpPr txBox="1"/>
            <p:nvPr/>
          </p:nvSpPr>
          <p:spPr>
            <a:xfrm>
              <a:off x="1073489" y="5102030"/>
              <a:ext cx="435533" cy="417693"/>
            </a:xfrm>
            <a:prstGeom prst="rect">
              <a:avLst/>
            </a:prstGeom>
            <a:noFill/>
          </p:spPr>
          <p:txBody>
            <a:bodyPr wrap="none" rtlCol="0">
              <a:spAutoFit/>
            </a:bodyPr>
            <a:lstStyle/>
            <a:p>
              <a:r>
                <a:rPr lang="en-US" sz="1400" b="1" dirty="0"/>
                <a:t>L</a:t>
              </a:r>
              <a:r>
                <a:rPr lang="en-US" sz="1400" b="1" baseline="-25000" dirty="0"/>
                <a:t>1</a:t>
              </a:r>
            </a:p>
          </p:txBody>
        </p:sp>
        <p:sp>
          <p:nvSpPr>
            <p:cNvPr id="595" name="TextBox 594">
              <a:extLst>
                <a:ext uri="{FF2B5EF4-FFF2-40B4-BE49-F238E27FC236}">
                  <a16:creationId xmlns:a16="http://schemas.microsoft.com/office/drawing/2014/main" id="{4AC5B970-21D6-4DE4-80F7-5551629A7AD1}"/>
                </a:ext>
              </a:extLst>
            </p:cNvPr>
            <p:cNvSpPr txBox="1"/>
            <p:nvPr/>
          </p:nvSpPr>
          <p:spPr>
            <a:xfrm>
              <a:off x="2639310" y="5105067"/>
              <a:ext cx="435533" cy="417693"/>
            </a:xfrm>
            <a:prstGeom prst="rect">
              <a:avLst/>
            </a:prstGeom>
            <a:noFill/>
          </p:spPr>
          <p:txBody>
            <a:bodyPr wrap="none" rtlCol="0">
              <a:spAutoFit/>
            </a:bodyPr>
            <a:lstStyle/>
            <a:p>
              <a:r>
                <a:rPr lang="en-US" sz="1400" b="1" dirty="0"/>
                <a:t>L</a:t>
              </a:r>
              <a:r>
                <a:rPr lang="en-US" sz="1400" b="1" baseline="-25000" dirty="0"/>
                <a:t>2</a:t>
              </a:r>
            </a:p>
          </p:txBody>
        </p:sp>
        <p:cxnSp>
          <p:nvCxnSpPr>
            <p:cNvPr id="596" name="Straight Arrow Connector 595">
              <a:extLst>
                <a:ext uri="{FF2B5EF4-FFF2-40B4-BE49-F238E27FC236}">
                  <a16:creationId xmlns:a16="http://schemas.microsoft.com/office/drawing/2014/main" id="{6130F88E-5DF3-476D-B072-C383540E0C0D}"/>
                </a:ext>
              </a:extLst>
            </p:cNvPr>
            <p:cNvCxnSpPr>
              <a:cxnSpLocks/>
            </p:cNvCxnSpPr>
            <p:nvPr/>
          </p:nvCxnSpPr>
          <p:spPr>
            <a:xfrm flipH="1" flipV="1">
              <a:off x="1109559" y="2404721"/>
              <a:ext cx="1002" cy="11825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7" name="Straight Arrow Connector 596">
              <a:extLst>
                <a:ext uri="{FF2B5EF4-FFF2-40B4-BE49-F238E27FC236}">
                  <a16:creationId xmlns:a16="http://schemas.microsoft.com/office/drawing/2014/main" id="{C33B96D5-CCE8-4FC1-A8A4-E9826A283596}"/>
                </a:ext>
              </a:extLst>
            </p:cNvPr>
            <p:cNvCxnSpPr>
              <a:cxnSpLocks/>
            </p:cNvCxnSpPr>
            <p:nvPr/>
          </p:nvCxnSpPr>
          <p:spPr>
            <a:xfrm flipV="1">
              <a:off x="2789166" y="2963617"/>
              <a:ext cx="1" cy="6224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8" name="TextBox 597">
              <a:extLst>
                <a:ext uri="{FF2B5EF4-FFF2-40B4-BE49-F238E27FC236}">
                  <a16:creationId xmlns:a16="http://schemas.microsoft.com/office/drawing/2014/main" id="{CBD80792-7AA3-4E4B-B21B-3412898E3CEB}"/>
                </a:ext>
              </a:extLst>
            </p:cNvPr>
            <p:cNvSpPr txBox="1"/>
            <p:nvPr/>
          </p:nvSpPr>
          <p:spPr>
            <a:xfrm>
              <a:off x="1119360" y="2821846"/>
              <a:ext cx="420303" cy="417693"/>
            </a:xfrm>
            <a:prstGeom prst="rect">
              <a:avLst/>
            </a:prstGeom>
            <a:noFill/>
          </p:spPr>
          <p:txBody>
            <a:bodyPr wrap="none" rtlCol="0">
              <a:spAutoFit/>
            </a:bodyPr>
            <a:lstStyle/>
            <a:p>
              <a:r>
                <a:rPr lang="en-US" sz="1400" b="1" dirty="0"/>
                <a:t>r</a:t>
              </a:r>
              <a:r>
                <a:rPr lang="en-US" sz="1400" b="1" baseline="-25000" dirty="0"/>
                <a:t>1</a:t>
              </a:r>
            </a:p>
          </p:txBody>
        </p:sp>
        <p:sp>
          <p:nvSpPr>
            <p:cNvPr id="599" name="TextBox 598">
              <a:extLst>
                <a:ext uri="{FF2B5EF4-FFF2-40B4-BE49-F238E27FC236}">
                  <a16:creationId xmlns:a16="http://schemas.microsoft.com/office/drawing/2014/main" id="{627E755E-2B97-4572-A626-980F554698BB}"/>
                </a:ext>
              </a:extLst>
            </p:cNvPr>
            <p:cNvSpPr txBox="1"/>
            <p:nvPr/>
          </p:nvSpPr>
          <p:spPr>
            <a:xfrm>
              <a:off x="2783012" y="3066343"/>
              <a:ext cx="420303" cy="417693"/>
            </a:xfrm>
            <a:prstGeom prst="rect">
              <a:avLst/>
            </a:prstGeom>
            <a:noFill/>
          </p:spPr>
          <p:txBody>
            <a:bodyPr wrap="none" rtlCol="0">
              <a:spAutoFit/>
            </a:bodyPr>
            <a:lstStyle/>
            <a:p>
              <a:r>
                <a:rPr lang="en-US" sz="1400" b="1" dirty="0"/>
                <a:t>r</a:t>
              </a:r>
              <a:r>
                <a:rPr lang="en-US" sz="1400" b="1" baseline="-25000" dirty="0"/>
                <a:t>2</a:t>
              </a:r>
            </a:p>
          </p:txBody>
        </p:sp>
        <p:sp>
          <p:nvSpPr>
            <p:cNvPr id="600" name="文本框 335">
              <a:extLst>
                <a:ext uri="{FF2B5EF4-FFF2-40B4-BE49-F238E27FC236}">
                  <a16:creationId xmlns:a16="http://schemas.microsoft.com/office/drawing/2014/main" id="{C1DFD58B-7516-45F9-B18E-27124F5E8248}"/>
                </a:ext>
              </a:extLst>
            </p:cNvPr>
            <p:cNvSpPr txBox="1"/>
            <p:nvPr/>
          </p:nvSpPr>
          <p:spPr>
            <a:xfrm>
              <a:off x="637936" y="1535658"/>
              <a:ext cx="1435100" cy="413830"/>
            </a:xfrm>
            <a:prstGeom prst="rect">
              <a:avLst/>
            </a:prstGeom>
            <a:noFill/>
          </p:spPr>
          <p:txBody>
            <a:bodyPr wrap="square" rtlCol="0">
              <a:spAutoFit/>
            </a:bodyPr>
            <a:lstStyle/>
            <a:p>
              <a:r>
                <a:rPr lang="en-US" sz="1400" b="1" dirty="0"/>
                <a:t>Solid Phase</a:t>
              </a:r>
            </a:p>
          </p:txBody>
        </p:sp>
        <p:sp>
          <p:nvSpPr>
            <p:cNvPr id="601" name="文本框 335">
              <a:extLst>
                <a:ext uri="{FF2B5EF4-FFF2-40B4-BE49-F238E27FC236}">
                  <a16:creationId xmlns:a16="http://schemas.microsoft.com/office/drawing/2014/main" id="{8060CB43-B23B-4807-838A-88347ACF086C}"/>
                </a:ext>
              </a:extLst>
            </p:cNvPr>
            <p:cNvSpPr txBox="1"/>
            <p:nvPr/>
          </p:nvSpPr>
          <p:spPr>
            <a:xfrm>
              <a:off x="673876" y="5540694"/>
              <a:ext cx="1435100" cy="413830"/>
            </a:xfrm>
            <a:prstGeom prst="rect">
              <a:avLst/>
            </a:prstGeom>
            <a:noFill/>
          </p:spPr>
          <p:txBody>
            <a:bodyPr wrap="square" rtlCol="0">
              <a:spAutoFit/>
            </a:bodyPr>
            <a:lstStyle/>
            <a:p>
              <a:r>
                <a:rPr lang="en-US" sz="1400" b="1" dirty="0"/>
                <a:t>Active Zone</a:t>
              </a:r>
            </a:p>
          </p:txBody>
        </p:sp>
        <p:sp>
          <p:nvSpPr>
            <p:cNvPr id="602" name="文本框 335">
              <a:extLst>
                <a:ext uri="{FF2B5EF4-FFF2-40B4-BE49-F238E27FC236}">
                  <a16:creationId xmlns:a16="http://schemas.microsoft.com/office/drawing/2014/main" id="{5263EF8C-85D3-4D10-A81A-C27169D2C202}"/>
                </a:ext>
              </a:extLst>
            </p:cNvPr>
            <p:cNvSpPr txBox="1"/>
            <p:nvPr/>
          </p:nvSpPr>
          <p:spPr>
            <a:xfrm>
              <a:off x="2161931" y="5536664"/>
              <a:ext cx="1572277" cy="413830"/>
            </a:xfrm>
            <a:prstGeom prst="rect">
              <a:avLst/>
            </a:prstGeom>
            <a:noFill/>
          </p:spPr>
          <p:txBody>
            <a:bodyPr wrap="square" rtlCol="0">
              <a:spAutoFit/>
            </a:bodyPr>
            <a:lstStyle/>
            <a:p>
              <a:r>
                <a:rPr lang="en-US" sz="1400" b="1" dirty="0"/>
                <a:t>Passive Zone</a:t>
              </a:r>
            </a:p>
          </p:txBody>
        </p:sp>
        <p:grpSp>
          <p:nvGrpSpPr>
            <p:cNvPr id="603" name="Group 602">
              <a:extLst>
                <a:ext uri="{FF2B5EF4-FFF2-40B4-BE49-F238E27FC236}">
                  <a16:creationId xmlns:a16="http://schemas.microsoft.com/office/drawing/2014/main" id="{AB837F52-6B23-4A71-AF96-3068F457DDAB}"/>
                </a:ext>
              </a:extLst>
            </p:cNvPr>
            <p:cNvGrpSpPr/>
            <p:nvPr/>
          </p:nvGrpSpPr>
          <p:grpSpPr>
            <a:xfrm>
              <a:off x="2378695" y="3388605"/>
              <a:ext cx="151725" cy="429303"/>
              <a:chOff x="3405452" y="3302909"/>
              <a:chExt cx="151725" cy="429303"/>
            </a:xfrm>
          </p:grpSpPr>
          <p:sp>
            <p:nvSpPr>
              <p:cNvPr id="644" name="十字形 56">
                <a:extLst>
                  <a:ext uri="{FF2B5EF4-FFF2-40B4-BE49-F238E27FC236}">
                    <a16:creationId xmlns:a16="http://schemas.microsoft.com/office/drawing/2014/main" id="{88F0480B-66E6-4C44-A107-30CAAF7CAAA4}"/>
                  </a:ext>
                </a:extLst>
              </p:cNvPr>
              <p:cNvSpPr/>
              <p:nvPr/>
            </p:nvSpPr>
            <p:spPr>
              <a:xfrm>
                <a:off x="3427021" y="346942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5" name="减号 204">
                <a:extLst>
                  <a:ext uri="{FF2B5EF4-FFF2-40B4-BE49-F238E27FC236}">
                    <a16:creationId xmlns:a16="http://schemas.microsoft.com/office/drawing/2014/main" id="{FE070583-8F63-493F-8224-CC7ECB6C6AA3}"/>
                  </a:ext>
                </a:extLst>
              </p:cNvPr>
              <p:cNvSpPr/>
              <p:nvPr/>
            </p:nvSpPr>
            <p:spPr>
              <a:xfrm>
                <a:off x="3407159" y="363458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6" name="减号 204">
                <a:extLst>
                  <a:ext uri="{FF2B5EF4-FFF2-40B4-BE49-F238E27FC236}">
                    <a16:creationId xmlns:a16="http://schemas.microsoft.com/office/drawing/2014/main" id="{626DBA4F-8A6C-4605-A05C-9C1B30B2DA09}"/>
                  </a:ext>
                </a:extLst>
              </p:cNvPr>
              <p:cNvSpPr/>
              <p:nvPr/>
            </p:nvSpPr>
            <p:spPr>
              <a:xfrm>
                <a:off x="3405452" y="330290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604" name="Group 603">
              <a:extLst>
                <a:ext uri="{FF2B5EF4-FFF2-40B4-BE49-F238E27FC236}">
                  <a16:creationId xmlns:a16="http://schemas.microsoft.com/office/drawing/2014/main" id="{B1F00D37-4A82-4DB4-AEDF-D5923AEF80CC}"/>
                </a:ext>
              </a:extLst>
            </p:cNvPr>
            <p:cNvGrpSpPr/>
            <p:nvPr/>
          </p:nvGrpSpPr>
          <p:grpSpPr>
            <a:xfrm>
              <a:off x="4068557" y="2876222"/>
              <a:ext cx="153242" cy="1463550"/>
              <a:chOff x="4162173" y="2767908"/>
              <a:chExt cx="153242" cy="1463550"/>
            </a:xfrm>
          </p:grpSpPr>
          <p:sp>
            <p:nvSpPr>
              <p:cNvPr id="639" name="十字形 56">
                <a:extLst>
                  <a:ext uri="{FF2B5EF4-FFF2-40B4-BE49-F238E27FC236}">
                    <a16:creationId xmlns:a16="http://schemas.microsoft.com/office/drawing/2014/main" id="{6FD7523E-3C73-4F0B-AA85-64E8EAC9ED10}"/>
                  </a:ext>
                </a:extLst>
              </p:cNvPr>
              <p:cNvSpPr/>
              <p:nvPr/>
            </p:nvSpPr>
            <p:spPr>
              <a:xfrm>
                <a:off x="4176553" y="384117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0" name="十字形 56">
                <a:extLst>
                  <a:ext uri="{FF2B5EF4-FFF2-40B4-BE49-F238E27FC236}">
                    <a16:creationId xmlns:a16="http://schemas.microsoft.com/office/drawing/2014/main" id="{B7898F50-4DF6-4EB4-9EE4-AA8774319CA7}"/>
                  </a:ext>
                </a:extLst>
              </p:cNvPr>
              <p:cNvSpPr/>
              <p:nvPr/>
            </p:nvSpPr>
            <p:spPr>
              <a:xfrm>
                <a:off x="4174070" y="306634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1" name="减号 204">
                <a:extLst>
                  <a:ext uri="{FF2B5EF4-FFF2-40B4-BE49-F238E27FC236}">
                    <a16:creationId xmlns:a16="http://schemas.microsoft.com/office/drawing/2014/main" id="{4B348109-73B0-45B7-B13D-417C8EE34EA8}"/>
                  </a:ext>
                </a:extLst>
              </p:cNvPr>
              <p:cNvSpPr/>
              <p:nvPr/>
            </p:nvSpPr>
            <p:spPr>
              <a:xfrm>
                <a:off x="4162173" y="3464594"/>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2" name="减号 204">
                <a:extLst>
                  <a:ext uri="{FF2B5EF4-FFF2-40B4-BE49-F238E27FC236}">
                    <a16:creationId xmlns:a16="http://schemas.microsoft.com/office/drawing/2014/main" id="{EEEE609D-C75D-4FEF-B022-94D1DC25A6C7}"/>
                  </a:ext>
                </a:extLst>
              </p:cNvPr>
              <p:cNvSpPr/>
              <p:nvPr/>
            </p:nvSpPr>
            <p:spPr>
              <a:xfrm>
                <a:off x="4165397" y="2767908"/>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3" name="减号 204">
                <a:extLst>
                  <a:ext uri="{FF2B5EF4-FFF2-40B4-BE49-F238E27FC236}">
                    <a16:creationId xmlns:a16="http://schemas.microsoft.com/office/drawing/2014/main" id="{DB9E48E4-048F-436B-B8E4-AFC0647964CF}"/>
                  </a:ext>
                </a:extLst>
              </p:cNvPr>
              <p:cNvSpPr/>
              <p:nvPr/>
            </p:nvSpPr>
            <p:spPr>
              <a:xfrm>
                <a:off x="4165397" y="4133827"/>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605" name="Group 604">
              <a:extLst>
                <a:ext uri="{FF2B5EF4-FFF2-40B4-BE49-F238E27FC236}">
                  <a16:creationId xmlns:a16="http://schemas.microsoft.com/office/drawing/2014/main" id="{6AFFAB88-333F-4AB2-AC34-4EB8AA166770}"/>
                </a:ext>
              </a:extLst>
            </p:cNvPr>
            <p:cNvGrpSpPr/>
            <p:nvPr/>
          </p:nvGrpSpPr>
          <p:grpSpPr>
            <a:xfrm>
              <a:off x="4595643" y="2936135"/>
              <a:ext cx="165375" cy="1396489"/>
              <a:chOff x="4595643" y="2936135"/>
              <a:chExt cx="165375" cy="1396489"/>
            </a:xfrm>
          </p:grpSpPr>
          <p:sp>
            <p:nvSpPr>
              <p:cNvPr id="633" name="十字形 56">
                <a:extLst>
                  <a:ext uri="{FF2B5EF4-FFF2-40B4-BE49-F238E27FC236}">
                    <a16:creationId xmlns:a16="http://schemas.microsoft.com/office/drawing/2014/main" id="{5C7AFDAF-A698-4AF7-A2CD-4604A3BB27F7}"/>
                  </a:ext>
                </a:extLst>
              </p:cNvPr>
              <p:cNvSpPr/>
              <p:nvPr/>
            </p:nvSpPr>
            <p:spPr>
              <a:xfrm>
                <a:off x="4624339" y="422539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634" name="Group 633">
                <a:extLst>
                  <a:ext uri="{FF2B5EF4-FFF2-40B4-BE49-F238E27FC236}">
                    <a16:creationId xmlns:a16="http://schemas.microsoft.com/office/drawing/2014/main" id="{56E9DF87-D43C-4807-957C-CB69D03BF85B}"/>
                  </a:ext>
                </a:extLst>
              </p:cNvPr>
              <p:cNvGrpSpPr/>
              <p:nvPr/>
            </p:nvGrpSpPr>
            <p:grpSpPr>
              <a:xfrm>
                <a:off x="4595643" y="2936135"/>
                <a:ext cx="165375" cy="1094881"/>
                <a:chOff x="5172215" y="2796763"/>
                <a:chExt cx="165375" cy="1094881"/>
              </a:xfrm>
            </p:grpSpPr>
            <p:sp>
              <p:nvSpPr>
                <p:cNvPr id="635" name="十字形 56">
                  <a:extLst>
                    <a:ext uri="{FF2B5EF4-FFF2-40B4-BE49-F238E27FC236}">
                      <a16:creationId xmlns:a16="http://schemas.microsoft.com/office/drawing/2014/main" id="{E398018C-232E-44B2-9E08-B0BB1D080C9B}"/>
                    </a:ext>
                  </a:extLst>
                </p:cNvPr>
                <p:cNvSpPr/>
                <p:nvPr/>
              </p:nvSpPr>
              <p:spPr>
                <a:xfrm>
                  <a:off x="5220425" y="341562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6" name="十字形 56">
                  <a:extLst>
                    <a:ext uri="{FF2B5EF4-FFF2-40B4-BE49-F238E27FC236}">
                      <a16:creationId xmlns:a16="http://schemas.microsoft.com/office/drawing/2014/main" id="{08B52792-085F-40B1-BCB6-3B54E4C2C962}"/>
                    </a:ext>
                  </a:extLst>
                </p:cNvPr>
                <p:cNvSpPr/>
                <p:nvPr/>
              </p:nvSpPr>
              <p:spPr>
                <a:xfrm>
                  <a:off x="5193611" y="279676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7" name="减号 204">
                  <a:extLst>
                    <a:ext uri="{FF2B5EF4-FFF2-40B4-BE49-F238E27FC236}">
                      <a16:creationId xmlns:a16="http://schemas.microsoft.com/office/drawing/2014/main" id="{5FC5AF12-98AA-47CE-82C6-39FE9CD1C6A7}"/>
                    </a:ext>
                  </a:extLst>
                </p:cNvPr>
                <p:cNvSpPr/>
                <p:nvPr/>
              </p:nvSpPr>
              <p:spPr>
                <a:xfrm>
                  <a:off x="5172215" y="307226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8" name="减号 204">
                  <a:extLst>
                    <a:ext uri="{FF2B5EF4-FFF2-40B4-BE49-F238E27FC236}">
                      <a16:creationId xmlns:a16="http://schemas.microsoft.com/office/drawing/2014/main" id="{C98AE94A-C787-4BE5-9043-D01E3E3148A3}"/>
                    </a:ext>
                  </a:extLst>
                </p:cNvPr>
                <p:cNvSpPr/>
                <p:nvPr/>
              </p:nvSpPr>
              <p:spPr>
                <a:xfrm>
                  <a:off x="5187572" y="379401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grpSp>
          <p:nvGrpSpPr>
            <p:cNvPr id="606" name="Group 605">
              <a:extLst>
                <a:ext uri="{FF2B5EF4-FFF2-40B4-BE49-F238E27FC236}">
                  <a16:creationId xmlns:a16="http://schemas.microsoft.com/office/drawing/2014/main" id="{9499BD2A-9B30-4B4D-9AD3-468CD0BA91E1}"/>
                </a:ext>
              </a:extLst>
            </p:cNvPr>
            <p:cNvGrpSpPr/>
            <p:nvPr/>
          </p:nvGrpSpPr>
          <p:grpSpPr>
            <a:xfrm>
              <a:off x="732240" y="3234136"/>
              <a:ext cx="165375" cy="1094881"/>
              <a:chOff x="5172215" y="2796763"/>
              <a:chExt cx="165375" cy="1094881"/>
            </a:xfrm>
          </p:grpSpPr>
          <p:sp>
            <p:nvSpPr>
              <p:cNvPr id="629" name="十字形 56">
                <a:extLst>
                  <a:ext uri="{FF2B5EF4-FFF2-40B4-BE49-F238E27FC236}">
                    <a16:creationId xmlns:a16="http://schemas.microsoft.com/office/drawing/2014/main" id="{6E0B8473-836E-4DF2-B596-14F0606BF66C}"/>
                  </a:ext>
                </a:extLst>
              </p:cNvPr>
              <p:cNvSpPr/>
              <p:nvPr/>
            </p:nvSpPr>
            <p:spPr>
              <a:xfrm>
                <a:off x="5220425" y="341562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0" name="十字形 56">
                <a:extLst>
                  <a:ext uri="{FF2B5EF4-FFF2-40B4-BE49-F238E27FC236}">
                    <a16:creationId xmlns:a16="http://schemas.microsoft.com/office/drawing/2014/main" id="{FB892CD4-9539-442E-9BC4-C9246166B574}"/>
                  </a:ext>
                </a:extLst>
              </p:cNvPr>
              <p:cNvSpPr/>
              <p:nvPr/>
            </p:nvSpPr>
            <p:spPr>
              <a:xfrm>
                <a:off x="5193611" y="279676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1" name="减号 204">
                <a:extLst>
                  <a:ext uri="{FF2B5EF4-FFF2-40B4-BE49-F238E27FC236}">
                    <a16:creationId xmlns:a16="http://schemas.microsoft.com/office/drawing/2014/main" id="{885F2C9F-A2FC-497F-B491-5005CCDAB638}"/>
                  </a:ext>
                </a:extLst>
              </p:cNvPr>
              <p:cNvSpPr/>
              <p:nvPr/>
            </p:nvSpPr>
            <p:spPr>
              <a:xfrm>
                <a:off x="5172215" y="307226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2" name="减号 204">
                <a:extLst>
                  <a:ext uri="{FF2B5EF4-FFF2-40B4-BE49-F238E27FC236}">
                    <a16:creationId xmlns:a16="http://schemas.microsoft.com/office/drawing/2014/main" id="{F59D2069-8FCF-46B8-9E41-588328E36E81}"/>
                  </a:ext>
                </a:extLst>
              </p:cNvPr>
              <p:cNvSpPr/>
              <p:nvPr/>
            </p:nvSpPr>
            <p:spPr>
              <a:xfrm>
                <a:off x="5187572" y="379401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607" name="减号 204">
              <a:extLst>
                <a:ext uri="{FF2B5EF4-FFF2-40B4-BE49-F238E27FC236}">
                  <a16:creationId xmlns:a16="http://schemas.microsoft.com/office/drawing/2014/main" id="{FA1577E0-16B5-494C-9545-8F4D7A703F40}"/>
                </a:ext>
              </a:extLst>
            </p:cNvPr>
            <p:cNvSpPr/>
            <p:nvPr/>
          </p:nvSpPr>
          <p:spPr>
            <a:xfrm>
              <a:off x="747597" y="291529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608" name="Group 607">
              <a:extLst>
                <a:ext uri="{FF2B5EF4-FFF2-40B4-BE49-F238E27FC236}">
                  <a16:creationId xmlns:a16="http://schemas.microsoft.com/office/drawing/2014/main" id="{56F2CA40-91FE-40FB-9F98-EFB06BCD6C61}"/>
                </a:ext>
              </a:extLst>
            </p:cNvPr>
            <p:cNvGrpSpPr/>
            <p:nvPr/>
          </p:nvGrpSpPr>
          <p:grpSpPr>
            <a:xfrm>
              <a:off x="3605413" y="3378278"/>
              <a:ext cx="151725" cy="429303"/>
              <a:chOff x="3405452" y="3302909"/>
              <a:chExt cx="151725" cy="429303"/>
            </a:xfrm>
          </p:grpSpPr>
          <p:sp>
            <p:nvSpPr>
              <p:cNvPr id="626" name="十字形 56">
                <a:extLst>
                  <a:ext uri="{FF2B5EF4-FFF2-40B4-BE49-F238E27FC236}">
                    <a16:creationId xmlns:a16="http://schemas.microsoft.com/office/drawing/2014/main" id="{FD4E5FA5-3B64-44DF-960F-D7EC55418854}"/>
                  </a:ext>
                </a:extLst>
              </p:cNvPr>
              <p:cNvSpPr/>
              <p:nvPr/>
            </p:nvSpPr>
            <p:spPr>
              <a:xfrm>
                <a:off x="3427021" y="3469420"/>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7" name="减号 204">
                <a:extLst>
                  <a:ext uri="{FF2B5EF4-FFF2-40B4-BE49-F238E27FC236}">
                    <a16:creationId xmlns:a16="http://schemas.microsoft.com/office/drawing/2014/main" id="{74B67674-255E-42D7-981B-AC813665784F}"/>
                  </a:ext>
                </a:extLst>
              </p:cNvPr>
              <p:cNvSpPr/>
              <p:nvPr/>
            </p:nvSpPr>
            <p:spPr>
              <a:xfrm>
                <a:off x="3407159" y="3634581"/>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8" name="减号 204">
                <a:extLst>
                  <a:ext uri="{FF2B5EF4-FFF2-40B4-BE49-F238E27FC236}">
                    <a16:creationId xmlns:a16="http://schemas.microsoft.com/office/drawing/2014/main" id="{B8DBE163-493E-4FF1-AFA9-E18E11A731D3}"/>
                  </a:ext>
                </a:extLst>
              </p:cNvPr>
              <p:cNvSpPr/>
              <p:nvPr/>
            </p:nvSpPr>
            <p:spPr>
              <a:xfrm>
                <a:off x="3405452" y="3302909"/>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609" name="Group 608">
              <a:extLst>
                <a:ext uri="{FF2B5EF4-FFF2-40B4-BE49-F238E27FC236}">
                  <a16:creationId xmlns:a16="http://schemas.microsoft.com/office/drawing/2014/main" id="{B47FA938-14CF-4244-B1AE-C81B0FEFE6A0}"/>
                </a:ext>
              </a:extLst>
            </p:cNvPr>
            <p:cNvGrpSpPr/>
            <p:nvPr/>
          </p:nvGrpSpPr>
          <p:grpSpPr>
            <a:xfrm>
              <a:off x="3126118" y="3382018"/>
              <a:ext cx="150018" cy="434266"/>
              <a:chOff x="3126118" y="3382018"/>
              <a:chExt cx="150018" cy="434266"/>
            </a:xfrm>
          </p:grpSpPr>
          <p:grpSp>
            <p:nvGrpSpPr>
              <p:cNvPr id="622" name="Group 621">
                <a:extLst>
                  <a:ext uri="{FF2B5EF4-FFF2-40B4-BE49-F238E27FC236}">
                    <a16:creationId xmlns:a16="http://schemas.microsoft.com/office/drawing/2014/main" id="{88EF7777-F1B7-41B4-9D72-588C75534A01}"/>
                  </a:ext>
                </a:extLst>
              </p:cNvPr>
              <p:cNvGrpSpPr/>
              <p:nvPr/>
            </p:nvGrpSpPr>
            <p:grpSpPr>
              <a:xfrm>
                <a:off x="3126118" y="3382018"/>
                <a:ext cx="150018" cy="278427"/>
                <a:chOff x="3407385" y="3293914"/>
                <a:chExt cx="150018" cy="278427"/>
              </a:xfrm>
            </p:grpSpPr>
            <p:sp>
              <p:nvSpPr>
                <p:cNvPr id="624" name="十字形 56">
                  <a:extLst>
                    <a:ext uri="{FF2B5EF4-FFF2-40B4-BE49-F238E27FC236}">
                      <a16:creationId xmlns:a16="http://schemas.microsoft.com/office/drawing/2014/main" id="{9CC2AD10-DB80-4AC9-9F11-4A0F9100DF50}"/>
                    </a:ext>
                  </a:extLst>
                </p:cNvPr>
                <p:cNvSpPr/>
                <p:nvPr/>
              </p:nvSpPr>
              <p:spPr>
                <a:xfrm>
                  <a:off x="3426342" y="329391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5" name="减号 204">
                  <a:extLst>
                    <a:ext uri="{FF2B5EF4-FFF2-40B4-BE49-F238E27FC236}">
                      <a16:creationId xmlns:a16="http://schemas.microsoft.com/office/drawing/2014/main" id="{681FFDA6-C695-4263-A2A8-8A415E289C45}"/>
                    </a:ext>
                  </a:extLst>
                </p:cNvPr>
                <p:cNvSpPr/>
                <p:nvPr/>
              </p:nvSpPr>
              <p:spPr>
                <a:xfrm>
                  <a:off x="3407385" y="347471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623" name="十字形 56">
                <a:extLst>
                  <a:ext uri="{FF2B5EF4-FFF2-40B4-BE49-F238E27FC236}">
                    <a16:creationId xmlns:a16="http://schemas.microsoft.com/office/drawing/2014/main" id="{3E5DA539-406B-4126-BBDC-E2F4CEC99BBA}"/>
                  </a:ext>
                </a:extLst>
              </p:cNvPr>
              <p:cNvSpPr/>
              <p:nvPr/>
            </p:nvSpPr>
            <p:spPr>
              <a:xfrm>
                <a:off x="3144170" y="370905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610" name="Group 609">
              <a:extLst>
                <a:ext uri="{FF2B5EF4-FFF2-40B4-BE49-F238E27FC236}">
                  <a16:creationId xmlns:a16="http://schemas.microsoft.com/office/drawing/2014/main" id="{62078CE4-7BE0-42B1-ACA0-BFDF1C9FBD7A}"/>
                </a:ext>
              </a:extLst>
            </p:cNvPr>
            <p:cNvGrpSpPr/>
            <p:nvPr/>
          </p:nvGrpSpPr>
          <p:grpSpPr>
            <a:xfrm>
              <a:off x="1823330" y="3382018"/>
              <a:ext cx="150018" cy="434266"/>
              <a:chOff x="3126118" y="3382018"/>
              <a:chExt cx="150018" cy="434266"/>
            </a:xfrm>
          </p:grpSpPr>
          <p:grpSp>
            <p:nvGrpSpPr>
              <p:cNvPr id="618" name="Group 617">
                <a:extLst>
                  <a:ext uri="{FF2B5EF4-FFF2-40B4-BE49-F238E27FC236}">
                    <a16:creationId xmlns:a16="http://schemas.microsoft.com/office/drawing/2014/main" id="{15BD0FD9-90A0-4951-95CB-79467134C9CD}"/>
                  </a:ext>
                </a:extLst>
              </p:cNvPr>
              <p:cNvGrpSpPr/>
              <p:nvPr/>
            </p:nvGrpSpPr>
            <p:grpSpPr>
              <a:xfrm>
                <a:off x="3126118" y="3382018"/>
                <a:ext cx="150018" cy="278427"/>
                <a:chOff x="3407385" y="3293914"/>
                <a:chExt cx="150018" cy="278427"/>
              </a:xfrm>
            </p:grpSpPr>
            <p:sp>
              <p:nvSpPr>
                <p:cNvPr id="620" name="十字形 56">
                  <a:extLst>
                    <a:ext uri="{FF2B5EF4-FFF2-40B4-BE49-F238E27FC236}">
                      <a16:creationId xmlns:a16="http://schemas.microsoft.com/office/drawing/2014/main" id="{C38EC069-4AEB-4C73-AEC5-F7E627D31087}"/>
                    </a:ext>
                  </a:extLst>
                </p:cNvPr>
                <p:cNvSpPr/>
                <p:nvPr/>
              </p:nvSpPr>
              <p:spPr>
                <a:xfrm>
                  <a:off x="3426342" y="3293914"/>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1" name="减号 204">
                  <a:extLst>
                    <a:ext uri="{FF2B5EF4-FFF2-40B4-BE49-F238E27FC236}">
                      <a16:creationId xmlns:a16="http://schemas.microsoft.com/office/drawing/2014/main" id="{B5854ECF-B27C-4159-B21D-6C21F47C5DDD}"/>
                    </a:ext>
                  </a:extLst>
                </p:cNvPr>
                <p:cNvSpPr/>
                <p:nvPr/>
              </p:nvSpPr>
              <p:spPr>
                <a:xfrm>
                  <a:off x="3407385" y="3474710"/>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619" name="十字形 56">
                <a:extLst>
                  <a:ext uri="{FF2B5EF4-FFF2-40B4-BE49-F238E27FC236}">
                    <a16:creationId xmlns:a16="http://schemas.microsoft.com/office/drawing/2014/main" id="{5A21CF65-29CC-456C-BF0A-BE7E15063B9E}"/>
                  </a:ext>
                </a:extLst>
              </p:cNvPr>
              <p:cNvSpPr/>
              <p:nvPr/>
            </p:nvSpPr>
            <p:spPr>
              <a:xfrm>
                <a:off x="3144170" y="370905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611" name="Group 610">
              <a:extLst>
                <a:ext uri="{FF2B5EF4-FFF2-40B4-BE49-F238E27FC236}">
                  <a16:creationId xmlns:a16="http://schemas.microsoft.com/office/drawing/2014/main" id="{77D2A410-0CD1-4FFD-A8F1-22545590481C}"/>
                </a:ext>
              </a:extLst>
            </p:cNvPr>
            <p:cNvGrpSpPr/>
            <p:nvPr/>
          </p:nvGrpSpPr>
          <p:grpSpPr>
            <a:xfrm>
              <a:off x="1364351" y="2926900"/>
              <a:ext cx="165375" cy="1396489"/>
              <a:chOff x="4595643" y="2936135"/>
              <a:chExt cx="165375" cy="1396489"/>
            </a:xfrm>
          </p:grpSpPr>
          <p:sp>
            <p:nvSpPr>
              <p:cNvPr id="612" name="十字形 56">
                <a:extLst>
                  <a:ext uri="{FF2B5EF4-FFF2-40B4-BE49-F238E27FC236}">
                    <a16:creationId xmlns:a16="http://schemas.microsoft.com/office/drawing/2014/main" id="{EF081CD8-8121-439C-9D4B-87B8C09126D3}"/>
                  </a:ext>
                </a:extLst>
              </p:cNvPr>
              <p:cNvSpPr/>
              <p:nvPr/>
            </p:nvSpPr>
            <p:spPr>
              <a:xfrm>
                <a:off x="4624339" y="4225399"/>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613" name="Group 612">
                <a:extLst>
                  <a:ext uri="{FF2B5EF4-FFF2-40B4-BE49-F238E27FC236}">
                    <a16:creationId xmlns:a16="http://schemas.microsoft.com/office/drawing/2014/main" id="{B74F40CB-599D-447C-AD82-9BC46A9E2E62}"/>
                  </a:ext>
                </a:extLst>
              </p:cNvPr>
              <p:cNvGrpSpPr/>
              <p:nvPr/>
            </p:nvGrpSpPr>
            <p:grpSpPr>
              <a:xfrm>
                <a:off x="4595643" y="2936135"/>
                <a:ext cx="165375" cy="1094881"/>
                <a:chOff x="5172215" y="2796763"/>
                <a:chExt cx="165375" cy="1094881"/>
              </a:xfrm>
            </p:grpSpPr>
            <p:sp>
              <p:nvSpPr>
                <p:cNvPr id="614" name="十字形 56">
                  <a:extLst>
                    <a:ext uri="{FF2B5EF4-FFF2-40B4-BE49-F238E27FC236}">
                      <a16:creationId xmlns:a16="http://schemas.microsoft.com/office/drawing/2014/main" id="{529B575B-29FE-4E45-94B4-EE1A5B923202}"/>
                    </a:ext>
                  </a:extLst>
                </p:cNvPr>
                <p:cNvSpPr/>
                <p:nvPr/>
              </p:nvSpPr>
              <p:spPr>
                <a:xfrm>
                  <a:off x="5220425" y="3415622"/>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5" name="十字形 56">
                  <a:extLst>
                    <a:ext uri="{FF2B5EF4-FFF2-40B4-BE49-F238E27FC236}">
                      <a16:creationId xmlns:a16="http://schemas.microsoft.com/office/drawing/2014/main" id="{42A63B45-C864-4405-9809-9B2DF9768513}"/>
                    </a:ext>
                  </a:extLst>
                </p:cNvPr>
                <p:cNvSpPr/>
                <p:nvPr/>
              </p:nvSpPr>
              <p:spPr>
                <a:xfrm>
                  <a:off x="5193611" y="2796763"/>
                  <a:ext cx="107225" cy="107225"/>
                </a:xfrm>
                <a:prstGeom prst="plus">
                  <a:avLst>
                    <a:gd name="adj" fmla="val 420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6" name="减号 204">
                  <a:extLst>
                    <a:ext uri="{FF2B5EF4-FFF2-40B4-BE49-F238E27FC236}">
                      <a16:creationId xmlns:a16="http://schemas.microsoft.com/office/drawing/2014/main" id="{D84E2871-8EFC-4362-8CD8-53B3CC05888B}"/>
                    </a:ext>
                  </a:extLst>
                </p:cNvPr>
                <p:cNvSpPr/>
                <p:nvPr/>
              </p:nvSpPr>
              <p:spPr>
                <a:xfrm>
                  <a:off x="5172215" y="307226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7" name="减号 204">
                  <a:extLst>
                    <a:ext uri="{FF2B5EF4-FFF2-40B4-BE49-F238E27FC236}">
                      <a16:creationId xmlns:a16="http://schemas.microsoft.com/office/drawing/2014/main" id="{EC541EB6-0A27-4349-93AE-D528FAE54A9D}"/>
                    </a:ext>
                  </a:extLst>
                </p:cNvPr>
                <p:cNvSpPr/>
                <p:nvPr/>
              </p:nvSpPr>
              <p:spPr>
                <a:xfrm>
                  <a:off x="5187572" y="3794013"/>
                  <a:ext cx="150018" cy="97631"/>
                </a:xfrm>
                <a:prstGeom prst="mathMin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grpSp>
      <p:sp>
        <p:nvSpPr>
          <p:cNvPr id="661" name="TextBox 660">
            <a:extLst>
              <a:ext uri="{FF2B5EF4-FFF2-40B4-BE49-F238E27FC236}">
                <a16:creationId xmlns:a16="http://schemas.microsoft.com/office/drawing/2014/main" id="{1E692B58-D91E-48F9-A7A9-80DF875BDDE5}"/>
              </a:ext>
            </a:extLst>
          </p:cNvPr>
          <p:cNvSpPr txBox="1"/>
          <p:nvPr/>
        </p:nvSpPr>
        <p:spPr>
          <a:xfrm>
            <a:off x="1206034" y="1446053"/>
            <a:ext cx="1283300" cy="400110"/>
          </a:xfrm>
          <a:prstGeom prst="rect">
            <a:avLst/>
          </a:prstGeom>
          <a:noFill/>
        </p:spPr>
        <p:txBody>
          <a:bodyPr wrap="none" rtlCol="0">
            <a:spAutoFit/>
          </a:bodyPr>
          <a:lstStyle/>
          <a:p>
            <a:r>
              <a:rPr lang="en-US" sz="2000" dirty="0"/>
              <a:t>Initial flow</a:t>
            </a:r>
          </a:p>
        </p:txBody>
      </p:sp>
      <p:sp>
        <p:nvSpPr>
          <p:cNvPr id="662" name="TextBox 661">
            <a:extLst>
              <a:ext uri="{FF2B5EF4-FFF2-40B4-BE49-F238E27FC236}">
                <a16:creationId xmlns:a16="http://schemas.microsoft.com/office/drawing/2014/main" id="{FB477DFE-EF01-4D4C-8D3B-A28981B6772A}"/>
              </a:ext>
            </a:extLst>
          </p:cNvPr>
          <p:cNvSpPr txBox="1"/>
          <p:nvPr/>
        </p:nvSpPr>
        <p:spPr>
          <a:xfrm>
            <a:off x="5446636" y="1446053"/>
            <a:ext cx="1993944" cy="400110"/>
          </a:xfrm>
          <a:prstGeom prst="rect">
            <a:avLst/>
          </a:prstGeom>
          <a:noFill/>
        </p:spPr>
        <p:txBody>
          <a:bodyPr wrap="none" rtlCol="0">
            <a:spAutoFit/>
          </a:bodyPr>
          <a:lstStyle/>
          <a:p>
            <a:r>
              <a:rPr lang="en-US" sz="2000" dirty="0"/>
              <a:t>Steady-state flow</a:t>
            </a:r>
          </a:p>
        </p:txBody>
      </p:sp>
      <p:grpSp>
        <p:nvGrpSpPr>
          <p:cNvPr id="674" name="Group 673">
            <a:extLst>
              <a:ext uri="{FF2B5EF4-FFF2-40B4-BE49-F238E27FC236}">
                <a16:creationId xmlns:a16="http://schemas.microsoft.com/office/drawing/2014/main" id="{57AEE806-FBC1-45AC-A5D7-3DC8D3952B91}"/>
              </a:ext>
            </a:extLst>
          </p:cNvPr>
          <p:cNvGrpSpPr/>
          <p:nvPr/>
        </p:nvGrpSpPr>
        <p:grpSpPr>
          <a:xfrm>
            <a:off x="228600" y="2713271"/>
            <a:ext cx="635000" cy="2568676"/>
            <a:chOff x="228600" y="2713271"/>
            <a:chExt cx="635000" cy="2568676"/>
          </a:xfrm>
        </p:grpSpPr>
        <p:cxnSp>
          <p:nvCxnSpPr>
            <p:cNvPr id="664" name="Straight Arrow Connector 663">
              <a:extLst>
                <a:ext uri="{FF2B5EF4-FFF2-40B4-BE49-F238E27FC236}">
                  <a16:creationId xmlns:a16="http://schemas.microsoft.com/office/drawing/2014/main" id="{6477DBEB-C69D-4BA6-B8A5-CA1CBFFE8C53}"/>
                </a:ext>
              </a:extLst>
            </p:cNvPr>
            <p:cNvCxnSpPr/>
            <p:nvPr/>
          </p:nvCxnSpPr>
          <p:spPr>
            <a:xfrm>
              <a:off x="228600" y="2713271"/>
              <a:ext cx="63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5" name="Straight Arrow Connector 664">
              <a:extLst>
                <a:ext uri="{FF2B5EF4-FFF2-40B4-BE49-F238E27FC236}">
                  <a16:creationId xmlns:a16="http://schemas.microsoft.com/office/drawing/2014/main" id="{1072BE35-115A-4037-8520-A434C08736CB}"/>
                </a:ext>
              </a:extLst>
            </p:cNvPr>
            <p:cNvCxnSpPr/>
            <p:nvPr/>
          </p:nvCxnSpPr>
          <p:spPr>
            <a:xfrm>
              <a:off x="228600" y="3548628"/>
              <a:ext cx="63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6" name="Straight Arrow Connector 665">
              <a:extLst>
                <a:ext uri="{FF2B5EF4-FFF2-40B4-BE49-F238E27FC236}">
                  <a16:creationId xmlns:a16="http://schemas.microsoft.com/office/drawing/2014/main" id="{3AC46013-A5D9-4507-952E-40FB8D373B49}"/>
                </a:ext>
              </a:extLst>
            </p:cNvPr>
            <p:cNvCxnSpPr/>
            <p:nvPr/>
          </p:nvCxnSpPr>
          <p:spPr>
            <a:xfrm>
              <a:off x="228600" y="4424816"/>
              <a:ext cx="63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7" name="Straight Arrow Connector 666">
              <a:extLst>
                <a:ext uri="{FF2B5EF4-FFF2-40B4-BE49-F238E27FC236}">
                  <a16:creationId xmlns:a16="http://schemas.microsoft.com/office/drawing/2014/main" id="{BFF770F3-948D-466C-A25A-7BFD44AD7193}"/>
                </a:ext>
              </a:extLst>
            </p:cNvPr>
            <p:cNvCxnSpPr/>
            <p:nvPr/>
          </p:nvCxnSpPr>
          <p:spPr>
            <a:xfrm>
              <a:off x="228600" y="5281947"/>
              <a:ext cx="63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668" name="Straight Arrow Connector 667">
            <a:extLst>
              <a:ext uri="{FF2B5EF4-FFF2-40B4-BE49-F238E27FC236}">
                <a16:creationId xmlns:a16="http://schemas.microsoft.com/office/drawing/2014/main" id="{E99D8AEF-C7DC-41FC-B861-493BF8911DDB}"/>
              </a:ext>
            </a:extLst>
          </p:cNvPr>
          <p:cNvCxnSpPr/>
          <p:nvPr/>
        </p:nvCxnSpPr>
        <p:spPr>
          <a:xfrm>
            <a:off x="8407400" y="2607782"/>
            <a:ext cx="63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9" name="Straight Arrow Connector 668">
            <a:extLst>
              <a:ext uri="{FF2B5EF4-FFF2-40B4-BE49-F238E27FC236}">
                <a16:creationId xmlns:a16="http://schemas.microsoft.com/office/drawing/2014/main" id="{4CD7D8E3-AD8E-4A1E-B73D-793EA01A2A83}"/>
              </a:ext>
            </a:extLst>
          </p:cNvPr>
          <p:cNvCxnSpPr/>
          <p:nvPr/>
        </p:nvCxnSpPr>
        <p:spPr>
          <a:xfrm>
            <a:off x="8407400" y="3443139"/>
            <a:ext cx="63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0" name="Straight Arrow Connector 669">
            <a:extLst>
              <a:ext uri="{FF2B5EF4-FFF2-40B4-BE49-F238E27FC236}">
                <a16:creationId xmlns:a16="http://schemas.microsoft.com/office/drawing/2014/main" id="{F995B75C-C88E-4778-A814-A72AFE35887E}"/>
              </a:ext>
            </a:extLst>
          </p:cNvPr>
          <p:cNvCxnSpPr/>
          <p:nvPr/>
        </p:nvCxnSpPr>
        <p:spPr>
          <a:xfrm>
            <a:off x="8407400" y="4319327"/>
            <a:ext cx="63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1" name="Straight Arrow Connector 670">
            <a:extLst>
              <a:ext uri="{FF2B5EF4-FFF2-40B4-BE49-F238E27FC236}">
                <a16:creationId xmlns:a16="http://schemas.microsoft.com/office/drawing/2014/main" id="{1A8ADCB9-23A6-4CD9-AA78-0B7DDBB2517D}"/>
              </a:ext>
            </a:extLst>
          </p:cNvPr>
          <p:cNvCxnSpPr/>
          <p:nvPr/>
        </p:nvCxnSpPr>
        <p:spPr>
          <a:xfrm>
            <a:off x="8407400" y="5176458"/>
            <a:ext cx="63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2" name="TextBox 671">
            <a:extLst>
              <a:ext uri="{FF2B5EF4-FFF2-40B4-BE49-F238E27FC236}">
                <a16:creationId xmlns:a16="http://schemas.microsoft.com/office/drawing/2014/main" id="{0DB2CD0B-6798-45B7-8ED0-2FF4F0816AB6}"/>
              </a:ext>
            </a:extLst>
          </p:cNvPr>
          <p:cNvSpPr txBox="1"/>
          <p:nvPr/>
        </p:nvSpPr>
        <p:spPr>
          <a:xfrm>
            <a:off x="138417" y="3592034"/>
            <a:ext cx="885184" cy="830997"/>
          </a:xfrm>
          <a:prstGeom prst="rect">
            <a:avLst/>
          </a:prstGeom>
          <a:noFill/>
        </p:spPr>
        <p:txBody>
          <a:bodyPr wrap="square" rtlCol="0">
            <a:spAutoFit/>
          </a:bodyPr>
          <a:lstStyle/>
          <a:p>
            <a:r>
              <a:rPr lang="en-US" sz="1600" dirty="0"/>
              <a:t>External electric field</a:t>
            </a:r>
          </a:p>
        </p:txBody>
      </p:sp>
      <mc:AlternateContent xmlns:mc="http://schemas.openxmlformats.org/markup-compatibility/2006" xmlns:a14="http://schemas.microsoft.com/office/drawing/2010/main">
        <mc:Choice Requires="a14">
          <p:sp>
            <p:nvSpPr>
              <p:cNvPr id="673" name="TextBox 672">
                <a:extLst>
                  <a:ext uri="{FF2B5EF4-FFF2-40B4-BE49-F238E27FC236}">
                    <a16:creationId xmlns:a16="http://schemas.microsoft.com/office/drawing/2014/main" id="{BFCDAEFD-60B1-4640-A191-06083B868715}"/>
                  </a:ext>
                </a:extLst>
              </p:cNvPr>
              <p:cNvSpPr txBox="1"/>
              <p:nvPr/>
            </p:nvSpPr>
            <p:spPr>
              <a:xfrm>
                <a:off x="9222056" y="2006354"/>
                <a:ext cx="2824199" cy="3437736"/>
              </a:xfrm>
              <a:prstGeom prst="rect">
                <a:avLst/>
              </a:prstGeom>
              <a:noFill/>
            </p:spPr>
            <p:txBody>
              <a:bodyPr wrap="square" rtlCol="0">
                <a:spAutoFit/>
              </a:bodyPr>
              <a:lstStyle/>
              <a:p>
                <a:pPr marL="285750" indent="-285750">
                  <a:buFont typeface="Arial" panose="020B0604020202020204" pitchFamily="34" charset="0"/>
                  <a:buChar char="•"/>
                </a:pPr>
                <a:r>
                  <a:rPr lang="en-US" dirty="0"/>
                  <a:t>Cation surplus happens in EDL /boundary of active and passive zone;</a:t>
                </a:r>
              </a:p>
              <a:p>
                <a:pPr marL="285750" indent="-285750">
                  <a:buFont typeface="Arial" panose="020B0604020202020204" pitchFamily="34" charset="0"/>
                  <a:buChar char="•"/>
                </a:pPr>
                <a:r>
                  <a:rPr lang="en-US" dirty="0"/>
                  <a:t>Ion concentration gradient induces membrane-like polarization;</a:t>
                </a:r>
              </a:p>
              <a:p>
                <a:pPr marL="285750" indent="-285750">
                  <a:buFont typeface="Arial" panose="020B0604020202020204" pitchFamily="34" charset="0"/>
                  <a:buChar char="•"/>
                </a:pPr>
                <a:r>
                  <a:rPr lang="en-US" dirty="0"/>
                  <a:t>Transference number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𝑝</m:t>
                        </m:r>
                      </m:sub>
                    </m:sSub>
                  </m:oMath>
                </a14:m>
                <a:r>
                  <a:rPr lang="en-US" dirty="0"/>
                  <a:t> which represents the ion mobilities is correlated with pore radii.</a:t>
                </a:r>
              </a:p>
            </p:txBody>
          </p:sp>
        </mc:Choice>
        <mc:Fallback xmlns="">
          <p:sp>
            <p:nvSpPr>
              <p:cNvPr id="673" name="TextBox 672">
                <a:extLst>
                  <a:ext uri="{FF2B5EF4-FFF2-40B4-BE49-F238E27FC236}">
                    <a16:creationId xmlns:a16="http://schemas.microsoft.com/office/drawing/2014/main" id="{BFCDAEFD-60B1-4640-A191-06083B868715}"/>
                  </a:ext>
                </a:extLst>
              </p:cNvPr>
              <p:cNvSpPr txBox="1">
                <a:spLocks noRot="1" noChangeAspect="1" noMove="1" noResize="1" noEditPoints="1" noAdjustHandles="1" noChangeArrowheads="1" noChangeShapeType="1" noTextEdit="1"/>
              </p:cNvSpPr>
              <p:nvPr/>
            </p:nvSpPr>
            <p:spPr>
              <a:xfrm>
                <a:off x="9222056" y="2006354"/>
                <a:ext cx="2824199" cy="3437736"/>
              </a:xfrm>
              <a:prstGeom prst="rect">
                <a:avLst/>
              </a:prstGeom>
              <a:blipFill>
                <a:blip r:embed="rId2"/>
                <a:stretch>
                  <a:fillRect l="-1512" t="-887" b="-1950"/>
                </a:stretch>
              </a:blipFill>
            </p:spPr>
            <p:txBody>
              <a:bodyPr/>
              <a:lstStyle/>
              <a:p>
                <a:r>
                  <a:rPr lang="en-US">
                    <a:noFill/>
                  </a:rPr>
                  <a:t> </a:t>
                </a:r>
              </a:p>
            </p:txBody>
          </p:sp>
        </mc:Fallback>
      </mc:AlternateContent>
      <p:sp>
        <p:nvSpPr>
          <p:cNvPr id="2" name="Footer Placeholder 1"/>
          <p:cNvSpPr>
            <a:spLocks noGrp="1"/>
          </p:cNvSpPr>
          <p:nvPr>
            <p:ph type="ftr" sz="quarter" idx="11"/>
          </p:nvPr>
        </p:nvSpPr>
        <p:spPr/>
        <p:txBody>
          <a:bodyPr/>
          <a:lstStyle/>
          <a:p>
            <a:r>
              <a:rPr lang="en-US"/>
              <a:t>SEG 2018</a:t>
            </a:r>
          </a:p>
        </p:txBody>
      </p:sp>
      <p:sp>
        <p:nvSpPr>
          <p:cNvPr id="4" name="Slide Number Placeholder 3"/>
          <p:cNvSpPr>
            <a:spLocks noGrp="1"/>
          </p:cNvSpPr>
          <p:nvPr>
            <p:ph type="sldNum" sz="quarter" idx="12"/>
          </p:nvPr>
        </p:nvSpPr>
        <p:spPr/>
        <p:txBody>
          <a:bodyPr/>
          <a:lstStyle/>
          <a:p>
            <a:fld id="{48265A45-E6A4-4653-9C66-6A1A04113506}" type="slidenum">
              <a:rPr lang="en-US" smtClean="0"/>
              <a:pPr/>
              <a:t>13</a:t>
            </a:fld>
            <a:endParaRPr lang="en-US"/>
          </a:p>
        </p:txBody>
      </p:sp>
    </p:spTree>
    <p:extLst>
      <p:ext uri="{BB962C8B-B14F-4D97-AF65-F5344CB8AC3E}">
        <p14:creationId xmlns:p14="http://schemas.microsoft.com/office/powerpoint/2010/main" val="158813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1"/>
                                        </p:tgtEl>
                                        <p:attrNameLst>
                                          <p:attrName>style.visibility</p:attrName>
                                        </p:attrNameLst>
                                      </p:cBhvr>
                                      <p:to>
                                        <p:strVal val="visible"/>
                                      </p:to>
                                    </p:set>
                                    <p:animEffect transition="in" filter="fade">
                                      <p:cBhvr>
                                        <p:cTn id="7" dur="500"/>
                                        <p:tgtEl>
                                          <p:spTgt spid="661"/>
                                        </p:tgtEl>
                                      </p:cBhvr>
                                    </p:animEffect>
                                  </p:childTnLst>
                                </p:cTn>
                              </p:par>
                              <p:par>
                                <p:cTn id="8" presetID="10" presetClass="entr" presetSubtype="0" fill="hold" nodeType="withEffect">
                                  <p:stCondLst>
                                    <p:cond delay="0"/>
                                  </p:stCondLst>
                                  <p:childTnLst>
                                    <p:set>
                                      <p:cBhvr>
                                        <p:cTn id="9" dur="1" fill="hold">
                                          <p:stCondLst>
                                            <p:cond delay="0"/>
                                          </p:stCondLst>
                                        </p:cTn>
                                        <p:tgtEl>
                                          <p:spTgt spid="500"/>
                                        </p:tgtEl>
                                        <p:attrNameLst>
                                          <p:attrName>style.visibility</p:attrName>
                                        </p:attrNameLst>
                                      </p:cBhvr>
                                      <p:to>
                                        <p:strVal val="visible"/>
                                      </p:to>
                                    </p:set>
                                    <p:animEffect transition="in" filter="fade">
                                      <p:cBhvr>
                                        <p:cTn id="10" dur="500"/>
                                        <p:tgtEl>
                                          <p:spTgt spid="50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74"/>
                                        </p:tgtEl>
                                        <p:attrNameLst>
                                          <p:attrName>style.visibility</p:attrName>
                                        </p:attrNameLst>
                                      </p:cBhvr>
                                      <p:to>
                                        <p:strVal val="visible"/>
                                      </p:to>
                                    </p:set>
                                    <p:animEffect transition="in" filter="fade">
                                      <p:cBhvr>
                                        <p:cTn id="15" dur="500"/>
                                        <p:tgtEl>
                                          <p:spTgt spid="67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72"/>
                                        </p:tgtEl>
                                        <p:attrNameLst>
                                          <p:attrName>style.visibility</p:attrName>
                                        </p:attrNameLst>
                                      </p:cBhvr>
                                      <p:to>
                                        <p:strVal val="visible"/>
                                      </p:to>
                                    </p:set>
                                    <p:animEffect transition="in" filter="fade">
                                      <p:cBhvr>
                                        <p:cTn id="18" dur="500"/>
                                        <p:tgtEl>
                                          <p:spTgt spid="67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6"/>
                                        </p:tgtEl>
                                        <p:attrNameLst>
                                          <p:attrName>style.visibility</p:attrName>
                                        </p:attrNameLst>
                                      </p:cBhvr>
                                      <p:to>
                                        <p:strVal val="visible"/>
                                      </p:to>
                                    </p:set>
                                    <p:animEffect transition="in" filter="fade">
                                      <p:cBhvr>
                                        <p:cTn id="23" dur="500"/>
                                        <p:tgtEl>
                                          <p:spTgt spid="33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62"/>
                                        </p:tgtEl>
                                        <p:attrNameLst>
                                          <p:attrName>style.visibility</p:attrName>
                                        </p:attrNameLst>
                                      </p:cBhvr>
                                      <p:to>
                                        <p:strVal val="visible"/>
                                      </p:to>
                                    </p:set>
                                    <p:animEffect transition="in" filter="fade">
                                      <p:cBhvr>
                                        <p:cTn id="26" dur="500"/>
                                        <p:tgtEl>
                                          <p:spTgt spid="662"/>
                                        </p:tgtEl>
                                      </p:cBhvr>
                                    </p:animEffect>
                                  </p:childTnLst>
                                </p:cTn>
                              </p:par>
                              <p:par>
                                <p:cTn id="27" presetID="10" presetClass="entr" presetSubtype="0" fill="hold" nodeType="withEffect">
                                  <p:stCondLst>
                                    <p:cond delay="0"/>
                                  </p:stCondLst>
                                  <p:childTnLst>
                                    <p:set>
                                      <p:cBhvr>
                                        <p:cTn id="28" dur="1" fill="hold">
                                          <p:stCondLst>
                                            <p:cond delay="0"/>
                                          </p:stCondLst>
                                        </p:cTn>
                                        <p:tgtEl>
                                          <p:spTgt spid="668"/>
                                        </p:tgtEl>
                                        <p:attrNameLst>
                                          <p:attrName>style.visibility</p:attrName>
                                        </p:attrNameLst>
                                      </p:cBhvr>
                                      <p:to>
                                        <p:strVal val="visible"/>
                                      </p:to>
                                    </p:set>
                                    <p:animEffect transition="in" filter="fade">
                                      <p:cBhvr>
                                        <p:cTn id="29" dur="500"/>
                                        <p:tgtEl>
                                          <p:spTgt spid="668"/>
                                        </p:tgtEl>
                                      </p:cBhvr>
                                    </p:animEffect>
                                  </p:childTnLst>
                                </p:cTn>
                              </p:par>
                              <p:par>
                                <p:cTn id="30" presetID="10" presetClass="entr" presetSubtype="0" fill="hold" nodeType="withEffect">
                                  <p:stCondLst>
                                    <p:cond delay="0"/>
                                  </p:stCondLst>
                                  <p:childTnLst>
                                    <p:set>
                                      <p:cBhvr>
                                        <p:cTn id="31" dur="1" fill="hold">
                                          <p:stCondLst>
                                            <p:cond delay="0"/>
                                          </p:stCondLst>
                                        </p:cTn>
                                        <p:tgtEl>
                                          <p:spTgt spid="669"/>
                                        </p:tgtEl>
                                        <p:attrNameLst>
                                          <p:attrName>style.visibility</p:attrName>
                                        </p:attrNameLst>
                                      </p:cBhvr>
                                      <p:to>
                                        <p:strVal val="visible"/>
                                      </p:to>
                                    </p:set>
                                    <p:animEffect transition="in" filter="fade">
                                      <p:cBhvr>
                                        <p:cTn id="32" dur="500"/>
                                        <p:tgtEl>
                                          <p:spTgt spid="669"/>
                                        </p:tgtEl>
                                      </p:cBhvr>
                                    </p:animEffect>
                                  </p:childTnLst>
                                </p:cTn>
                              </p:par>
                              <p:par>
                                <p:cTn id="33" presetID="10" presetClass="entr" presetSubtype="0" fill="hold" nodeType="withEffect">
                                  <p:stCondLst>
                                    <p:cond delay="0"/>
                                  </p:stCondLst>
                                  <p:childTnLst>
                                    <p:set>
                                      <p:cBhvr>
                                        <p:cTn id="34" dur="1" fill="hold">
                                          <p:stCondLst>
                                            <p:cond delay="0"/>
                                          </p:stCondLst>
                                        </p:cTn>
                                        <p:tgtEl>
                                          <p:spTgt spid="670"/>
                                        </p:tgtEl>
                                        <p:attrNameLst>
                                          <p:attrName>style.visibility</p:attrName>
                                        </p:attrNameLst>
                                      </p:cBhvr>
                                      <p:to>
                                        <p:strVal val="visible"/>
                                      </p:to>
                                    </p:set>
                                    <p:animEffect transition="in" filter="fade">
                                      <p:cBhvr>
                                        <p:cTn id="35" dur="500"/>
                                        <p:tgtEl>
                                          <p:spTgt spid="670"/>
                                        </p:tgtEl>
                                      </p:cBhvr>
                                    </p:animEffect>
                                  </p:childTnLst>
                                </p:cTn>
                              </p:par>
                              <p:par>
                                <p:cTn id="36" presetID="10" presetClass="entr" presetSubtype="0" fill="hold" nodeType="withEffect">
                                  <p:stCondLst>
                                    <p:cond delay="0"/>
                                  </p:stCondLst>
                                  <p:childTnLst>
                                    <p:set>
                                      <p:cBhvr>
                                        <p:cTn id="37" dur="1" fill="hold">
                                          <p:stCondLst>
                                            <p:cond delay="0"/>
                                          </p:stCondLst>
                                        </p:cTn>
                                        <p:tgtEl>
                                          <p:spTgt spid="671"/>
                                        </p:tgtEl>
                                        <p:attrNameLst>
                                          <p:attrName>style.visibility</p:attrName>
                                        </p:attrNameLst>
                                      </p:cBhvr>
                                      <p:to>
                                        <p:strVal val="visible"/>
                                      </p:to>
                                    </p:set>
                                    <p:animEffect transition="in" filter="fade">
                                      <p:cBhvr>
                                        <p:cTn id="38" dur="500"/>
                                        <p:tgtEl>
                                          <p:spTgt spid="67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73"/>
                                        </p:tgtEl>
                                        <p:attrNameLst>
                                          <p:attrName>style.visibility</p:attrName>
                                        </p:attrNameLst>
                                      </p:cBhvr>
                                      <p:to>
                                        <p:strVal val="visible"/>
                                      </p:to>
                                    </p:set>
                                    <p:animEffect transition="in" filter="fade">
                                      <p:cBhvr>
                                        <p:cTn id="43" dur="500"/>
                                        <p:tgtEl>
                                          <p:spTgt spid="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 grpId="0"/>
      <p:bldP spid="662" grpId="0"/>
      <p:bldP spid="672" grpId="0"/>
      <p:bldP spid="67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Picture 3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11" y="520065"/>
            <a:ext cx="4916472" cy="3329940"/>
          </a:xfrm>
          <a:prstGeom prst="rect">
            <a:avLst/>
          </a:prstGeom>
        </p:spPr>
      </p:pic>
      <p:pic>
        <p:nvPicPr>
          <p:cNvPr id="316" name="Picture 3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411" y="3951510"/>
            <a:ext cx="4916471" cy="2505726"/>
          </a:xfrm>
          <a:prstGeom prst="rect">
            <a:avLst/>
          </a:prstGeom>
        </p:spPr>
      </p:pic>
      <p:sp>
        <p:nvSpPr>
          <p:cNvPr id="317" name="TextBox 316"/>
          <p:cNvSpPr txBox="1"/>
          <p:nvPr/>
        </p:nvSpPr>
        <p:spPr>
          <a:xfrm>
            <a:off x="6509385" y="5072241"/>
            <a:ext cx="2707344" cy="1384995"/>
          </a:xfrm>
          <a:prstGeom prst="rect">
            <a:avLst/>
          </a:prstGeom>
          <a:noFill/>
        </p:spPr>
        <p:txBody>
          <a:bodyPr wrap="none" rtlCol="0">
            <a:spAutoFit/>
          </a:bodyPr>
          <a:lstStyle/>
          <a:p>
            <a:r>
              <a:rPr lang="en-US" sz="1400" dirty="0"/>
              <a:t>R: unblocked path resistance</a:t>
            </a:r>
          </a:p>
          <a:p>
            <a:r>
              <a:rPr lang="en-US" sz="1400" dirty="0"/>
              <a:t>R1,2: metallic resistance</a:t>
            </a:r>
          </a:p>
          <a:p>
            <a:r>
              <a:rPr lang="en-US" sz="1400" dirty="0" err="1"/>
              <a:t>Rs</a:t>
            </a:r>
            <a:r>
              <a:rPr lang="en-US" sz="1400" dirty="0"/>
              <a:t>: solution resistance</a:t>
            </a:r>
          </a:p>
          <a:p>
            <a:r>
              <a:rPr lang="en-US" sz="1400" dirty="0" err="1"/>
              <a:t>Z</a:t>
            </a:r>
            <a:r>
              <a:rPr lang="en-US" sz="1400" baseline="-25000" dirty="0" err="1"/>
              <a:t>dl</a:t>
            </a:r>
            <a:r>
              <a:rPr lang="en-US" sz="1400" dirty="0"/>
              <a:t>: EDL impedance</a:t>
            </a:r>
          </a:p>
          <a:p>
            <a:r>
              <a:rPr lang="en-US" sz="1400" dirty="0" err="1"/>
              <a:t>Z</a:t>
            </a:r>
            <a:r>
              <a:rPr lang="en-US" sz="1400" baseline="-25000" dirty="0" err="1"/>
              <a:t>w</a:t>
            </a:r>
            <a:r>
              <a:rPr lang="en-US" sz="1400" dirty="0"/>
              <a:t>: Warburg impedance</a:t>
            </a:r>
          </a:p>
          <a:p>
            <a:r>
              <a:rPr lang="en-US" sz="1400" dirty="0" err="1"/>
              <a:t>Z</a:t>
            </a:r>
            <a:r>
              <a:rPr lang="en-US" sz="1400" baseline="-25000" dirty="0" err="1"/>
              <a:t>e</a:t>
            </a:r>
            <a:r>
              <a:rPr lang="en-US" sz="1400" dirty="0"/>
              <a:t>: electrolyte diffusive impedance</a:t>
            </a:r>
          </a:p>
        </p:txBody>
      </p:sp>
      <mc:AlternateContent xmlns:mc="http://schemas.openxmlformats.org/markup-compatibility/2006" xmlns:a14="http://schemas.microsoft.com/office/drawing/2010/main">
        <mc:Choice Requires="a14">
          <p:sp>
            <p:nvSpPr>
              <p:cNvPr id="318" name="TextBox 317"/>
              <p:cNvSpPr txBox="1"/>
              <p:nvPr/>
            </p:nvSpPr>
            <p:spPr>
              <a:xfrm>
                <a:off x="6705601" y="520065"/>
                <a:ext cx="5410200" cy="4213589"/>
              </a:xfrm>
              <a:prstGeom prst="rect">
                <a:avLst/>
              </a:prstGeom>
              <a:noFill/>
            </p:spPr>
            <p:txBody>
              <a:bodyPr wrap="square" rtlCol="0">
                <a:spAutoFit/>
              </a:bodyPr>
              <a:lstStyle/>
              <a:p>
                <a:r>
                  <a:rPr lang="en-US" dirty="0"/>
                  <a:t>In a ion-selective zone (active and passive zone), the dimensionless polarizability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𝜂</m:t>
                        </m:r>
                      </m:e>
                      <m:sub>
                        <m:r>
                          <a:rPr lang="en-US" b="0" i="1" smtClean="0">
                            <a:latin typeface="Cambria Math" panose="02040503050406030204" pitchFamily="18" charset="0"/>
                          </a:rPr>
                          <m:t>0</m:t>
                        </m:r>
                      </m:sub>
                    </m:sSub>
                  </m:oMath>
                </a14:m>
                <a:r>
                  <a:rPr lang="en-US" dirty="0"/>
                  <a:t> and two time constant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rPr>
                          <m:t>1,2</m:t>
                        </m:r>
                      </m:sub>
                    </m:sSub>
                  </m:oMath>
                </a14:m>
                <a:r>
                  <a:rPr lang="en-US" dirty="0"/>
                  <a:t> can be expressed using the approach of </a:t>
                </a:r>
                <a:r>
                  <a:rPr lang="en-US" dirty="0" err="1"/>
                  <a:t>Bücker</a:t>
                </a:r>
                <a:r>
                  <a:rPr lang="en-US" dirty="0"/>
                  <a:t> and </a:t>
                </a:r>
                <a:r>
                  <a:rPr lang="en-US" dirty="0" err="1"/>
                  <a:t>Hördt</a:t>
                </a:r>
                <a:r>
                  <a:rPr lang="en-US" dirty="0"/>
                  <a:t> (2013) as</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𝜂</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𝑇</m:t>
                          </m:r>
                        </m:num>
                        <m:den>
                          <m:r>
                            <a:rPr lang="en-US" b="0" i="1" smtClean="0">
                              <a:latin typeface="Cambria Math" panose="02040503050406030204" pitchFamily="18" charset="0"/>
                              <a:ea typeface="Cambria Math" panose="02040503050406030204" pitchFamily="18" charset="0"/>
                            </a:rPr>
                            <m:t>𝑒</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b="0" i="1" smtClean="0">
                                  <a:latin typeface="Cambria Math" panose="02040503050406030204" pitchFamily="18" charset="0"/>
                                  <a:ea typeface="Cambria Math" panose="02040503050406030204" pitchFamily="18" charset="0"/>
                                </a:rPr>
                                <m:t>0</m:t>
                              </m:r>
                            </m:sub>
                          </m:sSub>
                        </m:den>
                      </m:f>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8</m:t>
                          </m:r>
                          <m:sSup>
                            <m:sSupPr>
                              <m:ctrlPr>
                                <a:rPr lang="en-US" b="0"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2</m:t>
                                      </m:r>
                                    </m:sub>
                                  </m:sSub>
                                </m:e>
                              </m:d>
                            </m:e>
                            <m:sup>
                              <m:r>
                                <a:rPr lang="en-US" b="0" i="1" smtClean="0">
                                  <a:latin typeface="Cambria Math" panose="02040503050406030204" pitchFamily="18" charset="0"/>
                                  <a:ea typeface="Cambria Math" panose="02040503050406030204" pitchFamily="18" charset="0"/>
                                </a:rPr>
                                <m:t>2</m:t>
                              </m:r>
                            </m:sup>
                          </m:sSup>
                        </m:num>
                        <m:den>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1</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1</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2</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2</m:t>
                                  </m:r>
                                </m:sub>
                              </m:sSub>
                            </m:den>
                          </m:f>
                        </m:den>
                      </m:f>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b="0" i="1" smtClean="0">
                              <a:latin typeface="Cambria Math" panose="02040503050406030204" pitchFamily="18" charset="0"/>
                            </a:rPr>
                            <m:t>𝑖</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𝐿</m:t>
                              </m:r>
                            </m:e>
                            <m:sub>
                              <m:r>
                                <a:rPr lang="en-US" b="0" i="1" smtClean="0">
                                  <a:latin typeface="Cambria Math" panose="02040503050406030204" pitchFamily="18" charset="0"/>
                                </a:rPr>
                                <m:t>𝑖</m:t>
                              </m:r>
                            </m:sub>
                            <m:sup>
                              <m:r>
                                <a:rPr lang="en-US" i="1">
                                  <a:latin typeface="Cambria Math" panose="02040503050406030204" pitchFamily="18" charset="0"/>
                                </a:rPr>
                                <m:t>2</m:t>
                              </m:r>
                            </m:sup>
                          </m:sSubSup>
                        </m:num>
                        <m:den>
                          <m:r>
                            <a:rPr lang="en-US" i="1">
                              <a:latin typeface="Cambria Math" panose="02040503050406030204" pitchFamily="18" charset="0"/>
                            </a:rPr>
                            <m:t>8</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𝑝𝑖</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𝑛𝑖</m:t>
                              </m:r>
                            </m:sub>
                          </m:sSub>
                        </m:den>
                      </m:f>
                    </m:oMath>
                  </m:oMathPara>
                </a14:m>
                <a:endParaRPr lang="en-US" dirty="0"/>
              </a:p>
              <a:p>
                <a:r>
                  <a:rPr lang="en-US" dirty="0"/>
                  <a:t>And the effective conductivity </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𝑒𝑓𝑓</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e>
                            <m:sup>
                              <m:r>
                                <a:rPr lang="en-US" i="1">
                                  <a:latin typeface="Cambria Math" panose="02040503050406030204" pitchFamily="18" charset="0"/>
                                </a:rPr>
                                <m:t>2</m:t>
                              </m:r>
                            </m:sup>
                          </m:sSup>
                        </m:num>
                        <m:den>
                          <m:r>
                            <a:rPr lang="en-US" b="0" i="1" smtClean="0">
                              <a:latin typeface="Cambria Math" panose="02040503050406030204" pitchFamily="18" charset="0"/>
                            </a:rPr>
                            <m:t>𝑍</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2</m:t>
                                      </m:r>
                                    </m:sub>
                                  </m:sSub>
                                </m:e>
                              </m:d>
                            </m:e>
                            <m:sup>
                              <m:r>
                                <a:rPr lang="en-US" b="0" i="1" smtClean="0">
                                  <a:latin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𝜑</m:t>
                          </m:r>
                        </m:num>
                        <m:den>
                          <m:sSub>
                            <m:sSubPr>
                              <m:ctrlPr>
                                <a:rPr lang="en-US" i="1">
                                  <a:latin typeface="Cambria Math" panose="02040503050406030204" pitchFamily="18" charset="0"/>
                                </a:rPr>
                              </m:ctrlPr>
                            </m:sSubPr>
                            <m:e>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e>
                                <m:sup>
                                  <m:r>
                                    <a:rPr lang="en-US" i="1">
                                      <a:latin typeface="Cambria Math" panose="02040503050406030204" pitchFamily="18" charset="0"/>
                                    </a:rPr>
                                    <m:t>2</m:t>
                                  </m:r>
                                </m:sup>
                              </m:sSup>
                              <m:r>
                                <a:rPr lang="en-US" i="1">
                                  <a:latin typeface="Cambria Math" panose="02040503050406030204" pitchFamily="18" charset="0"/>
                                </a:rPr>
                                <m:t>𝐿</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2</m:t>
                                      </m:r>
                                    </m:sub>
                                  </m:sSub>
                                </m:e>
                                <m:sup>
                                  <m:r>
                                    <a:rPr lang="en-US" i="1">
                                      <a:latin typeface="Cambria Math" panose="02040503050406030204" pitchFamily="18" charset="0"/>
                                    </a:rPr>
                                    <m:t>2</m:t>
                                  </m:r>
                                </m:sup>
                              </m:sSup>
                              <m:r>
                                <a:rPr lang="en-US" i="1">
                                  <a:latin typeface="Cambria Math" panose="02040503050406030204" pitchFamily="18" charset="0"/>
                                </a:rPr>
                                <m:t>𝐿</m:t>
                              </m:r>
                            </m:e>
                            <m:sub>
                              <m:r>
                                <a:rPr lang="en-US" b="0" i="1" smtClean="0">
                                  <a:latin typeface="Cambria Math" panose="02040503050406030204" pitchFamily="18" charset="0"/>
                                </a:rPr>
                                <m:t>2</m:t>
                              </m:r>
                            </m:sub>
                          </m:sSub>
                        </m:den>
                      </m:f>
                    </m:oMath>
                  </m:oMathPara>
                </a14:m>
                <a:endParaRPr lang="en-US" b="0" dirty="0"/>
              </a:p>
              <a:p>
                <a:r>
                  <a:rPr lang="en-US" dirty="0"/>
                  <a:t>Therefore it’s critical to generate accurate values of </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𝑟</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m:oMathPara>
                </a14:m>
                <a:endParaRPr lang="en-US" dirty="0"/>
              </a:p>
            </p:txBody>
          </p:sp>
        </mc:Choice>
        <mc:Fallback xmlns="">
          <p:sp>
            <p:nvSpPr>
              <p:cNvPr id="318" name="TextBox 317"/>
              <p:cNvSpPr txBox="1">
                <a:spLocks noRot="1" noChangeAspect="1" noMove="1" noResize="1" noEditPoints="1" noAdjustHandles="1" noChangeArrowheads="1" noChangeShapeType="1" noTextEdit="1"/>
              </p:cNvSpPr>
              <p:nvPr/>
            </p:nvSpPr>
            <p:spPr>
              <a:xfrm>
                <a:off x="6705601" y="520065"/>
                <a:ext cx="5410200" cy="4213589"/>
              </a:xfrm>
              <a:prstGeom prst="rect">
                <a:avLst/>
              </a:prstGeom>
              <a:blipFill>
                <a:blip r:embed="rId4"/>
                <a:stretch>
                  <a:fillRect l="-901" t="-723" r="-338"/>
                </a:stretch>
              </a:blipFill>
            </p:spPr>
            <p:txBody>
              <a:bodyPr/>
              <a:lstStyle/>
              <a:p>
                <a:r>
                  <a:rPr lang="en-US">
                    <a:noFill/>
                  </a:rPr>
                  <a:t> </a:t>
                </a:r>
              </a:p>
            </p:txBody>
          </p:sp>
        </mc:Fallback>
      </mc:AlternateContent>
      <p:sp>
        <p:nvSpPr>
          <p:cNvPr id="2" name="Footer Placeholder 1"/>
          <p:cNvSpPr>
            <a:spLocks noGrp="1"/>
          </p:cNvSpPr>
          <p:nvPr>
            <p:ph type="ftr" sz="quarter" idx="11"/>
          </p:nvPr>
        </p:nvSpPr>
        <p:spPr/>
        <p:txBody>
          <a:bodyPr/>
          <a:lstStyle/>
          <a:p>
            <a:r>
              <a:rPr lang="en-US"/>
              <a:t>SEG 2018</a:t>
            </a:r>
            <a:endParaRPr lang="en-US" dirty="0"/>
          </a:p>
        </p:txBody>
      </p:sp>
      <p:sp>
        <p:nvSpPr>
          <p:cNvPr id="3" name="Slide Number Placeholder 2"/>
          <p:cNvSpPr>
            <a:spLocks noGrp="1"/>
          </p:cNvSpPr>
          <p:nvPr>
            <p:ph type="sldNum" sz="quarter" idx="12"/>
          </p:nvPr>
        </p:nvSpPr>
        <p:spPr/>
        <p:txBody>
          <a:bodyPr/>
          <a:lstStyle/>
          <a:p>
            <a:fld id="{774D434B-DAEE-4BF7-9AC2-3255F1C5EAFE}" type="slidenum">
              <a:rPr lang="en-US" smtClean="0"/>
              <a:pPr/>
              <a:t>14</a:t>
            </a:fld>
            <a:endParaRPr lang="en-US" dirty="0"/>
          </a:p>
        </p:txBody>
      </p:sp>
    </p:spTree>
    <p:extLst>
      <p:ext uri="{BB962C8B-B14F-4D97-AF65-F5344CB8AC3E}">
        <p14:creationId xmlns:p14="http://schemas.microsoft.com/office/powerpoint/2010/main" val="2239937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92130" y="1198781"/>
            <a:ext cx="3315919" cy="2537461"/>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59158" y="1198782"/>
            <a:ext cx="3315917" cy="2537460"/>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09904" y="1419763"/>
            <a:ext cx="2231563" cy="1965960"/>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411" y="1419763"/>
            <a:ext cx="2079802" cy="1965960"/>
          </a:xfrm>
          <a:prstGeom prst="rect">
            <a:avLst/>
          </a:prstGeom>
        </p:spPr>
      </p:pic>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86023786"/>
                  </p:ext>
                </p:extLst>
              </p:nvPr>
            </p:nvGraphicFramePr>
            <p:xfrm>
              <a:off x="1415418" y="4316729"/>
              <a:ext cx="9311636" cy="1784244"/>
            </p:xfrm>
            <a:graphic>
              <a:graphicData uri="http://schemas.openxmlformats.org/drawingml/2006/table">
                <a:tbl>
                  <a:tblPr firstRow="1">
                    <a:tableStyleId>{9D7B26C5-4107-4FEC-AEDC-1716B250A1EF}</a:tableStyleId>
                  </a:tblPr>
                  <a:tblGrid>
                    <a:gridCol w="1020453">
                      <a:extLst>
                        <a:ext uri="{9D8B030D-6E8A-4147-A177-3AD203B41FA5}">
                          <a16:colId xmlns:a16="http://schemas.microsoft.com/office/drawing/2014/main" val="2571802647"/>
                        </a:ext>
                      </a:extLst>
                    </a:gridCol>
                    <a:gridCol w="2530464">
                      <a:extLst>
                        <a:ext uri="{9D8B030D-6E8A-4147-A177-3AD203B41FA5}">
                          <a16:colId xmlns:a16="http://schemas.microsoft.com/office/drawing/2014/main" val="2620433239"/>
                        </a:ext>
                      </a:extLst>
                    </a:gridCol>
                    <a:gridCol w="658454">
                      <a:extLst>
                        <a:ext uri="{9D8B030D-6E8A-4147-A177-3AD203B41FA5}">
                          <a16:colId xmlns:a16="http://schemas.microsoft.com/office/drawing/2014/main" val="1386878084"/>
                        </a:ext>
                      </a:extLst>
                    </a:gridCol>
                    <a:gridCol w="1020453">
                      <a:extLst>
                        <a:ext uri="{9D8B030D-6E8A-4147-A177-3AD203B41FA5}">
                          <a16:colId xmlns:a16="http://schemas.microsoft.com/office/drawing/2014/main" val="2669684454"/>
                        </a:ext>
                      </a:extLst>
                    </a:gridCol>
                    <a:gridCol w="1020453">
                      <a:extLst>
                        <a:ext uri="{9D8B030D-6E8A-4147-A177-3AD203B41FA5}">
                          <a16:colId xmlns:a16="http://schemas.microsoft.com/office/drawing/2014/main" val="2741991553"/>
                        </a:ext>
                      </a:extLst>
                    </a:gridCol>
                    <a:gridCol w="1020453">
                      <a:extLst>
                        <a:ext uri="{9D8B030D-6E8A-4147-A177-3AD203B41FA5}">
                          <a16:colId xmlns:a16="http://schemas.microsoft.com/office/drawing/2014/main" val="57141732"/>
                        </a:ext>
                      </a:extLst>
                    </a:gridCol>
                    <a:gridCol w="1020453">
                      <a:extLst>
                        <a:ext uri="{9D8B030D-6E8A-4147-A177-3AD203B41FA5}">
                          <a16:colId xmlns:a16="http://schemas.microsoft.com/office/drawing/2014/main" val="1691873525"/>
                        </a:ext>
                      </a:extLst>
                    </a:gridCol>
                    <a:gridCol w="1020453">
                      <a:extLst>
                        <a:ext uri="{9D8B030D-6E8A-4147-A177-3AD203B41FA5}">
                          <a16:colId xmlns:a16="http://schemas.microsoft.com/office/drawing/2014/main" val="3346607024"/>
                        </a:ext>
                      </a:extLst>
                    </a:gridCol>
                  </a:tblGrid>
                  <a:tr h="476353">
                    <a:tc>
                      <a:txBody>
                        <a:bodyPr/>
                        <a:lstStyle/>
                        <a:p>
                          <a:pPr algn="ctr" fontAlgn="b"/>
                          <a:r>
                            <a:rPr lang="en-US" sz="1800" b="1" u="none" strike="noStrike">
                              <a:effectLst/>
                            </a:rPr>
                            <a:t>Sample</a:t>
                          </a:r>
                          <a:endParaRPr lang="en-US"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dirty="0">
                              <a:effectLst/>
                            </a:rPr>
                            <a:t>Sample Height</a:t>
                          </a:r>
                        </a:p>
                        <a:p>
                          <a:pPr algn="ctr" fontAlgn="b"/>
                          <a:r>
                            <a:rPr lang="en-US" sz="1800" b="1" u="none" strike="noStrike" dirty="0">
                              <a:effectLst/>
                            </a:rPr>
                            <a:t> (mm)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dirty="0">
                              <a:effectLst/>
                            </a:rPr>
                            <a:t>L</a:t>
                          </a:r>
                          <a:r>
                            <a:rPr lang="en-US" sz="1800" b="1" u="none" strike="noStrike" baseline="-25000" dirty="0">
                              <a:effectLst/>
                            </a:rPr>
                            <a:t>1</a:t>
                          </a:r>
                        </a:p>
                        <a:p>
                          <a:pPr algn="ctr" fontAlgn="b"/>
                          <a:r>
                            <a:rPr lang="en-US" sz="1800" b="1" u="none" strike="noStrike" dirty="0">
                              <a:effectLst/>
                            </a:rPr>
                            <a:t> (nm)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dirty="0">
                              <a:effectLst/>
                            </a:rPr>
                            <a:t>L</a:t>
                          </a:r>
                          <a:r>
                            <a:rPr lang="en-US" sz="1800" b="1" u="none" strike="noStrike" baseline="-25000" dirty="0">
                              <a:effectLst/>
                            </a:rPr>
                            <a:t>2</a:t>
                          </a:r>
                        </a:p>
                        <a:p>
                          <a:pPr algn="ctr" fontAlgn="b"/>
                          <a:r>
                            <a:rPr lang="en-US" sz="1800" b="1" u="none" strike="noStrike" dirty="0">
                              <a:effectLst/>
                            </a:rPr>
                            <a:t> (nm)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baseline="0" dirty="0">
                              <a:effectLst/>
                            </a:rPr>
                            <a:t>r</a:t>
                          </a:r>
                          <a:r>
                            <a:rPr lang="en-US" sz="1800" b="1" u="none" strike="noStrike" baseline="-25000" dirty="0">
                              <a:effectLst/>
                            </a:rPr>
                            <a:t>1</a:t>
                          </a:r>
                        </a:p>
                        <a:p>
                          <a:pPr algn="ctr" fontAlgn="b"/>
                          <a:r>
                            <a:rPr lang="en-US" sz="1800" b="1" u="none" strike="noStrike" dirty="0">
                              <a:effectLst/>
                            </a:rPr>
                            <a:t> (nm)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baseline="0" dirty="0">
                              <a:effectLst/>
                            </a:rPr>
                            <a:t>r</a:t>
                          </a:r>
                          <a:r>
                            <a:rPr lang="en-US" sz="1800" b="1" u="none" strike="noStrike" baseline="-25000" dirty="0">
                              <a:effectLst/>
                            </a:rPr>
                            <a:t>2</a:t>
                          </a:r>
                        </a:p>
                        <a:p>
                          <a:pPr algn="ctr" fontAlgn="b"/>
                          <a:r>
                            <a:rPr lang="en-US" sz="1800" b="1" u="none" strike="noStrike" dirty="0">
                              <a:effectLst/>
                            </a:rPr>
                            <a:t> (nm)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800" b="1" i="1" u="none" strike="noStrike" dirty="0" smtClean="0">
                                        <a:effectLst/>
                                        <a:latin typeface="Cambria Math" panose="02040503050406030204" pitchFamily="18" charset="0"/>
                                        <a:ea typeface="Cambria Math" panose="02040503050406030204" pitchFamily="18" charset="0"/>
                                      </a:rPr>
                                    </m:ctrlPr>
                                  </m:sSubPr>
                                  <m:e>
                                    <m:r>
                                      <a:rPr lang="en-US" sz="1800" b="1" i="1" u="none" strike="noStrike" dirty="0" smtClean="0">
                                        <a:effectLst/>
                                        <a:latin typeface="Cambria Math" panose="02040503050406030204" pitchFamily="18" charset="0"/>
                                        <a:ea typeface="Cambria Math" panose="02040503050406030204" pitchFamily="18" charset="0"/>
                                      </a:rPr>
                                      <m:t>𝝆</m:t>
                                    </m:r>
                                  </m:e>
                                  <m:sub>
                                    <m:r>
                                      <a:rPr lang="en-US" sz="1800" b="1" i="1" u="none" strike="noStrike" dirty="0" smtClean="0">
                                        <a:effectLst/>
                                        <a:latin typeface="Cambria Math" panose="02040503050406030204" pitchFamily="18" charset="0"/>
                                        <a:ea typeface="Cambria Math" panose="02040503050406030204" pitchFamily="18" charset="0"/>
                                      </a:rPr>
                                      <m:t>𝟐</m:t>
                                    </m:r>
                                  </m:sub>
                                </m:sSub>
                              </m:oMath>
                            </m:oMathPara>
                          </a14:m>
                          <a:endParaRPr lang="en-US" sz="1800" b="1" i="0" u="none" strike="noStrike" dirty="0">
                            <a:solidFill>
                              <a:srgbClr val="000000"/>
                            </a:solidFill>
                            <a:effectLst/>
                            <a:latin typeface="Calibri" panose="020F0502020204030204" pitchFamily="34" charset="0"/>
                          </a:endParaRPr>
                        </a:p>
                        <a:p>
                          <a:pPr algn="ctr" fontAlgn="b"/>
                          <a:r>
                            <a:rPr lang="en-US" sz="1800" b="1" i="0" u="none" strike="noStrike" dirty="0">
                              <a:solidFill>
                                <a:srgbClr val="000000"/>
                              </a:solidFill>
                              <a:effectLst/>
                              <a:latin typeface="Calibri" panose="020F0502020204030204" pitchFamily="34" charset="0"/>
                            </a:rPr>
                            <a:t>(µm/s)</a:t>
                          </a:r>
                        </a:p>
                      </a:txBody>
                      <a:tcPr marL="9525" marR="9525" marT="9525" marB="0" anchor="b"/>
                    </a:tc>
                    <a:extLst>
                      <a:ext uri="{0D108BD9-81ED-4DB2-BD59-A6C34878D82A}">
                        <a16:rowId xmlns:a16="http://schemas.microsoft.com/office/drawing/2014/main" val="2148378901"/>
                      </a:ext>
                    </a:extLst>
                  </a:tr>
                  <a:tr h="408693">
                    <a:tc>
                      <a:txBody>
                        <a:bodyPr/>
                        <a:lstStyle/>
                        <a:p>
                          <a:pPr algn="ctr" fontAlgn="b"/>
                          <a:r>
                            <a:rPr lang="en-US" sz="1800" b="0" u="none" strike="noStrike">
                              <a:effectLst/>
                            </a:rPr>
                            <a:t>53</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52.45</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119</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35000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3000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6</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42453012"/>
                      </a:ext>
                    </a:extLst>
                  </a:tr>
                  <a:tr h="408693">
                    <a:tc>
                      <a:txBody>
                        <a:bodyPr/>
                        <a:lstStyle/>
                        <a:p>
                          <a:pPr algn="ctr" fontAlgn="b"/>
                          <a:r>
                            <a:rPr lang="en-US" sz="1800" b="0" u="none" strike="noStrike">
                              <a:effectLst/>
                            </a:rPr>
                            <a:t>59</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43.10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52</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10000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2000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10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3</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65029350"/>
                      </a:ext>
                    </a:extLst>
                  </a:tr>
                  <a:tr h="408693">
                    <a:tc>
                      <a:txBody>
                        <a:bodyPr/>
                        <a:lstStyle/>
                        <a:p>
                          <a:pPr algn="ctr" fontAlgn="b"/>
                          <a:r>
                            <a:rPr lang="en-US" sz="1800" b="0" u="none" strike="noStrike">
                              <a:effectLst/>
                            </a:rPr>
                            <a:t>92</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29.30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171</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24000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3000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14</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06475537"/>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86023786"/>
                  </p:ext>
                </p:extLst>
              </p:nvPr>
            </p:nvGraphicFramePr>
            <p:xfrm>
              <a:off x="1415418" y="4316729"/>
              <a:ext cx="9311636" cy="1784244"/>
            </p:xfrm>
            <a:graphic>
              <a:graphicData uri="http://schemas.openxmlformats.org/drawingml/2006/table">
                <a:tbl>
                  <a:tblPr firstRow="1">
                    <a:tableStyleId>{9D7B26C5-4107-4FEC-AEDC-1716B250A1EF}</a:tableStyleId>
                  </a:tblPr>
                  <a:tblGrid>
                    <a:gridCol w="1020453">
                      <a:extLst>
                        <a:ext uri="{9D8B030D-6E8A-4147-A177-3AD203B41FA5}">
                          <a16:colId xmlns:a16="http://schemas.microsoft.com/office/drawing/2014/main" val="2571802647"/>
                        </a:ext>
                      </a:extLst>
                    </a:gridCol>
                    <a:gridCol w="2530464">
                      <a:extLst>
                        <a:ext uri="{9D8B030D-6E8A-4147-A177-3AD203B41FA5}">
                          <a16:colId xmlns:a16="http://schemas.microsoft.com/office/drawing/2014/main" val="2620433239"/>
                        </a:ext>
                      </a:extLst>
                    </a:gridCol>
                    <a:gridCol w="658454">
                      <a:extLst>
                        <a:ext uri="{9D8B030D-6E8A-4147-A177-3AD203B41FA5}">
                          <a16:colId xmlns:a16="http://schemas.microsoft.com/office/drawing/2014/main" val="1386878084"/>
                        </a:ext>
                      </a:extLst>
                    </a:gridCol>
                    <a:gridCol w="1020453">
                      <a:extLst>
                        <a:ext uri="{9D8B030D-6E8A-4147-A177-3AD203B41FA5}">
                          <a16:colId xmlns:a16="http://schemas.microsoft.com/office/drawing/2014/main" val="2669684454"/>
                        </a:ext>
                      </a:extLst>
                    </a:gridCol>
                    <a:gridCol w="1020453">
                      <a:extLst>
                        <a:ext uri="{9D8B030D-6E8A-4147-A177-3AD203B41FA5}">
                          <a16:colId xmlns:a16="http://schemas.microsoft.com/office/drawing/2014/main" val="2741991553"/>
                        </a:ext>
                      </a:extLst>
                    </a:gridCol>
                    <a:gridCol w="1020453">
                      <a:extLst>
                        <a:ext uri="{9D8B030D-6E8A-4147-A177-3AD203B41FA5}">
                          <a16:colId xmlns:a16="http://schemas.microsoft.com/office/drawing/2014/main" val="57141732"/>
                        </a:ext>
                      </a:extLst>
                    </a:gridCol>
                    <a:gridCol w="1020453">
                      <a:extLst>
                        <a:ext uri="{9D8B030D-6E8A-4147-A177-3AD203B41FA5}">
                          <a16:colId xmlns:a16="http://schemas.microsoft.com/office/drawing/2014/main" val="1691873525"/>
                        </a:ext>
                      </a:extLst>
                    </a:gridCol>
                    <a:gridCol w="1020453">
                      <a:extLst>
                        <a:ext uri="{9D8B030D-6E8A-4147-A177-3AD203B41FA5}">
                          <a16:colId xmlns:a16="http://schemas.microsoft.com/office/drawing/2014/main" val="3346607024"/>
                        </a:ext>
                      </a:extLst>
                    </a:gridCol>
                  </a:tblGrid>
                  <a:tr h="558165">
                    <a:tc>
                      <a:txBody>
                        <a:bodyPr/>
                        <a:lstStyle/>
                        <a:p>
                          <a:pPr algn="ctr" fontAlgn="b"/>
                          <a:r>
                            <a:rPr lang="en-US" sz="1800" b="1" u="none" strike="noStrike">
                              <a:effectLst/>
                            </a:rPr>
                            <a:t>Sample</a:t>
                          </a:r>
                          <a:endParaRPr lang="en-US"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dirty="0">
                              <a:effectLst/>
                            </a:rPr>
                            <a:t>Sample </a:t>
                          </a:r>
                          <a:r>
                            <a:rPr lang="en-US" sz="1800" b="1" u="none" strike="noStrike" dirty="0" smtClean="0">
                              <a:effectLst/>
                            </a:rPr>
                            <a:t>Height</a:t>
                          </a:r>
                        </a:p>
                        <a:p>
                          <a:pPr algn="ctr" fontAlgn="b"/>
                          <a:r>
                            <a:rPr lang="en-US" sz="1800" b="1" u="none" strike="noStrike" dirty="0" smtClean="0">
                              <a:effectLst/>
                            </a:rPr>
                            <a:t> </a:t>
                          </a:r>
                          <a:r>
                            <a:rPr lang="en-US" sz="1800" b="1" u="none" strike="noStrike" dirty="0">
                              <a:effectLst/>
                            </a:rPr>
                            <a:t>(mm)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dirty="0" smtClean="0">
                              <a:effectLst/>
                            </a:rPr>
                            <a:t>L</a:t>
                          </a:r>
                          <a:r>
                            <a:rPr lang="en-US" sz="1800" b="1" u="none" strike="noStrike" baseline="-25000" dirty="0" smtClean="0">
                              <a:effectLst/>
                            </a:rPr>
                            <a:t>1</a:t>
                          </a:r>
                        </a:p>
                        <a:p>
                          <a:pPr algn="ctr" fontAlgn="b"/>
                          <a:r>
                            <a:rPr lang="en-US" sz="1800" b="1" u="none" strike="noStrike" dirty="0" smtClean="0">
                              <a:effectLst/>
                            </a:rPr>
                            <a:t> </a:t>
                          </a:r>
                          <a:r>
                            <a:rPr lang="en-US" sz="1800" b="1" u="none" strike="noStrike" dirty="0">
                              <a:effectLst/>
                            </a:rPr>
                            <a:t>(nm)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dirty="0" smtClean="0">
                              <a:effectLst/>
                            </a:rPr>
                            <a:t>L</a:t>
                          </a:r>
                          <a:r>
                            <a:rPr lang="en-US" sz="1800" b="1" u="none" strike="noStrike" baseline="-25000" dirty="0" smtClean="0">
                              <a:effectLst/>
                            </a:rPr>
                            <a:t>2</a:t>
                          </a:r>
                        </a:p>
                        <a:p>
                          <a:pPr algn="ctr" fontAlgn="b"/>
                          <a:r>
                            <a:rPr lang="en-US" sz="1800" b="1" u="none" strike="noStrike" dirty="0" smtClean="0">
                              <a:effectLst/>
                            </a:rPr>
                            <a:t> </a:t>
                          </a:r>
                          <a:r>
                            <a:rPr lang="en-US" sz="1800" b="1" u="none" strike="noStrike" dirty="0">
                              <a:effectLst/>
                            </a:rPr>
                            <a:t>(nm)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baseline="0" dirty="0" smtClean="0">
                              <a:effectLst/>
                            </a:rPr>
                            <a:t>r</a:t>
                          </a:r>
                          <a:r>
                            <a:rPr lang="en-US" sz="1800" b="1" u="none" strike="noStrike" baseline="-25000" dirty="0" smtClean="0">
                              <a:effectLst/>
                            </a:rPr>
                            <a:t>1</a:t>
                          </a:r>
                        </a:p>
                        <a:p>
                          <a:pPr algn="ctr" fontAlgn="b"/>
                          <a:r>
                            <a:rPr lang="en-US" sz="1800" b="1" u="none" strike="noStrike" dirty="0" smtClean="0">
                              <a:effectLst/>
                            </a:rPr>
                            <a:t> </a:t>
                          </a:r>
                          <a:r>
                            <a:rPr lang="en-US" sz="1800" b="1" u="none" strike="noStrike" dirty="0">
                              <a:effectLst/>
                            </a:rPr>
                            <a:t>(nm)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1" u="none" strike="noStrike" baseline="0" dirty="0" smtClean="0">
                              <a:effectLst/>
                            </a:rPr>
                            <a:t>r</a:t>
                          </a:r>
                          <a:r>
                            <a:rPr lang="en-US" sz="1800" b="1" u="none" strike="noStrike" baseline="-25000" dirty="0" smtClean="0">
                              <a:effectLst/>
                            </a:rPr>
                            <a:t>2</a:t>
                          </a:r>
                        </a:p>
                        <a:p>
                          <a:pPr algn="ctr" fontAlgn="b"/>
                          <a:r>
                            <a:rPr lang="en-US" sz="1800" b="1" u="none" strike="noStrike" dirty="0" smtClean="0">
                              <a:effectLst/>
                            </a:rPr>
                            <a:t> </a:t>
                          </a:r>
                          <a:r>
                            <a:rPr lang="en-US" sz="1800" b="1" u="none" strike="noStrike" dirty="0">
                              <a:effectLst/>
                            </a:rPr>
                            <a:t>(nm)</a:t>
                          </a:r>
                          <a:endParaRPr lang="en-US" sz="1800" b="1" i="0" u="none" strike="noStrike" dirty="0">
                            <a:solidFill>
                              <a:srgbClr val="000000"/>
                            </a:solidFill>
                            <a:effectLst/>
                            <a:latin typeface="Calibri" panose="020F0502020204030204" pitchFamily="34" charset="0"/>
                          </a:endParaRPr>
                        </a:p>
                      </a:txBody>
                      <a:tcPr marL="9525" marR="9525" marT="9525" marB="0" anchor="b"/>
                    </a:tc>
                    <a:tc>
                      <a:txBody>
                        <a:bodyPr/>
                        <a:lstStyle/>
                        <a:p>
                          <a:endParaRPr lang="en-US"/>
                        </a:p>
                      </a:txBody>
                      <a:tcPr marL="9525" marR="9525" marT="9525" marB="0" anchor="b">
                        <a:blipFill>
                          <a:blip r:embed="rId6"/>
                          <a:stretch>
                            <a:fillRect l="-814970" t="-11957" r="-599" b="-243478"/>
                          </a:stretch>
                        </a:blipFill>
                      </a:tcPr>
                    </a:tc>
                    <a:extLst>
                      <a:ext uri="{0D108BD9-81ED-4DB2-BD59-A6C34878D82A}">
                        <a16:rowId xmlns:a16="http://schemas.microsoft.com/office/drawing/2014/main" val="2148378901"/>
                      </a:ext>
                    </a:extLst>
                  </a:tr>
                  <a:tr h="408693">
                    <a:tc>
                      <a:txBody>
                        <a:bodyPr/>
                        <a:lstStyle/>
                        <a:p>
                          <a:pPr algn="ctr" fontAlgn="b"/>
                          <a:r>
                            <a:rPr lang="en-US" sz="1800" b="0" u="none" strike="noStrike">
                              <a:effectLst/>
                            </a:rPr>
                            <a:t>53</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52.45</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119</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smtClean="0">
                              <a:effectLst/>
                            </a:rPr>
                            <a:t>35000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3000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6</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42453012"/>
                      </a:ext>
                    </a:extLst>
                  </a:tr>
                  <a:tr h="408693">
                    <a:tc>
                      <a:txBody>
                        <a:bodyPr/>
                        <a:lstStyle/>
                        <a:p>
                          <a:pPr algn="ctr" fontAlgn="b"/>
                          <a:r>
                            <a:rPr lang="en-US" sz="1800" b="0" u="none" strike="noStrike">
                              <a:effectLst/>
                            </a:rPr>
                            <a:t>59</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43.10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smtClean="0">
                              <a:effectLst/>
                            </a:rPr>
                            <a:t>52</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10000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2000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10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3</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65029350"/>
                      </a:ext>
                    </a:extLst>
                  </a:tr>
                  <a:tr h="408693">
                    <a:tc>
                      <a:txBody>
                        <a:bodyPr/>
                        <a:lstStyle/>
                        <a:p>
                          <a:pPr algn="ctr" fontAlgn="b"/>
                          <a:r>
                            <a:rPr lang="en-US" sz="1800" b="0" u="none" strike="noStrike">
                              <a:effectLst/>
                            </a:rPr>
                            <a:t>92</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29.30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smtClean="0">
                              <a:effectLst/>
                            </a:rPr>
                            <a:t>171</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smtClean="0">
                              <a:effectLst/>
                            </a:rPr>
                            <a:t>24000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a:effectLst/>
                            </a:rPr>
                            <a:t>3000</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b="0" u="none" strike="noStrike" dirty="0" smtClean="0">
                              <a:effectLst/>
                            </a:rPr>
                            <a:t>14</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06475537"/>
                      </a:ext>
                    </a:extLst>
                  </a:tr>
                </a:tbl>
              </a:graphicData>
            </a:graphic>
          </p:graphicFrame>
        </mc:Fallback>
      </mc:AlternateContent>
      <p:sp>
        <p:nvSpPr>
          <p:cNvPr id="8" name="TextBox 7"/>
          <p:cNvSpPr txBox="1"/>
          <p:nvPr/>
        </p:nvSpPr>
        <p:spPr>
          <a:xfrm>
            <a:off x="790575" y="552450"/>
            <a:ext cx="1044710" cy="369332"/>
          </a:xfrm>
          <a:prstGeom prst="rect">
            <a:avLst/>
          </a:prstGeom>
          <a:noFill/>
        </p:spPr>
        <p:txBody>
          <a:bodyPr wrap="none" rtlCol="0">
            <a:spAutoFit/>
          </a:bodyPr>
          <a:lstStyle/>
          <a:p>
            <a:r>
              <a:rPr lang="en-US" dirty="0"/>
              <a:t>CT image</a:t>
            </a:r>
          </a:p>
        </p:txBody>
      </p:sp>
      <p:sp>
        <p:nvSpPr>
          <p:cNvPr id="9" name="TextBox 8"/>
          <p:cNvSpPr txBox="1"/>
          <p:nvPr/>
        </p:nvSpPr>
        <p:spPr>
          <a:xfrm>
            <a:off x="3083054" y="552450"/>
            <a:ext cx="2067938" cy="369332"/>
          </a:xfrm>
          <a:prstGeom prst="rect">
            <a:avLst/>
          </a:prstGeom>
          <a:noFill/>
        </p:spPr>
        <p:txBody>
          <a:bodyPr wrap="none" rtlCol="0">
            <a:spAutoFit/>
          </a:bodyPr>
          <a:lstStyle/>
          <a:p>
            <a:r>
              <a:rPr lang="en-US" dirty="0"/>
              <a:t>Digital rock network</a:t>
            </a:r>
          </a:p>
        </p:txBody>
      </p:sp>
      <p:sp>
        <p:nvSpPr>
          <p:cNvPr id="10" name="TextBox 9"/>
          <p:cNvSpPr txBox="1"/>
          <p:nvPr/>
        </p:nvSpPr>
        <p:spPr>
          <a:xfrm>
            <a:off x="5793035" y="552450"/>
            <a:ext cx="2648161" cy="369332"/>
          </a:xfrm>
          <a:prstGeom prst="rect">
            <a:avLst/>
          </a:prstGeom>
          <a:noFill/>
        </p:spPr>
        <p:txBody>
          <a:bodyPr wrap="none" rtlCol="0">
            <a:spAutoFit/>
          </a:bodyPr>
          <a:lstStyle/>
          <a:p>
            <a:r>
              <a:rPr lang="en-US" dirty="0"/>
              <a:t>Pore attributes calculation</a:t>
            </a:r>
          </a:p>
        </p:txBody>
      </p:sp>
      <p:sp>
        <p:nvSpPr>
          <p:cNvPr id="11" name="TextBox 10"/>
          <p:cNvSpPr txBox="1"/>
          <p:nvPr/>
        </p:nvSpPr>
        <p:spPr>
          <a:xfrm>
            <a:off x="8835533" y="552450"/>
            <a:ext cx="2816012" cy="646331"/>
          </a:xfrm>
          <a:prstGeom prst="rect">
            <a:avLst/>
          </a:prstGeom>
          <a:noFill/>
        </p:spPr>
        <p:txBody>
          <a:bodyPr wrap="square" rtlCol="0">
            <a:spAutoFit/>
          </a:bodyPr>
          <a:lstStyle/>
          <a:p>
            <a:r>
              <a:rPr lang="en-US" dirty="0"/>
              <a:t>Pore size distribution and comparison with NMR data</a:t>
            </a:r>
          </a:p>
        </p:txBody>
      </p:sp>
      <p:sp>
        <p:nvSpPr>
          <p:cNvPr id="13" name="Rectangle 12"/>
          <p:cNvSpPr/>
          <p:nvPr/>
        </p:nvSpPr>
        <p:spPr>
          <a:xfrm>
            <a:off x="5536187" y="3764252"/>
            <a:ext cx="3605924" cy="307777"/>
          </a:xfrm>
          <a:prstGeom prst="rect">
            <a:avLst/>
          </a:prstGeom>
        </p:spPr>
        <p:txBody>
          <a:bodyPr wrap="none">
            <a:spAutoFit/>
          </a:bodyPr>
          <a:lstStyle/>
          <a:p>
            <a:pPr algn="ctr" fontAlgn="b"/>
            <a:r>
              <a:rPr lang="en-US" sz="1400" dirty="0"/>
              <a:t>Characteristic </a:t>
            </a:r>
            <a:r>
              <a:rPr lang="en-US" sz="1400" b="1" dirty="0"/>
              <a:t>r</a:t>
            </a:r>
            <a:r>
              <a:rPr lang="en-US" sz="1400" b="1" baseline="-25000" dirty="0"/>
              <a:t>1 </a:t>
            </a:r>
            <a:r>
              <a:rPr lang="en-US" sz="1400" b="1" dirty="0"/>
              <a:t>L</a:t>
            </a:r>
            <a:r>
              <a:rPr lang="en-US" sz="1400" b="1" baseline="-25000" dirty="0"/>
              <a:t>2</a:t>
            </a:r>
            <a:r>
              <a:rPr lang="en-US" sz="1400" b="1" dirty="0"/>
              <a:t> </a:t>
            </a:r>
            <a:r>
              <a:rPr lang="en-US" sz="1400" dirty="0"/>
              <a:t>can be derived but not </a:t>
            </a:r>
            <a:r>
              <a:rPr lang="en-US" sz="1400" b="1" dirty="0"/>
              <a:t>r</a:t>
            </a:r>
            <a:r>
              <a:rPr lang="en-US" sz="1400" b="1" baseline="-25000" dirty="0"/>
              <a:t>2</a:t>
            </a:r>
            <a:r>
              <a:rPr lang="en-US" sz="1400" b="1" dirty="0"/>
              <a:t> L</a:t>
            </a:r>
            <a:r>
              <a:rPr lang="en-US" sz="1400" b="1" baseline="-25000" dirty="0"/>
              <a:t>1 </a:t>
            </a:r>
          </a:p>
        </p:txBody>
      </p:sp>
      <p:sp>
        <p:nvSpPr>
          <p:cNvPr id="14" name="Rectangle 13"/>
          <p:cNvSpPr/>
          <p:nvPr/>
        </p:nvSpPr>
        <p:spPr>
          <a:xfrm>
            <a:off x="512411" y="3502642"/>
            <a:ext cx="3377848" cy="261610"/>
          </a:xfrm>
          <a:prstGeom prst="rect">
            <a:avLst/>
          </a:prstGeom>
        </p:spPr>
        <p:txBody>
          <a:bodyPr wrap="none">
            <a:spAutoFit/>
          </a:bodyPr>
          <a:lstStyle/>
          <a:p>
            <a:r>
              <a:rPr lang="en-US" altLang="zh-CN" sz="1100" dirty="0">
                <a:ea typeface="SimSun" pitchFamily="2" charset="-122"/>
              </a:rPr>
              <a:t>CT image and digital rock network credit to James Colgin</a:t>
            </a:r>
            <a:endParaRPr lang="en-US" sz="1100" dirty="0"/>
          </a:p>
        </p:txBody>
      </p:sp>
      <p:pic>
        <p:nvPicPr>
          <p:cNvPr id="15" name="Picture 14">
            <a:extLst>
              <a:ext uri="{FF2B5EF4-FFF2-40B4-BE49-F238E27FC236}">
                <a16:creationId xmlns:a16="http://schemas.microsoft.com/office/drawing/2014/main" id="{667A8689-AA46-4428-9C5A-B0F16EF082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9304" y="937380"/>
            <a:ext cx="5061199" cy="5163593"/>
          </a:xfrm>
          <a:prstGeom prst="rect">
            <a:avLst/>
          </a:prstGeom>
        </p:spPr>
      </p:pic>
      <p:sp>
        <p:nvSpPr>
          <p:cNvPr id="3" name="Footer Placeholder 2"/>
          <p:cNvSpPr>
            <a:spLocks noGrp="1"/>
          </p:cNvSpPr>
          <p:nvPr>
            <p:ph type="ftr" sz="quarter" idx="11"/>
          </p:nvPr>
        </p:nvSpPr>
        <p:spPr/>
        <p:txBody>
          <a:bodyPr/>
          <a:lstStyle/>
          <a:p>
            <a:r>
              <a:rPr lang="en-US"/>
              <a:t>SEG 2018</a:t>
            </a:r>
            <a:endParaRPr lang="en-US" dirty="0"/>
          </a:p>
        </p:txBody>
      </p:sp>
      <p:sp>
        <p:nvSpPr>
          <p:cNvPr id="12" name="Slide Number Placeholder 11"/>
          <p:cNvSpPr>
            <a:spLocks noGrp="1"/>
          </p:cNvSpPr>
          <p:nvPr>
            <p:ph type="sldNum" sz="quarter" idx="12"/>
          </p:nvPr>
        </p:nvSpPr>
        <p:spPr/>
        <p:txBody>
          <a:bodyPr/>
          <a:lstStyle/>
          <a:p>
            <a:fld id="{774D434B-DAEE-4BF7-9AC2-3255F1C5EAFE}" type="slidenum">
              <a:rPr lang="en-US" smtClean="0"/>
              <a:pPr/>
              <a:t>15</a:t>
            </a:fld>
            <a:endParaRPr lang="en-US" dirty="0"/>
          </a:p>
        </p:txBody>
      </p:sp>
    </p:spTree>
    <p:extLst>
      <p:ext uri="{BB962C8B-B14F-4D97-AF65-F5344CB8AC3E}">
        <p14:creationId xmlns:p14="http://schemas.microsoft.com/office/powerpoint/2010/main" val="38419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forward model</a:t>
            </a:r>
          </a:p>
        </p:txBody>
      </p:sp>
      <mc:AlternateContent xmlns:mc="http://schemas.openxmlformats.org/markup-compatibility/2006" xmlns:a14="http://schemas.microsoft.com/office/drawing/2010/main">
        <mc:Choice Requires="a14">
          <p:sp>
            <p:nvSpPr>
              <p:cNvPr id="5" name="TextBox 4"/>
              <p:cNvSpPr txBox="1"/>
              <p:nvPr/>
            </p:nvSpPr>
            <p:spPr>
              <a:xfrm>
                <a:off x="2226376" y="1272745"/>
                <a:ext cx="3716274" cy="6695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ea typeface="Cambria Math" panose="02040503050406030204" pitchFamily="18" charset="0"/>
                                        </a:rPr>
                                        <m:t>0</m:t>
                                      </m:r>
                                    </m:sup>
                                  </m:s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ea typeface="Cambria Math" panose="02040503050406030204" pitchFamily="18" charset="0"/>
                                    </a:rPr>
                                    <m:t>∞</m:t>
                                  </m:r>
                                </m:sup>
                              </m:sSup>
                            </m:e>
                          </m:d>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𝑖</m:t>
                              </m:r>
                            </m:sub>
                          </m:sSub>
                        </m:num>
                        <m:den>
                          <m:r>
                            <a:rPr lang="en-US" sz="2000" i="1">
                              <a:latin typeface="Cambria Math" panose="02040503050406030204" pitchFamily="18" charset="0"/>
                            </a:rPr>
                            <m:t>1+</m:t>
                          </m:r>
                          <m:r>
                            <a:rPr lang="en-US" sz="2000" i="1">
                              <a:latin typeface="Cambria Math" panose="02040503050406030204" pitchFamily="18" charset="0"/>
                            </a:rPr>
                            <m:t>𝑖</m:t>
                          </m:r>
                          <m:r>
                            <a:rPr lang="en-US" sz="2000" i="1">
                              <a:latin typeface="Cambria Math" panose="02040503050406030204" pitchFamily="18" charset="0"/>
                              <a:ea typeface="Cambria Math" panose="02040503050406030204" pitchFamily="18" charset="0"/>
                            </a:rPr>
                            <m:t>𝜔</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𝜏</m:t>
                              </m:r>
                            </m:e>
                            <m:sub>
                              <m:r>
                                <a:rPr lang="en-US" sz="2000" i="1">
                                  <a:latin typeface="Cambria Math" panose="02040503050406030204" pitchFamily="18" charset="0"/>
                                  <a:ea typeface="Cambria Math" panose="02040503050406030204" pitchFamily="18" charset="0"/>
                                </a:rPr>
                                <m:t>𝑖</m:t>
                              </m:r>
                            </m:sub>
                          </m:sSub>
                        </m:den>
                      </m:f>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ea typeface="Cambria Math" panose="02040503050406030204" pitchFamily="18" charset="0"/>
                        </a:rPr>
                        <m:t>𝜔</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𝜀</m:t>
                          </m:r>
                        </m:e>
                        <m:sub>
                          <m:r>
                            <a:rPr lang="en-US" sz="2000" i="1">
                              <a:latin typeface="Cambria Math" panose="02040503050406030204" pitchFamily="18" charset="0"/>
                              <a:ea typeface="Cambria Math" panose="02040503050406030204" pitchFamily="18" charset="0"/>
                            </a:rPr>
                            <m:t>𝑖𝑛𝑓</m:t>
                          </m:r>
                        </m:sub>
                      </m:sSub>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2226376" y="1272745"/>
                <a:ext cx="3716274" cy="669542"/>
              </a:xfrm>
              <a:prstGeom prst="rect">
                <a:avLst/>
              </a:prstGeom>
              <a:blipFill>
                <a:blip r:embed="rId2"/>
                <a:stretch>
                  <a:fillRect/>
                </a:stretch>
              </a:blipFill>
            </p:spPr>
            <p:txBody>
              <a:bodyPr/>
              <a:lstStyle/>
              <a:p>
                <a:r>
                  <a:rPr lang="en-US">
                    <a:noFill/>
                  </a:rPr>
                  <a:t> </a:t>
                </a:r>
              </a:p>
            </p:txBody>
          </p:sp>
        </mc:Fallback>
      </mc:AlternateContent>
      <p:sp>
        <p:nvSpPr>
          <p:cNvPr id="6" name="Rectangle 5"/>
          <p:cNvSpPr/>
          <p:nvPr/>
        </p:nvSpPr>
        <p:spPr>
          <a:xfrm>
            <a:off x="2827027" y="1221754"/>
            <a:ext cx="2124075" cy="82038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000"/>
          </a:p>
        </p:txBody>
      </p:sp>
      <p:sp>
        <p:nvSpPr>
          <p:cNvPr id="7" name="TextBox 6"/>
          <p:cNvSpPr txBox="1"/>
          <p:nvPr/>
        </p:nvSpPr>
        <p:spPr>
          <a:xfrm>
            <a:off x="2892497" y="2140466"/>
            <a:ext cx="1859292" cy="400110"/>
          </a:xfrm>
          <a:prstGeom prst="rect">
            <a:avLst/>
          </a:prstGeom>
          <a:noFill/>
        </p:spPr>
        <p:txBody>
          <a:bodyPr wrap="none" rtlCol="0">
            <a:spAutoFit/>
          </a:bodyPr>
          <a:lstStyle/>
          <a:p>
            <a:r>
              <a:rPr lang="en-US" sz="2000" dirty="0">
                <a:solidFill>
                  <a:srgbClr val="FFC000"/>
                </a:solidFill>
              </a:rPr>
              <a:t>EDL Polarization</a:t>
            </a:r>
          </a:p>
        </p:txBody>
      </p:sp>
      <p:sp>
        <p:nvSpPr>
          <p:cNvPr id="8" name="Rectangle 7"/>
          <p:cNvSpPr/>
          <p:nvPr/>
        </p:nvSpPr>
        <p:spPr>
          <a:xfrm>
            <a:off x="5193328" y="1221754"/>
            <a:ext cx="724443" cy="820385"/>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000"/>
          </a:p>
        </p:txBody>
      </p:sp>
      <p:sp>
        <p:nvSpPr>
          <p:cNvPr id="9" name="TextBox 8"/>
          <p:cNvSpPr txBox="1"/>
          <p:nvPr/>
        </p:nvSpPr>
        <p:spPr>
          <a:xfrm>
            <a:off x="5051353" y="2140466"/>
            <a:ext cx="2455609" cy="400110"/>
          </a:xfrm>
          <a:prstGeom prst="rect">
            <a:avLst/>
          </a:prstGeom>
          <a:noFill/>
        </p:spPr>
        <p:txBody>
          <a:bodyPr wrap="none" rtlCol="0">
            <a:spAutoFit/>
          </a:bodyPr>
          <a:lstStyle/>
          <a:p>
            <a:r>
              <a:rPr lang="en-US" sz="2000" dirty="0">
                <a:solidFill>
                  <a:srgbClr val="00B0F0"/>
                </a:solidFill>
              </a:rPr>
              <a:t>Dielectric Polarization</a:t>
            </a:r>
          </a:p>
        </p:txBody>
      </p:sp>
      <mc:AlternateContent xmlns:mc="http://schemas.openxmlformats.org/markup-compatibility/2006" xmlns:a14="http://schemas.microsoft.com/office/drawing/2010/main">
        <mc:Choice Requires="a14">
          <p:sp>
            <p:nvSpPr>
              <p:cNvPr id="4" name="Rectangle 3"/>
              <p:cNvSpPr/>
              <p:nvPr/>
            </p:nvSpPr>
            <p:spPr>
              <a:xfrm>
                <a:off x="6486616" y="1169340"/>
                <a:ext cx="4572000" cy="954107"/>
              </a:xfrm>
              <a:prstGeom prst="rect">
                <a:avLst/>
              </a:prstGeom>
            </p:spPr>
            <p:txBody>
              <a:bodyPr>
                <a:spAutoFit/>
              </a:bodyPr>
              <a:lstStyle/>
              <a:p>
                <a14:m>
                  <m:oMath xmlns:m="http://schemas.openxmlformats.org/officeDocument/2006/math">
                    <m:sSub>
                      <m:sSubPr>
                        <m:ctrlPr>
                          <a:rPr lang="en-US" sz="1400" i="1" dirty="0">
                            <a:latin typeface="Cambria Math" panose="02040503050406030204" pitchFamily="18" charset="0"/>
                          </a:rPr>
                        </m:ctrlPr>
                      </m:sSubPr>
                      <m:e>
                        <m:r>
                          <m:rPr>
                            <m:nor/>
                          </m:rPr>
                          <a:rPr lang="en-US" sz="1400" dirty="0"/>
                          <m:t>ε</m:t>
                        </m:r>
                      </m:e>
                      <m:sub>
                        <m:r>
                          <m:rPr>
                            <m:sty m:val="p"/>
                          </m:rPr>
                          <a:rPr lang="en-US" sz="1400" i="1" dirty="0">
                            <a:latin typeface="Cambria Math" panose="02040503050406030204" pitchFamily="18" charset="0"/>
                          </a:rPr>
                          <m:t>inf</m:t>
                        </m:r>
                        <m:r>
                          <a:rPr lang="en-US" sz="1400" i="1" dirty="0">
                            <a:latin typeface="Cambria Math" panose="02040503050406030204" pitchFamily="18" charset="0"/>
                          </a:rPr>
                          <m:t>⁡</m:t>
                        </m:r>
                      </m:sub>
                    </m:sSub>
                  </m:oMath>
                </a14:m>
                <a:r>
                  <a:rPr lang="en-US" sz="1400" dirty="0"/>
                  <a:t> dielectric permittivity </a:t>
                </a:r>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𝜎</m:t>
                        </m:r>
                      </m:e>
                      <m:sub>
                        <m:r>
                          <a:rPr lang="en-US" sz="1400" i="1">
                            <a:latin typeface="Cambria Math" panose="02040503050406030204" pitchFamily="18" charset="0"/>
                            <a:ea typeface="Cambria Math" panose="02040503050406030204" pitchFamily="18" charset="0"/>
                          </a:rPr>
                          <m:t>∞</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𝜎</m:t>
                        </m:r>
                      </m:e>
                      <m:sub>
                        <m:r>
                          <a:rPr lang="en-US" sz="1400" i="1">
                            <a:latin typeface="Cambria Math" panose="02040503050406030204" pitchFamily="18" charset="0"/>
                            <a:ea typeface="Cambria Math" panose="02040503050406030204" pitchFamily="18" charset="0"/>
                          </a:rPr>
                          <m:t>0</m:t>
                        </m:r>
                      </m:sub>
                    </m:sSub>
                  </m:oMath>
                </a14:m>
                <a:r>
                  <a:rPr lang="en-US" sz="1400" dirty="0"/>
                  <a:t> real conductivities at low-high-frequency limits</a:t>
                </a:r>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oMath>
                </a14:m>
                <a:r>
                  <a:rPr lang="en-US" sz="1400" dirty="0"/>
                  <a:t> relative intensity function </a:t>
                </a:r>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𝜏</m:t>
                        </m:r>
                      </m:e>
                      <m:sub>
                        <m:r>
                          <a:rPr lang="en-US" sz="1400" i="1">
                            <a:latin typeface="Cambria Math" panose="02040503050406030204" pitchFamily="18" charset="0"/>
                          </a:rPr>
                          <m:t>𝑖</m:t>
                        </m:r>
                      </m:sub>
                    </m:sSub>
                  </m:oMath>
                </a14:m>
                <a:r>
                  <a:rPr lang="en-US" sz="1400" dirty="0"/>
                  <a:t> time constant related to pore size</a:t>
                </a:r>
              </a:p>
            </p:txBody>
          </p:sp>
        </mc:Choice>
        <mc:Fallback xmlns="">
          <p:sp>
            <p:nvSpPr>
              <p:cNvPr id="4" name="Rectangle 3"/>
              <p:cNvSpPr>
                <a:spLocks noRot="1" noChangeAspect="1" noMove="1" noResize="1" noEditPoints="1" noAdjustHandles="1" noChangeArrowheads="1" noChangeShapeType="1" noTextEdit="1"/>
              </p:cNvSpPr>
              <p:nvPr/>
            </p:nvSpPr>
            <p:spPr>
              <a:xfrm>
                <a:off x="6486616" y="1169340"/>
                <a:ext cx="4572000" cy="954107"/>
              </a:xfrm>
              <a:prstGeom prst="rect">
                <a:avLst/>
              </a:prstGeom>
              <a:blipFill>
                <a:blip r:embed="rId3"/>
                <a:stretch>
                  <a:fillRect t="-1282" b="-5769"/>
                </a:stretch>
              </a:blipFill>
            </p:spPr>
            <p:txBody>
              <a:bodyPr/>
              <a:lstStyle/>
              <a:p>
                <a:r>
                  <a:rPr lang="en-US">
                    <a:noFill/>
                  </a:rPr>
                  <a:t> </a:t>
                </a:r>
              </a:p>
            </p:txBody>
          </p:sp>
        </mc:Fallback>
      </mc:AlternateContent>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292" y="2706815"/>
            <a:ext cx="4296168" cy="3287586"/>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84513" y="2686076"/>
            <a:ext cx="4350374" cy="3329064"/>
          </a:xfrm>
          <a:prstGeom prst="rect">
            <a:avLst/>
          </a:prstGeom>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5432" t="1470" r="9877"/>
          <a:stretch/>
        </p:blipFill>
        <p:spPr>
          <a:xfrm>
            <a:off x="8256238" y="2700956"/>
            <a:ext cx="3861328" cy="3314184"/>
          </a:xfrm>
          <a:prstGeom prst="rect">
            <a:avLst/>
          </a:prstGeom>
        </p:spPr>
      </p:pic>
      <p:sp>
        <p:nvSpPr>
          <p:cNvPr id="3" name="Footer Placeholder 2"/>
          <p:cNvSpPr>
            <a:spLocks noGrp="1"/>
          </p:cNvSpPr>
          <p:nvPr>
            <p:ph type="ftr" sz="quarter" idx="11"/>
          </p:nvPr>
        </p:nvSpPr>
        <p:spPr/>
        <p:txBody>
          <a:bodyPr/>
          <a:lstStyle/>
          <a:p>
            <a:r>
              <a:rPr lang="en-US"/>
              <a:t>SEG 2018</a:t>
            </a:r>
          </a:p>
        </p:txBody>
      </p:sp>
      <p:sp>
        <p:nvSpPr>
          <p:cNvPr id="12" name="Slide Number Placeholder 11"/>
          <p:cNvSpPr>
            <a:spLocks noGrp="1"/>
          </p:cNvSpPr>
          <p:nvPr>
            <p:ph type="sldNum" sz="quarter" idx="12"/>
          </p:nvPr>
        </p:nvSpPr>
        <p:spPr/>
        <p:txBody>
          <a:bodyPr/>
          <a:lstStyle/>
          <a:p>
            <a:fld id="{48265A45-E6A4-4653-9C66-6A1A04113506}" type="slidenum">
              <a:rPr lang="en-US" smtClean="0"/>
              <a:pPr/>
              <a:t>16</a:t>
            </a:fld>
            <a:endParaRPr lang="en-US"/>
          </a:p>
        </p:txBody>
      </p:sp>
    </p:spTree>
    <p:extLst>
      <p:ext uri="{BB962C8B-B14F-4D97-AF65-F5344CB8AC3E}">
        <p14:creationId xmlns:p14="http://schemas.microsoft.com/office/powerpoint/2010/main" val="69496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p:cNvSpPr txBox="1"/>
              <p:nvPr/>
            </p:nvSpPr>
            <p:spPr>
              <a:xfrm>
                <a:off x="2188277" y="1244170"/>
                <a:ext cx="7464159" cy="7982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ea typeface="Cambria Math" panose="02040503050406030204" pitchFamily="18" charset="0"/>
                                        </a:rPr>
                                        <m:t>0</m:t>
                                      </m:r>
                                    </m:sup>
                                  </m:s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ea typeface="Cambria Math" panose="02040503050406030204" pitchFamily="18" charset="0"/>
                                    </a:rPr>
                                    <m:t>∞</m:t>
                                  </m:r>
                                </m:sup>
                              </m:sSup>
                            </m:e>
                          </m:d>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𝑖</m:t>
                              </m:r>
                            </m:sub>
                          </m:sSub>
                        </m:num>
                        <m:den>
                          <m:r>
                            <a:rPr lang="en-US" sz="2000" i="1">
                              <a:latin typeface="Cambria Math" panose="02040503050406030204" pitchFamily="18" charset="0"/>
                            </a:rPr>
                            <m:t>1+</m:t>
                          </m:r>
                          <m:r>
                            <a:rPr lang="en-US" sz="2000" i="1">
                              <a:latin typeface="Cambria Math" panose="02040503050406030204" pitchFamily="18" charset="0"/>
                            </a:rPr>
                            <m:t>𝑖</m:t>
                          </m:r>
                          <m:r>
                            <a:rPr lang="en-US" sz="2000" i="1">
                              <a:latin typeface="Cambria Math" panose="02040503050406030204" pitchFamily="18" charset="0"/>
                              <a:ea typeface="Cambria Math" panose="02040503050406030204" pitchFamily="18" charset="0"/>
                            </a:rPr>
                            <m:t>𝜔</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𝜏</m:t>
                              </m:r>
                            </m:e>
                            <m:sub>
                              <m:r>
                                <a:rPr lang="en-US" sz="2000" i="1">
                                  <a:latin typeface="Cambria Math" panose="02040503050406030204" pitchFamily="18" charset="0"/>
                                  <a:ea typeface="Cambria Math" panose="02040503050406030204" pitchFamily="18" charset="0"/>
                                </a:rPr>
                                <m:t>𝑖</m:t>
                              </m:r>
                            </m:sub>
                          </m:sSub>
                        </m:den>
                      </m:f>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𝑒𝑓𝑓</m:t>
                          </m:r>
                        </m:sub>
                        <m:sup>
                          <m:r>
                            <a:rPr lang="en-US" sz="2000" i="1">
                              <a:latin typeface="Cambria Math" panose="02040503050406030204" pitchFamily="18" charset="0"/>
                            </a:rPr>
                            <m:t>0</m:t>
                          </m:r>
                        </m:sup>
                      </m:sSubSup>
                      <m:d>
                        <m:dPr>
                          <m:begChr m:val="["/>
                          <m:endChr m:val="]"/>
                          <m:ctrlPr>
                            <a:rPr lang="en-US" sz="2000" i="1">
                              <a:latin typeface="Cambria Math" panose="02040503050406030204" pitchFamily="18" charset="0"/>
                            </a:rPr>
                          </m:ctrlPr>
                        </m:dPr>
                        <m:e>
                          <m:r>
                            <a:rPr lang="en-US" sz="2000" i="1">
                              <a:latin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𝜂</m:t>
                              </m:r>
                            </m:e>
                            <m:sub>
                              <m:r>
                                <a:rPr lang="en-US" sz="2000" i="1">
                                  <a:latin typeface="Cambria Math" panose="02040503050406030204" pitchFamily="18" charset="0"/>
                                </a:rPr>
                                <m:t>0</m:t>
                              </m:r>
                            </m:sub>
                          </m:sSub>
                          <m:d>
                            <m:dPr>
                              <m:ctrlPr>
                                <a:rPr lang="en-US" sz="2000" i="1">
                                  <a:latin typeface="Cambria Math" panose="02040503050406030204" pitchFamily="18" charset="0"/>
                                </a:rPr>
                              </m:ctrlPr>
                            </m:dPr>
                            <m:e>
                              <m:r>
                                <a:rPr lang="en-US" sz="2000" i="1">
                                  <a:latin typeface="Cambria Math" panose="02040503050406030204" pitchFamily="18" charset="0"/>
                                </a:rPr>
                                <m:t>1−</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1+</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𝑖</m:t>
                                      </m:r>
                                      <m:r>
                                        <a:rPr lang="en-US" sz="2000" i="1">
                                          <a:latin typeface="Cambria Math" panose="02040503050406030204" pitchFamily="18" charset="0"/>
                                          <a:ea typeface="Cambria Math" panose="02040503050406030204" pitchFamily="18" charset="0"/>
                                        </a:rPr>
                                        <m:t>𝜔</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𝜏</m:t>
                                          </m:r>
                                        </m:e>
                                        <m:sub>
                                          <m:r>
                                            <a:rPr lang="en-US" sz="2000" i="1">
                                              <a:latin typeface="Cambria Math" panose="02040503050406030204" pitchFamily="18" charset="0"/>
                                              <a:ea typeface="Cambria Math" panose="02040503050406030204" pitchFamily="18" charset="0"/>
                                            </a:rPr>
                                            <m:t>0</m:t>
                                          </m:r>
                                        </m:sub>
                                      </m:sSub>
                                    </m:e>
                                  </m:rad>
                                </m:den>
                              </m:f>
                            </m:e>
                          </m:d>
                        </m:e>
                      </m:d>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ea typeface="Cambria Math" panose="02040503050406030204" pitchFamily="18" charset="0"/>
                        </a:rPr>
                        <m:t>𝜔</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𝜀</m:t>
                          </m:r>
                        </m:e>
                        <m:sub>
                          <m:r>
                            <a:rPr lang="en-US" sz="2000" i="1">
                              <a:latin typeface="Cambria Math" panose="02040503050406030204" pitchFamily="18" charset="0"/>
                              <a:ea typeface="Cambria Math" panose="02040503050406030204" pitchFamily="18" charset="0"/>
                            </a:rPr>
                            <m:t>𝑖𝑛𝑓</m:t>
                          </m:r>
                        </m:sub>
                      </m:sSub>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188277" y="1244170"/>
                <a:ext cx="7464159" cy="798232"/>
              </a:xfrm>
              <a:prstGeom prst="rect">
                <a:avLst/>
              </a:prstGeom>
              <a:blipFill>
                <a:blip r:embed="rId2"/>
                <a:stretch>
                  <a:fillRect/>
                </a:stretch>
              </a:blipFill>
            </p:spPr>
            <p:txBody>
              <a:bodyPr/>
              <a:lstStyle/>
              <a:p>
                <a:r>
                  <a:rPr lang="en-US">
                    <a:noFill/>
                  </a:rPr>
                  <a:t> </a:t>
                </a:r>
              </a:p>
            </p:txBody>
          </p:sp>
        </mc:Fallback>
      </mc:AlternateContent>
      <p:sp>
        <p:nvSpPr>
          <p:cNvPr id="17" name="Rectangle 16"/>
          <p:cNvSpPr/>
          <p:nvPr/>
        </p:nvSpPr>
        <p:spPr>
          <a:xfrm>
            <a:off x="2829119" y="1269379"/>
            <a:ext cx="2124075" cy="77152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000"/>
          </a:p>
        </p:txBody>
      </p:sp>
      <p:sp>
        <p:nvSpPr>
          <p:cNvPr id="18" name="TextBox 17"/>
          <p:cNvSpPr txBox="1"/>
          <p:nvPr/>
        </p:nvSpPr>
        <p:spPr>
          <a:xfrm>
            <a:off x="2854397" y="2140466"/>
            <a:ext cx="1859292" cy="400110"/>
          </a:xfrm>
          <a:prstGeom prst="rect">
            <a:avLst/>
          </a:prstGeom>
          <a:noFill/>
        </p:spPr>
        <p:txBody>
          <a:bodyPr wrap="none" rtlCol="0">
            <a:spAutoFit/>
          </a:bodyPr>
          <a:lstStyle/>
          <a:p>
            <a:r>
              <a:rPr lang="en-US" sz="2000" dirty="0">
                <a:solidFill>
                  <a:srgbClr val="FFC000"/>
                </a:solidFill>
              </a:rPr>
              <a:t>EDL Polarization</a:t>
            </a:r>
          </a:p>
        </p:txBody>
      </p:sp>
      <p:sp>
        <p:nvSpPr>
          <p:cNvPr id="19" name="Rectangle 18"/>
          <p:cNvSpPr/>
          <p:nvPr/>
        </p:nvSpPr>
        <p:spPr>
          <a:xfrm>
            <a:off x="8843305" y="1240804"/>
            <a:ext cx="724443" cy="771525"/>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000"/>
          </a:p>
        </p:txBody>
      </p:sp>
      <p:sp>
        <p:nvSpPr>
          <p:cNvPr id="20" name="TextBox 19"/>
          <p:cNvSpPr txBox="1"/>
          <p:nvPr/>
        </p:nvSpPr>
        <p:spPr>
          <a:xfrm>
            <a:off x="8044087" y="2140466"/>
            <a:ext cx="2562225" cy="400110"/>
          </a:xfrm>
          <a:prstGeom prst="rect">
            <a:avLst/>
          </a:prstGeom>
          <a:noFill/>
        </p:spPr>
        <p:txBody>
          <a:bodyPr wrap="square" rtlCol="0">
            <a:spAutoFit/>
          </a:bodyPr>
          <a:lstStyle/>
          <a:p>
            <a:r>
              <a:rPr lang="en-US" sz="2000" dirty="0">
                <a:solidFill>
                  <a:srgbClr val="00B0F0"/>
                </a:solidFill>
              </a:rPr>
              <a:t>Dielectric Polarization</a:t>
            </a:r>
          </a:p>
        </p:txBody>
      </p:sp>
      <p:sp>
        <p:nvSpPr>
          <p:cNvPr id="21" name="Rectangle 20"/>
          <p:cNvSpPr/>
          <p:nvPr/>
        </p:nvSpPr>
        <p:spPr>
          <a:xfrm>
            <a:off x="5196921" y="1245177"/>
            <a:ext cx="3364224" cy="811125"/>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000"/>
          </a:p>
        </p:txBody>
      </p:sp>
      <p:sp>
        <p:nvSpPr>
          <p:cNvPr id="22" name="TextBox 21"/>
          <p:cNvSpPr txBox="1"/>
          <p:nvPr/>
        </p:nvSpPr>
        <p:spPr>
          <a:xfrm>
            <a:off x="5330151" y="2140466"/>
            <a:ext cx="2628284" cy="400110"/>
          </a:xfrm>
          <a:prstGeom prst="rect">
            <a:avLst/>
          </a:prstGeom>
          <a:noFill/>
        </p:spPr>
        <p:txBody>
          <a:bodyPr wrap="none" rtlCol="0">
            <a:spAutoFit/>
          </a:bodyPr>
          <a:lstStyle/>
          <a:p>
            <a:r>
              <a:rPr lang="en-US" sz="2000" dirty="0">
                <a:solidFill>
                  <a:srgbClr val="92D050"/>
                </a:solidFill>
              </a:rPr>
              <a:t>Membrane Polarization</a:t>
            </a:r>
          </a:p>
        </p:txBody>
      </p:sp>
      <mc:AlternateContent xmlns:mc="http://schemas.openxmlformats.org/markup-compatibility/2006" xmlns:a14="http://schemas.microsoft.com/office/drawing/2010/main">
        <mc:Choice Requires="a14">
          <p:sp>
            <p:nvSpPr>
              <p:cNvPr id="4" name="Rectangle 3"/>
              <p:cNvSpPr/>
              <p:nvPr/>
            </p:nvSpPr>
            <p:spPr>
              <a:xfrm>
                <a:off x="5482728" y="244997"/>
                <a:ext cx="4389600" cy="774892"/>
              </a:xfrm>
              <a:prstGeom prst="rect">
                <a:avLst/>
              </a:prstGeom>
            </p:spPr>
            <p:txBody>
              <a:bodyPr wrap="none">
                <a:spAutoFit/>
              </a:bodyPr>
              <a:lstStyle/>
              <a:p>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a:rPr lang="en-US" sz="1400" i="1">
                            <a:latin typeface="Cambria Math" panose="02040503050406030204" pitchFamily="18" charset="0"/>
                          </a:rPr>
                          <m:t>𝑒𝑓𝑓</m:t>
                        </m:r>
                      </m:sub>
                      <m:sup>
                        <m:r>
                          <a:rPr lang="en-US" sz="1400" i="1">
                            <a:latin typeface="Cambria Math" panose="02040503050406030204" pitchFamily="18" charset="0"/>
                          </a:rPr>
                          <m:t>0</m:t>
                        </m:r>
                      </m:sup>
                    </m:sSubSup>
                  </m:oMath>
                </a14:m>
                <a:r>
                  <a:rPr lang="en-US" sz="1400" dirty="0"/>
                  <a:t> effective DC conductivity</a:t>
                </a:r>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𝜂</m:t>
                        </m:r>
                      </m:e>
                      <m:sub>
                        <m:r>
                          <a:rPr lang="en-US" sz="1400" i="1">
                            <a:latin typeface="Cambria Math" panose="02040503050406030204" pitchFamily="18" charset="0"/>
                          </a:rPr>
                          <m:t>0</m:t>
                        </m:r>
                      </m:sub>
                    </m:sSub>
                  </m:oMath>
                </a14:m>
                <a:r>
                  <a:rPr lang="en-US" sz="1400" dirty="0"/>
                  <a:t> dimensionless polarizability</a:t>
                </a:r>
              </a:p>
              <a:p>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𝜏</m:t>
                        </m:r>
                      </m:e>
                      <m:sub>
                        <m:r>
                          <a:rPr lang="en-US" sz="1400" i="1">
                            <a:latin typeface="Cambria Math" panose="02040503050406030204" pitchFamily="18" charset="0"/>
                            <a:ea typeface="Cambria Math" panose="02040503050406030204" pitchFamily="18" charset="0"/>
                          </a:rPr>
                          <m:t>0</m:t>
                        </m:r>
                      </m:sub>
                    </m:sSub>
                  </m:oMath>
                </a14:m>
                <a:r>
                  <a:rPr lang="en-US" sz="1400" dirty="0"/>
                  <a:t> modified time constant related to two relaxation zones</a:t>
                </a:r>
              </a:p>
            </p:txBody>
          </p:sp>
        </mc:Choice>
        <mc:Fallback xmlns="">
          <p:sp>
            <p:nvSpPr>
              <p:cNvPr id="4" name="Rectangle 3"/>
              <p:cNvSpPr>
                <a:spLocks noRot="1" noChangeAspect="1" noMove="1" noResize="1" noEditPoints="1" noAdjustHandles="1" noChangeArrowheads="1" noChangeShapeType="1" noTextEdit="1"/>
              </p:cNvSpPr>
              <p:nvPr/>
            </p:nvSpPr>
            <p:spPr>
              <a:xfrm>
                <a:off x="5482728" y="244997"/>
                <a:ext cx="4389600" cy="774892"/>
              </a:xfrm>
              <a:prstGeom prst="rect">
                <a:avLst/>
              </a:prstGeom>
              <a:blipFill>
                <a:blip r:embed="rId3"/>
                <a:stretch>
                  <a:fillRect b="-7874"/>
                </a:stretch>
              </a:blipFill>
            </p:spPr>
            <p:txBody>
              <a:bodyPr/>
              <a:lstStyle/>
              <a:p>
                <a:r>
                  <a:rPr lang="en-US">
                    <a:noFill/>
                  </a:rPr>
                  <a:t> </a:t>
                </a:r>
              </a:p>
            </p:txBody>
          </p:sp>
        </mc:Fallback>
      </mc:AlternateContent>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14099" y="2540576"/>
            <a:ext cx="4706793" cy="3601808"/>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1360" y="2485902"/>
            <a:ext cx="4778240" cy="3656482"/>
          </a:xfrm>
          <a:prstGeom prst="rect">
            <a:avLst/>
          </a:prstGeom>
        </p:spPr>
      </p:pic>
      <p:sp>
        <p:nvSpPr>
          <p:cNvPr id="3" name="Footer Placeholder 2"/>
          <p:cNvSpPr>
            <a:spLocks noGrp="1"/>
          </p:cNvSpPr>
          <p:nvPr>
            <p:ph type="ftr" sz="quarter" idx="11"/>
          </p:nvPr>
        </p:nvSpPr>
        <p:spPr/>
        <p:txBody>
          <a:bodyPr/>
          <a:lstStyle/>
          <a:p>
            <a:r>
              <a:rPr lang="en-US"/>
              <a:t>SEG 2018</a:t>
            </a:r>
            <a:endParaRPr lang="en-US" dirty="0"/>
          </a:p>
        </p:txBody>
      </p:sp>
      <p:sp>
        <p:nvSpPr>
          <p:cNvPr id="6" name="Slide Number Placeholder 5"/>
          <p:cNvSpPr>
            <a:spLocks noGrp="1"/>
          </p:cNvSpPr>
          <p:nvPr>
            <p:ph type="sldNum" sz="quarter" idx="12"/>
          </p:nvPr>
        </p:nvSpPr>
        <p:spPr/>
        <p:txBody>
          <a:bodyPr/>
          <a:lstStyle/>
          <a:p>
            <a:fld id="{774D434B-DAEE-4BF7-9AC2-3255F1C5EAFE}" type="slidenum">
              <a:rPr lang="en-US" smtClean="0"/>
              <a:pPr/>
              <a:t>17</a:t>
            </a:fld>
            <a:endParaRPr lang="en-US" dirty="0"/>
          </a:p>
        </p:txBody>
      </p:sp>
    </p:spTree>
    <p:extLst>
      <p:ext uri="{BB962C8B-B14F-4D97-AF65-F5344CB8AC3E}">
        <p14:creationId xmlns:p14="http://schemas.microsoft.com/office/powerpoint/2010/main" val="3307788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3352"/>
            <a:ext cx="12192000" cy="6414648"/>
          </a:xfrm>
          <a:prstGeom prst="rect">
            <a:avLst/>
          </a:prstGeom>
        </p:spPr>
      </p:pic>
      <p:sp>
        <p:nvSpPr>
          <p:cNvPr id="3" name="TextBox 2"/>
          <p:cNvSpPr txBox="1"/>
          <p:nvPr/>
        </p:nvSpPr>
        <p:spPr>
          <a:xfrm>
            <a:off x="1912843" y="443352"/>
            <a:ext cx="609632" cy="276112"/>
          </a:xfrm>
          <a:prstGeom prst="rect">
            <a:avLst/>
          </a:prstGeom>
          <a:noFill/>
        </p:spPr>
        <p:txBody>
          <a:bodyPr wrap="none" rtlCol="0">
            <a:spAutoFit/>
          </a:bodyPr>
          <a:lstStyle/>
          <a:p>
            <a:r>
              <a:rPr lang="en-US" sz="1400" dirty="0"/>
              <a:t>LKC-53</a:t>
            </a:r>
          </a:p>
        </p:txBody>
      </p:sp>
      <p:sp>
        <p:nvSpPr>
          <p:cNvPr id="4" name="TextBox 3"/>
          <p:cNvSpPr txBox="1"/>
          <p:nvPr/>
        </p:nvSpPr>
        <p:spPr>
          <a:xfrm>
            <a:off x="5791184" y="443352"/>
            <a:ext cx="609632" cy="276112"/>
          </a:xfrm>
          <a:prstGeom prst="rect">
            <a:avLst/>
          </a:prstGeom>
          <a:noFill/>
        </p:spPr>
        <p:txBody>
          <a:bodyPr wrap="none" rtlCol="0">
            <a:spAutoFit/>
          </a:bodyPr>
          <a:lstStyle/>
          <a:p>
            <a:r>
              <a:rPr lang="en-US" sz="1400" dirty="0"/>
              <a:t>LKC-59</a:t>
            </a:r>
          </a:p>
        </p:txBody>
      </p:sp>
      <p:sp>
        <p:nvSpPr>
          <p:cNvPr id="5" name="TextBox 4"/>
          <p:cNvSpPr txBox="1"/>
          <p:nvPr/>
        </p:nvSpPr>
        <p:spPr>
          <a:xfrm>
            <a:off x="9669525" y="443352"/>
            <a:ext cx="609632" cy="276112"/>
          </a:xfrm>
          <a:prstGeom prst="rect">
            <a:avLst/>
          </a:prstGeom>
          <a:noFill/>
        </p:spPr>
        <p:txBody>
          <a:bodyPr wrap="none" rtlCol="0">
            <a:spAutoFit/>
          </a:bodyPr>
          <a:lstStyle/>
          <a:p>
            <a:r>
              <a:rPr lang="en-US" sz="1400" dirty="0"/>
              <a:t>LKC-92</a:t>
            </a:r>
          </a:p>
        </p:txBody>
      </p:sp>
      <p:sp>
        <p:nvSpPr>
          <p:cNvPr id="6" name="Footer Placeholder 5"/>
          <p:cNvSpPr>
            <a:spLocks noGrp="1"/>
          </p:cNvSpPr>
          <p:nvPr>
            <p:ph type="ftr" sz="quarter" idx="11"/>
          </p:nvPr>
        </p:nvSpPr>
        <p:spPr/>
        <p:txBody>
          <a:bodyPr/>
          <a:lstStyle/>
          <a:p>
            <a:r>
              <a:rPr lang="en-US"/>
              <a:t>SEG 2018</a:t>
            </a:r>
            <a:endParaRPr lang="en-US" dirty="0"/>
          </a:p>
        </p:txBody>
      </p:sp>
      <p:sp>
        <p:nvSpPr>
          <p:cNvPr id="7" name="Slide Number Placeholder 6"/>
          <p:cNvSpPr>
            <a:spLocks noGrp="1"/>
          </p:cNvSpPr>
          <p:nvPr>
            <p:ph type="sldNum" sz="quarter" idx="12"/>
          </p:nvPr>
        </p:nvSpPr>
        <p:spPr/>
        <p:txBody>
          <a:bodyPr/>
          <a:lstStyle/>
          <a:p>
            <a:fld id="{774D434B-DAEE-4BF7-9AC2-3255F1C5EAFE}" type="slidenum">
              <a:rPr lang="en-US" smtClean="0"/>
              <a:pPr/>
              <a:t>18</a:t>
            </a:fld>
            <a:endParaRPr lang="en-US" dirty="0"/>
          </a:p>
        </p:txBody>
      </p:sp>
    </p:spTree>
    <p:extLst>
      <p:ext uri="{BB962C8B-B14F-4D97-AF65-F5344CB8AC3E}">
        <p14:creationId xmlns:p14="http://schemas.microsoft.com/office/powerpoint/2010/main" val="1249323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4" name="Content Placeholder 2"/>
          <p:cNvSpPr txBox="1">
            <a:spLocks/>
          </p:cNvSpPr>
          <p:nvPr/>
        </p:nvSpPr>
        <p:spPr>
          <a:xfrm>
            <a:off x="771525" y="1506247"/>
            <a:ext cx="10496550" cy="5422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sz="2400" dirty="0"/>
              <a:t>Compared with individual inversions, the shape of modal and peak position from jointly estimated pore size distribution are mostly dictated by NMR data and only lightly constrained by SIP data. This is consistent with inversion result for Berea sandstone. </a:t>
            </a:r>
          </a:p>
          <a:p>
            <a:pPr marL="342900" indent="-342900"/>
            <a:r>
              <a:rPr lang="en-US" sz="2400" dirty="0"/>
              <a:t>The limited information from SIP data can be explained by the missing of information from small pores. To better represent SIP data, we introduced membrane polarization to explain underestimated imaginary conductivity at intermediate frequencies.</a:t>
            </a:r>
          </a:p>
          <a:p>
            <a:pPr marL="342900" indent="-342900"/>
            <a:r>
              <a:rPr lang="en-US" sz="2400" dirty="0"/>
              <a:t>Improved new model has great agreement with SIP responses especially for intermediate frequency around 100 Hz.</a:t>
            </a:r>
          </a:p>
          <a:p>
            <a:pPr marL="342900" indent="-342900"/>
            <a:r>
              <a:rPr lang="en-US" sz="2400" dirty="0"/>
              <a:t>Comparison between membrane and EDL polarization has validated the theory that membrane polarization contributes more to small-narrow pores and EDL contributes more to large-wide pores.</a:t>
            </a:r>
          </a:p>
        </p:txBody>
      </p:sp>
      <p:sp>
        <p:nvSpPr>
          <p:cNvPr id="3" name="Footer Placeholder 2"/>
          <p:cNvSpPr>
            <a:spLocks noGrp="1"/>
          </p:cNvSpPr>
          <p:nvPr>
            <p:ph type="ftr" sz="quarter" idx="11"/>
          </p:nvPr>
        </p:nvSpPr>
        <p:spPr/>
        <p:txBody>
          <a:bodyPr/>
          <a:lstStyle/>
          <a:p>
            <a:r>
              <a:rPr lang="en-US"/>
              <a:t>SEG 2018</a:t>
            </a:r>
          </a:p>
        </p:txBody>
      </p:sp>
      <p:sp>
        <p:nvSpPr>
          <p:cNvPr id="5" name="Slide Number Placeholder 4"/>
          <p:cNvSpPr>
            <a:spLocks noGrp="1"/>
          </p:cNvSpPr>
          <p:nvPr>
            <p:ph type="sldNum" sz="quarter" idx="12"/>
          </p:nvPr>
        </p:nvSpPr>
        <p:spPr/>
        <p:txBody>
          <a:bodyPr/>
          <a:lstStyle/>
          <a:p>
            <a:fld id="{48265A45-E6A4-4653-9C66-6A1A04113506}" type="slidenum">
              <a:rPr lang="en-US" smtClean="0"/>
              <a:pPr/>
              <a:t>19</a:t>
            </a:fld>
            <a:endParaRPr lang="en-US"/>
          </a:p>
        </p:txBody>
      </p:sp>
    </p:spTree>
    <p:extLst>
      <p:ext uri="{BB962C8B-B14F-4D97-AF65-F5344CB8AC3E}">
        <p14:creationId xmlns:p14="http://schemas.microsoft.com/office/powerpoint/2010/main" val="2032164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work</a:t>
            </a:r>
          </a:p>
        </p:txBody>
      </p:sp>
      <mc:AlternateContent xmlns:mc="http://schemas.openxmlformats.org/markup-compatibility/2006" xmlns:a14="http://schemas.microsoft.com/office/drawing/2010/main">
        <mc:Choice Requires="a14">
          <p:sp>
            <p:nvSpPr>
              <p:cNvPr id="3" name="Content Placeholder 2"/>
              <p:cNvSpPr txBox="1">
                <a:spLocks/>
              </p:cNvSpPr>
              <p:nvPr/>
            </p:nvSpPr>
            <p:spPr>
              <a:xfrm>
                <a:off x="800099" y="1506247"/>
                <a:ext cx="10506075" cy="5422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sz="2400" dirty="0"/>
                  <a:t>Validate the relationship of </a:t>
                </a:r>
                <a14:m>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𝑟</m:t>
                        </m:r>
                      </m:e>
                      <m:sub>
                        <m:r>
                          <a:rPr lang="en-US" sz="2400" i="1">
                            <a:solidFill>
                              <a:schemeClr val="tx1"/>
                            </a:solidFill>
                            <a:latin typeface="Cambria Math" panose="02040503050406030204" pitchFamily="18" charset="0"/>
                          </a:rPr>
                          <m:t>𝑖</m:t>
                        </m:r>
                      </m:sub>
                    </m:sSub>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ea typeface="Malgun Gothic" panose="020B0503020000020004" pitchFamily="34" charset="-127"/>
                            <a:cs typeface="Times New Roman" panose="02020603050405020304" pitchFamily="18" charset="0"/>
                          </a:rPr>
                          <m:t>2</m:t>
                        </m:r>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Malgun Gothic" panose="020B0503020000020004" pitchFamily="34" charset="-127"/>
                                <a:cs typeface="Times New Roman" panose="02020603050405020304" pitchFamily="18" charset="0"/>
                              </a:rPr>
                              <m:t>𝐷</m:t>
                            </m:r>
                          </m:e>
                          <m:sup>
                            <m:r>
                              <a:rPr lang="en-US" sz="2400" i="1">
                                <a:latin typeface="Cambria Math" panose="02040503050406030204" pitchFamily="18" charset="0"/>
                                <a:ea typeface="Malgun Gothic" panose="020B0503020000020004" pitchFamily="34" charset="-127"/>
                                <a:cs typeface="Times New Roman" panose="02020603050405020304" pitchFamily="18" charset="0"/>
                              </a:rPr>
                              <m:t>+</m:t>
                            </m:r>
                          </m:sup>
                        </m:sSup>
                        <m:r>
                          <a:rPr lang="en-US" sz="2400" i="1">
                            <a:latin typeface="Cambria Math" panose="02040503050406030204" pitchFamily="18" charset="0"/>
                            <a:ea typeface="Cambria Math" panose="02040503050406030204" pitchFamily="18" charset="0"/>
                            <a:cs typeface="Times New Roman" panose="02020603050405020304" pitchFamily="18" charset="0"/>
                          </a:rPr>
                          <m:t>𝜏</m:t>
                        </m:r>
                        <m:r>
                          <a:rPr lang="en-US" sz="2400" i="1" baseline="-25000">
                            <a:latin typeface="Cambria Math" panose="02040503050406030204" pitchFamily="18" charset="0"/>
                            <a:ea typeface="Cambria Math" panose="02040503050406030204" pitchFamily="18" charset="0"/>
                            <a:cs typeface="Times New Roman" panose="02020603050405020304" pitchFamily="18" charset="0"/>
                          </a:rPr>
                          <m:t>𝑖</m:t>
                        </m:r>
                      </m:e>
                    </m:rad>
                  </m:oMath>
                </a14:m>
                <a:r>
                  <a:rPr lang="en-US" sz="2400" dirty="0"/>
                  <a:t> in carbonate;</a:t>
                </a:r>
              </a:p>
              <a:p>
                <a:pPr marL="342900" indent="-342900"/>
                <a:r>
                  <a:rPr lang="en-US" sz="2400" dirty="0"/>
                  <a:t>Alternate ground truth data of pore size distribution data from gas adsorption, MICP or Digital image analysis to validate inversion results for carbonate samples and provide wider range of intensity function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𝑖</m:t>
                        </m:r>
                      </m:sub>
                    </m:sSub>
                  </m:oMath>
                </a14:m>
                <a:r>
                  <a:rPr lang="en-US" sz="2400" dirty="0"/>
                  <a:t>;</a:t>
                </a:r>
              </a:p>
              <a:p>
                <a:pPr marL="342900" indent="-342900"/>
                <a:r>
                  <a:rPr lang="en-US" sz="2400" dirty="0"/>
                  <a:t>Build synthetic network model and derive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b="0" i="1" smtClean="0">
                            <a:latin typeface="Cambria Math" panose="02040503050406030204" pitchFamily="18" charset="0"/>
                          </a:rPr>
                          <m:t>𝑖</m:t>
                        </m:r>
                      </m:sub>
                    </m:sSub>
                    <m:r>
                      <a:rPr lang="en-US" sz="2400" i="1" smtClean="0">
                        <a:latin typeface="Cambria Math" panose="02040503050406030204" pitchFamily="18" charset="0"/>
                      </a:rPr>
                      <m:t> </m:t>
                    </m:r>
                    <m:r>
                      <a:rPr lang="en-US" sz="2400" i="1">
                        <a:latin typeface="Cambria Math" panose="02040503050406030204" pitchFamily="18" charset="0"/>
                      </a:rPr>
                      <m:t>𝑎𝑛𝑑</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𝑟</m:t>
                        </m:r>
                      </m:e>
                      <m:sub>
                        <m:r>
                          <a:rPr lang="en-US" sz="2400" b="0" i="1" smtClean="0">
                            <a:latin typeface="Cambria Math" panose="02040503050406030204" pitchFamily="18" charset="0"/>
                          </a:rPr>
                          <m:t>𝑖</m:t>
                        </m:r>
                      </m:sub>
                    </m:sSub>
                  </m:oMath>
                </a14:m>
                <a:r>
                  <a:rPr lang="en-US" sz="2400" dirty="0"/>
                  <a:t> from network model.</a:t>
                </a:r>
              </a:p>
            </p:txBody>
          </p:sp>
        </mc:Choice>
        <mc:Fallback xmlns="">
          <p:sp>
            <p:nvSpPr>
              <p:cNvPr id="3" name="Content Placeholder 2"/>
              <p:cNvSpPr txBox="1">
                <a:spLocks noRot="1" noChangeAspect="1" noMove="1" noResize="1" noEditPoints="1" noAdjustHandles="1" noChangeArrowheads="1" noChangeShapeType="1" noTextEdit="1"/>
              </p:cNvSpPr>
              <p:nvPr/>
            </p:nvSpPr>
            <p:spPr>
              <a:xfrm>
                <a:off x="800099" y="1506247"/>
                <a:ext cx="10506075" cy="542294"/>
              </a:xfrm>
              <a:prstGeom prst="rect">
                <a:avLst/>
              </a:prstGeom>
              <a:blipFill>
                <a:blip r:embed="rId2"/>
                <a:stretch>
                  <a:fillRect l="-754" t="-8989" r="-1450" b="-300000"/>
                </a:stretch>
              </a:blipFill>
            </p:spPr>
            <p:txBody>
              <a:bodyPr/>
              <a:lstStyle/>
              <a:p>
                <a:r>
                  <a:rPr lang="en-US">
                    <a:noFill/>
                  </a:rPr>
                  <a:t> </a:t>
                </a:r>
              </a:p>
            </p:txBody>
          </p:sp>
        </mc:Fallback>
      </mc:AlternateContent>
      <p:sp>
        <p:nvSpPr>
          <p:cNvPr id="4" name="TextBox 3"/>
          <p:cNvSpPr txBox="1"/>
          <p:nvPr/>
        </p:nvSpPr>
        <p:spPr>
          <a:xfrm>
            <a:off x="1143000" y="4461468"/>
            <a:ext cx="10163174" cy="1477328"/>
          </a:xfrm>
          <a:prstGeom prst="rect">
            <a:avLst/>
          </a:prstGeom>
          <a:noFill/>
        </p:spPr>
        <p:txBody>
          <a:bodyPr wrap="square" rtlCol="0">
            <a:spAutoFit/>
          </a:bodyPr>
          <a:lstStyle/>
          <a:p>
            <a:r>
              <a:rPr lang="en-US" altLang="zh-CN" dirty="0">
                <a:ea typeface="SimSun" pitchFamily="2" charset="-122"/>
              </a:rPr>
              <a:t>Acknowledgements</a:t>
            </a:r>
          </a:p>
          <a:p>
            <a:r>
              <a:rPr lang="en-US" altLang="zh-CN" dirty="0">
                <a:ea typeface="SimSun" pitchFamily="2" charset="-122"/>
              </a:rPr>
              <a:t>Deepest appreciation goes to Dr. Lynn </a:t>
            </a:r>
            <a:r>
              <a:rPr lang="en-US" altLang="zh-CN" dirty="0" err="1">
                <a:ea typeface="SimSun" pitchFamily="2" charset="-122"/>
              </a:rPr>
              <a:t>Watney</a:t>
            </a:r>
            <a:r>
              <a:rPr lang="en-US" altLang="zh-CN" dirty="0">
                <a:ea typeface="SimSun" pitchFamily="2" charset="-122"/>
              </a:rPr>
              <a:t> for providing plug core samples and geological description of cores. We thank my colleague James Colgin for processing the CT images and generate the digital rock network. Thanks AAPG and GSA grant for funding this project.</a:t>
            </a:r>
          </a:p>
          <a:p>
            <a:endParaRPr lang="en-US" dirty="0"/>
          </a:p>
        </p:txBody>
      </p:sp>
      <p:sp>
        <p:nvSpPr>
          <p:cNvPr id="5" name="Footer Placeholder 4"/>
          <p:cNvSpPr>
            <a:spLocks noGrp="1"/>
          </p:cNvSpPr>
          <p:nvPr>
            <p:ph type="ftr" sz="quarter" idx="11"/>
          </p:nvPr>
        </p:nvSpPr>
        <p:spPr/>
        <p:txBody>
          <a:bodyPr/>
          <a:lstStyle/>
          <a:p>
            <a:r>
              <a:rPr lang="en-US"/>
              <a:t>SEG 2018</a:t>
            </a:r>
          </a:p>
        </p:txBody>
      </p:sp>
      <p:sp>
        <p:nvSpPr>
          <p:cNvPr id="6" name="Slide Number Placeholder 5"/>
          <p:cNvSpPr>
            <a:spLocks noGrp="1"/>
          </p:cNvSpPr>
          <p:nvPr>
            <p:ph type="sldNum" sz="quarter" idx="12"/>
          </p:nvPr>
        </p:nvSpPr>
        <p:spPr/>
        <p:txBody>
          <a:bodyPr/>
          <a:lstStyle/>
          <a:p>
            <a:fld id="{48265A45-E6A4-4653-9C66-6A1A04113506}" type="slidenum">
              <a:rPr lang="en-US" smtClean="0"/>
              <a:pPr/>
              <a:t>20</a:t>
            </a:fld>
            <a:endParaRPr lang="en-US"/>
          </a:p>
        </p:txBody>
      </p:sp>
    </p:spTree>
    <p:extLst>
      <p:ext uri="{BB962C8B-B14F-4D97-AF65-F5344CB8AC3E}">
        <p14:creationId xmlns:p14="http://schemas.microsoft.com/office/powerpoint/2010/main" val="2231413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76401" y="352425"/>
            <a:ext cx="8629650" cy="220027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rPr>
              <a:t>Thanks for listening!</a:t>
            </a:r>
          </a:p>
          <a:p>
            <a:pPr algn="ctr"/>
            <a:r>
              <a:rPr lang="en-US" sz="4000" dirty="0">
                <a:solidFill>
                  <a:schemeClr val="bg1"/>
                </a:solidFill>
              </a:rPr>
              <a:t>Questions? </a:t>
            </a:r>
          </a:p>
        </p:txBody>
      </p:sp>
    </p:spTree>
    <p:extLst>
      <p:ext uri="{BB962C8B-B14F-4D97-AF65-F5344CB8AC3E}">
        <p14:creationId xmlns:p14="http://schemas.microsoft.com/office/powerpoint/2010/main" val="14087301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5634</TotalTime>
  <Words>1157</Words>
  <Application>Microsoft Macintosh PowerPoint</Application>
  <PresentationFormat>Widescreen</PresentationFormat>
  <Paragraphs>337</Paragraphs>
  <Slides>21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Gotham Book</vt:lpstr>
      <vt:lpstr>SimSun</vt:lpstr>
      <vt:lpstr>Arial</vt:lpstr>
      <vt:lpstr>Calibri</vt:lpstr>
      <vt:lpstr>Calibri Light</vt:lpstr>
      <vt:lpstr>Cambria</vt:lpstr>
      <vt:lpstr>Cambria Math</vt:lpstr>
      <vt:lpstr>Gill Sans MT</vt:lpstr>
      <vt:lpstr>Times New Roman</vt:lpstr>
      <vt:lpstr>Office Theme</vt:lpstr>
      <vt:lpstr>PowerPoint Presentation</vt:lpstr>
      <vt:lpstr>Outlines</vt:lpstr>
      <vt:lpstr>Introduction</vt:lpstr>
      <vt:lpstr>PowerPoint Presentation</vt:lpstr>
      <vt:lpstr>Characterizing carbonate</vt:lpstr>
      <vt:lpstr>Characterizing carbonate</vt:lpstr>
      <vt:lpstr>Characterizing carbonate</vt:lpstr>
      <vt:lpstr>Methodology</vt:lpstr>
      <vt:lpstr>Inversion Algorithm</vt:lpstr>
      <vt:lpstr>Joint inversion results</vt:lpstr>
      <vt:lpstr>PowerPoint Presentation</vt:lpstr>
      <vt:lpstr>Alternative model</vt:lpstr>
      <vt:lpstr>PowerPoint Presentation</vt:lpstr>
      <vt:lpstr>PowerPoint Presentation</vt:lpstr>
      <vt:lpstr>PowerPoint Presentation</vt:lpstr>
      <vt:lpstr>New forward model</vt:lpstr>
      <vt:lpstr>PowerPoint Presentation</vt:lpstr>
      <vt:lpstr>PowerPoint Presentation</vt:lpstr>
      <vt:lpstr>Conclusion</vt:lpstr>
      <vt:lpstr>Future work</vt:lpstr>
      <vt:lpstr>PowerPoint Presentation</vt:lpstr>
    </vt:vector>
  </TitlesOfParts>
  <Company>The University of 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Zhang, Fan</dc:creator>
  <cp:lastModifiedBy>Chi Zhang</cp:lastModifiedBy>
  <cp:revision>88</cp:revision>
  <dcterms:created xsi:type="dcterms:W3CDTF">2018-02-26T17:29:42Z</dcterms:created>
  <dcterms:modified xsi:type="dcterms:W3CDTF">2026-06-09T09:43:56Z</dcterms:modified>
</cp:coreProperties>
</file>