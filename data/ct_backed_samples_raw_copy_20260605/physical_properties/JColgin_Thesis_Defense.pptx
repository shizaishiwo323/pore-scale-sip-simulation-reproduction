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5" r:id="rId7"/>
    <p:sldId id="262" r:id="rId8"/>
    <p:sldId id="263" r:id="rId9"/>
    <p:sldId id="264" r:id="rId10"/>
    <p:sldId id="267" r:id="rId11"/>
    <p:sldId id="270" r:id="rId12"/>
    <p:sldId id="272" r:id="rId13"/>
    <p:sldId id="273" r:id="rId14"/>
    <p:sldId id="274" r:id="rId15"/>
    <p:sldId id="279" r:id="rId16"/>
    <p:sldId id="280" r:id="rId17"/>
    <p:sldId id="281" r:id="rId18"/>
    <p:sldId id="298" r:id="rId19"/>
    <p:sldId id="299" r:id="rId20"/>
    <p:sldId id="300" r:id="rId21"/>
    <p:sldId id="301" r:id="rId22"/>
    <p:sldId id="302" r:id="rId23"/>
    <p:sldId id="303" r:id="rId24"/>
    <p:sldId id="304" r:id="rId25"/>
    <p:sldId id="286" r:id="rId26"/>
    <p:sldId id="283" r:id="rId27"/>
    <p:sldId id="261" r:id="rId28"/>
    <p:sldId id="287" r:id="rId29"/>
    <p:sldId id="288" r:id="rId30"/>
    <p:sldId id="289" r:id="rId31"/>
    <p:sldId id="290" r:id="rId32"/>
    <p:sldId id="291" r:id="rId33"/>
    <p:sldId id="292" r:id="rId34"/>
    <p:sldId id="293" r:id="rId35"/>
    <p:sldId id="294" r:id="rId36"/>
    <p:sldId id="295" r:id="rId37"/>
    <p:sldId id="296" r:id="rId38"/>
    <p:sldId id="297"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6301"/>
  </p:normalViewPr>
  <p:slideViewPr>
    <p:cSldViewPr snapToGrid="0">
      <p:cViewPr varScale="1">
        <p:scale>
          <a:sx n="123" d="100"/>
          <a:sy n="123" d="100"/>
        </p:scale>
        <p:origin x="17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18DBCF-DA38-4917-98CC-116B7651112D}"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US"/>
        </a:p>
      </dgm:t>
    </dgm:pt>
    <dgm:pt modelId="{E615029B-2053-43DB-88A9-3D98E35FCD2B}">
      <dgm:prSet phldrT="[Text]"/>
      <dgm:spPr/>
      <dgm:t>
        <a:bodyPr/>
        <a:lstStyle/>
        <a:p>
          <a:r>
            <a:rPr lang="en-US" dirty="0">
              <a:latin typeface="Tahoma" panose="020B0604030504040204" pitchFamily="34" charset="0"/>
              <a:ea typeface="Tahoma" panose="020B0604030504040204" pitchFamily="34" charset="0"/>
              <a:cs typeface="Tahoma" panose="020B0604030504040204" pitchFamily="34" charset="0"/>
            </a:rPr>
            <a:t>CT Scanning and Reconstruction</a:t>
          </a:r>
        </a:p>
      </dgm:t>
    </dgm:pt>
    <dgm:pt modelId="{35D31D0E-548A-43C3-95CB-F354AD61D5F2}" type="parTrans" cxnId="{EEA23E4F-63F9-4297-B495-F8801DF8FCC8}">
      <dgm:prSet/>
      <dgm:spPr/>
      <dgm:t>
        <a:bodyPr/>
        <a:lstStyle/>
        <a:p>
          <a:endParaRPr lang="en-US"/>
        </a:p>
      </dgm:t>
    </dgm:pt>
    <dgm:pt modelId="{18A83D21-7BE4-4272-A984-B61F0E82FB7B}" type="sibTrans" cxnId="{EEA23E4F-63F9-4297-B495-F8801DF8FCC8}">
      <dgm:prSet/>
      <dgm:spPr/>
      <dgm:t>
        <a:bodyPr/>
        <a:lstStyle/>
        <a:p>
          <a:endParaRPr lang="en-US"/>
        </a:p>
      </dgm:t>
    </dgm:pt>
    <dgm:pt modelId="{62DCCC1F-5A14-4B54-A7F5-B9510C666A4A}">
      <dgm:prSet phldrT="[Text]"/>
      <dgm:spPr/>
      <dgm:t>
        <a:bodyPr/>
        <a:lstStyle/>
        <a:p>
          <a:r>
            <a:rPr lang="en-US" dirty="0">
              <a:latin typeface="Tahoma" panose="020B0604030504040204" pitchFamily="34" charset="0"/>
              <a:ea typeface="Tahoma" panose="020B0604030504040204" pitchFamily="34" charset="0"/>
              <a:cs typeface="Tahoma" panose="020B0604030504040204" pitchFamily="34" charset="0"/>
            </a:rPr>
            <a:t>Phase Segmentation</a:t>
          </a:r>
        </a:p>
      </dgm:t>
    </dgm:pt>
    <dgm:pt modelId="{3B279A34-9493-43D9-B92B-1D26FE60F7FC}" type="parTrans" cxnId="{B5847718-B938-4526-A163-387461B8B50E}">
      <dgm:prSet/>
      <dgm:spPr/>
      <dgm:t>
        <a:bodyPr/>
        <a:lstStyle/>
        <a:p>
          <a:endParaRPr lang="en-US"/>
        </a:p>
      </dgm:t>
    </dgm:pt>
    <dgm:pt modelId="{4C33C6CC-0141-4D97-A6EC-0D46E510ECA5}" type="sibTrans" cxnId="{B5847718-B938-4526-A163-387461B8B50E}">
      <dgm:prSet/>
      <dgm:spPr/>
      <dgm:t>
        <a:bodyPr/>
        <a:lstStyle/>
        <a:p>
          <a:endParaRPr lang="en-US"/>
        </a:p>
      </dgm:t>
    </dgm:pt>
    <dgm:pt modelId="{018BFDCC-F439-48AD-BF8E-1C1B9436AE5F}">
      <dgm:prSet phldrT="[Text]"/>
      <dgm:spPr/>
      <dgm:t>
        <a:bodyPr/>
        <a:lstStyle/>
        <a:p>
          <a:r>
            <a:rPr lang="en-US" dirty="0">
              <a:latin typeface="Tahoma" panose="020B0604030504040204" pitchFamily="34" charset="0"/>
              <a:ea typeface="Tahoma" panose="020B0604030504040204" pitchFamily="34" charset="0"/>
              <a:cs typeface="Tahoma" panose="020B0604030504040204" pitchFamily="34" charset="0"/>
            </a:rPr>
            <a:t>Image Post-Processing (Re-gridding)</a:t>
          </a:r>
        </a:p>
      </dgm:t>
    </dgm:pt>
    <dgm:pt modelId="{948F0387-FEBF-4D82-9B26-B3849F72CFB3}" type="parTrans" cxnId="{65FA54D5-56F8-4532-BDAF-7B5F7E78B916}">
      <dgm:prSet/>
      <dgm:spPr/>
      <dgm:t>
        <a:bodyPr/>
        <a:lstStyle/>
        <a:p>
          <a:endParaRPr lang="en-US"/>
        </a:p>
      </dgm:t>
    </dgm:pt>
    <dgm:pt modelId="{BE261FDD-65BF-4964-9C72-9F415AA977EE}" type="sibTrans" cxnId="{65FA54D5-56F8-4532-BDAF-7B5F7E78B916}">
      <dgm:prSet/>
      <dgm:spPr/>
      <dgm:t>
        <a:bodyPr/>
        <a:lstStyle/>
        <a:p>
          <a:endParaRPr lang="en-US"/>
        </a:p>
      </dgm:t>
    </dgm:pt>
    <dgm:pt modelId="{1376A659-2F8C-46FB-8E73-CFF7B10B1651}">
      <dgm:prSet/>
      <dgm:spPr/>
      <dgm:t>
        <a:bodyPr/>
        <a:lstStyle/>
        <a:p>
          <a:r>
            <a:rPr lang="en-US" dirty="0">
              <a:latin typeface="Tahoma" panose="020B0604030504040204" pitchFamily="34" charset="0"/>
              <a:ea typeface="Tahoma" panose="020B0604030504040204" pitchFamily="34" charset="0"/>
              <a:cs typeface="Tahoma" panose="020B0604030504040204" pitchFamily="34" charset="0"/>
            </a:rPr>
            <a:t>Connectivity Analysis</a:t>
          </a:r>
        </a:p>
      </dgm:t>
    </dgm:pt>
    <dgm:pt modelId="{B84B1AB2-7E0F-4B37-B736-82970A24244E}" type="parTrans" cxnId="{16B3303A-3F1C-41F6-9526-919CA6CC1441}">
      <dgm:prSet/>
      <dgm:spPr/>
      <dgm:t>
        <a:bodyPr/>
        <a:lstStyle/>
        <a:p>
          <a:endParaRPr lang="en-US"/>
        </a:p>
      </dgm:t>
    </dgm:pt>
    <dgm:pt modelId="{7CE13CA2-18B7-4990-8CF6-F8F6576FD128}" type="sibTrans" cxnId="{16B3303A-3F1C-41F6-9526-919CA6CC1441}">
      <dgm:prSet/>
      <dgm:spPr/>
      <dgm:t>
        <a:bodyPr/>
        <a:lstStyle/>
        <a:p>
          <a:endParaRPr lang="en-US"/>
        </a:p>
      </dgm:t>
    </dgm:pt>
    <dgm:pt modelId="{B3168803-67A2-4F9D-9EE4-8AADD64593EC}">
      <dgm:prSet/>
      <dgm:spPr/>
      <dgm:t>
        <a:bodyPr/>
        <a:lstStyle/>
        <a:p>
          <a:r>
            <a:rPr lang="en-US" dirty="0">
              <a:latin typeface="Tahoma" panose="020B0604030504040204" pitchFamily="34" charset="0"/>
              <a:ea typeface="Tahoma" panose="020B0604030504040204" pitchFamily="34" charset="0"/>
              <a:cs typeface="Tahoma" panose="020B0604030504040204" pitchFamily="34" charset="0"/>
            </a:rPr>
            <a:t>Pore Network Extraction</a:t>
          </a:r>
        </a:p>
      </dgm:t>
    </dgm:pt>
    <dgm:pt modelId="{1BFE9EE8-FC40-44B2-ACBE-89830EFF0B61}" type="parTrans" cxnId="{1FC5D256-F04A-4D46-8C17-12AD616A5D00}">
      <dgm:prSet/>
      <dgm:spPr/>
      <dgm:t>
        <a:bodyPr/>
        <a:lstStyle/>
        <a:p>
          <a:endParaRPr lang="en-US"/>
        </a:p>
      </dgm:t>
    </dgm:pt>
    <dgm:pt modelId="{108A9E9D-CBB5-46FB-9733-761E7CABDE5B}" type="sibTrans" cxnId="{1FC5D256-F04A-4D46-8C17-12AD616A5D00}">
      <dgm:prSet/>
      <dgm:spPr/>
      <dgm:t>
        <a:bodyPr/>
        <a:lstStyle/>
        <a:p>
          <a:endParaRPr lang="en-US"/>
        </a:p>
      </dgm:t>
    </dgm:pt>
    <dgm:pt modelId="{F964C54E-E7E2-4BEE-860E-86B47AB32941}">
      <dgm:prSet/>
      <dgm:spPr/>
      <dgm:t>
        <a:bodyPr/>
        <a:lstStyle/>
        <a:p>
          <a:r>
            <a:rPr lang="en-US" dirty="0">
              <a:latin typeface="Tahoma" panose="020B0604030504040204" pitchFamily="34" charset="0"/>
              <a:ea typeface="Tahoma" panose="020B0604030504040204" pitchFamily="34" charset="0"/>
              <a:cs typeface="Tahoma" panose="020B0604030504040204" pitchFamily="34" charset="0"/>
            </a:rPr>
            <a:t>Application of EDL Model</a:t>
          </a:r>
        </a:p>
      </dgm:t>
    </dgm:pt>
    <dgm:pt modelId="{0970BEC9-E8AF-4C8B-98DC-FAA9F0721460}" type="parTrans" cxnId="{21701B07-142B-47E5-BEE6-684C851496C2}">
      <dgm:prSet/>
      <dgm:spPr/>
      <dgm:t>
        <a:bodyPr/>
        <a:lstStyle/>
        <a:p>
          <a:endParaRPr lang="en-US"/>
        </a:p>
      </dgm:t>
    </dgm:pt>
    <dgm:pt modelId="{DA1A048C-F112-46F0-A803-16DE148B9770}" type="sibTrans" cxnId="{21701B07-142B-47E5-BEE6-684C851496C2}">
      <dgm:prSet/>
      <dgm:spPr/>
      <dgm:t>
        <a:bodyPr/>
        <a:lstStyle/>
        <a:p>
          <a:endParaRPr lang="en-US"/>
        </a:p>
      </dgm:t>
    </dgm:pt>
    <dgm:pt modelId="{4F58BBA2-FCB7-4662-B241-61F1B7F3DB32}">
      <dgm:prSet/>
      <dgm:spPr/>
      <dgm:t>
        <a:bodyPr/>
        <a:lstStyle/>
        <a:p>
          <a:r>
            <a:rPr lang="en-US" dirty="0">
              <a:latin typeface="Tahoma" panose="020B0604030504040204" pitchFamily="34" charset="0"/>
              <a:ea typeface="Tahoma" panose="020B0604030504040204" pitchFamily="34" charset="0"/>
              <a:cs typeface="Tahoma" panose="020B0604030504040204" pitchFamily="34" charset="0"/>
            </a:rPr>
            <a:t>Effective (Bulk) Conductivity Calculation</a:t>
          </a:r>
        </a:p>
      </dgm:t>
    </dgm:pt>
    <dgm:pt modelId="{1C0233AD-F211-431F-AE86-684A371A9CCD}" type="parTrans" cxnId="{DE4D0520-209A-4B1C-9BBB-F6033CAD3905}">
      <dgm:prSet/>
      <dgm:spPr/>
      <dgm:t>
        <a:bodyPr/>
        <a:lstStyle/>
        <a:p>
          <a:endParaRPr lang="en-US"/>
        </a:p>
      </dgm:t>
    </dgm:pt>
    <dgm:pt modelId="{E55EA61B-67B3-4C90-BBF9-4EF62EFBDFE3}" type="sibTrans" cxnId="{DE4D0520-209A-4B1C-9BBB-F6033CAD3905}">
      <dgm:prSet/>
      <dgm:spPr/>
      <dgm:t>
        <a:bodyPr/>
        <a:lstStyle/>
        <a:p>
          <a:endParaRPr lang="en-US"/>
        </a:p>
      </dgm:t>
    </dgm:pt>
    <dgm:pt modelId="{F6431CEA-32A8-4A9A-BE51-09DCABE0B7E8}" type="pres">
      <dgm:prSet presAssocID="{B918DBCF-DA38-4917-98CC-116B7651112D}" presName="rootnode" presStyleCnt="0">
        <dgm:presLayoutVars>
          <dgm:chMax/>
          <dgm:chPref/>
          <dgm:dir/>
          <dgm:animLvl val="lvl"/>
        </dgm:presLayoutVars>
      </dgm:prSet>
      <dgm:spPr/>
    </dgm:pt>
    <dgm:pt modelId="{3C51B0A2-019D-4203-8B14-C9D06B48777D}" type="pres">
      <dgm:prSet presAssocID="{E615029B-2053-43DB-88A9-3D98E35FCD2B}" presName="composite" presStyleCnt="0"/>
      <dgm:spPr/>
    </dgm:pt>
    <dgm:pt modelId="{B90A6D7C-74D5-4D2B-8B97-645A4A27E989}" type="pres">
      <dgm:prSet presAssocID="{E615029B-2053-43DB-88A9-3D98E35FCD2B}" presName="bentUpArrow1" presStyleLbl="alignImgPlace1" presStyleIdx="0" presStyleCnt="6"/>
      <dgm:spPr/>
    </dgm:pt>
    <dgm:pt modelId="{0E49CD83-53AC-496C-BB3E-EBD4735DCD6C}" type="pres">
      <dgm:prSet presAssocID="{E615029B-2053-43DB-88A9-3D98E35FCD2B}" presName="ParentText" presStyleLbl="node1" presStyleIdx="0" presStyleCnt="7">
        <dgm:presLayoutVars>
          <dgm:chMax val="1"/>
          <dgm:chPref val="1"/>
          <dgm:bulletEnabled val="1"/>
        </dgm:presLayoutVars>
      </dgm:prSet>
      <dgm:spPr/>
    </dgm:pt>
    <dgm:pt modelId="{69456159-6C83-4E84-989D-BF3005F901D5}" type="pres">
      <dgm:prSet presAssocID="{E615029B-2053-43DB-88A9-3D98E35FCD2B}" presName="ChildText" presStyleLbl="revTx" presStyleIdx="0" presStyleCnt="6">
        <dgm:presLayoutVars>
          <dgm:chMax val="0"/>
          <dgm:chPref val="0"/>
          <dgm:bulletEnabled val="1"/>
        </dgm:presLayoutVars>
      </dgm:prSet>
      <dgm:spPr/>
    </dgm:pt>
    <dgm:pt modelId="{93FB30C3-21AB-4BB4-B466-D7F300AC9ECD}" type="pres">
      <dgm:prSet presAssocID="{18A83D21-7BE4-4272-A984-B61F0E82FB7B}" presName="sibTrans" presStyleCnt="0"/>
      <dgm:spPr/>
    </dgm:pt>
    <dgm:pt modelId="{16B926AC-D011-4500-B21D-817A9CB75D97}" type="pres">
      <dgm:prSet presAssocID="{62DCCC1F-5A14-4B54-A7F5-B9510C666A4A}" presName="composite" presStyleCnt="0"/>
      <dgm:spPr/>
    </dgm:pt>
    <dgm:pt modelId="{C093306D-FFE7-44C1-B53E-7E3E8C0C5DBF}" type="pres">
      <dgm:prSet presAssocID="{62DCCC1F-5A14-4B54-A7F5-B9510C666A4A}" presName="bentUpArrow1" presStyleLbl="alignImgPlace1" presStyleIdx="1" presStyleCnt="6"/>
      <dgm:spPr/>
    </dgm:pt>
    <dgm:pt modelId="{5A1FED50-1865-41E4-BA57-646AE711403C}" type="pres">
      <dgm:prSet presAssocID="{62DCCC1F-5A14-4B54-A7F5-B9510C666A4A}" presName="ParentText" presStyleLbl="node1" presStyleIdx="1" presStyleCnt="7">
        <dgm:presLayoutVars>
          <dgm:chMax val="1"/>
          <dgm:chPref val="1"/>
          <dgm:bulletEnabled val="1"/>
        </dgm:presLayoutVars>
      </dgm:prSet>
      <dgm:spPr/>
    </dgm:pt>
    <dgm:pt modelId="{099F7AE0-B5AE-41A0-AF48-A3E886B54BFE}" type="pres">
      <dgm:prSet presAssocID="{62DCCC1F-5A14-4B54-A7F5-B9510C666A4A}" presName="ChildText" presStyleLbl="revTx" presStyleIdx="1" presStyleCnt="6">
        <dgm:presLayoutVars>
          <dgm:chMax val="0"/>
          <dgm:chPref val="0"/>
          <dgm:bulletEnabled val="1"/>
        </dgm:presLayoutVars>
      </dgm:prSet>
      <dgm:spPr/>
    </dgm:pt>
    <dgm:pt modelId="{CB567C24-ED4F-4C16-8AD7-3D40D2E9DA49}" type="pres">
      <dgm:prSet presAssocID="{4C33C6CC-0141-4D97-A6EC-0D46E510ECA5}" presName="sibTrans" presStyleCnt="0"/>
      <dgm:spPr/>
    </dgm:pt>
    <dgm:pt modelId="{0CDAD765-1FB2-4FCF-96D8-78607D181C88}" type="pres">
      <dgm:prSet presAssocID="{018BFDCC-F439-48AD-BF8E-1C1B9436AE5F}" presName="composite" presStyleCnt="0"/>
      <dgm:spPr/>
    </dgm:pt>
    <dgm:pt modelId="{2522AC4B-008A-4247-868A-EA0F553DD852}" type="pres">
      <dgm:prSet presAssocID="{018BFDCC-F439-48AD-BF8E-1C1B9436AE5F}" presName="bentUpArrow1" presStyleLbl="alignImgPlace1" presStyleIdx="2" presStyleCnt="6"/>
      <dgm:spPr/>
    </dgm:pt>
    <dgm:pt modelId="{1727784D-C0DC-4B55-BA18-0A65C5DD0C15}" type="pres">
      <dgm:prSet presAssocID="{018BFDCC-F439-48AD-BF8E-1C1B9436AE5F}" presName="ParentText" presStyleLbl="node1" presStyleIdx="2" presStyleCnt="7">
        <dgm:presLayoutVars>
          <dgm:chMax val="1"/>
          <dgm:chPref val="1"/>
          <dgm:bulletEnabled val="1"/>
        </dgm:presLayoutVars>
      </dgm:prSet>
      <dgm:spPr/>
    </dgm:pt>
    <dgm:pt modelId="{0404AFA0-88A8-4796-B537-7BAA35B24F5A}" type="pres">
      <dgm:prSet presAssocID="{018BFDCC-F439-48AD-BF8E-1C1B9436AE5F}" presName="ChildText" presStyleLbl="revTx" presStyleIdx="2" presStyleCnt="6">
        <dgm:presLayoutVars>
          <dgm:chMax val="0"/>
          <dgm:chPref val="0"/>
          <dgm:bulletEnabled val="1"/>
        </dgm:presLayoutVars>
      </dgm:prSet>
      <dgm:spPr/>
    </dgm:pt>
    <dgm:pt modelId="{8146B1F7-EC5C-4521-AC06-1F231E5D6840}" type="pres">
      <dgm:prSet presAssocID="{BE261FDD-65BF-4964-9C72-9F415AA977EE}" presName="sibTrans" presStyleCnt="0"/>
      <dgm:spPr/>
    </dgm:pt>
    <dgm:pt modelId="{A74CEFBC-1EB5-4854-89F5-DE8EAEA8C7D9}" type="pres">
      <dgm:prSet presAssocID="{1376A659-2F8C-46FB-8E73-CFF7B10B1651}" presName="composite" presStyleCnt="0"/>
      <dgm:spPr/>
    </dgm:pt>
    <dgm:pt modelId="{53B8D4CA-918F-428C-AF1F-E64C532E56BA}" type="pres">
      <dgm:prSet presAssocID="{1376A659-2F8C-46FB-8E73-CFF7B10B1651}" presName="bentUpArrow1" presStyleLbl="alignImgPlace1" presStyleIdx="3" presStyleCnt="6"/>
      <dgm:spPr/>
    </dgm:pt>
    <dgm:pt modelId="{49EDF67D-E435-4C7E-8293-A61802F3260B}" type="pres">
      <dgm:prSet presAssocID="{1376A659-2F8C-46FB-8E73-CFF7B10B1651}" presName="ParentText" presStyleLbl="node1" presStyleIdx="3" presStyleCnt="7">
        <dgm:presLayoutVars>
          <dgm:chMax val="1"/>
          <dgm:chPref val="1"/>
          <dgm:bulletEnabled val="1"/>
        </dgm:presLayoutVars>
      </dgm:prSet>
      <dgm:spPr/>
    </dgm:pt>
    <dgm:pt modelId="{8860D4D3-4052-4931-9734-D3BF7C56AD90}" type="pres">
      <dgm:prSet presAssocID="{1376A659-2F8C-46FB-8E73-CFF7B10B1651}" presName="ChildText" presStyleLbl="revTx" presStyleIdx="3" presStyleCnt="6">
        <dgm:presLayoutVars>
          <dgm:chMax val="0"/>
          <dgm:chPref val="0"/>
          <dgm:bulletEnabled val="1"/>
        </dgm:presLayoutVars>
      </dgm:prSet>
      <dgm:spPr/>
    </dgm:pt>
    <dgm:pt modelId="{48AD02DC-4597-4C87-A883-3DE2D06EE7B2}" type="pres">
      <dgm:prSet presAssocID="{7CE13CA2-18B7-4990-8CF6-F8F6576FD128}" presName="sibTrans" presStyleCnt="0"/>
      <dgm:spPr/>
    </dgm:pt>
    <dgm:pt modelId="{7A459191-D4CE-44E2-9DF6-F9959926268E}" type="pres">
      <dgm:prSet presAssocID="{B3168803-67A2-4F9D-9EE4-8AADD64593EC}" presName="composite" presStyleCnt="0"/>
      <dgm:spPr/>
    </dgm:pt>
    <dgm:pt modelId="{9693D540-EED1-4F55-9193-418668D014D5}" type="pres">
      <dgm:prSet presAssocID="{B3168803-67A2-4F9D-9EE4-8AADD64593EC}" presName="bentUpArrow1" presStyleLbl="alignImgPlace1" presStyleIdx="4" presStyleCnt="6"/>
      <dgm:spPr/>
    </dgm:pt>
    <dgm:pt modelId="{0C461006-C398-4052-8AF1-1D76EBE76915}" type="pres">
      <dgm:prSet presAssocID="{B3168803-67A2-4F9D-9EE4-8AADD64593EC}" presName="ParentText" presStyleLbl="node1" presStyleIdx="4" presStyleCnt="7">
        <dgm:presLayoutVars>
          <dgm:chMax val="1"/>
          <dgm:chPref val="1"/>
          <dgm:bulletEnabled val="1"/>
        </dgm:presLayoutVars>
      </dgm:prSet>
      <dgm:spPr/>
    </dgm:pt>
    <dgm:pt modelId="{0729D763-9DC0-4635-8603-05D2A025937F}" type="pres">
      <dgm:prSet presAssocID="{B3168803-67A2-4F9D-9EE4-8AADD64593EC}" presName="ChildText" presStyleLbl="revTx" presStyleIdx="4" presStyleCnt="6">
        <dgm:presLayoutVars>
          <dgm:chMax val="0"/>
          <dgm:chPref val="0"/>
          <dgm:bulletEnabled val="1"/>
        </dgm:presLayoutVars>
      </dgm:prSet>
      <dgm:spPr/>
    </dgm:pt>
    <dgm:pt modelId="{A85F62D2-2D06-4CAF-8534-AD5BC6424890}" type="pres">
      <dgm:prSet presAssocID="{108A9E9D-CBB5-46FB-9733-761E7CABDE5B}" presName="sibTrans" presStyleCnt="0"/>
      <dgm:spPr/>
    </dgm:pt>
    <dgm:pt modelId="{168DDBB4-94E7-4E41-A6FE-6948CBA76CF6}" type="pres">
      <dgm:prSet presAssocID="{F964C54E-E7E2-4BEE-860E-86B47AB32941}" presName="composite" presStyleCnt="0"/>
      <dgm:spPr/>
    </dgm:pt>
    <dgm:pt modelId="{A2EA0D91-1B38-459D-A806-C5AA1523BF25}" type="pres">
      <dgm:prSet presAssocID="{F964C54E-E7E2-4BEE-860E-86B47AB32941}" presName="bentUpArrow1" presStyleLbl="alignImgPlace1" presStyleIdx="5" presStyleCnt="6"/>
      <dgm:spPr/>
    </dgm:pt>
    <dgm:pt modelId="{1F7A8670-DD90-4C9A-AB83-E238D209760B}" type="pres">
      <dgm:prSet presAssocID="{F964C54E-E7E2-4BEE-860E-86B47AB32941}" presName="ParentText" presStyleLbl="node1" presStyleIdx="5" presStyleCnt="7">
        <dgm:presLayoutVars>
          <dgm:chMax val="1"/>
          <dgm:chPref val="1"/>
          <dgm:bulletEnabled val="1"/>
        </dgm:presLayoutVars>
      </dgm:prSet>
      <dgm:spPr/>
    </dgm:pt>
    <dgm:pt modelId="{127842BC-53C3-40C1-8CB3-83A7689732FC}" type="pres">
      <dgm:prSet presAssocID="{F964C54E-E7E2-4BEE-860E-86B47AB32941}" presName="ChildText" presStyleLbl="revTx" presStyleIdx="5" presStyleCnt="6">
        <dgm:presLayoutVars>
          <dgm:chMax val="0"/>
          <dgm:chPref val="0"/>
          <dgm:bulletEnabled val="1"/>
        </dgm:presLayoutVars>
      </dgm:prSet>
      <dgm:spPr/>
    </dgm:pt>
    <dgm:pt modelId="{4AB08162-FA50-401B-A918-DFE9C4984980}" type="pres">
      <dgm:prSet presAssocID="{DA1A048C-F112-46F0-A803-16DE148B9770}" presName="sibTrans" presStyleCnt="0"/>
      <dgm:spPr/>
    </dgm:pt>
    <dgm:pt modelId="{FCAC3A68-07FA-4742-923E-1D257A1274B6}" type="pres">
      <dgm:prSet presAssocID="{4F58BBA2-FCB7-4662-B241-61F1B7F3DB32}" presName="composite" presStyleCnt="0"/>
      <dgm:spPr/>
    </dgm:pt>
    <dgm:pt modelId="{6B00DD4F-5F4F-4619-927E-C96EA3D7F747}" type="pres">
      <dgm:prSet presAssocID="{4F58BBA2-FCB7-4662-B241-61F1B7F3DB32}" presName="ParentText" presStyleLbl="node1" presStyleIdx="6" presStyleCnt="7">
        <dgm:presLayoutVars>
          <dgm:chMax val="1"/>
          <dgm:chPref val="1"/>
          <dgm:bulletEnabled val="1"/>
        </dgm:presLayoutVars>
      </dgm:prSet>
      <dgm:spPr/>
    </dgm:pt>
  </dgm:ptLst>
  <dgm:cxnLst>
    <dgm:cxn modelId="{21701B07-142B-47E5-BEE6-684C851496C2}" srcId="{B918DBCF-DA38-4917-98CC-116B7651112D}" destId="{F964C54E-E7E2-4BEE-860E-86B47AB32941}" srcOrd="5" destOrd="0" parTransId="{0970BEC9-E8AF-4C8B-98DC-FAA9F0721460}" sibTransId="{DA1A048C-F112-46F0-A803-16DE148B9770}"/>
    <dgm:cxn modelId="{B5847718-B938-4526-A163-387461B8B50E}" srcId="{B918DBCF-DA38-4917-98CC-116B7651112D}" destId="{62DCCC1F-5A14-4B54-A7F5-B9510C666A4A}" srcOrd="1" destOrd="0" parTransId="{3B279A34-9493-43D9-B92B-1D26FE60F7FC}" sibTransId="{4C33C6CC-0141-4D97-A6EC-0D46E510ECA5}"/>
    <dgm:cxn modelId="{DE4D0520-209A-4B1C-9BBB-F6033CAD3905}" srcId="{B918DBCF-DA38-4917-98CC-116B7651112D}" destId="{4F58BBA2-FCB7-4662-B241-61F1B7F3DB32}" srcOrd="6" destOrd="0" parTransId="{1C0233AD-F211-431F-AE86-684A371A9CCD}" sibTransId="{E55EA61B-67B3-4C90-BBF9-4EF62EFBDFE3}"/>
    <dgm:cxn modelId="{16B3303A-3F1C-41F6-9526-919CA6CC1441}" srcId="{B918DBCF-DA38-4917-98CC-116B7651112D}" destId="{1376A659-2F8C-46FB-8E73-CFF7B10B1651}" srcOrd="3" destOrd="0" parTransId="{B84B1AB2-7E0F-4B37-B736-82970A24244E}" sibTransId="{7CE13CA2-18B7-4990-8CF6-F8F6576FD128}"/>
    <dgm:cxn modelId="{EEA23E4F-63F9-4297-B495-F8801DF8FCC8}" srcId="{B918DBCF-DA38-4917-98CC-116B7651112D}" destId="{E615029B-2053-43DB-88A9-3D98E35FCD2B}" srcOrd="0" destOrd="0" parTransId="{35D31D0E-548A-43C3-95CB-F354AD61D5F2}" sibTransId="{18A83D21-7BE4-4272-A984-B61F0E82FB7B}"/>
    <dgm:cxn modelId="{7B48C751-96C6-4DE2-A7B3-81368D5C51DE}" type="presOf" srcId="{B918DBCF-DA38-4917-98CC-116B7651112D}" destId="{F6431CEA-32A8-4A9A-BE51-09DCABE0B7E8}" srcOrd="0" destOrd="0" presId="urn:microsoft.com/office/officeart/2005/8/layout/StepDownProcess"/>
    <dgm:cxn modelId="{1FC5D256-F04A-4D46-8C17-12AD616A5D00}" srcId="{B918DBCF-DA38-4917-98CC-116B7651112D}" destId="{B3168803-67A2-4F9D-9EE4-8AADD64593EC}" srcOrd="4" destOrd="0" parTransId="{1BFE9EE8-FC40-44B2-ACBE-89830EFF0B61}" sibTransId="{108A9E9D-CBB5-46FB-9733-761E7CABDE5B}"/>
    <dgm:cxn modelId="{A9115C61-8B51-4CC0-8008-06E9008DBDB3}" type="presOf" srcId="{018BFDCC-F439-48AD-BF8E-1C1B9436AE5F}" destId="{1727784D-C0DC-4B55-BA18-0A65C5DD0C15}" srcOrd="0" destOrd="0" presId="urn:microsoft.com/office/officeart/2005/8/layout/StepDownProcess"/>
    <dgm:cxn modelId="{11A46B69-1E74-40A4-95A2-4A312DDE874D}" type="presOf" srcId="{62DCCC1F-5A14-4B54-A7F5-B9510C666A4A}" destId="{5A1FED50-1865-41E4-BA57-646AE711403C}" srcOrd="0" destOrd="0" presId="urn:microsoft.com/office/officeart/2005/8/layout/StepDownProcess"/>
    <dgm:cxn modelId="{96A3ED7E-84F7-4DF7-ABB9-43E5C8E17FA7}" type="presOf" srcId="{E615029B-2053-43DB-88A9-3D98E35FCD2B}" destId="{0E49CD83-53AC-496C-BB3E-EBD4735DCD6C}" srcOrd="0" destOrd="0" presId="urn:microsoft.com/office/officeart/2005/8/layout/StepDownProcess"/>
    <dgm:cxn modelId="{81D9A8A7-D438-4FC8-8E76-F6375F8D293B}" type="presOf" srcId="{B3168803-67A2-4F9D-9EE4-8AADD64593EC}" destId="{0C461006-C398-4052-8AF1-1D76EBE76915}" srcOrd="0" destOrd="0" presId="urn:microsoft.com/office/officeart/2005/8/layout/StepDownProcess"/>
    <dgm:cxn modelId="{94AD2CAB-72BD-443A-88EB-8056CF79052B}" type="presOf" srcId="{F964C54E-E7E2-4BEE-860E-86B47AB32941}" destId="{1F7A8670-DD90-4C9A-AB83-E238D209760B}" srcOrd="0" destOrd="0" presId="urn:microsoft.com/office/officeart/2005/8/layout/StepDownProcess"/>
    <dgm:cxn modelId="{65FA54D5-56F8-4532-BDAF-7B5F7E78B916}" srcId="{B918DBCF-DA38-4917-98CC-116B7651112D}" destId="{018BFDCC-F439-48AD-BF8E-1C1B9436AE5F}" srcOrd="2" destOrd="0" parTransId="{948F0387-FEBF-4D82-9B26-B3849F72CFB3}" sibTransId="{BE261FDD-65BF-4964-9C72-9F415AA977EE}"/>
    <dgm:cxn modelId="{A526C5F5-6F8B-4FC6-ADA1-556C14CE9706}" type="presOf" srcId="{1376A659-2F8C-46FB-8E73-CFF7B10B1651}" destId="{49EDF67D-E435-4C7E-8293-A61802F3260B}" srcOrd="0" destOrd="0" presId="urn:microsoft.com/office/officeart/2005/8/layout/StepDownProcess"/>
    <dgm:cxn modelId="{6252B4FE-FD89-4A51-9D07-3DF032A7E5A1}" type="presOf" srcId="{4F58BBA2-FCB7-4662-B241-61F1B7F3DB32}" destId="{6B00DD4F-5F4F-4619-927E-C96EA3D7F747}" srcOrd="0" destOrd="0" presId="urn:microsoft.com/office/officeart/2005/8/layout/StepDownProcess"/>
    <dgm:cxn modelId="{E4E60D33-6AB0-44F8-9137-45064787025C}" type="presParOf" srcId="{F6431CEA-32A8-4A9A-BE51-09DCABE0B7E8}" destId="{3C51B0A2-019D-4203-8B14-C9D06B48777D}" srcOrd="0" destOrd="0" presId="urn:microsoft.com/office/officeart/2005/8/layout/StepDownProcess"/>
    <dgm:cxn modelId="{681A746A-EC1A-4FBD-A3D4-DD82BE099904}" type="presParOf" srcId="{3C51B0A2-019D-4203-8B14-C9D06B48777D}" destId="{B90A6D7C-74D5-4D2B-8B97-645A4A27E989}" srcOrd="0" destOrd="0" presId="urn:microsoft.com/office/officeart/2005/8/layout/StepDownProcess"/>
    <dgm:cxn modelId="{BD4D4165-8ACA-4701-8FF2-7FFD8904A65A}" type="presParOf" srcId="{3C51B0A2-019D-4203-8B14-C9D06B48777D}" destId="{0E49CD83-53AC-496C-BB3E-EBD4735DCD6C}" srcOrd="1" destOrd="0" presId="urn:microsoft.com/office/officeart/2005/8/layout/StepDownProcess"/>
    <dgm:cxn modelId="{7ABEA32D-E528-48ED-81B9-0C935F0B1378}" type="presParOf" srcId="{3C51B0A2-019D-4203-8B14-C9D06B48777D}" destId="{69456159-6C83-4E84-989D-BF3005F901D5}" srcOrd="2" destOrd="0" presId="urn:microsoft.com/office/officeart/2005/8/layout/StepDownProcess"/>
    <dgm:cxn modelId="{C4F178BE-C43D-4ED6-9795-F380778FBDBD}" type="presParOf" srcId="{F6431CEA-32A8-4A9A-BE51-09DCABE0B7E8}" destId="{93FB30C3-21AB-4BB4-B466-D7F300AC9ECD}" srcOrd="1" destOrd="0" presId="urn:microsoft.com/office/officeart/2005/8/layout/StepDownProcess"/>
    <dgm:cxn modelId="{AD87C75D-B191-4185-8D0E-56FE01489AC4}" type="presParOf" srcId="{F6431CEA-32A8-4A9A-BE51-09DCABE0B7E8}" destId="{16B926AC-D011-4500-B21D-817A9CB75D97}" srcOrd="2" destOrd="0" presId="urn:microsoft.com/office/officeart/2005/8/layout/StepDownProcess"/>
    <dgm:cxn modelId="{1F14CF15-14CD-458E-A746-4D862DA9684D}" type="presParOf" srcId="{16B926AC-D011-4500-B21D-817A9CB75D97}" destId="{C093306D-FFE7-44C1-B53E-7E3E8C0C5DBF}" srcOrd="0" destOrd="0" presId="urn:microsoft.com/office/officeart/2005/8/layout/StepDownProcess"/>
    <dgm:cxn modelId="{8BD23DC5-A021-4235-BD21-5BD454469FFA}" type="presParOf" srcId="{16B926AC-D011-4500-B21D-817A9CB75D97}" destId="{5A1FED50-1865-41E4-BA57-646AE711403C}" srcOrd="1" destOrd="0" presId="urn:microsoft.com/office/officeart/2005/8/layout/StepDownProcess"/>
    <dgm:cxn modelId="{29D50B43-8D96-4832-B9E4-1D83D54EFF62}" type="presParOf" srcId="{16B926AC-D011-4500-B21D-817A9CB75D97}" destId="{099F7AE0-B5AE-41A0-AF48-A3E886B54BFE}" srcOrd="2" destOrd="0" presId="urn:microsoft.com/office/officeart/2005/8/layout/StepDownProcess"/>
    <dgm:cxn modelId="{FC2888B8-B1B3-4EF2-806D-E072F12FBFDE}" type="presParOf" srcId="{F6431CEA-32A8-4A9A-BE51-09DCABE0B7E8}" destId="{CB567C24-ED4F-4C16-8AD7-3D40D2E9DA49}" srcOrd="3" destOrd="0" presId="urn:microsoft.com/office/officeart/2005/8/layout/StepDownProcess"/>
    <dgm:cxn modelId="{F001128B-3051-4186-9395-33342392B4C5}" type="presParOf" srcId="{F6431CEA-32A8-4A9A-BE51-09DCABE0B7E8}" destId="{0CDAD765-1FB2-4FCF-96D8-78607D181C88}" srcOrd="4" destOrd="0" presId="urn:microsoft.com/office/officeart/2005/8/layout/StepDownProcess"/>
    <dgm:cxn modelId="{71032DFA-1695-4DA5-ADF2-6D5618AC9671}" type="presParOf" srcId="{0CDAD765-1FB2-4FCF-96D8-78607D181C88}" destId="{2522AC4B-008A-4247-868A-EA0F553DD852}" srcOrd="0" destOrd="0" presId="urn:microsoft.com/office/officeart/2005/8/layout/StepDownProcess"/>
    <dgm:cxn modelId="{4E2BCED1-7559-4CC7-B258-DA1A38432D08}" type="presParOf" srcId="{0CDAD765-1FB2-4FCF-96D8-78607D181C88}" destId="{1727784D-C0DC-4B55-BA18-0A65C5DD0C15}" srcOrd="1" destOrd="0" presId="urn:microsoft.com/office/officeart/2005/8/layout/StepDownProcess"/>
    <dgm:cxn modelId="{CCF3A787-F8B7-4D8E-A995-E25B05CF08CA}" type="presParOf" srcId="{0CDAD765-1FB2-4FCF-96D8-78607D181C88}" destId="{0404AFA0-88A8-4796-B537-7BAA35B24F5A}" srcOrd="2" destOrd="0" presId="urn:microsoft.com/office/officeart/2005/8/layout/StepDownProcess"/>
    <dgm:cxn modelId="{587ED3A2-EA6E-4F3B-A07E-7746CD921D92}" type="presParOf" srcId="{F6431CEA-32A8-4A9A-BE51-09DCABE0B7E8}" destId="{8146B1F7-EC5C-4521-AC06-1F231E5D6840}" srcOrd="5" destOrd="0" presId="urn:microsoft.com/office/officeart/2005/8/layout/StepDownProcess"/>
    <dgm:cxn modelId="{1D1B76E5-534E-47A6-8D3D-E236B92E460D}" type="presParOf" srcId="{F6431CEA-32A8-4A9A-BE51-09DCABE0B7E8}" destId="{A74CEFBC-1EB5-4854-89F5-DE8EAEA8C7D9}" srcOrd="6" destOrd="0" presId="urn:microsoft.com/office/officeart/2005/8/layout/StepDownProcess"/>
    <dgm:cxn modelId="{09E0ABDA-8153-47F1-AE28-42923B7EEB28}" type="presParOf" srcId="{A74CEFBC-1EB5-4854-89F5-DE8EAEA8C7D9}" destId="{53B8D4CA-918F-428C-AF1F-E64C532E56BA}" srcOrd="0" destOrd="0" presId="urn:microsoft.com/office/officeart/2005/8/layout/StepDownProcess"/>
    <dgm:cxn modelId="{A2721F35-F40E-4544-9D31-535CEC9E2DB8}" type="presParOf" srcId="{A74CEFBC-1EB5-4854-89F5-DE8EAEA8C7D9}" destId="{49EDF67D-E435-4C7E-8293-A61802F3260B}" srcOrd="1" destOrd="0" presId="urn:microsoft.com/office/officeart/2005/8/layout/StepDownProcess"/>
    <dgm:cxn modelId="{3D61688B-EC97-438C-BB8A-BB38DA296F32}" type="presParOf" srcId="{A74CEFBC-1EB5-4854-89F5-DE8EAEA8C7D9}" destId="{8860D4D3-4052-4931-9734-D3BF7C56AD90}" srcOrd="2" destOrd="0" presId="urn:microsoft.com/office/officeart/2005/8/layout/StepDownProcess"/>
    <dgm:cxn modelId="{CE0A2238-1791-45F4-A509-F8BA8D90CE27}" type="presParOf" srcId="{F6431CEA-32A8-4A9A-BE51-09DCABE0B7E8}" destId="{48AD02DC-4597-4C87-A883-3DE2D06EE7B2}" srcOrd="7" destOrd="0" presId="urn:microsoft.com/office/officeart/2005/8/layout/StepDownProcess"/>
    <dgm:cxn modelId="{CDCC407E-21CC-48F9-A9A8-BEA76846C9BE}" type="presParOf" srcId="{F6431CEA-32A8-4A9A-BE51-09DCABE0B7E8}" destId="{7A459191-D4CE-44E2-9DF6-F9959926268E}" srcOrd="8" destOrd="0" presId="urn:microsoft.com/office/officeart/2005/8/layout/StepDownProcess"/>
    <dgm:cxn modelId="{05D31C0C-FAE4-494C-8DF1-F23F842AE3C8}" type="presParOf" srcId="{7A459191-D4CE-44E2-9DF6-F9959926268E}" destId="{9693D540-EED1-4F55-9193-418668D014D5}" srcOrd="0" destOrd="0" presId="urn:microsoft.com/office/officeart/2005/8/layout/StepDownProcess"/>
    <dgm:cxn modelId="{6CAE724D-2B40-48C0-8F72-9D143C5EAA29}" type="presParOf" srcId="{7A459191-D4CE-44E2-9DF6-F9959926268E}" destId="{0C461006-C398-4052-8AF1-1D76EBE76915}" srcOrd="1" destOrd="0" presId="urn:microsoft.com/office/officeart/2005/8/layout/StepDownProcess"/>
    <dgm:cxn modelId="{DEB58980-E590-4AE5-91C2-C2FE2571E2E7}" type="presParOf" srcId="{7A459191-D4CE-44E2-9DF6-F9959926268E}" destId="{0729D763-9DC0-4635-8603-05D2A025937F}" srcOrd="2" destOrd="0" presId="urn:microsoft.com/office/officeart/2005/8/layout/StepDownProcess"/>
    <dgm:cxn modelId="{1D0376CF-89D6-4A53-B9BF-D8AFCD99B905}" type="presParOf" srcId="{F6431CEA-32A8-4A9A-BE51-09DCABE0B7E8}" destId="{A85F62D2-2D06-4CAF-8534-AD5BC6424890}" srcOrd="9" destOrd="0" presId="urn:microsoft.com/office/officeart/2005/8/layout/StepDownProcess"/>
    <dgm:cxn modelId="{B0426E67-1783-4547-AD82-20DFBEB7D42D}" type="presParOf" srcId="{F6431CEA-32A8-4A9A-BE51-09DCABE0B7E8}" destId="{168DDBB4-94E7-4E41-A6FE-6948CBA76CF6}" srcOrd="10" destOrd="0" presId="urn:microsoft.com/office/officeart/2005/8/layout/StepDownProcess"/>
    <dgm:cxn modelId="{111F6C1C-AA93-4285-B89A-B375167EEAA8}" type="presParOf" srcId="{168DDBB4-94E7-4E41-A6FE-6948CBA76CF6}" destId="{A2EA0D91-1B38-459D-A806-C5AA1523BF25}" srcOrd="0" destOrd="0" presId="urn:microsoft.com/office/officeart/2005/8/layout/StepDownProcess"/>
    <dgm:cxn modelId="{FD328AD6-70B4-4446-A846-0360B41B5823}" type="presParOf" srcId="{168DDBB4-94E7-4E41-A6FE-6948CBA76CF6}" destId="{1F7A8670-DD90-4C9A-AB83-E238D209760B}" srcOrd="1" destOrd="0" presId="urn:microsoft.com/office/officeart/2005/8/layout/StepDownProcess"/>
    <dgm:cxn modelId="{4C564691-A5DE-4B48-BDB2-E613968A7BD1}" type="presParOf" srcId="{168DDBB4-94E7-4E41-A6FE-6948CBA76CF6}" destId="{127842BC-53C3-40C1-8CB3-83A7689732FC}" srcOrd="2" destOrd="0" presId="urn:microsoft.com/office/officeart/2005/8/layout/StepDownProcess"/>
    <dgm:cxn modelId="{6E11DCED-B784-4EBF-93CC-4848E32540B6}" type="presParOf" srcId="{F6431CEA-32A8-4A9A-BE51-09DCABE0B7E8}" destId="{4AB08162-FA50-401B-A918-DFE9C4984980}" srcOrd="11" destOrd="0" presId="urn:microsoft.com/office/officeart/2005/8/layout/StepDownProcess"/>
    <dgm:cxn modelId="{490C88BE-F929-4293-8A6A-921295DBC42D}" type="presParOf" srcId="{F6431CEA-32A8-4A9A-BE51-09DCABE0B7E8}" destId="{FCAC3A68-07FA-4742-923E-1D257A1274B6}" srcOrd="12" destOrd="0" presId="urn:microsoft.com/office/officeart/2005/8/layout/StepDownProcess"/>
    <dgm:cxn modelId="{D8737D91-9AF5-4D13-BA95-D583773F9D78}" type="presParOf" srcId="{FCAC3A68-07FA-4742-923E-1D257A1274B6}" destId="{6B00DD4F-5F4F-4619-927E-C96EA3D7F747}"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0A6D7C-74D5-4D2B-8B97-645A4A27E989}">
      <dsp:nvSpPr>
        <dsp:cNvPr id="0" name=""/>
        <dsp:cNvSpPr/>
      </dsp:nvSpPr>
      <dsp:spPr>
        <a:xfrm rot="5400000">
          <a:off x="1798389" y="627577"/>
          <a:ext cx="534223" cy="60819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49CD83-53AC-496C-BB3E-EBD4735DCD6C}">
      <dsp:nvSpPr>
        <dsp:cNvPr id="0" name=""/>
        <dsp:cNvSpPr/>
      </dsp:nvSpPr>
      <dsp:spPr>
        <a:xfrm>
          <a:off x="1656853" y="35380"/>
          <a:ext cx="899317" cy="629492"/>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ahoma" panose="020B0604030504040204" pitchFamily="34" charset="0"/>
              <a:ea typeface="Tahoma" panose="020B0604030504040204" pitchFamily="34" charset="0"/>
              <a:cs typeface="Tahoma" panose="020B0604030504040204" pitchFamily="34" charset="0"/>
            </a:rPr>
            <a:t>CT Scanning and Reconstruction</a:t>
          </a:r>
        </a:p>
      </dsp:txBody>
      <dsp:txXfrm>
        <a:off x="1687588" y="66115"/>
        <a:ext cx="837847" cy="568022"/>
      </dsp:txXfrm>
    </dsp:sp>
    <dsp:sp modelId="{69456159-6C83-4E84-989D-BF3005F901D5}">
      <dsp:nvSpPr>
        <dsp:cNvPr id="0" name=""/>
        <dsp:cNvSpPr/>
      </dsp:nvSpPr>
      <dsp:spPr>
        <a:xfrm>
          <a:off x="2556170" y="95417"/>
          <a:ext cx="654077" cy="508783"/>
        </a:xfrm>
        <a:prstGeom prst="rect">
          <a:avLst/>
        </a:prstGeom>
        <a:noFill/>
        <a:ln>
          <a:noFill/>
        </a:ln>
        <a:effectLst/>
      </dsp:spPr>
      <dsp:style>
        <a:lnRef idx="0">
          <a:scrgbClr r="0" g="0" b="0"/>
        </a:lnRef>
        <a:fillRef idx="0">
          <a:scrgbClr r="0" g="0" b="0"/>
        </a:fillRef>
        <a:effectRef idx="0">
          <a:scrgbClr r="0" g="0" b="0"/>
        </a:effectRef>
        <a:fontRef idx="minor"/>
      </dsp:style>
    </dsp:sp>
    <dsp:sp modelId="{C093306D-FFE7-44C1-B53E-7E3E8C0C5DBF}">
      <dsp:nvSpPr>
        <dsp:cNvPr id="0" name=""/>
        <dsp:cNvSpPr/>
      </dsp:nvSpPr>
      <dsp:spPr>
        <a:xfrm rot="5400000">
          <a:off x="2544019" y="1334705"/>
          <a:ext cx="534223" cy="60819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A1FED50-1865-41E4-BA57-646AE711403C}">
      <dsp:nvSpPr>
        <dsp:cNvPr id="0" name=""/>
        <dsp:cNvSpPr/>
      </dsp:nvSpPr>
      <dsp:spPr>
        <a:xfrm>
          <a:off x="2402482" y="742508"/>
          <a:ext cx="899317" cy="629492"/>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ahoma" panose="020B0604030504040204" pitchFamily="34" charset="0"/>
              <a:ea typeface="Tahoma" panose="020B0604030504040204" pitchFamily="34" charset="0"/>
              <a:cs typeface="Tahoma" panose="020B0604030504040204" pitchFamily="34" charset="0"/>
            </a:rPr>
            <a:t>Phase Segmentation</a:t>
          </a:r>
        </a:p>
      </dsp:txBody>
      <dsp:txXfrm>
        <a:off x="2433217" y="773243"/>
        <a:ext cx="837847" cy="568022"/>
      </dsp:txXfrm>
    </dsp:sp>
    <dsp:sp modelId="{099F7AE0-B5AE-41A0-AF48-A3E886B54BFE}">
      <dsp:nvSpPr>
        <dsp:cNvPr id="0" name=""/>
        <dsp:cNvSpPr/>
      </dsp:nvSpPr>
      <dsp:spPr>
        <a:xfrm>
          <a:off x="3301799" y="802545"/>
          <a:ext cx="654077" cy="508783"/>
        </a:xfrm>
        <a:prstGeom prst="rect">
          <a:avLst/>
        </a:prstGeom>
        <a:noFill/>
        <a:ln>
          <a:noFill/>
        </a:ln>
        <a:effectLst/>
      </dsp:spPr>
      <dsp:style>
        <a:lnRef idx="0">
          <a:scrgbClr r="0" g="0" b="0"/>
        </a:lnRef>
        <a:fillRef idx="0">
          <a:scrgbClr r="0" g="0" b="0"/>
        </a:fillRef>
        <a:effectRef idx="0">
          <a:scrgbClr r="0" g="0" b="0"/>
        </a:effectRef>
        <a:fontRef idx="minor"/>
      </dsp:style>
    </dsp:sp>
    <dsp:sp modelId="{2522AC4B-008A-4247-868A-EA0F553DD852}">
      <dsp:nvSpPr>
        <dsp:cNvPr id="0" name=""/>
        <dsp:cNvSpPr/>
      </dsp:nvSpPr>
      <dsp:spPr>
        <a:xfrm rot="5400000">
          <a:off x="3289648" y="2041833"/>
          <a:ext cx="534223" cy="60819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727784D-C0DC-4B55-BA18-0A65C5DD0C15}">
      <dsp:nvSpPr>
        <dsp:cNvPr id="0" name=""/>
        <dsp:cNvSpPr/>
      </dsp:nvSpPr>
      <dsp:spPr>
        <a:xfrm>
          <a:off x="3148112" y="1449637"/>
          <a:ext cx="899317" cy="629492"/>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ahoma" panose="020B0604030504040204" pitchFamily="34" charset="0"/>
              <a:ea typeface="Tahoma" panose="020B0604030504040204" pitchFamily="34" charset="0"/>
              <a:cs typeface="Tahoma" panose="020B0604030504040204" pitchFamily="34" charset="0"/>
            </a:rPr>
            <a:t>Image Post-Processing (Re-gridding)</a:t>
          </a:r>
        </a:p>
      </dsp:txBody>
      <dsp:txXfrm>
        <a:off x="3178847" y="1480372"/>
        <a:ext cx="837847" cy="568022"/>
      </dsp:txXfrm>
    </dsp:sp>
    <dsp:sp modelId="{0404AFA0-88A8-4796-B537-7BAA35B24F5A}">
      <dsp:nvSpPr>
        <dsp:cNvPr id="0" name=""/>
        <dsp:cNvSpPr/>
      </dsp:nvSpPr>
      <dsp:spPr>
        <a:xfrm>
          <a:off x="4047429" y="1509673"/>
          <a:ext cx="654077" cy="508783"/>
        </a:xfrm>
        <a:prstGeom prst="rect">
          <a:avLst/>
        </a:prstGeom>
        <a:noFill/>
        <a:ln>
          <a:noFill/>
        </a:ln>
        <a:effectLst/>
      </dsp:spPr>
      <dsp:style>
        <a:lnRef idx="0">
          <a:scrgbClr r="0" g="0" b="0"/>
        </a:lnRef>
        <a:fillRef idx="0">
          <a:scrgbClr r="0" g="0" b="0"/>
        </a:fillRef>
        <a:effectRef idx="0">
          <a:scrgbClr r="0" g="0" b="0"/>
        </a:effectRef>
        <a:fontRef idx="minor"/>
      </dsp:style>
    </dsp:sp>
    <dsp:sp modelId="{53B8D4CA-918F-428C-AF1F-E64C532E56BA}">
      <dsp:nvSpPr>
        <dsp:cNvPr id="0" name=""/>
        <dsp:cNvSpPr/>
      </dsp:nvSpPr>
      <dsp:spPr>
        <a:xfrm rot="5400000">
          <a:off x="4035278" y="2748962"/>
          <a:ext cx="534223" cy="60819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9EDF67D-E435-4C7E-8293-A61802F3260B}">
      <dsp:nvSpPr>
        <dsp:cNvPr id="0" name=""/>
        <dsp:cNvSpPr/>
      </dsp:nvSpPr>
      <dsp:spPr>
        <a:xfrm>
          <a:off x="3893741" y="2156765"/>
          <a:ext cx="899317" cy="629492"/>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ahoma" panose="020B0604030504040204" pitchFamily="34" charset="0"/>
              <a:ea typeface="Tahoma" panose="020B0604030504040204" pitchFamily="34" charset="0"/>
              <a:cs typeface="Tahoma" panose="020B0604030504040204" pitchFamily="34" charset="0"/>
            </a:rPr>
            <a:t>Connectivity Analysis</a:t>
          </a:r>
        </a:p>
      </dsp:txBody>
      <dsp:txXfrm>
        <a:off x="3924476" y="2187500"/>
        <a:ext cx="837847" cy="568022"/>
      </dsp:txXfrm>
    </dsp:sp>
    <dsp:sp modelId="{8860D4D3-4052-4931-9734-D3BF7C56AD90}">
      <dsp:nvSpPr>
        <dsp:cNvPr id="0" name=""/>
        <dsp:cNvSpPr/>
      </dsp:nvSpPr>
      <dsp:spPr>
        <a:xfrm>
          <a:off x="4793058" y="2216801"/>
          <a:ext cx="654077" cy="508783"/>
        </a:xfrm>
        <a:prstGeom prst="rect">
          <a:avLst/>
        </a:prstGeom>
        <a:noFill/>
        <a:ln>
          <a:noFill/>
        </a:ln>
        <a:effectLst/>
      </dsp:spPr>
      <dsp:style>
        <a:lnRef idx="0">
          <a:scrgbClr r="0" g="0" b="0"/>
        </a:lnRef>
        <a:fillRef idx="0">
          <a:scrgbClr r="0" g="0" b="0"/>
        </a:fillRef>
        <a:effectRef idx="0">
          <a:scrgbClr r="0" g="0" b="0"/>
        </a:effectRef>
        <a:fontRef idx="minor"/>
      </dsp:style>
    </dsp:sp>
    <dsp:sp modelId="{9693D540-EED1-4F55-9193-418668D014D5}">
      <dsp:nvSpPr>
        <dsp:cNvPr id="0" name=""/>
        <dsp:cNvSpPr/>
      </dsp:nvSpPr>
      <dsp:spPr>
        <a:xfrm rot="5400000">
          <a:off x="4780907" y="3456090"/>
          <a:ext cx="534223" cy="60819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461006-C398-4052-8AF1-1D76EBE76915}">
      <dsp:nvSpPr>
        <dsp:cNvPr id="0" name=""/>
        <dsp:cNvSpPr/>
      </dsp:nvSpPr>
      <dsp:spPr>
        <a:xfrm>
          <a:off x="4639370" y="2863893"/>
          <a:ext cx="899317" cy="629492"/>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ahoma" panose="020B0604030504040204" pitchFamily="34" charset="0"/>
              <a:ea typeface="Tahoma" panose="020B0604030504040204" pitchFamily="34" charset="0"/>
              <a:cs typeface="Tahoma" panose="020B0604030504040204" pitchFamily="34" charset="0"/>
            </a:rPr>
            <a:t>Pore Network Extraction</a:t>
          </a:r>
        </a:p>
      </dsp:txBody>
      <dsp:txXfrm>
        <a:off x="4670105" y="2894628"/>
        <a:ext cx="837847" cy="568022"/>
      </dsp:txXfrm>
    </dsp:sp>
    <dsp:sp modelId="{0729D763-9DC0-4635-8603-05D2A025937F}">
      <dsp:nvSpPr>
        <dsp:cNvPr id="0" name=""/>
        <dsp:cNvSpPr/>
      </dsp:nvSpPr>
      <dsp:spPr>
        <a:xfrm>
          <a:off x="5538687" y="2923929"/>
          <a:ext cx="654077" cy="508783"/>
        </a:xfrm>
        <a:prstGeom prst="rect">
          <a:avLst/>
        </a:prstGeom>
        <a:noFill/>
        <a:ln>
          <a:noFill/>
        </a:ln>
        <a:effectLst/>
      </dsp:spPr>
      <dsp:style>
        <a:lnRef idx="0">
          <a:scrgbClr r="0" g="0" b="0"/>
        </a:lnRef>
        <a:fillRef idx="0">
          <a:scrgbClr r="0" g="0" b="0"/>
        </a:fillRef>
        <a:effectRef idx="0">
          <a:scrgbClr r="0" g="0" b="0"/>
        </a:effectRef>
        <a:fontRef idx="minor"/>
      </dsp:style>
    </dsp:sp>
    <dsp:sp modelId="{A2EA0D91-1B38-459D-A806-C5AA1523BF25}">
      <dsp:nvSpPr>
        <dsp:cNvPr id="0" name=""/>
        <dsp:cNvSpPr/>
      </dsp:nvSpPr>
      <dsp:spPr>
        <a:xfrm rot="5400000">
          <a:off x="5526536" y="4163218"/>
          <a:ext cx="534223" cy="60819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7A8670-DD90-4C9A-AB83-E238D209760B}">
      <dsp:nvSpPr>
        <dsp:cNvPr id="0" name=""/>
        <dsp:cNvSpPr/>
      </dsp:nvSpPr>
      <dsp:spPr>
        <a:xfrm>
          <a:off x="5385000" y="3571021"/>
          <a:ext cx="899317" cy="629492"/>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ahoma" panose="020B0604030504040204" pitchFamily="34" charset="0"/>
              <a:ea typeface="Tahoma" panose="020B0604030504040204" pitchFamily="34" charset="0"/>
              <a:cs typeface="Tahoma" panose="020B0604030504040204" pitchFamily="34" charset="0"/>
            </a:rPr>
            <a:t>Application of EDL Model</a:t>
          </a:r>
        </a:p>
      </dsp:txBody>
      <dsp:txXfrm>
        <a:off x="5415735" y="3601756"/>
        <a:ext cx="837847" cy="568022"/>
      </dsp:txXfrm>
    </dsp:sp>
    <dsp:sp modelId="{127842BC-53C3-40C1-8CB3-83A7689732FC}">
      <dsp:nvSpPr>
        <dsp:cNvPr id="0" name=""/>
        <dsp:cNvSpPr/>
      </dsp:nvSpPr>
      <dsp:spPr>
        <a:xfrm>
          <a:off x="6284317" y="3631057"/>
          <a:ext cx="654077" cy="508783"/>
        </a:xfrm>
        <a:prstGeom prst="rect">
          <a:avLst/>
        </a:prstGeom>
        <a:noFill/>
        <a:ln>
          <a:noFill/>
        </a:ln>
        <a:effectLst/>
      </dsp:spPr>
      <dsp:style>
        <a:lnRef idx="0">
          <a:scrgbClr r="0" g="0" b="0"/>
        </a:lnRef>
        <a:fillRef idx="0">
          <a:scrgbClr r="0" g="0" b="0"/>
        </a:fillRef>
        <a:effectRef idx="0">
          <a:scrgbClr r="0" g="0" b="0"/>
        </a:effectRef>
        <a:fontRef idx="minor"/>
      </dsp:style>
    </dsp:sp>
    <dsp:sp modelId="{6B00DD4F-5F4F-4619-927E-C96EA3D7F747}">
      <dsp:nvSpPr>
        <dsp:cNvPr id="0" name=""/>
        <dsp:cNvSpPr/>
      </dsp:nvSpPr>
      <dsp:spPr>
        <a:xfrm>
          <a:off x="6130629" y="4278149"/>
          <a:ext cx="899317" cy="629492"/>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ahoma" panose="020B0604030504040204" pitchFamily="34" charset="0"/>
              <a:ea typeface="Tahoma" panose="020B0604030504040204" pitchFamily="34" charset="0"/>
              <a:cs typeface="Tahoma" panose="020B0604030504040204" pitchFamily="34" charset="0"/>
            </a:rPr>
            <a:t>Effective (Bulk) Conductivity Calculation</a:t>
          </a:r>
        </a:p>
      </dsp:txBody>
      <dsp:txXfrm>
        <a:off x="6161364" y="4308884"/>
        <a:ext cx="837847" cy="568022"/>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EB0F946-2EEB-4E22-80D7-DAD11578E4EE}" type="datetimeFigureOut">
              <a:rPr lang="en-US" smtClean="0"/>
              <a:t>6/9/26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A43EE-AE43-4F65-83EF-49BE4DCEF3F7}" type="slidenum">
              <a:rPr lang="en-US" smtClean="0"/>
              <a:t>‹#›</a:t>
            </a:fld>
            <a:endParaRPr lang="en-US"/>
          </a:p>
        </p:txBody>
      </p:sp>
    </p:spTree>
    <p:extLst>
      <p:ext uri="{BB962C8B-B14F-4D97-AF65-F5344CB8AC3E}">
        <p14:creationId xmlns:p14="http://schemas.microsoft.com/office/powerpoint/2010/main" val="149915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B0F946-2EEB-4E22-80D7-DAD11578E4EE}" type="datetimeFigureOut">
              <a:rPr lang="en-US" smtClean="0"/>
              <a:t>6/9/26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A43EE-AE43-4F65-83EF-49BE4DCEF3F7}" type="slidenum">
              <a:rPr lang="en-US" smtClean="0"/>
              <a:t>‹#›</a:t>
            </a:fld>
            <a:endParaRPr lang="en-US"/>
          </a:p>
        </p:txBody>
      </p:sp>
    </p:spTree>
    <p:extLst>
      <p:ext uri="{BB962C8B-B14F-4D97-AF65-F5344CB8AC3E}">
        <p14:creationId xmlns:p14="http://schemas.microsoft.com/office/powerpoint/2010/main" val="363128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EB0F946-2EEB-4E22-80D7-DAD11578E4EE}" type="datetimeFigureOut">
              <a:rPr lang="en-US" smtClean="0"/>
              <a:t>6/9/26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A43EE-AE43-4F65-83EF-49BE4DCEF3F7}" type="slidenum">
              <a:rPr lang="en-US" smtClean="0"/>
              <a:t>‹#›</a:t>
            </a:fld>
            <a:endParaRPr lang="en-US"/>
          </a:p>
        </p:txBody>
      </p:sp>
    </p:spTree>
    <p:extLst>
      <p:ext uri="{BB962C8B-B14F-4D97-AF65-F5344CB8AC3E}">
        <p14:creationId xmlns:p14="http://schemas.microsoft.com/office/powerpoint/2010/main" val="1510309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B0F946-2EEB-4E22-80D7-DAD11578E4EE}" type="datetimeFigureOut">
              <a:rPr lang="en-US" smtClean="0"/>
              <a:t>6/9/26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5A43EE-AE43-4F65-83EF-49BE4DCEF3F7}" type="slidenum">
              <a:rPr lang="en-US" smtClean="0"/>
              <a:t>‹#›</a:t>
            </a:fld>
            <a:endParaRPr lang="en-US"/>
          </a:p>
        </p:txBody>
      </p:sp>
    </p:spTree>
    <p:extLst>
      <p:ext uri="{BB962C8B-B14F-4D97-AF65-F5344CB8AC3E}">
        <p14:creationId xmlns:p14="http://schemas.microsoft.com/office/powerpoint/2010/main" val="1261593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B0F946-2EEB-4E22-80D7-DAD11578E4EE}" type="datetimeFigureOut">
              <a:rPr lang="en-US" smtClean="0"/>
              <a:t>6/9/26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5A43EE-AE43-4F65-83EF-49BE4DCEF3F7}" type="slidenum">
              <a:rPr lang="en-US" smtClean="0"/>
              <a:t>‹#›</a:t>
            </a:fld>
            <a:endParaRPr lang="en-US"/>
          </a:p>
        </p:txBody>
      </p:sp>
    </p:spTree>
    <p:extLst>
      <p:ext uri="{BB962C8B-B14F-4D97-AF65-F5344CB8AC3E}">
        <p14:creationId xmlns:p14="http://schemas.microsoft.com/office/powerpoint/2010/main" val="3863333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B0F946-2EEB-4E22-80D7-DAD11578E4EE}" type="datetimeFigureOut">
              <a:rPr lang="en-US" smtClean="0"/>
              <a:t>6/9/26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5A43EE-AE43-4F65-83EF-49BE4DCEF3F7}" type="slidenum">
              <a:rPr lang="en-US" smtClean="0"/>
              <a:t>‹#›</a:t>
            </a:fld>
            <a:endParaRPr lang="en-US"/>
          </a:p>
        </p:txBody>
      </p:sp>
    </p:spTree>
    <p:extLst>
      <p:ext uri="{BB962C8B-B14F-4D97-AF65-F5344CB8AC3E}">
        <p14:creationId xmlns:p14="http://schemas.microsoft.com/office/powerpoint/2010/main" val="28344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B0F946-2EEB-4E22-80D7-DAD11578E4EE}" type="datetimeFigureOut">
              <a:rPr lang="en-US" smtClean="0"/>
              <a:t>6/9/26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5A43EE-AE43-4F65-83EF-49BE4DCEF3F7}" type="slidenum">
              <a:rPr lang="en-US" smtClean="0"/>
              <a:t>‹#›</a:t>
            </a:fld>
            <a:endParaRPr lang="en-US"/>
          </a:p>
        </p:txBody>
      </p:sp>
    </p:spTree>
    <p:extLst>
      <p:ext uri="{BB962C8B-B14F-4D97-AF65-F5344CB8AC3E}">
        <p14:creationId xmlns:p14="http://schemas.microsoft.com/office/powerpoint/2010/main" val="3110261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B0F946-2EEB-4E22-80D7-DAD11578E4EE}" type="datetimeFigureOut">
              <a:rPr lang="en-US" smtClean="0"/>
              <a:t>6/9/26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5A43EE-AE43-4F65-83EF-49BE4DCEF3F7}" type="slidenum">
              <a:rPr lang="en-US" smtClean="0"/>
              <a:t>‹#›</a:t>
            </a:fld>
            <a:endParaRPr lang="en-US"/>
          </a:p>
        </p:txBody>
      </p:sp>
    </p:spTree>
    <p:extLst>
      <p:ext uri="{BB962C8B-B14F-4D97-AF65-F5344CB8AC3E}">
        <p14:creationId xmlns:p14="http://schemas.microsoft.com/office/powerpoint/2010/main" val="2765381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B0F946-2EEB-4E22-80D7-DAD11578E4EE}" type="datetimeFigureOut">
              <a:rPr lang="en-US" smtClean="0"/>
              <a:t>6/9/26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5A43EE-AE43-4F65-83EF-49BE4DCEF3F7}" type="slidenum">
              <a:rPr lang="en-US" smtClean="0"/>
              <a:t>‹#›</a:t>
            </a:fld>
            <a:endParaRPr lang="en-US"/>
          </a:p>
        </p:txBody>
      </p:sp>
    </p:spTree>
    <p:extLst>
      <p:ext uri="{BB962C8B-B14F-4D97-AF65-F5344CB8AC3E}">
        <p14:creationId xmlns:p14="http://schemas.microsoft.com/office/powerpoint/2010/main" val="3027065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B0F946-2EEB-4E22-80D7-DAD11578E4EE}" type="datetimeFigureOut">
              <a:rPr lang="en-US" smtClean="0"/>
              <a:t>6/9/26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A43EE-AE43-4F65-83EF-49BE4DCEF3F7}" type="slidenum">
              <a:rPr lang="en-US" smtClean="0"/>
              <a:t>‹#›</a:t>
            </a:fld>
            <a:endParaRPr lang="en-US"/>
          </a:p>
        </p:txBody>
      </p:sp>
    </p:spTree>
    <p:extLst>
      <p:ext uri="{BB962C8B-B14F-4D97-AF65-F5344CB8AC3E}">
        <p14:creationId xmlns:p14="http://schemas.microsoft.com/office/powerpoint/2010/main" val="1427057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B0F946-2EEB-4E22-80D7-DAD11578E4EE}" type="datetimeFigureOut">
              <a:rPr lang="en-US" smtClean="0"/>
              <a:t>6/9/26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A43EE-AE43-4F65-83EF-49BE4DCEF3F7}" type="slidenum">
              <a:rPr lang="en-US" smtClean="0"/>
              <a:t>‹#›</a:t>
            </a:fld>
            <a:endParaRPr lang="en-US"/>
          </a:p>
        </p:txBody>
      </p:sp>
    </p:spTree>
    <p:extLst>
      <p:ext uri="{BB962C8B-B14F-4D97-AF65-F5344CB8AC3E}">
        <p14:creationId xmlns:p14="http://schemas.microsoft.com/office/powerpoint/2010/main" val="2766401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B0F946-2EEB-4E22-80D7-DAD11578E4EE}" type="datetimeFigureOut">
              <a:rPr lang="en-US" smtClean="0"/>
              <a:t>6/9/26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5A43EE-AE43-4F65-83EF-49BE4DCEF3F7}" type="slidenum">
              <a:rPr lang="en-US" smtClean="0"/>
              <a:t>‹#›</a:t>
            </a:fld>
            <a:endParaRPr lang="en-US"/>
          </a:p>
        </p:txBody>
      </p:sp>
    </p:spTree>
    <p:extLst>
      <p:ext uri="{BB962C8B-B14F-4D97-AF65-F5344CB8AC3E}">
        <p14:creationId xmlns:p14="http://schemas.microsoft.com/office/powerpoint/2010/main" val="28578611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image" Target="../media/image1.t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tif"/><Relationship Id="rId7" Type="http://schemas.openxmlformats.org/officeDocument/2006/relationships/image" Target="../media/image14.tif"/><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tif"/><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jp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14.tif"/></Relationships>
</file>

<file path=ppt/slides/_rels/slide2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oi.org/10.1016/j.cageo.2012.09.008" TargetMode="External"/><Relationship Id="rId2" Type="http://schemas.openxmlformats.org/officeDocument/2006/relationships/hyperlink" Target="https://doi.org/10.1016/j.cageo.2012.09.005" TargetMode="External"/><Relationship Id="rId1" Type="http://schemas.openxmlformats.org/officeDocument/2006/relationships/slideLayout" Target="../slideLayouts/slideLayout2.xml"/><Relationship Id="rId5" Type="http://schemas.openxmlformats.org/officeDocument/2006/relationships/hyperlink" Target="https://doi.org/10.1016/j.jcis.2007.12.031" TargetMode="External"/><Relationship Id="rId4" Type="http://schemas.openxmlformats.org/officeDocument/2006/relationships/hyperlink" Target="https://doi.org/10.1016/j.jappgeo.2014.07.013"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9.png"/><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20.png"/><Relationship Id="rId4" Type="http://schemas.openxmlformats.org/officeDocument/2006/relationships/image" Target="../media/image59.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39893-FBBC-4EDC-8795-F4D6D0B1D66E}"/>
              </a:ext>
            </a:extLst>
          </p:cNvPr>
          <p:cNvSpPr>
            <a:spLocks noGrp="1"/>
          </p:cNvSpPr>
          <p:nvPr>
            <p:ph type="ctrTitle"/>
          </p:nvPr>
        </p:nvSpPr>
        <p:spPr>
          <a:xfrm>
            <a:off x="685800" y="767751"/>
            <a:ext cx="7772400" cy="2742212"/>
          </a:xfrm>
        </p:spPr>
        <p:txBody>
          <a:bodyPr anchor="ctr" anchorCtr="0">
            <a:noAutofit/>
          </a:bodyPr>
          <a:lstStyle/>
          <a:p>
            <a:r>
              <a:rPr lang="en-US" sz="3600" dirty="0">
                <a:latin typeface="Tahoma" panose="020B0604030504040204" pitchFamily="34" charset="0"/>
                <a:ea typeface="Tahoma" panose="020B0604030504040204" pitchFamily="34" charset="0"/>
                <a:cs typeface="Tahoma" panose="020B0604030504040204" pitchFamily="34" charset="0"/>
              </a:rPr>
              <a:t>Simulating complex conductivity in carbonate rocks: using digital carbonate rocks and comparison to laboratory measurements</a:t>
            </a:r>
            <a:br>
              <a:rPr lang="en-US" sz="3600" dirty="0">
                <a:latin typeface="Tahoma" panose="020B0604030504040204" pitchFamily="34" charset="0"/>
                <a:ea typeface="Tahoma" panose="020B0604030504040204" pitchFamily="34" charset="0"/>
                <a:cs typeface="Tahoma" panose="020B0604030504040204" pitchFamily="34" charset="0"/>
              </a:rPr>
            </a:br>
            <a:endParaRPr lang="en-US" sz="3600" dirty="0">
              <a:latin typeface="Tahoma" panose="020B0604030504040204" pitchFamily="34" charset="0"/>
              <a:ea typeface="Tahoma" panose="020B0604030504040204" pitchFamily="34" charset="0"/>
              <a:cs typeface="Tahoma" panose="020B0604030504040204" pitchFamily="34" charset="0"/>
            </a:endParaRPr>
          </a:p>
        </p:txBody>
      </p:sp>
      <p:sp>
        <p:nvSpPr>
          <p:cNvPr id="3" name="Subtitle 2">
            <a:extLst>
              <a:ext uri="{FF2B5EF4-FFF2-40B4-BE49-F238E27FC236}">
                <a16:creationId xmlns:a16="http://schemas.microsoft.com/office/drawing/2014/main" id="{45386055-73A0-4092-BC54-268F41E2C668}"/>
              </a:ext>
            </a:extLst>
          </p:cNvPr>
          <p:cNvSpPr>
            <a:spLocks noGrp="1"/>
          </p:cNvSpPr>
          <p:nvPr>
            <p:ph type="subTitle" idx="1"/>
          </p:nvPr>
        </p:nvSpPr>
        <p:spPr>
          <a:xfrm>
            <a:off x="1143000" y="3429000"/>
            <a:ext cx="6858000" cy="3092570"/>
          </a:xfrm>
        </p:spPr>
        <p:txBody>
          <a:bodyPr>
            <a:normAutofit fontScale="92500" lnSpcReduction="20000"/>
          </a:bodyPr>
          <a:lstStyle/>
          <a:p>
            <a:r>
              <a:rPr lang="en-US" dirty="0">
                <a:latin typeface="Tahoma" panose="020B0604030504040204" pitchFamily="34" charset="0"/>
                <a:ea typeface="Tahoma" panose="020B0604030504040204" pitchFamily="34" charset="0"/>
                <a:cs typeface="Tahoma" panose="020B0604030504040204" pitchFamily="34" charset="0"/>
              </a:rPr>
              <a:t>Master’s Thesis Defense for James Colgin</a:t>
            </a:r>
          </a:p>
          <a:p>
            <a:r>
              <a:rPr lang="en-US" dirty="0">
                <a:latin typeface="Tahoma" panose="020B0604030504040204" pitchFamily="34" charset="0"/>
                <a:ea typeface="Tahoma" panose="020B0604030504040204" pitchFamily="34" charset="0"/>
                <a:cs typeface="Tahoma" panose="020B0604030504040204" pitchFamily="34" charset="0"/>
              </a:rPr>
              <a:t>University of Kansas, Department of Geology</a:t>
            </a:r>
          </a:p>
          <a:p>
            <a:r>
              <a:rPr lang="en-US" dirty="0">
                <a:latin typeface="Tahoma" panose="020B0604030504040204" pitchFamily="34" charset="0"/>
                <a:ea typeface="Tahoma" panose="020B0604030504040204" pitchFamily="34" charset="0"/>
                <a:cs typeface="Tahoma" panose="020B0604030504040204" pitchFamily="34" charset="0"/>
              </a:rPr>
              <a:t>November 28, 2018</a:t>
            </a:r>
          </a:p>
          <a:p>
            <a:endParaRPr lang="en-US" dirty="0">
              <a:latin typeface="Tahoma" panose="020B0604030504040204" pitchFamily="34" charset="0"/>
              <a:ea typeface="Tahoma" panose="020B0604030504040204" pitchFamily="34" charset="0"/>
              <a:cs typeface="Tahoma" panose="020B0604030504040204" pitchFamily="34" charset="0"/>
            </a:endParaRPr>
          </a:p>
          <a:p>
            <a:r>
              <a:rPr lang="en-US" dirty="0">
                <a:latin typeface="Tahoma" panose="020B0604030504040204" pitchFamily="34" charset="0"/>
                <a:ea typeface="Tahoma" panose="020B0604030504040204" pitchFamily="34" charset="0"/>
                <a:cs typeface="Tahoma" panose="020B0604030504040204" pitchFamily="34" charset="0"/>
              </a:rPr>
              <a:t>Committee:</a:t>
            </a:r>
          </a:p>
          <a:p>
            <a:r>
              <a:rPr lang="en-US" dirty="0">
                <a:latin typeface="Tahoma" panose="020B0604030504040204" pitchFamily="34" charset="0"/>
                <a:ea typeface="Tahoma" panose="020B0604030504040204" pitchFamily="34" charset="0"/>
                <a:cs typeface="Tahoma" panose="020B0604030504040204" pitchFamily="34" charset="0"/>
              </a:rPr>
              <a:t>Chair: Chi Zhang, Department of Geology</a:t>
            </a:r>
          </a:p>
          <a:p>
            <a:r>
              <a:rPr lang="en-US" dirty="0">
                <a:latin typeface="Tahoma" panose="020B0604030504040204" pitchFamily="34" charset="0"/>
                <a:ea typeface="Tahoma" panose="020B0604030504040204" pitchFamily="34" charset="0"/>
                <a:cs typeface="Tahoma" panose="020B0604030504040204" pitchFamily="34" charset="0"/>
              </a:rPr>
              <a:t>George </a:t>
            </a:r>
            <a:r>
              <a:rPr lang="en-US" dirty="0" err="1">
                <a:latin typeface="Tahoma" panose="020B0604030504040204" pitchFamily="34" charset="0"/>
                <a:ea typeface="Tahoma" panose="020B0604030504040204" pitchFamily="34" charset="0"/>
                <a:cs typeface="Tahoma" panose="020B0604030504040204" pitchFamily="34" charset="0"/>
              </a:rPr>
              <a:t>Tsoflias</a:t>
            </a:r>
            <a:r>
              <a:rPr lang="en-US" dirty="0">
                <a:latin typeface="Tahoma" panose="020B0604030504040204" pitchFamily="34" charset="0"/>
                <a:ea typeface="Tahoma" panose="020B0604030504040204" pitchFamily="34" charset="0"/>
                <a:cs typeface="Tahoma" panose="020B0604030504040204" pitchFamily="34" charset="0"/>
              </a:rPr>
              <a:t>, Department of Geology</a:t>
            </a:r>
          </a:p>
          <a:p>
            <a:r>
              <a:rPr lang="en-US" dirty="0" err="1">
                <a:latin typeface="Tahoma" panose="020B0604030504040204" pitchFamily="34" charset="0"/>
                <a:ea typeface="Tahoma" panose="020B0604030504040204" pitchFamily="34" charset="0"/>
                <a:cs typeface="Tahoma" panose="020B0604030504040204" pitchFamily="34" charset="0"/>
              </a:rPr>
              <a:t>Xianglin</a:t>
            </a:r>
            <a:r>
              <a:rPr lang="en-US" dirty="0">
                <a:latin typeface="Tahoma" panose="020B0604030504040204" pitchFamily="34" charset="0"/>
                <a:ea typeface="Tahoma" panose="020B0604030504040204" pitchFamily="34" charset="0"/>
                <a:cs typeface="Tahoma" panose="020B0604030504040204" pitchFamily="34" charset="0"/>
              </a:rPr>
              <a:t> Li, Department of Mechanical Engineering</a:t>
            </a:r>
          </a:p>
          <a:p>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27101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6D1A4-F3D2-44F1-8C0D-B9C19DA03ED3}"/>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Outline</a:t>
            </a:r>
          </a:p>
        </p:txBody>
      </p:sp>
      <p:sp>
        <p:nvSpPr>
          <p:cNvPr id="3" name="Content Placeholder 2">
            <a:extLst>
              <a:ext uri="{FF2B5EF4-FFF2-40B4-BE49-F238E27FC236}">
                <a16:creationId xmlns:a16="http://schemas.microsoft.com/office/drawing/2014/main" id="{D6399E74-A928-46C1-B01D-00C313E3DCF4}"/>
              </a:ext>
            </a:extLst>
          </p:cNvPr>
          <p:cNvSpPr>
            <a:spLocks noGrp="1"/>
          </p:cNvSpPr>
          <p:nvPr>
            <p:ph idx="1"/>
          </p:nvPr>
        </p:nvSpPr>
        <p:spPr/>
        <p:txBody>
          <a:bodyPr/>
          <a:lstStyle/>
          <a:p>
            <a:r>
              <a:rPr lang="en-US" dirty="0">
                <a:latin typeface="Tahoma" panose="020B0604030504040204" pitchFamily="34" charset="0"/>
                <a:ea typeface="Tahoma" panose="020B0604030504040204" pitchFamily="34" charset="0"/>
                <a:cs typeface="Tahoma" panose="020B0604030504040204" pitchFamily="34" charset="0"/>
              </a:rPr>
              <a:t>Introduction</a:t>
            </a:r>
          </a:p>
          <a:p>
            <a:pPr lvl="1">
              <a:buFont typeface="Tahoma" panose="020B060403050404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Digital Rock Physics and IP theory</a:t>
            </a:r>
          </a:p>
          <a:p>
            <a:r>
              <a:rPr lang="en-US" dirty="0">
                <a:latin typeface="Tahoma" panose="020B0604030504040204" pitchFamily="34" charset="0"/>
                <a:ea typeface="Tahoma" panose="020B0604030504040204" pitchFamily="34" charset="0"/>
                <a:cs typeface="Tahoma" panose="020B0604030504040204" pitchFamily="34" charset="0"/>
              </a:rPr>
              <a:t>Methods</a:t>
            </a:r>
          </a:p>
          <a:p>
            <a:pPr lvl="1">
              <a:buFont typeface="Tahoma" panose="020B060403050404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Sample Selection, Image Processing, and Simulation Steps</a:t>
            </a:r>
          </a:p>
          <a:p>
            <a:r>
              <a:rPr lang="en-US" dirty="0">
                <a:latin typeface="Tahoma" panose="020B0604030504040204" pitchFamily="34" charset="0"/>
                <a:ea typeface="Tahoma" panose="020B0604030504040204" pitchFamily="34" charset="0"/>
                <a:cs typeface="Tahoma" panose="020B0604030504040204" pitchFamily="34" charset="0"/>
              </a:rPr>
              <a:t>Results and Discussion</a:t>
            </a:r>
          </a:p>
          <a:p>
            <a:pPr lvl="1">
              <a:buFont typeface="Tahoma" panose="020B060403050404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Laboratory Comparison, Comments on Model Parameters and Processing Steps</a:t>
            </a:r>
          </a:p>
          <a:p>
            <a:r>
              <a:rPr lang="en-US" dirty="0">
                <a:latin typeface="Tahoma" panose="020B0604030504040204" pitchFamily="34" charset="0"/>
                <a:ea typeface="Tahoma" panose="020B0604030504040204" pitchFamily="34" charset="0"/>
                <a:cs typeface="Tahoma" panose="020B0604030504040204" pitchFamily="34" charset="0"/>
              </a:rPr>
              <a:t>Conclusions and Next Steps</a:t>
            </a:r>
          </a:p>
          <a:p>
            <a:pPr lvl="1"/>
            <a:endParaRPr lang="en-US"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89028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52BE5-B152-4A6F-84CC-E1AC7A946CF9}"/>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Introduction – The Scientific Problem</a:t>
            </a:r>
          </a:p>
        </p:txBody>
      </p:sp>
      <p:sp>
        <p:nvSpPr>
          <p:cNvPr id="3" name="Content Placeholder 2">
            <a:extLst>
              <a:ext uri="{FF2B5EF4-FFF2-40B4-BE49-F238E27FC236}">
                <a16:creationId xmlns:a16="http://schemas.microsoft.com/office/drawing/2014/main" id="{7B86B60A-F4C2-44A6-A42F-45551C786F56}"/>
              </a:ext>
            </a:extLst>
          </p:cNvPr>
          <p:cNvSpPr>
            <a:spLocks noGrp="1"/>
          </p:cNvSpPr>
          <p:nvPr>
            <p:ph idx="1"/>
          </p:nvPr>
        </p:nvSpPr>
        <p:spPr>
          <a:xfrm>
            <a:off x="628649" y="1825624"/>
            <a:ext cx="4797366" cy="4790835"/>
          </a:xfrm>
        </p:spPr>
        <p:txBody>
          <a:bodyPr>
            <a:normAutofit/>
          </a:bodyPr>
          <a:lstStyle/>
          <a:p>
            <a:r>
              <a:rPr lang="en-US" dirty="0">
                <a:latin typeface="Tahoma" panose="020B0604030504040204" pitchFamily="34" charset="0"/>
                <a:ea typeface="Tahoma" panose="020B0604030504040204" pitchFamily="34" charset="0"/>
                <a:cs typeface="Tahoma" panose="020B0604030504040204" pitchFamily="34" charset="0"/>
              </a:rPr>
              <a:t>Macroscopic geophysical measurements are governed by pore-scale rock properties</a:t>
            </a:r>
          </a:p>
          <a:p>
            <a:r>
              <a:rPr lang="en-US" dirty="0">
                <a:latin typeface="Tahoma" panose="020B0604030504040204" pitchFamily="34" charset="0"/>
                <a:ea typeface="Tahoma" panose="020B0604030504040204" pitchFamily="34" charset="0"/>
                <a:cs typeface="Tahoma" panose="020B0604030504040204" pitchFamily="34" charset="0"/>
              </a:rPr>
              <a:t>Carbonate rocks are intrinsically heterogeneous and complex</a:t>
            </a:r>
          </a:p>
          <a:p>
            <a:r>
              <a:rPr lang="en-US" dirty="0">
                <a:latin typeface="Tahoma" panose="020B0604030504040204" pitchFamily="34" charset="0"/>
                <a:ea typeface="Tahoma" panose="020B0604030504040204" pitchFamily="34" charset="0"/>
                <a:cs typeface="Tahoma" panose="020B0604030504040204" pitchFamily="34" charset="0"/>
              </a:rPr>
              <a:t>How do pore-scale geometry and electrical properties control bulk complex conductivity?</a:t>
            </a:r>
          </a:p>
          <a:p>
            <a:endParaRPr lang="en-US" dirty="0">
              <a:latin typeface="Tahoma" panose="020B0604030504040204" pitchFamily="34" charset="0"/>
              <a:ea typeface="Tahoma" panose="020B0604030504040204" pitchFamily="34" charset="0"/>
              <a:cs typeface="Tahoma" panose="020B0604030504040204" pitchFamily="34" charset="0"/>
            </a:endParaRPr>
          </a:p>
        </p:txBody>
      </p:sp>
      <p:pic>
        <p:nvPicPr>
          <p:cNvPr id="5" name="Picture 4">
            <a:extLst>
              <a:ext uri="{FF2B5EF4-FFF2-40B4-BE49-F238E27FC236}">
                <a16:creationId xmlns:a16="http://schemas.microsoft.com/office/drawing/2014/main" id="{6B0B20F2-2E37-4B0E-A79C-83C5ECCEE1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4896" y="1342995"/>
            <a:ext cx="2630309" cy="2685991"/>
          </a:xfrm>
          <a:prstGeom prst="rect">
            <a:avLst/>
          </a:prstGeom>
        </p:spPr>
      </p:pic>
      <p:pic>
        <p:nvPicPr>
          <p:cNvPr id="7" name="Picture 6">
            <a:extLst>
              <a:ext uri="{FF2B5EF4-FFF2-40B4-BE49-F238E27FC236}">
                <a16:creationId xmlns:a16="http://schemas.microsoft.com/office/drawing/2014/main" id="{8C931180-F4CC-494E-816A-1614946703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4895" y="4111624"/>
            <a:ext cx="2630309" cy="2685991"/>
          </a:xfrm>
          <a:prstGeom prst="rect">
            <a:avLst/>
          </a:prstGeom>
        </p:spPr>
      </p:pic>
    </p:spTree>
    <p:extLst>
      <p:ext uri="{BB962C8B-B14F-4D97-AF65-F5344CB8AC3E}">
        <p14:creationId xmlns:p14="http://schemas.microsoft.com/office/powerpoint/2010/main" val="941185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9616C-CA44-4E28-8F2C-05BE4B09263B}"/>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Introduction – Digital Rock Physics</a:t>
            </a:r>
          </a:p>
        </p:txBody>
      </p:sp>
      <p:sp>
        <p:nvSpPr>
          <p:cNvPr id="3" name="Content Placeholder 2">
            <a:extLst>
              <a:ext uri="{FF2B5EF4-FFF2-40B4-BE49-F238E27FC236}">
                <a16:creationId xmlns:a16="http://schemas.microsoft.com/office/drawing/2014/main" id="{B48E58E5-A577-4CEC-A7AF-C4C55B020938}"/>
              </a:ext>
            </a:extLst>
          </p:cNvPr>
          <p:cNvSpPr>
            <a:spLocks noGrp="1"/>
          </p:cNvSpPr>
          <p:nvPr>
            <p:ph idx="1"/>
          </p:nvPr>
        </p:nvSpPr>
        <p:spPr>
          <a:xfrm>
            <a:off x="628650" y="1825625"/>
            <a:ext cx="3943350" cy="4877100"/>
          </a:xfrm>
        </p:spPr>
        <p:txBody>
          <a:bodyPr>
            <a:normAutofit fontScale="85000" lnSpcReduction="10000"/>
          </a:bodyPr>
          <a:lstStyle/>
          <a:p>
            <a:r>
              <a:rPr lang="en-US" sz="2600" dirty="0">
                <a:latin typeface="Tahoma" panose="020B0604030504040204" pitchFamily="34" charset="0"/>
                <a:ea typeface="Tahoma" panose="020B0604030504040204" pitchFamily="34" charset="0"/>
                <a:cs typeface="Tahoma" panose="020B0604030504040204" pitchFamily="34" charset="0"/>
              </a:rPr>
              <a:t>Digital rock physics: high-resolution 3D imaging of a real samples, digitization of the microstructure, and computation of macroscopic properties (</a:t>
            </a:r>
            <a:r>
              <a:rPr lang="en-US" sz="2600" dirty="0" err="1">
                <a:latin typeface="Tahoma" panose="020B0604030504040204" pitchFamily="34" charset="0"/>
                <a:ea typeface="Tahoma" panose="020B0604030504040204" pitchFamily="34" charset="0"/>
                <a:cs typeface="Tahoma" panose="020B0604030504040204" pitchFamily="34" charset="0"/>
              </a:rPr>
              <a:t>Andrä</a:t>
            </a:r>
            <a:r>
              <a:rPr lang="en-US" sz="2600" dirty="0">
                <a:latin typeface="Tahoma" panose="020B0604030504040204" pitchFamily="34" charset="0"/>
                <a:ea typeface="Tahoma" panose="020B0604030504040204" pitchFamily="34" charset="0"/>
                <a:cs typeface="Tahoma" panose="020B0604030504040204" pitchFamily="34" charset="0"/>
              </a:rPr>
              <a:t> et al. 2013a, b)</a:t>
            </a:r>
          </a:p>
          <a:p>
            <a:r>
              <a:rPr lang="en-US" sz="2600" dirty="0">
                <a:latin typeface="Tahoma" panose="020B0604030504040204" pitchFamily="34" charset="0"/>
                <a:ea typeface="Tahoma" panose="020B0604030504040204" pitchFamily="34" charset="0"/>
                <a:cs typeface="Tahoma" panose="020B0604030504040204" pitchFamily="34" charset="0"/>
              </a:rPr>
              <a:t>Forward modeling approach</a:t>
            </a:r>
          </a:p>
          <a:p>
            <a:r>
              <a:rPr lang="en-US" sz="2600" dirty="0">
                <a:latin typeface="Tahoma" panose="020B0604030504040204" pitchFamily="34" charset="0"/>
                <a:ea typeface="Tahoma" panose="020B0604030504040204" pitchFamily="34" charset="0"/>
                <a:cs typeface="Tahoma" panose="020B0604030504040204" pitchFamily="34" charset="0"/>
              </a:rPr>
              <a:t>Very few studies incorporating the effects of the electrical double layer and surface conductance</a:t>
            </a:r>
          </a:p>
          <a:p>
            <a:r>
              <a:rPr lang="en-US" sz="2600" dirty="0">
                <a:latin typeface="Tahoma" panose="020B0604030504040204" pitchFamily="34" charset="0"/>
                <a:ea typeface="Tahoma" panose="020B0604030504040204" pitchFamily="34" charset="0"/>
                <a:cs typeface="Tahoma" panose="020B0604030504040204" pitchFamily="34" charset="0"/>
              </a:rPr>
              <a:t>Digital Rock Physics: </a:t>
            </a:r>
          </a:p>
          <a:p>
            <a:pPr lvl="1">
              <a:buFont typeface="Tahoma" panose="020B0604030504040204" pitchFamily="34" charset="0"/>
              <a:buChar char="⁻"/>
            </a:pPr>
            <a:r>
              <a:rPr lang="en-US" sz="2100" dirty="0">
                <a:latin typeface="Tahoma" panose="020B0604030504040204" pitchFamily="34" charset="0"/>
                <a:ea typeface="Tahoma" panose="020B0604030504040204" pitchFamily="34" charset="0"/>
                <a:cs typeface="Tahoma" panose="020B0604030504040204" pitchFamily="34" charset="0"/>
              </a:rPr>
              <a:t>“Do it because we can” …   “Do it because it’s needed” (</a:t>
            </a:r>
            <a:r>
              <a:rPr lang="en-US" sz="2100" dirty="0" err="1">
                <a:latin typeface="Tahoma" panose="020B0604030504040204" pitchFamily="34" charset="0"/>
                <a:ea typeface="Tahoma" panose="020B0604030504040204" pitchFamily="34" charset="0"/>
                <a:cs typeface="Tahoma" panose="020B0604030504040204" pitchFamily="34" charset="0"/>
              </a:rPr>
              <a:t>Dvorkin</a:t>
            </a:r>
            <a:r>
              <a:rPr lang="en-US" sz="2100" dirty="0">
                <a:latin typeface="Tahoma" panose="020B0604030504040204" pitchFamily="34" charset="0"/>
                <a:ea typeface="Tahoma" panose="020B0604030504040204" pitchFamily="34" charset="0"/>
                <a:cs typeface="Tahoma" panose="020B0604030504040204" pitchFamily="34" charset="0"/>
              </a:rPr>
              <a:t> et al. 2011)</a:t>
            </a:r>
          </a:p>
        </p:txBody>
      </p:sp>
      <p:pic>
        <p:nvPicPr>
          <p:cNvPr id="5" name="Picture 4">
            <a:extLst>
              <a:ext uri="{FF2B5EF4-FFF2-40B4-BE49-F238E27FC236}">
                <a16:creationId xmlns:a16="http://schemas.microsoft.com/office/drawing/2014/main" id="{315D3391-DCBF-4A7E-8676-133A506FE7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8534" y="2175871"/>
            <a:ext cx="4326070" cy="3876354"/>
          </a:xfrm>
          <a:prstGeom prst="rect">
            <a:avLst/>
          </a:prstGeom>
        </p:spPr>
      </p:pic>
    </p:spTree>
    <p:extLst>
      <p:ext uri="{BB962C8B-B14F-4D97-AF65-F5344CB8AC3E}">
        <p14:creationId xmlns:p14="http://schemas.microsoft.com/office/powerpoint/2010/main" val="2537566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5A95-89DB-43AB-8DEB-A7FC28349E40}"/>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Introduction – Complex Conductivity</a:t>
            </a:r>
          </a:p>
        </p:txBody>
      </p:sp>
      <p:sp>
        <p:nvSpPr>
          <p:cNvPr id="3" name="Content Placeholder 2">
            <a:extLst>
              <a:ext uri="{FF2B5EF4-FFF2-40B4-BE49-F238E27FC236}">
                <a16:creationId xmlns:a16="http://schemas.microsoft.com/office/drawing/2014/main" id="{D1BFA458-4FB4-4333-A7C0-E356A1F8BBC3}"/>
              </a:ext>
            </a:extLst>
          </p:cNvPr>
          <p:cNvSpPr>
            <a:spLocks noGrp="1"/>
          </p:cNvSpPr>
          <p:nvPr>
            <p:ph idx="1"/>
          </p:nvPr>
        </p:nvSpPr>
        <p:spPr>
          <a:xfrm>
            <a:off x="628649" y="1549579"/>
            <a:ext cx="8368701" cy="1616315"/>
          </a:xfrm>
        </p:spPr>
        <p:txBody>
          <a:bodyPr>
            <a:normAutofit/>
          </a:bodyPr>
          <a:lstStyle/>
          <a:p>
            <a:r>
              <a:rPr lang="en-US" sz="1600" dirty="0">
                <a:latin typeface="Tahoma" panose="020B0604030504040204" pitchFamily="34" charset="0"/>
                <a:ea typeface="Tahoma" panose="020B0604030504040204" pitchFamily="34" charset="0"/>
                <a:cs typeface="Tahoma" panose="020B0604030504040204" pitchFamily="34" charset="0"/>
              </a:rPr>
              <a:t>IP method is sensitive to electrical properties of the solid and fluid phases, the geometry of the microstructure (internal surface area, connectivity), and the electrical double layer that forms at the solid-fluid interface (</a:t>
            </a:r>
            <a:r>
              <a:rPr lang="en-US" sz="1600" dirty="0" err="1">
                <a:latin typeface="Tahoma" panose="020B0604030504040204" pitchFamily="34" charset="0"/>
                <a:ea typeface="Tahoma" panose="020B0604030504040204" pitchFamily="34" charset="0"/>
                <a:cs typeface="Tahoma" panose="020B0604030504040204" pitchFamily="34" charset="0"/>
              </a:rPr>
              <a:t>Revil</a:t>
            </a:r>
            <a:r>
              <a:rPr lang="en-US" sz="1600" dirty="0">
                <a:latin typeface="Tahoma" panose="020B0604030504040204" pitchFamily="34" charset="0"/>
                <a:ea typeface="Tahoma" panose="020B0604030504040204" pitchFamily="34" charset="0"/>
                <a:cs typeface="Tahoma" panose="020B0604030504040204" pitchFamily="34" charset="0"/>
              </a:rPr>
              <a:t>, </a:t>
            </a:r>
            <a:r>
              <a:rPr lang="en-US" sz="1600" dirty="0" err="1">
                <a:latin typeface="Tahoma" panose="020B0604030504040204" pitchFamily="34" charset="0"/>
                <a:ea typeface="Tahoma" panose="020B0604030504040204" pitchFamily="34" charset="0"/>
                <a:cs typeface="Tahoma" panose="020B0604030504040204" pitchFamily="34" charset="0"/>
              </a:rPr>
              <a:t>Florsch</a:t>
            </a:r>
            <a:r>
              <a:rPr lang="en-US" sz="1600" dirty="0">
                <a:latin typeface="Tahoma" panose="020B0604030504040204" pitchFamily="34" charset="0"/>
                <a:ea typeface="Tahoma" panose="020B0604030504040204" pitchFamily="34" charset="0"/>
                <a:cs typeface="Tahoma" panose="020B0604030504040204" pitchFamily="34" charset="0"/>
              </a:rPr>
              <a:t>, and </a:t>
            </a:r>
            <a:r>
              <a:rPr lang="en-US" sz="1600" dirty="0" err="1">
                <a:latin typeface="Tahoma" panose="020B0604030504040204" pitchFamily="34" charset="0"/>
                <a:ea typeface="Tahoma" panose="020B0604030504040204" pitchFamily="34" charset="0"/>
                <a:cs typeface="Tahoma" panose="020B0604030504040204" pitchFamily="34" charset="0"/>
              </a:rPr>
              <a:t>Camerlynck</a:t>
            </a:r>
            <a:r>
              <a:rPr lang="en-US" sz="1600" dirty="0">
                <a:latin typeface="Tahoma" panose="020B0604030504040204" pitchFamily="34" charset="0"/>
                <a:ea typeface="Tahoma" panose="020B0604030504040204" pitchFamily="34" charset="0"/>
                <a:cs typeface="Tahoma" panose="020B0604030504040204" pitchFamily="34" charset="0"/>
              </a:rPr>
              <a:t> 2014)</a:t>
            </a:r>
          </a:p>
          <a:p>
            <a:r>
              <a:rPr lang="en-US" sz="1600" dirty="0">
                <a:latin typeface="Tahoma" panose="020B0604030504040204" pitchFamily="34" charset="0"/>
                <a:ea typeface="Tahoma" panose="020B0604030504040204" pitchFamily="34" charset="0"/>
                <a:cs typeface="Tahoma" panose="020B0604030504040204" pitchFamily="34" charset="0"/>
              </a:rPr>
              <a:t>Laboratory or field data can lead to the estimation of pore size distributions (</a:t>
            </a:r>
            <a:r>
              <a:rPr lang="en-US" sz="1600" dirty="0" err="1">
                <a:latin typeface="Tahoma" panose="020B0604030504040204" pitchFamily="34" charset="0"/>
                <a:ea typeface="Tahoma" panose="020B0604030504040204" pitchFamily="34" charset="0"/>
                <a:cs typeface="Tahoma" panose="020B0604030504040204" pitchFamily="34" charset="0"/>
              </a:rPr>
              <a:t>Florsch</a:t>
            </a:r>
            <a:r>
              <a:rPr lang="en-US" sz="1600" dirty="0">
                <a:latin typeface="Tahoma" panose="020B0604030504040204" pitchFamily="34" charset="0"/>
                <a:ea typeface="Tahoma" panose="020B0604030504040204" pitchFamily="34" charset="0"/>
                <a:cs typeface="Tahoma" panose="020B0604030504040204" pitchFamily="34" charset="0"/>
              </a:rPr>
              <a:t>, </a:t>
            </a:r>
            <a:r>
              <a:rPr lang="en-US" sz="1600" dirty="0" err="1">
                <a:latin typeface="Tahoma" panose="020B0604030504040204" pitchFamily="34" charset="0"/>
                <a:ea typeface="Tahoma" panose="020B0604030504040204" pitchFamily="34" charset="0"/>
                <a:cs typeface="Tahoma" panose="020B0604030504040204" pitchFamily="34" charset="0"/>
              </a:rPr>
              <a:t>Revil</a:t>
            </a:r>
            <a:r>
              <a:rPr lang="en-US" sz="1600" dirty="0">
                <a:latin typeface="Tahoma" panose="020B0604030504040204" pitchFamily="34" charset="0"/>
                <a:ea typeface="Tahoma" panose="020B0604030504040204" pitchFamily="34" charset="0"/>
                <a:cs typeface="Tahoma" panose="020B0604030504040204" pitchFamily="34" charset="0"/>
              </a:rPr>
              <a:t>, and </a:t>
            </a:r>
            <a:r>
              <a:rPr lang="en-US" sz="1600" dirty="0" err="1">
                <a:latin typeface="Tahoma" panose="020B0604030504040204" pitchFamily="34" charset="0"/>
                <a:ea typeface="Tahoma" panose="020B0604030504040204" pitchFamily="34" charset="0"/>
                <a:cs typeface="Tahoma" panose="020B0604030504040204" pitchFamily="34" charset="0"/>
              </a:rPr>
              <a:t>Camerlynck</a:t>
            </a:r>
            <a:r>
              <a:rPr lang="en-US" sz="1600" dirty="0">
                <a:latin typeface="Tahoma" panose="020B0604030504040204" pitchFamily="34" charset="0"/>
                <a:ea typeface="Tahoma" panose="020B0604030504040204" pitchFamily="34" charset="0"/>
                <a:cs typeface="Tahoma" panose="020B0604030504040204" pitchFamily="34" charset="0"/>
              </a:rPr>
              <a:t> 2014), contaminant plume mapping (</a:t>
            </a:r>
            <a:r>
              <a:rPr lang="en-US" sz="1600" dirty="0" err="1">
                <a:latin typeface="Tahoma" panose="020B0604030504040204" pitchFamily="34" charset="0"/>
                <a:ea typeface="Tahoma" panose="020B0604030504040204" pitchFamily="34" charset="0"/>
                <a:cs typeface="Tahoma" panose="020B0604030504040204" pitchFamily="34" charset="0"/>
              </a:rPr>
              <a:t>Sogade</a:t>
            </a:r>
            <a:r>
              <a:rPr lang="en-US" sz="1600" dirty="0">
                <a:latin typeface="Tahoma" panose="020B0604030504040204" pitchFamily="34" charset="0"/>
                <a:ea typeface="Tahoma" panose="020B0604030504040204" pitchFamily="34" charset="0"/>
                <a:cs typeface="Tahoma" panose="020B0604030504040204" pitchFamily="34" charset="0"/>
              </a:rPr>
              <a:t> et al. 2006), and microbial activity monitoring (Davis et al. 2006). </a:t>
            </a:r>
          </a:p>
        </p:txBody>
      </p:sp>
      <p:pic>
        <p:nvPicPr>
          <p:cNvPr id="9" name="Picture 8">
            <a:extLst>
              <a:ext uri="{FF2B5EF4-FFF2-40B4-BE49-F238E27FC236}">
                <a16:creationId xmlns:a16="http://schemas.microsoft.com/office/drawing/2014/main" id="{02D825BE-AE37-4DE6-A108-B23F92E087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487" y="4732843"/>
            <a:ext cx="5791023" cy="2082034"/>
          </a:xfrm>
          <a:prstGeom prst="rect">
            <a:avLst/>
          </a:prstGeom>
        </p:spPr>
      </p:pic>
      <p:grpSp>
        <p:nvGrpSpPr>
          <p:cNvPr id="12" name="Group 11">
            <a:extLst>
              <a:ext uri="{FF2B5EF4-FFF2-40B4-BE49-F238E27FC236}">
                <a16:creationId xmlns:a16="http://schemas.microsoft.com/office/drawing/2014/main" id="{4B60B2EA-7CC3-4D7D-8262-57F3D4DE1D28}"/>
              </a:ext>
            </a:extLst>
          </p:cNvPr>
          <p:cNvGrpSpPr/>
          <p:nvPr/>
        </p:nvGrpSpPr>
        <p:grpSpPr>
          <a:xfrm>
            <a:off x="1090695" y="3165894"/>
            <a:ext cx="6962609" cy="1566950"/>
            <a:chOff x="1395417" y="3104806"/>
            <a:chExt cx="6962609" cy="1566950"/>
          </a:xfrm>
        </p:grpSpPr>
        <p:pic>
          <p:nvPicPr>
            <p:cNvPr id="10" name="Picture 9">
              <a:extLst>
                <a:ext uri="{FF2B5EF4-FFF2-40B4-BE49-F238E27FC236}">
                  <a16:creationId xmlns:a16="http://schemas.microsoft.com/office/drawing/2014/main" id="{7CE103D6-9082-445F-9D3F-8F900D1519CC}"/>
                </a:ext>
              </a:extLst>
            </p:cNvPr>
            <p:cNvPicPr>
              <a:picLocks noChangeAspect="1"/>
            </p:cNvPicPr>
            <p:nvPr/>
          </p:nvPicPr>
          <p:blipFill>
            <a:blip r:embed="rId3"/>
            <a:stretch>
              <a:fillRect/>
            </a:stretch>
          </p:blipFill>
          <p:spPr>
            <a:xfrm>
              <a:off x="1395417" y="3148423"/>
              <a:ext cx="4105442" cy="1479715"/>
            </a:xfrm>
            <a:prstGeom prst="rect">
              <a:avLst/>
            </a:prstGeom>
          </p:spPr>
        </p:pic>
        <p:pic>
          <p:nvPicPr>
            <p:cNvPr id="11" name="Picture 10">
              <a:extLst>
                <a:ext uri="{FF2B5EF4-FFF2-40B4-BE49-F238E27FC236}">
                  <a16:creationId xmlns:a16="http://schemas.microsoft.com/office/drawing/2014/main" id="{E4DC1775-CE75-44AC-AEF6-71E9E2E3029B}"/>
                </a:ext>
              </a:extLst>
            </p:cNvPr>
            <p:cNvPicPr>
              <a:picLocks noChangeAspect="1"/>
            </p:cNvPicPr>
            <p:nvPr/>
          </p:nvPicPr>
          <p:blipFill>
            <a:blip r:embed="rId4"/>
            <a:stretch>
              <a:fillRect/>
            </a:stretch>
          </p:blipFill>
          <p:spPr>
            <a:xfrm>
              <a:off x="5604376" y="3104806"/>
              <a:ext cx="2753650" cy="1566950"/>
            </a:xfrm>
            <a:prstGeom prst="rect">
              <a:avLst/>
            </a:prstGeom>
          </p:spPr>
        </p:pic>
      </p:grpSp>
    </p:spTree>
    <p:extLst>
      <p:ext uri="{BB962C8B-B14F-4D97-AF65-F5344CB8AC3E}">
        <p14:creationId xmlns:p14="http://schemas.microsoft.com/office/powerpoint/2010/main" val="2771510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B4B37-532F-4BEE-86AC-39B70788604C}"/>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Workflow</a:t>
            </a:r>
          </a:p>
        </p:txBody>
      </p:sp>
      <p:graphicFrame>
        <p:nvGraphicFramePr>
          <p:cNvPr id="10" name="Diagram 9">
            <a:extLst>
              <a:ext uri="{FF2B5EF4-FFF2-40B4-BE49-F238E27FC236}">
                <a16:creationId xmlns:a16="http://schemas.microsoft.com/office/drawing/2014/main" id="{208A7E75-FFBA-44C7-BE93-40DB7E3C9BCF}"/>
              </a:ext>
            </a:extLst>
          </p:cNvPr>
          <p:cNvGraphicFramePr/>
          <p:nvPr/>
        </p:nvGraphicFramePr>
        <p:xfrm>
          <a:off x="293709" y="1533660"/>
          <a:ext cx="8686800" cy="49430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853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8FBF9-AB0A-4B7D-ABD2-C01B327E21CB}"/>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Sample Selection</a:t>
            </a:r>
          </a:p>
        </p:txBody>
      </p:sp>
      <p:sp>
        <p:nvSpPr>
          <p:cNvPr id="3" name="Content Placeholder 2">
            <a:extLst>
              <a:ext uri="{FF2B5EF4-FFF2-40B4-BE49-F238E27FC236}">
                <a16:creationId xmlns:a16="http://schemas.microsoft.com/office/drawing/2014/main" id="{BAC09281-2438-4D5B-9822-6E4452569E09}"/>
              </a:ext>
            </a:extLst>
          </p:cNvPr>
          <p:cNvSpPr>
            <a:spLocks noGrp="1"/>
          </p:cNvSpPr>
          <p:nvPr>
            <p:ph idx="1"/>
          </p:nvPr>
        </p:nvSpPr>
        <p:spPr>
          <a:xfrm>
            <a:off x="616251" y="1566833"/>
            <a:ext cx="5232457" cy="2271922"/>
          </a:xfrm>
        </p:spPr>
        <p:txBody>
          <a:bodyPr>
            <a:normAutofit fontScale="85000" lnSpcReduction="20000"/>
          </a:bodyPr>
          <a:lstStyle/>
          <a:p>
            <a:r>
              <a:rPr lang="en-US" dirty="0">
                <a:latin typeface="Tahoma" panose="020B0604030504040204" pitchFamily="34" charset="0"/>
                <a:ea typeface="Tahoma" panose="020B0604030504040204" pitchFamily="34" charset="0"/>
                <a:cs typeface="Tahoma" panose="020B0604030504040204" pitchFamily="34" charset="0"/>
              </a:rPr>
              <a:t>12 carbonate core plugs selected for study:</a:t>
            </a:r>
          </a:p>
          <a:p>
            <a:pPr lvl="1">
              <a:buFont typeface="Tahoma" panose="020B060403050404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2 packstones and 2 mudstones from the Wellington field, Arbuckle Group (Cambro-Ordovician)</a:t>
            </a:r>
          </a:p>
          <a:p>
            <a:pPr lvl="1">
              <a:buFont typeface="Tahoma" panose="020B060403050404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7 oomoldic and 1 skeletal grainstone from other various fields in Kansas, Lansing-Kansas Group (Upper Pennsylvanian)</a:t>
            </a:r>
          </a:p>
        </p:txBody>
      </p:sp>
      <p:pic>
        <p:nvPicPr>
          <p:cNvPr id="5" name="Picture 4">
            <a:extLst>
              <a:ext uri="{FF2B5EF4-FFF2-40B4-BE49-F238E27FC236}">
                <a16:creationId xmlns:a16="http://schemas.microsoft.com/office/drawing/2014/main" id="{70EBB9DC-A005-4EB1-802E-92E5F16BE5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4960" y="3838755"/>
            <a:ext cx="2695038" cy="2694049"/>
          </a:xfrm>
          <a:prstGeom prst="rect">
            <a:avLst/>
          </a:prstGeom>
        </p:spPr>
      </p:pic>
      <p:graphicFrame>
        <p:nvGraphicFramePr>
          <p:cNvPr id="7" name="Table 6">
            <a:extLst>
              <a:ext uri="{FF2B5EF4-FFF2-40B4-BE49-F238E27FC236}">
                <a16:creationId xmlns:a16="http://schemas.microsoft.com/office/drawing/2014/main" id="{2F9AC09A-EE3B-4595-B931-AB55E6BF848F}"/>
              </a:ext>
            </a:extLst>
          </p:cNvPr>
          <p:cNvGraphicFramePr>
            <a:graphicFrameLocks noGrp="1"/>
          </p:cNvGraphicFramePr>
          <p:nvPr/>
        </p:nvGraphicFramePr>
        <p:xfrm>
          <a:off x="5861107" y="1566833"/>
          <a:ext cx="2846717" cy="4718095"/>
        </p:xfrm>
        <a:graphic>
          <a:graphicData uri="http://schemas.openxmlformats.org/drawingml/2006/table">
            <a:tbl>
              <a:tblPr firstRow="1" firstCol="1" bandRow="1">
                <a:tableStyleId>{69012ECD-51FC-41F1-AA8D-1B2483CD663E}</a:tableStyleId>
              </a:tblPr>
              <a:tblGrid>
                <a:gridCol w="813347">
                  <a:extLst>
                    <a:ext uri="{9D8B030D-6E8A-4147-A177-3AD203B41FA5}">
                      <a16:colId xmlns:a16="http://schemas.microsoft.com/office/drawing/2014/main" val="2615768024"/>
                    </a:ext>
                  </a:extLst>
                </a:gridCol>
                <a:gridCol w="1034366">
                  <a:extLst>
                    <a:ext uri="{9D8B030D-6E8A-4147-A177-3AD203B41FA5}">
                      <a16:colId xmlns:a16="http://schemas.microsoft.com/office/drawing/2014/main" val="3547976382"/>
                    </a:ext>
                  </a:extLst>
                </a:gridCol>
                <a:gridCol w="999004">
                  <a:extLst>
                    <a:ext uri="{9D8B030D-6E8A-4147-A177-3AD203B41FA5}">
                      <a16:colId xmlns:a16="http://schemas.microsoft.com/office/drawing/2014/main" val="825534239"/>
                    </a:ext>
                  </a:extLst>
                </a:gridCol>
              </a:tblGrid>
              <a:tr h="556386">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 Sample</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Helium Porosity (%)</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Permeability, </a:t>
                      </a:r>
                      <a:r>
                        <a:rPr lang="en-US" sz="1100" b="0" dirty="0" err="1">
                          <a:effectLst/>
                          <a:latin typeface="Tahoma" panose="020B0604030504040204" pitchFamily="34" charset="0"/>
                          <a:ea typeface="Tahoma" panose="020B0604030504040204" pitchFamily="34" charset="0"/>
                          <a:cs typeface="Tahoma" panose="020B0604030504040204" pitchFamily="34" charset="0"/>
                        </a:rPr>
                        <a:t>K</a:t>
                      </a:r>
                      <a:r>
                        <a:rPr lang="en-US" sz="1100" b="0" baseline="-25000" dirty="0" err="1">
                          <a:effectLst/>
                          <a:latin typeface="Tahoma" panose="020B0604030504040204" pitchFamily="34" charset="0"/>
                          <a:ea typeface="Tahoma" panose="020B0604030504040204" pitchFamily="34" charset="0"/>
                          <a:cs typeface="Tahoma" panose="020B0604030504040204" pitchFamily="34" charset="0"/>
                        </a:rPr>
                        <a:t>air</a:t>
                      </a:r>
                      <a:r>
                        <a:rPr lang="en-US" sz="1100" b="0" dirty="0">
                          <a:effectLst/>
                          <a:latin typeface="Tahoma" panose="020B0604030504040204" pitchFamily="34" charset="0"/>
                          <a:ea typeface="Tahoma" panose="020B0604030504040204" pitchFamily="34" charset="0"/>
                          <a:cs typeface="Tahoma" panose="020B0604030504040204" pitchFamily="34" charset="0"/>
                        </a:rPr>
                        <a:t> (</a:t>
                      </a:r>
                      <a:r>
                        <a:rPr lang="en-US" sz="1100" b="0" dirty="0" err="1">
                          <a:effectLst/>
                          <a:latin typeface="Tahoma" panose="020B0604030504040204" pitchFamily="34" charset="0"/>
                          <a:ea typeface="Tahoma" panose="020B0604030504040204" pitchFamily="34" charset="0"/>
                          <a:cs typeface="Tahoma" panose="020B0604030504040204" pitchFamily="34" charset="0"/>
                        </a:rPr>
                        <a:t>mD</a:t>
                      </a:r>
                      <a:r>
                        <a:rPr lang="en-US" sz="1100" b="0" dirty="0">
                          <a:effectLst/>
                          <a:latin typeface="Tahoma" panose="020B0604030504040204" pitchFamily="34" charset="0"/>
                          <a:ea typeface="Tahoma" panose="020B0604030504040204" pitchFamily="34" charset="0"/>
                          <a:cs typeface="Tahoma" panose="020B0604030504040204" pitchFamily="34" charset="0"/>
                        </a:rPr>
                        <a:t>)</a:t>
                      </a:r>
                    </a:p>
                  </a:txBody>
                  <a:tcPr marL="48664" marR="48664" marT="0" marB="0"/>
                </a:tc>
                <a:extLst>
                  <a:ext uri="{0D108BD9-81ED-4DB2-BD59-A6C34878D82A}">
                    <a16:rowId xmlns:a16="http://schemas.microsoft.com/office/drawing/2014/main" val="2243445022"/>
                  </a:ext>
                </a:extLst>
              </a:tr>
              <a:tr h="341893">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G1</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32.6</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16.1</a:t>
                      </a:r>
                    </a:p>
                  </a:txBody>
                  <a:tcPr marL="48664" marR="48664" marT="0" marB="0"/>
                </a:tc>
                <a:extLst>
                  <a:ext uri="{0D108BD9-81ED-4DB2-BD59-A6C34878D82A}">
                    <a16:rowId xmlns:a16="http://schemas.microsoft.com/office/drawing/2014/main" val="1869473182"/>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G2</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32.2</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11.9</a:t>
                      </a:r>
                    </a:p>
                  </a:txBody>
                  <a:tcPr marL="48664" marR="48664" marT="0" marB="0"/>
                </a:tc>
                <a:extLst>
                  <a:ext uri="{0D108BD9-81ED-4DB2-BD59-A6C34878D82A}">
                    <a16:rowId xmlns:a16="http://schemas.microsoft.com/office/drawing/2014/main" val="2880582639"/>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G3</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26.4</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1.1</a:t>
                      </a:r>
                    </a:p>
                  </a:txBody>
                  <a:tcPr marL="48664" marR="48664" marT="0" marB="0"/>
                </a:tc>
                <a:extLst>
                  <a:ext uri="{0D108BD9-81ED-4DB2-BD59-A6C34878D82A}">
                    <a16:rowId xmlns:a16="http://schemas.microsoft.com/office/drawing/2014/main" val="2354474520"/>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G4</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25.6</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50.4</a:t>
                      </a:r>
                    </a:p>
                  </a:txBody>
                  <a:tcPr marL="48664" marR="48664" marT="0" marB="0"/>
                </a:tc>
                <a:extLst>
                  <a:ext uri="{0D108BD9-81ED-4DB2-BD59-A6C34878D82A}">
                    <a16:rowId xmlns:a16="http://schemas.microsoft.com/office/drawing/2014/main" val="3298454179"/>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G5</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20.5</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3.5</a:t>
                      </a:r>
                    </a:p>
                  </a:txBody>
                  <a:tcPr marL="48664" marR="48664" marT="0" marB="0"/>
                </a:tc>
                <a:extLst>
                  <a:ext uri="{0D108BD9-81ED-4DB2-BD59-A6C34878D82A}">
                    <a16:rowId xmlns:a16="http://schemas.microsoft.com/office/drawing/2014/main" val="3030118037"/>
                  </a:ext>
                </a:extLst>
              </a:tr>
              <a:tr h="341893">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G6</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14.0</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19.3</a:t>
                      </a:r>
                    </a:p>
                  </a:txBody>
                  <a:tcPr marL="48664" marR="48664" marT="0" marB="0"/>
                </a:tc>
                <a:extLst>
                  <a:ext uri="{0D108BD9-81ED-4DB2-BD59-A6C34878D82A}">
                    <a16:rowId xmlns:a16="http://schemas.microsoft.com/office/drawing/2014/main" val="747736609"/>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G7</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8.3</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0.03</a:t>
                      </a:r>
                    </a:p>
                  </a:txBody>
                  <a:tcPr marL="48664" marR="48664" marT="0" marB="0"/>
                </a:tc>
                <a:extLst>
                  <a:ext uri="{0D108BD9-81ED-4DB2-BD59-A6C34878D82A}">
                    <a16:rowId xmlns:a16="http://schemas.microsoft.com/office/drawing/2014/main" val="317939565"/>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G8</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5.7</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0.01</a:t>
                      </a:r>
                    </a:p>
                  </a:txBody>
                  <a:tcPr marL="48664" marR="48664" marT="0" marB="0"/>
                </a:tc>
                <a:extLst>
                  <a:ext uri="{0D108BD9-81ED-4DB2-BD59-A6C34878D82A}">
                    <a16:rowId xmlns:a16="http://schemas.microsoft.com/office/drawing/2014/main" val="1311150103"/>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P1</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7.7</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27.9</a:t>
                      </a:r>
                    </a:p>
                  </a:txBody>
                  <a:tcPr marL="48664" marR="48664" marT="0" marB="0"/>
                </a:tc>
                <a:extLst>
                  <a:ext uri="{0D108BD9-81ED-4DB2-BD59-A6C34878D82A}">
                    <a16:rowId xmlns:a16="http://schemas.microsoft.com/office/drawing/2014/main" val="166057789"/>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P2</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2.8</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198.9</a:t>
                      </a:r>
                    </a:p>
                  </a:txBody>
                  <a:tcPr marL="48664" marR="48664" marT="0" marB="0"/>
                </a:tc>
                <a:extLst>
                  <a:ext uri="{0D108BD9-81ED-4DB2-BD59-A6C34878D82A}">
                    <a16:rowId xmlns:a16="http://schemas.microsoft.com/office/drawing/2014/main" val="4244270024"/>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M1</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3.2</a:t>
                      </a:r>
                    </a:p>
                  </a:txBody>
                  <a:tcPr marL="48664" marR="48664" marT="0" marB="0"/>
                </a:tc>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0.07</a:t>
                      </a:r>
                    </a:p>
                  </a:txBody>
                  <a:tcPr marL="48664" marR="48664" marT="0" marB="0"/>
                </a:tc>
                <a:extLst>
                  <a:ext uri="{0D108BD9-81ED-4DB2-BD59-A6C34878D82A}">
                    <a16:rowId xmlns:a16="http://schemas.microsoft.com/office/drawing/2014/main" val="2822891120"/>
                  </a:ext>
                </a:extLst>
              </a:tr>
              <a:tr h="341893">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M2</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11.8</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5.8</a:t>
                      </a:r>
                    </a:p>
                  </a:txBody>
                  <a:tcPr marL="48664" marR="48664" marT="0" marB="0"/>
                </a:tc>
                <a:extLst>
                  <a:ext uri="{0D108BD9-81ED-4DB2-BD59-A6C34878D82A}">
                    <a16:rowId xmlns:a16="http://schemas.microsoft.com/office/drawing/2014/main" val="193872938"/>
                  </a:ext>
                </a:extLst>
              </a:tr>
            </a:tbl>
          </a:graphicData>
        </a:graphic>
      </p:graphicFrame>
    </p:spTree>
    <p:extLst>
      <p:ext uri="{BB962C8B-B14F-4D97-AF65-F5344CB8AC3E}">
        <p14:creationId xmlns:p14="http://schemas.microsoft.com/office/powerpoint/2010/main" val="582244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2EDE85-4045-47D2-9353-9ACEEEA99F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511" y="3746169"/>
            <a:ext cx="5229968" cy="3111831"/>
          </a:xfrm>
          <a:prstGeom prst="rect">
            <a:avLst/>
          </a:prstGeom>
        </p:spPr>
      </p:pic>
      <p:sp>
        <p:nvSpPr>
          <p:cNvPr id="2" name="Title 1">
            <a:extLst>
              <a:ext uri="{FF2B5EF4-FFF2-40B4-BE49-F238E27FC236}">
                <a16:creationId xmlns:a16="http://schemas.microsoft.com/office/drawing/2014/main" id="{B4B899DE-D52C-49FB-9A4E-5C727A7B398A}"/>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Imaging</a:t>
            </a:r>
          </a:p>
        </p:txBody>
      </p:sp>
      <p:sp>
        <p:nvSpPr>
          <p:cNvPr id="3" name="Content Placeholder 2">
            <a:extLst>
              <a:ext uri="{FF2B5EF4-FFF2-40B4-BE49-F238E27FC236}">
                <a16:creationId xmlns:a16="http://schemas.microsoft.com/office/drawing/2014/main" id="{27C061B6-A35D-496B-B885-77C8B2FC5A0C}"/>
              </a:ext>
            </a:extLst>
          </p:cNvPr>
          <p:cNvSpPr>
            <a:spLocks noGrp="1"/>
          </p:cNvSpPr>
          <p:nvPr>
            <p:ph idx="1"/>
          </p:nvPr>
        </p:nvSpPr>
        <p:spPr>
          <a:xfrm>
            <a:off x="628650" y="1654639"/>
            <a:ext cx="5021652" cy="2546425"/>
          </a:xfrm>
        </p:spPr>
        <p:txBody>
          <a:bodyPr>
            <a:normAutofit fontScale="85000" lnSpcReduction="10000"/>
          </a:bodyPr>
          <a:lstStyle/>
          <a:p>
            <a:r>
              <a:rPr lang="en-US" sz="2400" dirty="0">
                <a:latin typeface="Tahoma" panose="020B0604030504040204" pitchFamily="34" charset="0"/>
                <a:ea typeface="Tahoma" panose="020B0604030504040204" pitchFamily="34" charset="0"/>
                <a:cs typeface="Tahoma" panose="020B0604030504040204" pitchFamily="34" charset="0"/>
              </a:rPr>
              <a:t>Samples cut into thin sticks (1.5 – 3 mm thick)</a:t>
            </a:r>
          </a:p>
          <a:p>
            <a:r>
              <a:rPr lang="en-US" sz="2400" dirty="0">
                <a:latin typeface="Tahoma" panose="020B0604030504040204" pitchFamily="34" charset="0"/>
                <a:ea typeface="Tahoma" panose="020B0604030504040204" pitchFamily="34" charset="0"/>
                <a:cs typeface="Tahoma" panose="020B0604030504040204" pitchFamily="34" charset="0"/>
              </a:rPr>
              <a:t>Micro-CT scanning was performed at the KU IBER with the </a:t>
            </a:r>
            <a:r>
              <a:rPr lang="en-US" sz="2400" dirty="0" err="1">
                <a:latin typeface="Tahoma" panose="020B0604030504040204" pitchFamily="34" charset="0"/>
                <a:ea typeface="Tahoma" panose="020B0604030504040204" pitchFamily="34" charset="0"/>
                <a:cs typeface="Tahoma" panose="020B0604030504040204" pitchFamily="34" charset="0"/>
              </a:rPr>
              <a:t>Xradia</a:t>
            </a:r>
            <a:r>
              <a:rPr lang="en-US" sz="2400" dirty="0">
                <a:latin typeface="Tahoma" panose="020B0604030504040204" pitchFamily="34" charset="0"/>
                <a:ea typeface="Tahoma" panose="020B0604030504040204" pitchFamily="34" charset="0"/>
                <a:cs typeface="Tahoma" panose="020B0604030504040204" pitchFamily="34" charset="0"/>
              </a:rPr>
              <a:t> MicroXCT-400</a:t>
            </a:r>
          </a:p>
          <a:p>
            <a:r>
              <a:rPr lang="en-US" sz="2400" dirty="0">
                <a:latin typeface="Tahoma" panose="020B0604030504040204" pitchFamily="34" charset="0"/>
                <a:ea typeface="Tahoma" panose="020B0604030504040204" pitchFamily="34" charset="0"/>
                <a:cs typeface="Tahoma" panose="020B0604030504040204" pitchFamily="34" charset="0"/>
              </a:rPr>
              <a:t>4x and 10x lens magnifications used</a:t>
            </a:r>
          </a:p>
          <a:p>
            <a:r>
              <a:rPr lang="en-US" sz="2400" dirty="0">
                <a:latin typeface="Tahoma" panose="020B0604030504040204" pitchFamily="34" charset="0"/>
                <a:ea typeface="Tahoma" panose="020B0604030504040204" pitchFamily="34" charset="0"/>
                <a:cs typeface="Tahoma" panose="020B0604030504040204" pitchFamily="34" charset="0"/>
              </a:rPr>
              <a:t>Acquired 1000 image “slices” for all samples, roughly 1000x1000 pixels each</a:t>
            </a:r>
          </a:p>
          <a:p>
            <a:endParaRPr lang="en-US"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8" name="Table 7">
            <a:extLst>
              <a:ext uri="{FF2B5EF4-FFF2-40B4-BE49-F238E27FC236}">
                <a16:creationId xmlns:a16="http://schemas.microsoft.com/office/drawing/2014/main" id="{F0E1AB42-A85D-43BF-9E7B-3035D4E3312D}"/>
              </a:ext>
            </a:extLst>
          </p:cNvPr>
          <p:cNvGraphicFramePr>
            <a:graphicFrameLocks noGrp="1"/>
          </p:cNvGraphicFramePr>
          <p:nvPr/>
        </p:nvGraphicFramePr>
        <p:xfrm>
          <a:off x="5806656" y="1773778"/>
          <a:ext cx="2846717" cy="4718095"/>
        </p:xfrm>
        <a:graphic>
          <a:graphicData uri="http://schemas.openxmlformats.org/drawingml/2006/table">
            <a:tbl>
              <a:tblPr firstRow="1" firstCol="1" bandRow="1">
                <a:tableStyleId>{69012ECD-51FC-41F1-AA8D-1B2483CD663E}</a:tableStyleId>
              </a:tblPr>
              <a:tblGrid>
                <a:gridCol w="813347">
                  <a:extLst>
                    <a:ext uri="{9D8B030D-6E8A-4147-A177-3AD203B41FA5}">
                      <a16:colId xmlns:a16="http://schemas.microsoft.com/office/drawing/2014/main" val="2615768024"/>
                    </a:ext>
                  </a:extLst>
                </a:gridCol>
                <a:gridCol w="1034366">
                  <a:extLst>
                    <a:ext uri="{9D8B030D-6E8A-4147-A177-3AD203B41FA5}">
                      <a16:colId xmlns:a16="http://schemas.microsoft.com/office/drawing/2014/main" val="3547976382"/>
                    </a:ext>
                  </a:extLst>
                </a:gridCol>
                <a:gridCol w="999004">
                  <a:extLst>
                    <a:ext uri="{9D8B030D-6E8A-4147-A177-3AD203B41FA5}">
                      <a16:colId xmlns:a16="http://schemas.microsoft.com/office/drawing/2014/main" val="825534239"/>
                    </a:ext>
                  </a:extLst>
                </a:gridCol>
              </a:tblGrid>
              <a:tr h="534069">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 Sample</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Lens Magnification</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Resolution (µm)</a:t>
                      </a:r>
                    </a:p>
                  </a:txBody>
                  <a:tcPr marL="48664" marR="48664" marT="0" marB="0"/>
                </a:tc>
                <a:extLst>
                  <a:ext uri="{0D108BD9-81ED-4DB2-BD59-A6C34878D82A}">
                    <a16:rowId xmlns:a16="http://schemas.microsoft.com/office/drawing/2014/main" val="2243445022"/>
                  </a:ext>
                </a:extLst>
              </a:tr>
              <a:tr h="341893">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G1</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4x</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4.30</a:t>
                      </a:r>
                    </a:p>
                  </a:txBody>
                  <a:tcPr marL="48664" marR="48664" marT="0" marB="0"/>
                </a:tc>
                <a:extLst>
                  <a:ext uri="{0D108BD9-81ED-4DB2-BD59-A6C34878D82A}">
                    <a16:rowId xmlns:a16="http://schemas.microsoft.com/office/drawing/2014/main" val="1869473182"/>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G2</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4x</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4.30</a:t>
                      </a:r>
                    </a:p>
                  </a:txBody>
                  <a:tcPr marL="48664" marR="48664" marT="0" marB="0"/>
                </a:tc>
                <a:extLst>
                  <a:ext uri="{0D108BD9-81ED-4DB2-BD59-A6C34878D82A}">
                    <a16:rowId xmlns:a16="http://schemas.microsoft.com/office/drawing/2014/main" val="2880582639"/>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G3</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10x</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1.92</a:t>
                      </a:r>
                    </a:p>
                  </a:txBody>
                  <a:tcPr marL="48664" marR="48664" marT="0" marB="0"/>
                </a:tc>
                <a:extLst>
                  <a:ext uri="{0D108BD9-81ED-4DB2-BD59-A6C34878D82A}">
                    <a16:rowId xmlns:a16="http://schemas.microsoft.com/office/drawing/2014/main" val="2354474520"/>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G4</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4x</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4.30</a:t>
                      </a:r>
                    </a:p>
                  </a:txBody>
                  <a:tcPr marL="48664" marR="48664" marT="0" marB="0"/>
                </a:tc>
                <a:extLst>
                  <a:ext uri="{0D108BD9-81ED-4DB2-BD59-A6C34878D82A}">
                    <a16:rowId xmlns:a16="http://schemas.microsoft.com/office/drawing/2014/main" val="3298454179"/>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G5</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4x</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4.30</a:t>
                      </a:r>
                    </a:p>
                  </a:txBody>
                  <a:tcPr marL="48664" marR="48664" marT="0" marB="0"/>
                </a:tc>
                <a:extLst>
                  <a:ext uri="{0D108BD9-81ED-4DB2-BD59-A6C34878D82A}">
                    <a16:rowId xmlns:a16="http://schemas.microsoft.com/office/drawing/2014/main" val="3030118037"/>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G6</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4x</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4.30</a:t>
                      </a:r>
                    </a:p>
                  </a:txBody>
                  <a:tcPr marL="48664" marR="48664" marT="0" marB="0"/>
                </a:tc>
                <a:extLst>
                  <a:ext uri="{0D108BD9-81ED-4DB2-BD59-A6C34878D82A}">
                    <a16:rowId xmlns:a16="http://schemas.microsoft.com/office/drawing/2014/main" val="747736609"/>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G7</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4x</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4.30</a:t>
                      </a:r>
                    </a:p>
                  </a:txBody>
                  <a:tcPr marL="48664" marR="48664" marT="0" marB="0"/>
                </a:tc>
                <a:extLst>
                  <a:ext uri="{0D108BD9-81ED-4DB2-BD59-A6C34878D82A}">
                    <a16:rowId xmlns:a16="http://schemas.microsoft.com/office/drawing/2014/main" val="317939565"/>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G8</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10x</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1.95</a:t>
                      </a:r>
                    </a:p>
                  </a:txBody>
                  <a:tcPr marL="48664" marR="48664" marT="0" marB="0"/>
                </a:tc>
                <a:extLst>
                  <a:ext uri="{0D108BD9-81ED-4DB2-BD59-A6C34878D82A}">
                    <a16:rowId xmlns:a16="http://schemas.microsoft.com/office/drawing/2014/main" val="1311150103"/>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P1</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10x</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1.79</a:t>
                      </a:r>
                    </a:p>
                  </a:txBody>
                  <a:tcPr marL="48664" marR="48664" marT="0" marB="0"/>
                </a:tc>
                <a:extLst>
                  <a:ext uri="{0D108BD9-81ED-4DB2-BD59-A6C34878D82A}">
                    <a16:rowId xmlns:a16="http://schemas.microsoft.com/office/drawing/2014/main" val="166057789"/>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P2</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4x</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4.30</a:t>
                      </a:r>
                    </a:p>
                  </a:txBody>
                  <a:tcPr marL="48664" marR="48664" marT="0" marB="0"/>
                </a:tc>
                <a:extLst>
                  <a:ext uri="{0D108BD9-81ED-4DB2-BD59-A6C34878D82A}">
                    <a16:rowId xmlns:a16="http://schemas.microsoft.com/office/drawing/2014/main" val="4244270024"/>
                  </a:ext>
                </a:extLst>
              </a:tr>
              <a:tr h="341893">
                <a:tc>
                  <a:txBody>
                    <a:bodyPr/>
                    <a:lstStyle/>
                    <a:p>
                      <a:pPr marL="0" marR="0">
                        <a:lnSpc>
                          <a:spcPct val="200000"/>
                        </a:lnSpc>
                        <a:spcBef>
                          <a:spcPts val="0"/>
                        </a:spcBef>
                        <a:spcAft>
                          <a:spcPts val="0"/>
                        </a:spcAft>
                      </a:pPr>
                      <a:r>
                        <a:rPr lang="en-US" sz="1100" b="0">
                          <a:effectLst/>
                          <a:latin typeface="Tahoma" panose="020B0604030504040204" pitchFamily="34" charset="0"/>
                          <a:ea typeface="Tahoma" panose="020B0604030504040204" pitchFamily="34" charset="0"/>
                          <a:cs typeface="Tahoma" panose="020B0604030504040204" pitchFamily="34" charset="0"/>
                        </a:rPr>
                        <a:t>M1</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10x</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1.62</a:t>
                      </a:r>
                    </a:p>
                  </a:txBody>
                  <a:tcPr marL="48664" marR="48664" marT="0" marB="0"/>
                </a:tc>
                <a:extLst>
                  <a:ext uri="{0D108BD9-81ED-4DB2-BD59-A6C34878D82A}">
                    <a16:rowId xmlns:a16="http://schemas.microsoft.com/office/drawing/2014/main" val="2822891120"/>
                  </a:ext>
                </a:extLst>
              </a:tr>
              <a:tr h="341893">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M2</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4x</a:t>
                      </a:r>
                    </a:p>
                  </a:txBody>
                  <a:tcPr marL="48664" marR="48664" marT="0" marB="0"/>
                </a:tc>
                <a:tc>
                  <a:txBody>
                    <a:bodyPr/>
                    <a:lstStyle/>
                    <a:p>
                      <a:pPr marL="0" marR="0">
                        <a:lnSpc>
                          <a:spcPct val="200000"/>
                        </a:lnSpc>
                        <a:spcBef>
                          <a:spcPts val="0"/>
                        </a:spcBef>
                        <a:spcAft>
                          <a:spcPts val="0"/>
                        </a:spcAft>
                      </a:pPr>
                      <a:r>
                        <a:rPr lang="en-US" sz="1100" b="0" dirty="0">
                          <a:effectLst/>
                          <a:latin typeface="Tahoma" panose="020B0604030504040204" pitchFamily="34" charset="0"/>
                          <a:ea typeface="Tahoma" panose="020B0604030504040204" pitchFamily="34" charset="0"/>
                          <a:cs typeface="Tahoma" panose="020B0604030504040204" pitchFamily="34" charset="0"/>
                        </a:rPr>
                        <a:t>4.30</a:t>
                      </a:r>
                    </a:p>
                  </a:txBody>
                  <a:tcPr marL="48664" marR="48664" marT="0" marB="0"/>
                </a:tc>
                <a:extLst>
                  <a:ext uri="{0D108BD9-81ED-4DB2-BD59-A6C34878D82A}">
                    <a16:rowId xmlns:a16="http://schemas.microsoft.com/office/drawing/2014/main" val="193872938"/>
                  </a:ext>
                </a:extLst>
              </a:tr>
            </a:tbl>
          </a:graphicData>
        </a:graphic>
      </p:graphicFrame>
    </p:spTree>
    <p:extLst>
      <p:ext uri="{BB962C8B-B14F-4D97-AF65-F5344CB8AC3E}">
        <p14:creationId xmlns:p14="http://schemas.microsoft.com/office/powerpoint/2010/main" val="2683634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8918B-21AF-4643-AD0A-54F35F520118}"/>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Imaging</a:t>
            </a:r>
          </a:p>
        </p:txBody>
      </p:sp>
      <p:sp>
        <p:nvSpPr>
          <p:cNvPr id="3" name="Content Placeholder 2">
            <a:extLst>
              <a:ext uri="{FF2B5EF4-FFF2-40B4-BE49-F238E27FC236}">
                <a16:creationId xmlns:a16="http://schemas.microsoft.com/office/drawing/2014/main" id="{D975A14E-D369-4A32-BCAB-DB6C3D0DA332}"/>
              </a:ext>
            </a:extLst>
          </p:cNvPr>
          <p:cNvSpPr>
            <a:spLocks noGrp="1"/>
          </p:cNvSpPr>
          <p:nvPr>
            <p:ph idx="1"/>
          </p:nvPr>
        </p:nvSpPr>
        <p:spPr>
          <a:xfrm>
            <a:off x="628650" y="1619861"/>
            <a:ext cx="7886700" cy="1393306"/>
          </a:xfrm>
        </p:spPr>
        <p:txBody>
          <a:bodyPr>
            <a:normAutofit fontScale="77500" lnSpcReduction="20000"/>
          </a:bodyPr>
          <a:lstStyle/>
          <a:p>
            <a:r>
              <a:rPr lang="en-US" dirty="0">
                <a:latin typeface="Tahoma" panose="020B0604030504040204" pitchFamily="34" charset="0"/>
                <a:ea typeface="Tahoma" panose="020B0604030504040204" pitchFamily="34" charset="0"/>
                <a:cs typeface="Tahoma" panose="020B0604030504040204" pitchFamily="34" charset="0"/>
              </a:rPr>
              <a:t>600 center image slices were cropped to 600x600 squares and compiled together to construct image “cubes” (600</a:t>
            </a:r>
            <a:r>
              <a:rPr lang="en-US" baseline="30000" dirty="0">
                <a:latin typeface="Tahoma" panose="020B0604030504040204" pitchFamily="34" charset="0"/>
                <a:ea typeface="Tahoma" panose="020B0604030504040204" pitchFamily="34" charset="0"/>
                <a:cs typeface="Tahoma" panose="020B0604030504040204" pitchFamily="34" charset="0"/>
              </a:rPr>
              <a:t>3</a:t>
            </a:r>
            <a:r>
              <a:rPr lang="en-US" dirty="0">
                <a:latin typeface="Tahoma" panose="020B0604030504040204" pitchFamily="34" charset="0"/>
                <a:ea typeface="Tahoma" panose="020B0604030504040204" pitchFamily="34" charset="0"/>
                <a:cs typeface="Tahoma" panose="020B0604030504040204" pitchFamily="34" charset="0"/>
              </a:rPr>
              <a:t> voxel dimensions)</a:t>
            </a:r>
          </a:p>
          <a:p>
            <a:r>
              <a:rPr lang="en-US" dirty="0">
                <a:latin typeface="Tahoma" panose="020B0604030504040204" pitchFamily="34" charset="0"/>
                <a:ea typeface="Tahoma" panose="020B0604030504040204" pitchFamily="34" charset="0"/>
                <a:cs typeface="Tahoma" panose="020B0604030504040204" pitchFamily="34" charset="0"/>
              </a:rPr>
              <a:t>Dense, thick material (bright areas) absorbs x-rays more than open, porous material (dark areas)</a:t>
            </a:r>
          </a:p>
          <a:p>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FBE73B16-529A-406D-B5F6-5221D199F7D1}"/>
              </a:ext>
            </a:extLst>
          </p:cNvPr>
          <p:cNvSpPr txBox="1"/>
          <p:nvPr/>
        </p:nvSpPr>
        <p:spPr>
          <a:xfrm>
            <a:off x="389079" y="4936022"/>
            <a:ext cx="596036"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G2</a:t>
            </a:r>
          </a:p>
        </p:txBody>
      </p:sp>
      <p:sp>
        <p:nvSpPr>
          <p:cNvPr id="9" name="TextBox 8">
            <a:extLst>
              <a:ext uri="{FF2B5EF4-FFF2-40B4-BE49-F238E27FC236}">
                <a16:creationId xmlns:a16="http://schemas.microsoft.com/office/drawing/2014/main" id="{505023BD-A1EA-4DCE-AEFF-596550004EA5}"/>
              </a:ext>
            </a:extLst>
          </p:cNvPr>
          <p:cNvSpPr txBox="1"/>
          <p:nvPr/>
        </p:nvSpPr>
        <p:spPr>
          <a:xfrm>
            <a:off x="3550448" y="4920482"/>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G6</a:t>
            </a:r>
          </a:p>
        </p:txBody>
      </p:sp>
      <p:sp>
        <p:nvSpPr>
          <p:cNvPr id="12" name="TextBox 11">
            <a:extLst>
              <a:ext uri="{FF2B5EF4-FFF2-40B4-BE49-F238E27FC236}">
                <a16:creationId xmlns:a16="http://schemas.microsoft.com/office/drawing/2014/main" id="{A2928B3C-F0F9-4068-8DDA-F96AFE4D3240}"/>
              </a:ext>
            </a:extLst>
          </p:cNvPr>
          <p:cNvSpPr txBox="1"/>
          <p:nvPr/>
        </p:nvSpPr>
        <p:spPr>
          <a:xfrm>
            <a:off x="6681881" y="4920482"/>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M2</a:t>
            </a:r>
          </a:p>
        </p:txBody>
      </p:sp>
      <p:pic>
        <p:nvPicPr>
          <p:cNvPr id="14" name="Picture 13">
            <a:extLst>
              <a:ext uri="{FF2B5EF4-FFF2-40B4-BE49-F238E27FC236}">
                <a16:creationId xmlns:a16="http://schemas.microsoft.com/office/drawing/2014/main" id="{96054CA4-65C9-4B73-82C5-06C0A3C4A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922" y="4893747"/>
            <a:ext cx="2078015" cy="1964253"/>
          </a:xfrm>
          <a:prstGeom prst="rect">
            <a:avLst/>
          </a:prstGeom>
        </p:spPr>
      </p:pic>
      <p:pic>
        <p:nvPicPr>
          <p:cNvPr id="5" name="Picture 4">
            <a:extLst>
              <a:ext uri="{FF2B5EF4-FFF2-40B4-BE49-F238E27FC236}">
                <a16:creationId xmlns:a16="http://schemas.microsoft.com/office/drawing/2014/main" id="{77C35339-0798-40F4-86F1-710E25A45E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71" y="3151193"/>
            <a:ext cx="1791063" cy="1791063"/>
          </a:xfrm>
          <a:prstGeom prst="rect">
            <a:avLst/>
          </a:prstGeom>
        </p:spPr>
      </p:pic>
      <p:pic>
        <p:nvPicPr>
          <p:cNvPr id="15" name="Picture 14">
            <a:extLst>
              <a:ext uri="{FF2B5EF4-FFF2-40B4-BE49-F238E27FC236}">
                <a16:creationId xmlns:a16="http://schemas.microsoft.com/office/drawing/2014/main" id="{97D65315-3DFE-4E0E-99F0-9222C20004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47679" y="4936022"/>
            <a:ext cx="1982956" cy="1874397"/>
          </a:xfrm>
          <a:prstGeom prst="rect">
            <a:avLst/>
          </a:prstGeom>
        </p:spPr>
      </p:pic>
      <p:pic>
        <p:nvPicPr>
          <p:cNvPr id="8" name="Picture 7">
            <a:extLst>
              <a:ext uri="{FF2B5EF4-FFF2-40B4-BE49-F238E27FC236}">
                <a16:creationId xmlns:a16="http://schemas.microsoft.com/office/drawing/2014/main" id="{45382594-9196-49B5-9DFF-069BC825A3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01589" y="3144959"/>
            <a:ext cx="1791063" cy="1791063"/>
          </a:xfrm>
          <a:prstGeom prst="rect">
            <a:avLst/>
          </a:prstGeom>
        </p:spPr>
      </p:pic>
      <p:pic>
        <p:nvPicPr>
          <p:cNvPr id="16" name="Picture 15">
            <a:extLst>
              <a:ext uri="{FF2B5EF4-FFF2-40B4-BE49-F238E27FC236}">
                <a16:creationId xmlns:a16="http://schemas.microsoft.com/office/drawing/2014/main" id="{6248C674-8B1D-4DD5-9AF4-96373800FA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61044" y="4936022"/>
            <a:ext cx="1982956" cy="1874397"/>
          </a:xfrm>
          <a:prstGeom prst="rect">
            <a:avLst/>
          </a:prstGeom>
        </p:spPr>
      </p:pic>
      <p:pic>
        <p:nvPicPr>
          <p:cNvPr id="11" name="Picture 10">
            <a:extLst>
              <a:ext uri="{FF2B5EF4-FFF2-40B4-BE49-F238E27FC236}">
                <a16:creationId xmlns:a16="http://schemas.microsoft.com/office/drawing/2014/main" id="{1EE125BE-2E1F-41F5-BA66-46B960C54E7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69073" y="3148538"/>
            <a:ext cx="1787484" cy="1787484"/>
          </a:xfrm>
          <a:prstGeom prst="rect">
            <a:avLst/>
          </a:prstGeom>
        </p:spPr>
      </p:pic>
      <p:sp>
        <p:nvSpPr>
          <p:cNvPr id="17" name="TextBox 16">
            <a:extLst>
              <a:ext uri="{FF2B5EF4-FFF2-40B4-BE49-F238E27FC236}">
                <a16:creationId xmlns:a16="http://schemas.microsoft.com/office/drawing/2014/main" id="{3EB1B444-5C43-4040-B0FC-90846199C0A1}"/>
              </a:ext>
            </a:extLst>
          </p:cNvPr>
          <p:cNvSpPr txBox="1"/>
          <p:nvPr/>
        </p:nvSpPr>
        <p:spPr>
          <a:xfrm>
            <a:off x="-48259" y="6492874"/>
            <a:ext cx="1413620" cy="400110"/>
          </a:xfrm>
          <a:prstGeom prst="rect">
            <a:avLst/>
          </a:prstGeom>
          <a:noFill/>
        </p:spPr>
        <p:txBody>
          <a:bodyPr wrap="square" rtlCol="0">
            <a:spAutoFit/>
          </a:bodyPr>
          <a:lstStyle/>
          <a:p>
            <a:r>
              <a:rPr lang="en-US" sz="1000" dirty="0">
                <a:latin typeface="Tahoma" panose="020B0604030504040204" pitchFamily="34" charset="0"/>
                <a:ea typeface="Tahoma" panose="020B0604030504040204" pitchFamily="34" charset="0"/>
                <a:cs typeface="Tahoma" panose="020B0604030504040204" pitchFamily="34" charset="0"/>
              </a:rPr>
              <a:t>4.30 µm resolution, cube edge ~ 2.6 mm</a:t>
            </a:r>
          </a:p>
        </p:txBody>
      </p:sp>
    </p:spTree>
    <p:extLst>
      <p:ext uri="{BB962C8B-B14F-4D97-AF65-F5344CB8AC3E}">
        <p14:creationId xmlns:p14="http://schemas.microsoft.com/office/powerpoint/2010/main" val="2498462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3D727-EFC6-4551-8273-870F6DC6B3A6}"/>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Phase Segmentation</a:t>
            </a:r>
          </a:p>
        </p:txBody>
      </p:sp>
      <p:sp>
        <p:nvSpPr>
          <p:cNvPr id="3" name="Content Placeholder 2">
            <a:extLst>
              <a:ext uri="{FF2B5EF4-FFF2-40B4-BE49-F238E27FC236}">
                <a16:creationId xmlns:a16="http://schemas.microsoft.com/office/drawing/2014/main" id="{08FFE229-47D4-4481-9573-47ABB5401D1A}"/>
              </a:ext>
            </a:extLst>
          </p:cNvPr>
          <p:cNvSpPr>
            <a:spLocks noGrp="1"/>
          </p:cNvSpPr>
          <p:nvPr>
            <p:ph idx="1"/>
          </p:nvPr>
        </p:nvSpPr>
        <p:spPr>
          <a:xfrm>
            <a:off x="628650" y="1825627"/>
            <a:ext cx="7886700" cy="1325563"/>
          </a:xfrm>
        </p:spPr>
        <p:txBody>
          <a:bodyPr>
            <a:normAutofit fontScale="85000" lnSpcReduction="10000"/>
          </a:bodyPr>
          <a:lstStyle/>
          <a:p>
            <a:r>
              <a:rPr lang="en-US" dirty="0">
                <a:latin typeface="Tahoma" panose="020B0604030504040204" pitchFamily="34" charset="0"/>
                <a:ea typeface="Tahoma" panose="020B0604030504040204" pitchFamily="34" charset="0"/>
                <a:cs typeface="Tahoma" panose="020B0604030504040204" pitchFamily="34" charset="0"/>
              </a:rPr>
              <a:t>Grayscale values range from 0 (black) to 255 (white)</a:t>
            </a:r>
          </a:p>
          <a:p>
            <a:r>
              <a:rPr lang="en-US" dirty="0">
                <a:latin typeface="Tahoma" panose="020B0604030504040204" pitchFamily="34" charset="0"/>
                <a:ea typeface="Tahoma" panose="020B0604030504040204" pitchFamily="34" charset="0"/>
                <a:cs typeface="Tahoma" panose="020B0604030504040204" pitchFamily="34" charset="0"/>
              </a:rPr>
              <a:t>Intensity histograms generated for each sample to help choose the ideal threshold value (105 to 145)</a:t>
            </a:r>
          </a:p>
          <a:p>
            <a:endParaRPr lang="en-US" dirty="0">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39AB3F18-903F-4F36-8127-759C91167157}"/>
              </a:ext>
            </a:extLst>
          </p:cNvPr>
          <p:cNvPicPr>
            <a:picLocks noChangeAspect="1"/>
          </p:cNvPicPr>
          <p:nvPr/>
        </p:nvPicPr>
        <p:blipFill>
          <a:blip r:embed="rId2"/>
          <a:stretch>
            <a:fillRect/>
          </a:stretch>
        </p:blipFill>
        <p:spPr>
          <a:xfrm>
            <a:off x="39294" y="3706811"/>
            <a:ext cx="2537754" cy="2064809"/>
          </a:xfrm>
          <a:prstGeom prst="rect">
            <a:avLst/>
          </a:prstGeom>
        </p:spPr>
      </p:pic>
      <p:pic>
        <p:nvPicPr>
          <p:cNvPr id="5" name="Picture 4">
            <a:extLst>
              <a:ext uri="{FF2B5EF4-FFF2-40B4-BE49-F238E27FC236}">
                <a16:creationId xmlns:a16="http://schemas.microsoft.com/office/drawing/2014/main" id="{FD34E7D6-A696-4C9D-82C0-B65E5153570B}"/>
              </a:ext>
            </a:extLst>
          </p:cNvPr>
          <p:cNvPicPr>
            <a:picLocks noChangeAspect="1"/>
          </p:cNvPicPr>
          <p:nvPr/>
        </p:nvPicPr>
        <p:blipFill>
          <a:blip r:embed="rId3"/>
          <a:stretch>
            <a:fillRect/>
          </a:stretch>
        </p:blipFill>
        <p:spPr>
          <a:xfrm>
            <a:off x="6545316" y="3706811"/>
            <a:ext cx="2555552" cy="2079289"/>
          </a:xfrm>
          <a:prstGeom prst="rect">
            <a:avLst/>
          </a:prstGeom>
        </p:spPr>
      </p:pic>
      <p:pic>
        <p:nvPicPr>
          <p:cNvPr id="7" name="Picture 6">
            <a:extLst>
              <a:ext uri="{FF2B5EF4-FFF2-40B4-BE49-F238E27FC236}">
                <a16:creationId xmlns:a16="http://schemas.microsoft.com/office/drawing/2014/main" id="{5B8A7FB6-46CE-4BA7-AA78-137B0E668AB6}"/>
              </a:ext>
            </a:extLst>
          </p:cNvPr>
          <p:cNvPicPr>
            <a:picLocks noChangeAspect="1"/>
          </p:cNvPicPr>
          <p:nvPr/>
        </p:nvPicPr>
        <p:blipFill>
          <a:blip r:embed="rId4"/>
          <a:stretch>
            <a:fillRect/>
          </a:stretch>
        </p:blipFill>
        <p:spPr>
          <a:xfrm>
            <a:off x="2625372" y="3641657"/>
            <a:ext cx="3893256" cy="2144443"/>
          </a:xfrm>
          <a:prstGeom prst="rect">
            <a:avLst/>
          </a:prstGeom>
        </p:spPr>
      </p:pic>
      <p:sp>
        <p:nvSpPr>
          <p:cNvPr id="8" name="TextBox 7">
            <a:extLst>
              <a:ext uri="{FF2B5EF4-FFF2-40B4-BE49-F238E27FC236}">
                <a16:creationId xmlns:a16="http://schemas.microsoft.com/office/drawing/2014/main" id="{B7D82CA1-1259-40E0-8602-9DD62C06E1BF}"/>
              </a:ext>
            </a:extLst>
          </p:cNvPr>
          <p:cNvSpPr txBox="1"/>
          <p:nvPr/>
        </p:nvSpPr>
        <p:spPr>
          <a:xfrm>
            <a:off x="6794309" y="6457890"/>
            <a:ext cx="2479088" cy="400110"/>
          </a:xfrm>
          <a:prstGeom prst="rect">
            <a:avLst/>
          </a:prstGeom>
          <a:noFill/>
        </p:spPr>
        <p:txBody>
          <a:bodyPr wrap="square" rtlCol="0">
            <a:spAutoFit/>
          </a:bodyPr>
          <a:lstStyle/>
          <a:p>
            <a:r>
              <a:rPr lang="en-US" sz="1000" dirty="0">
                <a:latin typeface="Tahoma" panose="020B0604030504040204" pitchFamily="34" charset="0"/>
                <a:ea typeface="Tahoma" panose="020B0604030504040204" pitchFamily="34" charset="0"/>
                <a:cs typeface="Tahoma" panose="020B0604030504040204" pitchFamily="34" charset="0"/>
              </a:rPr>
              <a:t>Note: black and white grayscale values are flipped for these cross sections</a:t>
            </a:r>
          </a:p>
        </p:txBody>
      </p:sp>
    </p:spTree>
    <p:extLst>
      <p:ext uri="{BB962C8B-B14F-4D97-AF65-F5344CB8AC3E}">
        <p14:creationId xmlns:p14="http://schemas.microsoft.com/office/powerpoint/2010/main" val="1291303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93FDC-76C2-43EF-966C-8AC79B29FB80}"/>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a:t>
            </a:r>
            <a:r>
              <a:rPr lang="en-US" sz="3400" dirty="0">
                <a:latin typeface="Tahoma" panose="020B0604030504040204" pitchFamily="34" charset="0"/>
                <a:ea typeface="Tahoma" panose="020B0604030504040204" pitchFamily="34" charset="0"/>
                <a:cs typeface="Tahoma" panose="020B0604030504040204" pitchFamily="34" charset="0"/>
              </a:rPr>
              <a:t>Post-Processing: Re-gridding</a:t>
            </a:r>
            <a:endParaRPr lang="en-US" sz="3400" dirty="0"/>
          </a:p>
        </p:txBody>
      </p:sp>
      <p:sp>
        <p:nvSpPr>
          <p:cNvPr id="3" name="Content Placeholder 2">
            <a:extLst>
              <a:ext uri="{FF2B5EF4-FFF2-40B4-BE49-F238E27FC236}">
                <a16:creationId xmlns:a16="http://schemas.microsoft.com/office/drawing/2014/main" id="{65DEAEF8-10DB-4504-ADFA-8E48AF399BFD}"/>
              </a:ext>
            </a:extLst>
          </p:cNvPr>
          <p:cNvSpPr>
            <a:spLocks noGrp="1"/>
          </p:cNvSpPr>
          <p:nvPr>
            <p:ph idx="1"/>
          </p:nvPr>
        </p:nvSpPr>
        <p:spPr>
          <a:xfrm>
            <a:off x="628649" y="1621767"/>
            <a:ext cx="8178921" cy="2613803"/>
          </a:xfrm>
        </p:spPr>
        <p:txBody>
          <a:bodyPr>
            <a:normAutofit fontScale="62500" lnSpcReduction="20000"/>
          </a:bodyPr>
          <a:lstStyle/>
          <a:p>
            <a:r>
              <a:rPr lang="en-US" dirty="0">
                <a:latin typeface="Tahoma" panose="020B0604030504040204" pitchFamily="34" charset="0"/>
                <a:ea typeface="Tahoma" panose="020B0604030504040204" pitchFamily="34" charset="0"/>
                <a:cs typeface="Tahoma" panose="020B0604030504040204" pitchFamily="34" charset="0"/>
              </a:rPr>
              <a:t>The 600</a:t>
            </a:r>
            <a:r>
              <a:rPr lang="en-US" baseline="30000" dirty="0">
                <a:latin typeface="Tahoma" panose="020B0604030504040204" pitchFamily="34" charset="0"/>
                <a:ea typeface="Tahoma" panose="020B0604030504040204" pitchFamily="34" charset="0"/>
                <a:cs typeface="Tahoma" panose="020B0604030504040204" pitchFamily="34" charset="0"/>
              </a:rPr>
              <a:t>3</a:t>
            </a:r>
            <a:r>
              <a:rPr lang="en-US" dirty="0">
                <a:latin typeface="Tahoma" panose="020B0604030504040204" pitchFamily="34" charset="0"/>
                <a:ea typeface="Tahoma" panose="020B0604030504040204" pitchFamily="34" charset="0"/>
                <a:cs typeface="Tahoma" panose="020B0604030504040204" pitchFamily="34" charset="0"/>
              </a:rPr>
              <a:t> image cubes were re-gridded to 200</a:t>
            </a:r>
            <a:r>
              <a:rPr lang="en-US" baseline="30000" dirty="0">
                <a:latin typeface="Tahoma" panose="020B0604030504040204" pitchFamily="34" charset="0"/>
                <a:ea typeface="Tahoma" panose="020B0604030504040204" pitchFamily="34" charset="0"/>
                <a:cs typeface="Tahoma" panose="020B0604030504040204" pitchFamily="34" charset="0"/>
              </a:rPr>
              <a:t>3</a:t>
            </a:r>
            <a:r>
              <a:rPr lang="en-US" dirty="0">
                <a:latin typeface="Tahoma" panose="020B0604030504040204" pitchFamily="34" charset="0"/>
                <a:ea typeface="Tahoma" panose="020B0604030504040204" pitchFamily="34" charset="0"/>
                <a:cs typeface="Tahoma" panose="020B0604030504040204" pitchFamily="34" charset="0"/>
              </a:rPr>
              <a:t> image cubes</a:t>
            </a:r>
          </a:p>
          <a:p>
            <a:pPr marL="914400" lvl="1" indent="-457200">
              <a:buFont typeface="+mj-lt"/>
              <a:buAutoNum type="arabicPeriod"/>
            </a:pPr>
            <a:r>
              <a:rPr lang="en-US" dirty="0">
                <a:latin typeface="Tahoma" panose="020B0604030504040204" pitchFamily="34" charset="0"/>
                <a:ea typeface="Tahoma" panose="020B0604030504040204" pitchFamily="34" charset="0"/>
                <a:cs typeface="Tahoma" panose="020B0604030504040204" pitchFamily="34" charset="0"/>
              </a:rPr>
              <a:t>The original cubes were partitioned into smaller sections of 3</a:t>
            </a:r>
            <a:r>
              <a:rPr lang="en-US" baseline="30000" dirty="0">
                <a:latin typeface="Tahoma" panose="020B0604030504040204" pitchFamily="34" charset="0"/>
                <a:ea typeface="Tahoma" panose="020B0604030504040204" pitchFamily="34" charset="0"/>
                <a:cs typeface="Tahoma" panose="020B0604030504040204" pitchFamily="34" charset="0"/>
              </a:rPr>
              <a:t>3</a:t>
            </a:r>
            <a:r>
              <a:rPr lang="en-US" dirty="0">
                <a:latin typeface="Tahoma" panose="020B0604030504040204" pitchFamily="34" charset="0"/>
                <a:ea typeface="Tahoma" panose="020B0604030504040204" pitchFamily="34" charset="0"/>
                <a:cs typeface="Tahoma" panose="020B0604030504040204" pitchFamily="34" charset="0"/>
              </a:rPr>
              <a:t> regions</a:t>
            </a:r>
          </a:p>
          <a:p>
            <a:pPr marL="914400" lvl="1" indent="-457200">
              <a:buFont typeface="+mj-lt"/>
              <a:buAutoNum type="arabicPeriod"/>
            </a:pPr>
            <a:r>
              <a:rPr lang="en-US" dirty="0">
                <a:latin typeface="Tahoma" panose="020B0604030504040204" pitchFamily="34" charset="0"/>
                <a:ea typeface="Tahoma" panose="020B0604030504040204" pitchFamily="34" charset="0"/>
                <a:cs typeface="Tahoma" panose="020B0604030504040204" pitchFamily="34" charset="0"/>
              </a:rPr>
              <a:t>Within each 3</a:t>
            </a:r>
            <a:r>
              <a:rPr lang="en-US" baseline="30000" dirty="0">
                <a:latin typeface="Tahoma" panose="020B0604030504040204" pitchFamily="34" charset="0"/>
                <a:ea typeface="Tahoma" panose="020B0604030504040204" pitchFamily="34" charset="0"/>
                <a:cs typeface="Tahoma" panose="020B0604030504040204" pitchFamily="34" charset="0"/>
              </a:rPr>
              <a:t>3</a:t>
            </a:r>
            <a:r>
              <a:rPr lang="en-US" dirty="0">
                <a:latin typeface="Tahoma" panose="020B0604030504040204" pitchFamily="34" charset="0"/>
                <a:ea typeface="Tahoma" panose="020B0604030504040204" pitchFamily="34" charset="0"/>
                <a:cs typeface="Tahoma" panose="020B0604030504040204" pitchFamily="34" charset="0"/>
              </a:rPr>
              <a:t> region, we counted the number of pore versus solid voxels</a:t>
            </a:r>
          </a:p>
          <a:p>
            <a:pPr marL="914400" lvl="1" indent="-457200">
              <a:buFont typeface="+mj-lt"/>
              <a:buAutoNum type="arabicPeriod"/>
            </a:pPr>
            <a:r>
              <a:rPr lang="en-US" dirty="0">
                <a:latin typeface="Tahoma" panose="020B0604030504040204" pitchFamily="34" charset="0"/>
                <a:ea typeface="Tahoma" panose="020B0604030504040204" pitchFamily="34" charset="0"/>
                <a:cs typeface="Tahoma" panose="020B0604030504040204" pitchFamily="34" charset="0"/>
              </a:rPr>
              <a:t>If a high enough number of pore voxels out of 27 were present (at or greater than a user-chosen value), a single pore voxel was defined from the region. Otherwise, a single solid voxel was defined</a:t>
            </a:r>
          </a:p>
          <a:p>
            <a:r>
              <a:rPr lang="en-US" dirty="0">
                <a:latin typeface="Tahoma" panose="020B0604030504040204" pitchFamily="34" charset="0"/>
                <a:ea typeface="Tahoma" panose="020B0604030504040204" pitchFamily="34" charset="0"/>
                <a:cs typeface="Tahoma" panose="020B0604030504040204" pitchFamily="34" charset="0"/>
              </a:rPr>
              <a:t>This reduced the number of voxels to process from 216,000,000 to 8,000,000 and cut down on processing time, however, some detail is lost as edges are “smoothed out”</a:t>
            </a:r>
          </a:p>
          <a:p>
            <a:r>
              <a:rPr lang="en-US" dirty="0">
                <a:latin typeface="Tahoma" panose="020B0604030504040204" pitchFamily="34" charset="0"/>
                <a:ea typeface="Tahoma" panose="020B0604030504040204" pitchFamily="34" charset="0"/>
                <a:cs typeface="Tahoma" panose="020B0604030504040204" pitchFamily="34" charset="0"/>
              </a:rPr>
              <a:t>Different user-chosen “compression criterion” values (from 3 to 10) were used during simulation trials to investigate its effects</a:t>
            </a:r>
          </a:p>
        </p:txBody>
      </p:sp>
      <p:pic>
        <p:nvPicPr>
          <p:cNvPr id="5" name="Picture 4">
            <a:extLst>
              <a:ext uri="{FF2B5EF4-FFF2-40B4-BE49-F238E27FC236}">
                <a16:creationId xmlns:a16="http://schemas.microsoft.com/office/drawing/2014/main" id="{F3490F62-7070-4DC1-A370-00921BC4E8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318" y="4192448"/>
            <a:ext cx="3857318" cy="1518249"/>
          </a:xfrm>
          <a:prstGeom prst="rect">
            <a:avLst/>
          </a:prstGeom>
        </p:spPr>
      </p:pic>
      <p:sp>
        <p:nvSpPr>
          <p:cNvPr id="6" name="Arrow: Right 5">
            <a:extLst>
              <a:ext uri="{FF2B5EF4-FFF2-40B4-BE49-F238E27FC236}">
                <a16:creationId xmlns:a16="http://schemas.microsoft.com/office/drawing/2014/main" id="{DDB92739-1C2E-4FBA-AE4A-BDA60A0D3FA0}"/>
              </a:ext>
            </a:extLst>
          </p:cNvPr>
          <p:cNvSpPr/>
          <p:nvPr/>
        </p:nvSpPr>
        <p:spPr>
          <a:xfrm>
            <a:off x="2088454" y="4656102"/>
            <a:ext cx="629729" cy="4011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4">
            <a:extLst>
              <a:ext uri="{FF2B5EF4-FFF2-40B4-BE49-F238E27FC236}">
                <a16:creationId xmlns:a16="http://schemas.microsoft.com/office/drawing/2014/main" id="{E7F34FF9-793A-4ECE-9335-FEB3CC68A8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7319" y="4192448"/>
            <a:ext cx="2156282" cy="2087566"/>
          </a:xfrm>
          <a:prstGeom prst="rect">
            <a:avLst/>
          </a:prstGeom>
        </p:spPr>
      </p:pic>
      <p:pic>
        <p:nvPicPr>
          <p:cNvPr id="8" name="Picture 7">
            <a:extLst>
              <a:ext uri="{FF2B5EF4-FFF2-40B4-BE49-F238E27FC236}">
                <a16:creationId xmlns:a16="http://schemas.microsoft.com/office/drawing/2014/main" id="{415DD85A-12C9-4A34-B44C-E099150EB0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0534" y="4192448"/>
            <a:ext cx="2179977" cy="2087565"/>
          </a:xfrm>
          <a:prstGeom prst="rect">
            <a:avLst/>
          </a:prstGeom>
        </p:spPr>
      </p:pic>
      <p:sp>
        <p:nvSpPr>
          <p:cNvPr id="9" name="TextBox 8">
            <a:extLst>
              <a:ext uri="{FF2B5EF4-FFF2-40B4-BE49-F238E27FC236}">
                <a16:creationId xmlns:a16="http://schemas.microsoft.com/office/drawing/2014/main" id="{BFEC76B9-5B34-4740-9C69-F98490A5313C}"/>
              </a:ext>
            </a:extLst>
          </p:cNvPr>
          <p:cNvSpPr txBox="1"/>
          <p:nvPr/>
        </p:nvSpPr>
        <p:spPr>
          <a:xfrm>
            <a:off x="5390581" y="6280013"/>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M2</a:t>
            </a:r>
          </a:p>
        </p:txBody>
      </p:sp>
      <p:sp>
        <p:nvSpPr>
          <p:cNvPr id="10" name="TextBox 9">
            <a:extLst>
              <a:ext uri="{FF2B5EF4-FFF2-40B4-BE49-F238E27FC236}">
                <a16:creationId xmlns:a16="http://schemas.microsoft.com/office/drawing/2014/main" id="{B2F1413A-6500-45E3-A651-B7092F0028CE}"/>
              </a:ext>
            </a:extLst>
          </p:cNvPr>
          <p:cNvSpPr txBox="1"/>
          <p:nvPr/>
        </p:nvSpPr>
        <p:spPr>
          <a:xfrm>
            <a:off x="7595643" y="6280013"/>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G2</a:t>
            </a:r>
          </a:p>
        </p:txBody>
      </p:sp>
      <p:sp>
        <p:nvSpPr>
          <p:cNvPr id="11" name="TextBox 10">
            <a:extLst>
              <a:ext uri="{FF2B5EF4-FFF2-40B4-BE49-F238E27FC236}">
                <a16:creationId xmlns:a16="http://schemas.microsoft.com/office/drawing/2014/main" id="{70DB7F83-9F86-4C8F-9BFF-29149F7516E2}"/>
              </a:ext>
            </a:extLst>
          </p:cNvPr>
          <p:cNvSpPr txBox="1"/>
          <p:nvPr/>
        </p:nvSpPr>
        <p:spPr>
          <a:xfrm>
            <a:off x="7846146" y="6649345"/>
            <a:ext cx="1413620" cy="246221"/>
          </a:xfrm>
          <a:prstGeom prst="rect">
            <a:avLst/>
          </a:prstGeom>
          <a:noFill/>
        </p:spPr>
        <p:txBody>
          <a:bodyPr wrap="square" rtlCol="0">
            <a:spAutoFit/>
          </a:bodyPr>
          <a:lstStyle/>
          <a:p>
            <a:r>
              <a:rPr lang="en-US" sz="1000" dirty="0">
                <a:latin typeface="Tahoma" panose="020B0604030504040204" pitchFamily="34" charset="0"/>
                <a:ea typeface="Tahoma" panose="020B0604030504040204" pitchFamily="34" charset="0"/>
                <a:cs typeface="Tahoma" panose="020B0604030504040204" pitchFamily="34" charset="0"/>
              </a:rPr>
              <a:t>cube edge ~ 2.6 mm</a:t>
            </a:r>
          </a:p>
        </p:txBody>
      </p:sp>
    </p:spTree>
    <p:extLst>
      <p:ext uri="{BB962C8B-B14F-4D97-AF65-F5344CB8AC3E}">
        <p14:creationId xmlns:p14="http://schemas.microsoft.com/office/powerpoint/2010/main" val="694535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6C215-A95B-4711-BBA1-8259CC1E02F3}"/>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Connectivity Analysis</a:t>
            </a:r>
            <a:endParaRPr lang="en-US" sz="3600" dirty="0"/>
          </a:p>
        </p:txBody>
      </p:sp>
      <p:sp>
        <p:nvSpPr>
          <p:cNvPr id="3" name="Content Placeholder 2">
            <a:extLst>
              <a:ext uri="{FF2B5EF4-FFF2-40B4-BE49-F238E27FC236}">
                <a16:creationId xmlns:a16="http://schemas.microsoft.com/office/drawing/2014/main" id="{9970DFD3-B12F-41E6-8CA9-E1358B8F9CC7}"/>
              </a:ext>
            </a:extLst>
          </p:cNvPr>
          <p:cNvSpPr>
            <a:spLocks noGrp="1"/>
          </p:cNvSpPr>
          <p:nvPr>
            <p:ph idx="1"/>
          </p:nvPr>
        </p:nvSpPr>
        <p:spPr/>
        <p:txBody>
          <a:bodyPr/>
          <a:lstStyle/>
          <a:p>
            <a:r>
              <a:rPr lang="en-US" dirty="0"/>
              <a:t>A burning algorithm (</a:t>
            </a:r>
            <a:r>
              <a:rPr lang="en-US" dirty="0" err="1"/>
              <a:t>Garboczi</a:t>
            </a:r>
            <a:r>
              <a:rPr lang="en-US" dirty="0"/>
              <a:t> 1998) was used to check if the pore phase percolated from one face of an image cube to the opposite face</a:t>
            </a:r>
          </a:p>
          <a:p>
            <a:r>
              <a:rPr lang="en-US" dirty="0"/>
              <a:t>Only 5 of the original 12 samples had pore phase percolation on at least 2 faces</a:t>
            </a:r>
          </a:p>
          <a:p>
            <a:r>
              <a:rPr lang="en-US" dirty="0"/>
              <a:t>We defined these 5 image cubes as “well connected” and continued study of these cubes only: 1 mudstone (M2), 1 skeletal grainstone (G6), and 3 oomoldic grainstones (G4, G2, G1)</a:t>
            </a:r>
          </a:p>
        </p:txBody>
      </p:sp>
    </p:spTree>
    <p:extLst>
      <p:ext uri="{BB962C8B-B14F-4D97-AF65-F5344CB8AC3E}">
        <p14:creationId xmlns:p14="http://schemas.microsoft.com/office/powerpoint/2010/main" val="3376948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EA5B-CA08-494A-9AF2-075C9B8AD2C4}"/>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Pore Network Extraction</a:t>
            </a:r>
            <a:endParaRPr lang="en-US" sz="3600" dirty="0"/>
          </a:p>
        </p:txBody>
      </p:sp>
      <p:sp>
        <p:nvSpPr>
          <p:cNvPr id="3" name="Content Placeholder 2">
            <a:extLst>
              <a:ext uri="{FF2B5EF4-FFF2-40B4-BE49-F238E27FC236}">
                <a16:creationId xmlns:a16="http://schemas.microsoft.com/office/drawing/2014/main" id="{EA2F9CA3-2DF7-4E5D-AD1F-FD1D9F763EE8}"/>
              </a:ext>
            </a:extLst>
          </p:cNvPr>
          <p:cNvSpPr>
            <a:spLocks noGrp="1"/>
          </p:cNvSpPr>
          <p:nvPr>
            <p:ph idx="1"/>
          </p:nvPr>
        </p:nvSpPr>
        <p:spPr>
          <a:xfrm>
            <a:off x="205955" y="1566832"/>
            <a:ext cx="4426430" cy="5049628"/>
          </a:xfrm>
        </p:spPr>
        <p:txBody>
          <a:bodyPr>
            <a:normAutofit fontScale="77500" lnSpcReduction="20000"/>
          </a:bodyPr>
          <a:lstStyle/>
          <a:p>
            <a:r>
              <a:rPr lang="en-US" dirty="0"/>
              <a:t>Pore network models were extracted from the image cubes using a maximal ball algorithm developed by the Imperial College London (Dong and Blunt 2009)</a:t>
            </a:r>
          </a:p>
          <a:p>
            <a:r>
              <a:rPr lang="en-US" dirty="0"/>
              <a:t>Algorithm works by filling the pore space with spheres inscribed within the solid-pore boundary. Large spheres near the center of pore regions become nodes. Chains of smaller spheres that connect larger nodes become cylindrical tubes</a:t>
            </a:r>
          </a:p>
          <a:p>
            <a:r>
              <a:rPr lang="en-US" dirty="0"/>
              <a:t>From this information, we extracted pore radii, pore throats and their volumes. Pore sizes were binned into 30 groups and pore size distributions were plotted</a:t>
            </a:r>
          </a:p>
        </p:txBody>
      </p:sp>
      <p:pic>
        <p:nvPicPr>
          <p:cNvPr id="5" name="Picture 4">
            <a:extLst>
              <a:ext uri="{FF2B5EF4-FFF2-40B4-BE49-F238E27FC236}">
                <a16:creationId xmlns:a16="http://schemas.microsoft.com/office/drawing/2014/main" id="{06DB664D-9B29-4A4E-804F-AA82D5BB6968}"/>
              </a:ext>
            </a:extLst>
          </p:cNvPr>
          <p:cNvPicPr>
            <a:picLocks noChangeAspect="1"/>
          </p:cNvPicPr>
          <p:nvPr/>
        </p:nvPicPr>
        <p:blipFill>
          <a:blip r:embed="rId2"/>
          <a:stretch>
            <a:fillRect/>
          </a:stretch>
        </p:blipFill>
        <p:spPr>
          <a:xfrm>
            <a:off x="4946872" y="1328467"/>
            <a:ext cx="3896282" cy="5417389"/>
          </a:xfrm>
          <a:prstGeom prst="rect">
            <a:avLst/>
          </a:prstGeom>
          <a:ln>
            <a:solidFill>
              <a:schemeClr val="tx1"/>
            </a:solidFill>
          </a:ln>
        </p:spPr>
      </p:pic>
    </p:spTree>
    <p:extLst>
      <p:ext uri="{BB962C8B-B14F-4D97-AF65-F5344CB8AC3E}">
        <p14:creationId xmlns:p14="http://schemas.microsoft.com/office/powerpoint/2010/main" val="3060593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D35A34-C663-4F34-94FF-E43E0F27D620}"/>
              </a:ext>
            </a:extLst>
          </p:cNvPr>
          <p:cNvPicPr>
            <a:picLocks noChangeAspect="1"/>
          </p:cNvPicPr>
          <p:nvPr/>
        </p:nvPicPr>
        <p:blipFill>
          <a:blip r:embed="rId2"/>
          <a:stretch>
            <a:fillRect/>
          </a:stretch>
        </p:blipFill>
        <p:spPr>
          <a:xfrm>
            <a:off x="236953" y="603849"/>
            <a:ext cx="4098093" cy="5650302"/>
          </a:xfrm>
          <a:prstGeom prst="rect">
            <a:avLst/>
          </a:prstGeom>
          <a:ln>
            <a:solidFill>
              <a:schemeClr val="tx1"/>
            </a:solidFill>
          </a:ln>
        </p:spPr>
      </p:pic>
      <p:pic>
        <p:nvPicPr>
          <p:cNvPr id="7" name="Picture 6">
            <a:extLst>
              <a:ext uri="{FF2B5EF4-FFF2-40B4-BE49-F238E27FC236}">
                <a16:creationId xmlns:a16="http://schemas.microsoft.com/office/drawing/2014/main" id="{97836144-95A8-4C4E-BFD5-CCD73706E39F}"/>
              </a:ext>
            </a:extLst>
          </p:cNvPr>
          <p:cNvPicPr>
            <a:picLocks noChangeAspect="1"/>
          </p:cNvPicPr>
          <p:nvPr/>
        </p:nvPicPr>
        <p:blipFill>
          <a:blip r:embed="rId3"/>
          <a:stretch>
            <a:fillRect/>
          </a:stretch>
        </p:blipFill>
        <p:spPr>
          <a:xfrm>
            <a:off x="4836748" y="603849"/>
            <a:ext cx="4070298" cy="5650302"/>
          </a:xfrm>
          <a:prstGeom prst="rect">
            <a:avLst/>
          </a:prstGeom>
          <a:ln>
            <a:solidFill>
              <a:schemeClr val="tx1"/>
            </a:solidFill>
          </a:ln>
        </p:spPr>
      </p:pic>
    </p:spTree>
    <p:extLst>
      <p:ext uri="{BB962C8B-B14F-4D97-AF65-F5344CB8AC3E}">
        <p14:creationId xmlns:p14="http://schemas.microsoft.com/office/powerpoint/2010/main" val="1855578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 name="Picture 108">
            <a:extLst>
              <a:ext uri="{FF2B5EF4-FFF2-40B4-BE49-F238E27FC236}">
                <a16:creationId xmlns:a16="http://schemas.microsoft.com/office/drawing/2014/main" id="{FA57CE10-DBD6-4B59-B499-741CBE37BE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3028" y="4007696"/>
            <a:ext cx="2965319" cy="2770233"/>
          </a:xfrm>
          <a:prstGeom prst="rect">
            <a:avLst/>
          </a:prstGeom>
        </p:spPr>
      </p:pic>
      <p:sp>
        <p:nvSpPr>
          <p:cNvPr id="2" name="Title 1">
            <a:extLst>
              <a:ext uri="{FF2B5EF4-FFF2-40B4-BE49-F238E27FC236}">
                <a16:creationId xmlns:a16="http://schemas.microsoft.com/office/drawing/2014/main" id="{06C89043-FF5A-4416-927F-79A8F7779527}"/>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Application of EDL Model</a:t>
            </a:r>
            <a:endParaRPr lang="en-US" sz="3600" dirty="0"/>
          </a:p>
        </p:txBody>
      </p:sp>
      <p:grpSp>
        <p:nvGrpSpPr>
          <p:cNvPr id="111" name="Group 110">
            <a:extLst>
              <a:ext uri="{FF2B5EF4-FFF2-40B4-BE49-F238E27FC236}">
                <a16:creationId xmlns:a16="http://schemas.microsoft.com/office/drawing/2014/main" id="{4730D0D3-C391-4EB3-AC4F-9416330FBF8C}"/>
              </a:ext>
            </a:extLst>
          </p:cNvPr>
          <p:cNvGrpSpPr/>
          <p:nvPr/>
        </p:nvGrpSpPr>
        <p:grpSpPr>
          <a:xfrm>
            <a:off x="626448" y="1393334"/>
            <a:ext cx="7983545" cy="4615288"/>
            <a:chOff x="491159" y="1934234"/>
            <a:chExt cx="7983545" cy="4615288"/>
          </a:xfrm>
        </p:grpSpPr>
        <p:pic>
          <p:nvPicPr>
            <p:cNvPr id="8" name="Picture 7">
              <a:extLst>
                <a:ext uri="{FF2B5EF4-FFF2-40B4-BE49-F238E27FC236}">
                  <a16:creationId xmlns:a16="http://schemas.microsoft.com/office/drawing/2014/main" id="{D4B723C4-C830-4922-824F-02027728E21E}"/>
                </a:ext>
              </a:extLst>
            </p:cNvPr>
            <p:cNvPicPr>
              <a:picLocks noChangeAspect="1"/>
            </p:cNvPicPr>
            <p:nvPr/>
          </p:nvPicPr>
          <p:blipFill>
            <a:blip r:embed="rId3"/>
            <a:stretch>
              <a:fillRect/>
            </a:stretch>
          </p:blipFill>
          <p:spPr>
            <a:xfrm>
              <a:off x="5157214" y="4845431"/>
              <a:ext cx="3246780" cy="1266244"/>
            </a:xfrm>
            <a:prstGeom prst="rect">
              <a:avLst/>
            </a:prstGeom>
          </p:spPr>
        </p:pic>
        <p:grpSp>
          <p:nvGrpSpPr>
            <p:cNvPr id="21" name="Group 20">
              <a:extLst>
                <a:ext uri="{FF2B5EF4-FFF2-40B4-BE49-F238E27FC236}">
                  <a16:creationId xmlns:a16="http://schemas.microsoft.com/office/drawing/2014/main" id="{5B9A04AD-6E7A-4435-8CCA-2EEF6B1B9D2A}"/>
                </a:ext>
              </a:extLst>
            </p:cNvPr>
            <p:cNvGrpSpPr/>
            <p:nvPr/>
          </p:nvGrpSpPr>
          <p:grpSpPr>
            <a:xfrm>
              <a:off x="491159" y="2298673"/>
              <a:ext cx="2474915" cy="1221715"/>
              <a:chOff x="356208" y="2497430"/>
              <a:chExt cx="2474915" cy="1221715"/>
            </a:xfrm>
          </p:grpSpPr>
          <p:pic>
            <p:nvPicPr>
              <p:cNvPr id="10" name="Picture 9">
                <a:extLst>
                  <a:ext uri="{FF2B5EF4-FFF2-40B4-BE49-F238E27FC236}">
                    <a16:creationId xmlns:a16="http://schemas.microsoft.com/office/drawing/2014/main" id="{A6C2B654-0497-4639-A5C7-FFC0F8B817A7}"/>
                  </a:ext>
                </a:extLst>
              </p:cNvPr>
              <p:cNvPicPr>
                <a:picLocks noChangeAspect="1"/>
              </p:cNvPicPr>
              <p:nvPr/>
            </p:nvPicPr>
            <p:blipFill>
              <a:blip r:embed="rId4"/>
              <a:stretch>
                <a:fillRect/>
              </a:stretch>
            </p:blipFill>
            <p:spPr>
              <a:xfrm>
                <a:off x="442490" y="2603915"/>
                <a:ext cx="2388633" cy="421523"/>
              </a:xfrm>
              <a:prstGeom prst="rect">
                <a:avLst/>
              </a:prstGeom>
            </p:spPr>
          </p:pic>
          <p:sp>
            <p:nvSpPr>
              <p:cNvPr id="15" name="TextBox 14">
                <a:extLst>
                  <a:ext uri="{FF2B5EF4-FFF2-40B4-BE49-F238E27FC236}">
                    <a16:creationId xmlns:a16="http://schemas.microsoft.com/office/drawing/2014/main" id="{DEAC6847-0F3D-4E15-BE65-FE540FCF3B8E}"/>
                  </a:ext>
                </a:extLst>
              </p:cNvPr>
              <p:cNvSpPr txBox="1"/>
              <p:nvPr/>
            </p:nvSpPr>
            <p:spPr>
              <a:xfrm>
                <a:off x="738164" y="2897119"/>
                <a:ext cx="1674313" cy="738664"/>
              </a:xfrm>
              <a:prstGeom prst="rect">
                <a:avLst/>
              </a:prstGeom>
              <a:noFill/>
            </p:spPr>
            <p:txBody>
              <a:bodyPr wrap="square" rtlCol="0">
                <a:spAutoFit/>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Complex conductivity of fluid phase</a:t>
                </a:r>
              </a:p>
            </p:txBody>
          </p:sp>
          <p:sp>
            <p:nvSpPr>
              <p:cNvPr id="18" name="Rectangle: Rounded Corners 17">
                <a:extLst>
                  <a:ext uri="{FF2B5EF4-FFF2-40B4-BE49-F238E27FC236}">
                    <a16:creationId xmlns:a16="http://schemas.microsoft.com/office/drawing/2014/main" id="{38DAA3AC-58BE-48E3-B381-A21BD43117A3}"/>
                  </a:ext>
                </a:extLst>
              </p:cNvPr>
              <p:cNvSpPr/>
              <p:nvPr/>
            </p:nvSpPr>
            <p:spPr>
              <a:xfrm>
                <a:off x="356208" y="2497430"/>
                <a:ext cx="2474915" cy="122171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6DAA2EE8-A405-40A1-BF7E-7EC4462FB999}"/>
                </a:ext>
              </a:extLst>
            </p:cNvPr>
            <p:cNvGrpSpPr/>
            <p:nvPr/>
          </p:nvGrpSpPr>
          <p:grpSpPr>
            <a:xfrm>
              <a:off x="3296993" y="1934234"/>
              <a:ext cx="2568567" cy="1586154"/>
              <a:chOff x="3287716" y="1934234"/>
              <a:chExt cx="2568567" cy="1586154"/>
            </a:xfrm>
          </p:grpSpPr>
          <p:pic>
            <p:nvPicPr>
              <p:cNvPr id="5" name="Picture 4">
                <a:extLst>
                  <a:ext uri="{FF2B5EF4-FFF2-40B4-BE49-F238E27FC236}">
                    <a16:creationId xmlns:a16="http://schemas.microsoft.com/office/drawing/2014/main" id="{07DC552E-4704-4390-8407-78F3E78730D5}"/>
                  </a:ext>
                </a:extLst>
              </p:cNvPr>
              <p:cNvPicPr>
                <a:picLocks noChangeAspect="1"/>
              </p:cNvPicPr>
              <p:nvPr/>
            </p:nvPicPr>
            <p:blipFill>
              <a:blip r:embed="rId5"/>
              <a:stretch>
                <a:fillRect/>
              </a:stretch>
            </p:blipFill>
            <p:spPr>
              <a:xfrm>
                <a:off x="3458406" y="2925760"/>
                <a:ext cx="2292229" cy="571435"/>
              </a:xfrm>
              <a:prstGeom prst="rect">
                <a:avLst/>
              </a:prstGeom>
            </p:spPr>
          </p:pic>
          <p:sp>
            <p:nvSpPr>
              <p:cNvPr id="16" name="TextBox 15">
                <a:extLst>
                  <a:ext uri="{FF2B5EF4-FFF2-40B4-BE49-F238E27FC236}">
                    <a16:creationId xmlns:a16="http://schemas.microsoft.com/office/drawing/2014/main" id="{3812E9BF-C4BE-464A-9C5E-DEDAD5E73CCC}"/>
                  </a:ext>
                </a:extLst>
              </p:cNvPr>
              <p:cNvSpPr txBox="1"/>
              <p:nvPr/>
            </p:nvSpPr>
            <p:spPr>
              <a:xfrm>
                <a:off x="3618830" y="1994383"/>
                <a:ext cx="1971382" cy="954107"/>
              </a:xfrm>
              <a:prstGeom prst="rect">
                <a:avLst/>
              </a:prstGeom>
              <a:noFill/>
            </p:spPr>
            <p:txBody>
              <a:bodyPr wrap="square" rtlCol="0">
                <a:spAutoFit/>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Additional complex conductivity in the fluid phase due to EDL polarization effects</a:t>
                </a:r>
              </a:p>
            </p:txBody>
          </p:sp>
          <p:sp>
            <p:nvSpPr>
              <p:cNvPr id="26" name="Rectangle: Rounded Corners 25">
                <a:extLst>
                  <a:ext uri="{FF2B5EF4-FFF2-40B4-BE49-F238E27FC236}">
                    <a16:creationId xmlns:a16="http://schemas.microsoft.com/office/drawing/2014/main" id="{F10DF69E-ECE1-4309-A7B4-06900C7A4835}"/>
                  </a:ext>
                </a:extLst>
              </p:cNvPr>
              <p:cNvSpPr/>
              <p:nvPr/>
            </p:nvSpPr>
            <p:spPr>
              <a:xfrm>
                <a:off x="3287716" y="1934234"/>
                <a:ext cx="2568567" cy="158615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BFF58926-3B79-46C0-AD86-BEB40E3B3241}"/>
                </a:ext>
              </a:extLst>
            </p:cNvPr>
            <p:cNvGrpSpPr/>
            <p:nvPr/>
          </p:nvGrpSpPr>
          <p:grpSpPr>
            <a:xfrm>
              <a:off x="4128925" y="3699618"/>
              <a:ext cx="1234208" cy="776938"/>
              <a:chOff x="3151829" y="4071737"/>
              <a:chExt cx="1234208" cy="776938"/>
            </a:xfrm>
          </p:grpSpPr>
          <p:pic>
            <p:nvPicPr>
              <p:cNvPr id="6" name="Picture 5">
                <a:extLst>
                  <a:ext uri="{FF2B5EF4-FFF2-40B4-BE49-F238E27FC236}">
                    <a16:creationId xmlns:a16="http://schemas.microsoft.com/office/drawing/2014/main" id="{F0DEA05F-A65F-4C8F-8B57-CC6F50830059}"/>
                  </a:ext>
                </a:extLst>
              </p:cNvPr>
              <p:cNvPicPr>
                <a:picLocks noChangeAspect="1"/>
              </p:cNvPicPr>
              <p:nvPr/>
            </p:nvPicPr>
            <p:blipFill>
              <a:blip r:embed="rId6"/>
              <a:stretch>
                <a:fillRect/>
              </a:stretch>
            </p:blipFill>
            <p:spPr>
              <a:xfrm>
                <a:off x="3296993" y="4130689"/>
                <a:ext cx="883125" cy="337664"/>
              </a:xfrm>
              <a:prstGeom prst="rect">
                <a:avLst/>
              </a:prstGeom>
            </p:spPr>
          </p:pic>
          <p:sp>
            <p:nvSpPr>
              <p:cNvPr id="27" name="Rectangle: Rounded Corners 26">
                <a:extLst>
                  <a:ext uri="{FF2B5EF4-FFF2-40B4-BE49-F238E27FC236}">
                    <a16:creationId xmlns:a16="http://schemas.microsoft.com/office/drawing/2014/main" id="{7475BAA2-03FD-47AD-A883-94F590891B78}"/>
                  </a:ext>
                </a:extLst>
              </p:cNvPr>
              <p:cNvSpPr/>
              <p:nvPr/>
            </p:nvSpPr>
            <p:spPr>
              <a:xfrm>
                <a:off x="3151829" y="4071737"/>
                <a:ext cx="1200156" cy="77693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B699A557-5675-4E44-ABCA-D9D1B6E4566D}"/>
                  </a:ext>
                </a:extLst>
              </p:cNvPr>
              <p:cNvSpPr txBox="1"/>
              <p:nvPr/>
            </p:nvSpPr>
            <p:spPr>
              <a:xfrm>
                <a:off x="3151829" y="4325455"/>
                <a:ext cx="1234208" cy="523220"/>
              </a:xfrm>
              <a:prstGeom prst="rect">
                <a:avLst/>
              </a:prstGeom>
              <a:noFill/>
            </p:spPr>
            <p:txBody>
              <a:bodyPr wrap="square" rtlCol="0">
                <a:spAutoFit/>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Diffuse layer influence</a:t>
                </a:r>
              </a:p>
            </p:txBody>
          </p:sp>
        </p:grpSp>
        <p:sp>
          <p:nvSpPr>
            <p:cNvPr id="33" name="TextBox 32">
              <a:extLst>
                <a:ext uri="{FF2B5EF4-FFF2-40B4-BE49-F238E27FC236}">
                  <a16:creationId xmlns:a16="http://schemas.microsoft.com/office/drawing/2014/main" id="{992FEE16-3C37-4471-B02C-37114AFF83C4}"/>
                </a:ext>
              </a:extLst>
            </p:cNvPr>
            <p:cNvSpPr txBox="1"/>
            <p:nvPr/>
          </p:nvSpPr>
          <p:spPr>
            <a:xfrm>
              <a:off x="6269770" y="6007848"/>
              <a:ext cx="1021668" cy="523220"/>
            </a:xfrm>
            <a:prstGeom prst="rect">
              <a:avLst/>
            </a:prstGeom>
            <a:noFill/>
          </p:spPr>
          <p:txBody>
            <a:bodyPr wrap="square" rtlCol="0">
              <a:spAutoFit/>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Pore size weighting</a:t>
              </a:r>
            </a:p>
          </p:txBody>
        </p:sp>
        <p:grpSp>
          <p:nvGrpSpPr>
            <p:cNvPr id="40" name="Group 39">
              <a:extLst>
                <a:ext uri="{FF2B5EF4-FFF2-40B4-BE49-F238E27FC236}">
                  <a16:creationId xmlns:a16="http://schemas.microsoft.com/office/drawing/2014/main" id="{72369BEB-B694-40A2-9AD4-9A11B57F6E6D}"/>
                </a:ext>
              </a:extLst>
            </p:cNvPr>
            <p:cNvGrpSpPr/>
            <p:nvPr/>
          </p:nvGrpSpPr>
          <p:grpSpPr>
            <a:xfrm>
              <a:off x="5470153" y="3701724"/>
              <a:ext cx="2354406" cy="1036443"/>
              <a:chOff x="4320242" y="3973193"/>
              <a:chExt cx="2354406" cy="1036443"/>
            </a:xfrm>
          </p:grpSpPr>
          <p:pic>
            <p:nvPicPr>
              <p:cNvPr id="7" name="Picture 6">
                <a:extLst>
                  <a:ext uri="{FF2B5EF4-FFF2-40B4-BE49-F238E27FC236}">
                    <a16:creationId xmlns:a16="http://schemas.microsoft.com/office/drawing/2014/main" id="{28D25D09-E772-465D-8A75-4EF41FEC5A57}"/>
                  </a:ext>
                </a:extLst>
              </p:cNvPr>
              <p:cNvPicPr>
                <a:picLocks noChangeAspect="1"/>
              </p:cNvPicPr>
              <p:nvPr/>
            </p:nvPicPr>
            <p:blipFill>
              <a:blip r:embed="rId7"/>
              <a:stretch>
                <a:fillRect/>
              </a:stretch>
            </p:blipFill>
            <p:spPr>
              <a:xfrm>
                <a:off x="4430243" y="3973193"/>
                <a:ext cx="2142878" cy="577930"/>
              </a:xfrm>
              <a:prstGeom prst="rect">
                <a:avLst/>
              </a:prstGeom>
            </p:spPr>
          </p:pic>
          <p:sp>
            <p:nvSpPr>
              <p:cNvPr id="30" name="TextBox 29">
                <a:extLst>
                  <a:ext uri="{FF2B5EF4-FFF2-40B4-BE49-F238E27FC236}">
                    <a16:creationId xmlns:a16="http://schemas.microsoft.com/office/drawing/2014/main" id="{D157AF7A-10A3-4F5B-939D-7DC5BC28C582}"/>
                  </a:ext>
                </a:extLst>
              </p:cNvPr>
              <p:cNvSpPr txBox="1"/>
              <p:nvPr/>
            </p:nvSpPr>
            <p:spPr>
              <a:xfrm>
                <a:off x="4966562" y="4486415"/>
                <a:ext cx="1157707" cy="523220"/>
              </a:xfrm>
              <a:prstGeom prst="rect">
                <a:avLst/>
              </a:prstGeom>
              <a:noFill/>
            </p:spPr>
            <p:txBody>
              <a:bodyPr wrap="square" rtlCol="0">
                <a:spAutoFit/>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Stern layer influence</a:t>
                </a:r>
              </a:p>
            </p:txBody>
          </p:sp>
          <p:sp>
            <p:nvSpPr>
              <p:cNvPr id="36" name="Rectangle: Rounded Corners 35">
                <a:extLst>
                  <a:ext uri="{FF2B5EF4-FFF2-40B4-BE49-F238E27FC236}">
                    <a16:creationId xmlns:a16="http://schemas.microsoft.com/office/drawing/2014/main" id="{9056EB6E-8BE5-4B02-A1DE-FDD7213CEE60}"/>
                  </a:ext>
                </a:extLst>
              </p:cNvPr>
              <p:cNvSpPr/>
              <p:nvPr/>
            </p:nvSpPr>
            <p:spPr>
              <a:xfrm>
                <a:off x="4320242" y="3973194"/>
                <a:ext cx="2354406" cy="103644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4CFE49E8-65D3-4451-BBFB-2AC60588C34E}"/>
                </a:ext>
              </a:extLst>
            </p:cNvPr>
            <p:cNvGrpSpPr/>
            <p:nvPr/>
          </p:nvGrpSpPr>
          <p:grpSpPr>
            <a:xfrm>
              <a:off x="7115884" y="2558019"/>
              <a:ext cx="1021668" cy="1036442"/>
              <a:chOff x="6998330" y="3348383"/>
              <a:chExt cx="1021668" cy="1036442"/>
            </a:xfrm>
          </p:grpSpPr>
          <p:pic>
            <p:nvPicPr>
              <p:cNvPr id="9" name="Picture 8">
                <a:extLst>
                  <a:ext uri="{FF2B5EF4-FFF2-40B4-BE49-F238E27FC236}">
                    <a16:creationId xmlns:a16="http://schemas.microsoft.com/office/drawing/2014/main" id="{DFBF7A6E-2935-487A-BBA9-F420C289DD0B}"/>
                  </a:ext>
                </a:extLst>
              </p:cNvPr>
              <p:cNvPicPr>
                <a:picLocks noChangeAspect="1"/>
              </p:cNvPicPr>
              <p:nvPr/>
            </p:nvPicPr>
            <p:blipFill>
              <a:blip r:embed="rId8"/>
              <a:stretch>
                <a:fillRect/>
              </a:stretch>
            </p:blipFill>
            <p:spPr>
              <a:xfrm>
                <a:off x="7156779" y="3394016"/>
                <a:ext cx="694813" cy="538969"/>
              </a:xfrm>
              <a:prstGeom prst="rect">
                <a:avLst/>
              </a:prstGeom>
            </p:spPr>
          </p:pic>
          <p:sp>
            <p:nvSpPr>
              <p:cNvPr id="31" name="TextBox 30">
                <a:extLst>
                  <a:ext uri="{FF2B5EF4-FFF2-40B4-BE49-F238E27FC236}">
                    <a16:creationId xmlns:a16="http://schemas.microsoft.com/office/drawing/2014/main" id="{9F24F11B-25B7-4417-8E81-CDC641832D0D}"/>
                  </a:ext>
                </a:extLst>
              </p:cNvPr>
              <p:cNvSpPr txBox="1"/>
              <p:nvPr/>
            </p:nvSpPr>
            <p:spPr>
              <a:xfrm>
                <a:off x="6998330" y="3861604"/>
                <a:ext cx="1021668" cy="523220"/>
              </a:xfrm>
              <a:prstGeom prst="rect">
                <a:avLst/>
              </a:prstGeom>
              <a:noFill/>
            </p:spPr>
            <p:txBody>
              <a:bodyPr wrap="square" rtlCol="0">
                <a:spAutoFit/>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Relaxation time</a:t>
                </a:r>
              </a:p>
            </p:txBody>
          </p:sp>
          <p:sp>
            <p:nvSpPr>
              <p:cNvPr id="37" name="Rectangle: Rounded Corners 36">
                <a:extLst>
                  <a:ext uri="{FF2B5EF4-FFF2-40B4-BE49-F238E27FC236}">
                    <a16:creationId xmlns:a16="http://schemas.microsoft.com/office/drawing/2014/main" id="{A090D2F7-0398-4F85-9656-90B226ACCED8}"/>
                  </a:ext>
                </a:extLst>
              </p:cNvPr>
              <p:cNvSpPr/>
              <p:nvPr/>
            </p:nvSpPr>
            <p:spPr>
              <a:xfrm>
                <a:off x="6998330" y="3348383"/>
                <a:ext cx="1021668" cy="103644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Rounded Corners 37">
              <a:extLst>
                <a:ext uri="{FF2B5EF4-FFF2-40B4-BE49-F238E27FC236}">
                  <a16:creationId xmlns:a16="http://schemas.microsoft.com/office/drawing/2014/main" id="{1A87642C-7768-4898-A322-D0374F92C466}"/>
                </a:ext>
              </a:extLst>
            </p:cNvPr>
            <p:cNvSpPr/>
            <p:nvPr/>
          </p:nvSpPr>
          <p:spPr>
            <a:xfrm>
              <a:off x="5116568" y="4824774"/>
              <a:ext cx="3358136" cy="172474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onnector: Elbow 44">
              <a:extLst>
                <a:ext uri="{FF2B5EF4-FFF2-40B4-BE49-F238E27FC236}">
                  <a16:creationId xmlns:a16="http://schemas.microsoft.com/office/drawing/2014/main" id="{19AFCEED-19DF-43DB-96B8-9AADB1EF9946}"/>
                </a:ext>
              </a:extLst>
            </p:cNvPr>
            <p:cNvCxnSpPr>
              <a:stCxn id="9" idx="1"/>
            </p:cNvCxnSpPr>
            <p:nvPr/>
          </p:nvCxnSpPr>
          <p:spPr>
            <a:xfrm rot="10800000" flipV="1">
              <a:off x="7016263" y="2873136"/>
              <a:ext cx="258071" cy="783915"/>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441AE3B3-F6F4-4288-B6CF-6865A4D175B3}"/>
                </a:ext>
              </a:extLst>
            </p:cNvPr>
            <p:cNvCxnSpPr>
              <a:cxnSpLocks/>
            </p:cNvCxnSpPr>
            <p:nvPr/>
          </p:nvCxnSpPr>
          <p:spPr>
            <a:xfrm rot="16200000" flipV="1">
              <a:off x="6554913" y="4109178"/>
              <a:ext cx="1473766" cy="1447880"/>
            </a:xfrm>
            <a:prstGeom prst="bentConnector3">
              <a:avLst>
                <a:gd name="adj1" fmla="val 8818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8ABF61D7-4034-4A74-AFE7-300C2547C4D3}"/>
                </a:ext>
              </a:extLst>
            </p:cNvPr>
            <p:cNvCxnSpPr/>
            <p:nvPr/>
          </p:nvCxnSpPr>
          <p:spPr>
            <a:xfrm rot="16200000" flipV="1">
              <a:off x="5439201" y="3523665"/>
              <a:ext cx="383353" cy="160423"/>
            </a:xfrm>
            <a:prstGeom prst="bentConnector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7000EE33-39DB-4BEA-8EEC-CE987A7E72FF}"/>
                </a:ext>
              </a:extLst>
            </p:cNvPr>
            <p:cNvCxnSpPr/>
            <p:nvPr/>
          </p:nvCxnSpPr>
          <p:spPr>
            <a:xfrm flipV="1">
              <a:off x="5116568" y="3412199"/>
              <a:ext cx="0" cy="18226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D03314F-F804-4065-BAE2-BC3CAAA705AE}"/>
                </a:ext>
              </a:extLst>
            </p:cNvPr>
            <p:cNvCxnSpPr/>
            <p:nvPr/>
          </p:nvCxnSpPr>
          <p:spPr>
            <a:xfrm flipH="1">
              <a:off x="4407195" y="3594460"/>
              <a:ext cx="70937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EB2C01D-1112-41DB-AA11-F40EACE8BA2D}"/>
                </a:ext>
              </a:extLst>
            </p:cNvPr>
            <p:cNvCxnSpPr>
              <a:cxnSpLocks/>
            </p:cNvCxnSpPr>
            <p:nvPr/>
          </p:nvCxnSpPr>
          <p:spPr>
            <a:xfrm>
              <a:off x="4412511" y="3589713"/>
              <a:ext cx="0" cy="16885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EAAE86B3-D254-43C1-AB51-18B7219CD58E}"/>
                </a:ext>
              </a:extLst>
            </p:cNvPr>
            <p:cNvCxnSpPr>
              <a:cxnSpLocks/>
            </p:cNvCxnSpPr>
            <p:nvPr/>
          </p:nvCxnSpPr>
          <p:spPr>
            <a:xfrm rot="10800000">
              <a:off x="3116541" y="2597053"/>
              <a:ext cx="343160" cy="607826"/>
            </a:xfrm>
            <a:prstGeom prst="bentConnector2">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DDFDD274-7646-4B9B-AFCD-A1CEB859A0E2}"/>
                </a:ext>
              </a:extLst>
            </p:cNvPr>
            <p:cNvCxnSpPr>
              <a:cxnSpLocks/>
            </p:cNvCxnSpPr>
            <p:nvPr/>
          </p:nvCxnSpPr>
          <p:spPr>
            <a:xfrm flipH="1">
              <a:off x="2905177" y="2603652"/>
              <a:ext cx="20673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0" name="Oval 99">
              <a:extLst>
                <a:ext uri="{FF2B5EF4-FFF2-40B4-BE49-F238E27FC236}">
                  <a16:creationId xmlns:a16="http://schemas.microsoft.com/office/drawing/2014/main" id="{DCB4C2AA-32BD-41D0-95C0-06F47CEFCA0E}"/>
                </a:ext>
              </a:extLst>
            </p:cNvPr>
            <p:cNvSpPr>
              <a:spLocks noChangeAspect="1"/>
            </p:cNvSpPr>
            <p:nvPr/>
          </p:nvSpPr>
          <p:spPr>
            <a:xfrm flipH="1">
              <a:off x="4042727" y="3243307"/>
              <a:ext cx="207829" cy="207829"/>
            </a:xfrm>
            <a:prstGeom prst="ellipse">
              <a:avLst/>
            </a:prstGeom>
            <a:noFill/>
            <a:ln w="158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
          <p:nvSpPr>
            <p:cNvPr id="101" name="Oval 100">
              <a:extLst>
                <a:ext uri="{FF2B5EF4-FFF2-40B4-BE49-F238E27FC236}">
                  <a16:creationId xmlns:a16="http://schemas.microsoft.com/office/drawing/2014/main" id="{5AADF587-DEB7-4946-97F8-07F39A24AF83}"/>
                </a:ext>
              </a:extLst>
            </p:cNvPr>
            <p:cNvSpPr>
              <a:spLocks noChangeAspect="1"/>
            </p:cNvSpPr>
            <p:nvPr/>
          </p:nvSpPr>
          <p:spPr>
            <a:xfrm flipH="1">
              <a:off x="4685617" y="3248767"/>
              <a:ext cx="207829" cy="207829"/>
            </a:xfrm>
            <a:prstGeom prst="ellipse">
              <a:avLst/>
            </a:prstGeom>
            <a:noFill/>
            <a:ln w="158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
          <p:nvSpPr>
            <p:cNvPr id="102" name="Oval 101">
              <a:extLst>
                <a:ext uri="{FF2B5EF4-FFF2-40B4-BE49-F238E27FC236}">
                  <a16:creationId xmlns:a16="http://schemas.microsoft.com/office/drawing/2014/main" id="{8D3EC72E-9FAA-4360-B76E-ACB8098F914F}"/>
                </a:ext>
              </a:extLst>
            </p:cNvPr>
            <p:cNvSpPr>
              <a:spLocks noChangeAspect="1"/>
            </p:cNvSpPr>
            <p:nvPr/>
          </p:nvSpPr>
          <p:spPr>
            <a:xfrm flipH="1">
              <a:off x="4931404" y="3789226"/>
              <a:ext cx="207829" cy="207829"/>
            </a:xfrm>
            <a:prstGeom prst="ellipse">
              <a:avLst/>
            </a:prstGeom>
            <a:noFill/>
            <a:ln w="158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
          <p:nvSpPr>
            <p:cNvPr id="103" name="Oval 102">
              <a:extLst>
                <a:ext uri="{FF2B5EF4-FFF2-40B4-BE49-F238E27FC236}">
                  <a16:creationId xmlns:a16="http://schemas.microsoft.com/office/drawing/2014/main" id="{0ED1289C-BC4D-4057-A16D-6AB22CCB98B9}"/>
                </a:ext>
              </a:extLst>
            </p:cNvPr>
            <p:cNvSpPr>
              <a:spLocks noChangeAspect="1"/>
            </p:cNvSpPr>
            <p:nvPr/>
          </p:nvSpPr>
          <p:spPr>
            <a:xfrm flipH="1">
              <a:off x="7539718" y="3880257"/>
              <a:ext cx="207829" cy="207829"/>
            </a:xfrm>
            <a:prstGeom prst="ellipse">
              <a:avLst/>
            </a:prstGeom>
            <a:noFill/>
            <a:ln w="158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
          <p:nvSpPr>
            <p:cNvPr id="104" name="Oval 103">
              <a:extLst>
                <a:ext uri="{FF2B5EF4-FFF2-40B4-BE49-F238E27FC236}">
                  <a16:creationId xmlns:a16="http://schemas.microsoft.com/office/drawing/2014/main" id="{8FAA71E2-FE30-4321-995C-A849C37B2286}"/>
                </a:ext>
              </a:extLst>
            </p:cNvPr>
            <p:cNvSpPr>
              <a:spLocks noChangeAspect="1"/>
            </p:cNvSpPr>
            <p:nvPr/>
          </p:nvSpPr>
          <p:spPr>
            <a:xfrm flipH="1">
              <a:off x="7643633" y="2558018"/>
              <a:ext cx="291572" cy="291572"/>
            </a:xfrm>
            <a:prstGeom prst="ellipse">
              <a:avLst/>
            </a:prstGeom>
            <a:noFill/>
            <a:ln w="158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
          <p:nvSpPr>
            <p:cNvPr id="105" name="Oval 104">
              <a:extLst>
                <a:ext uri="{FF2B5EF4-FFF2-40B4-BE49-F238E27FC236}">
                  <a16:creationId xmlns:a16="http://schemas.microsoft.com/office/drawing/2014/main" id="{642B8A92-4776-4E00-B673-73B6905E81FC}"/>
                </a:ext>
              </a:extLst>
            </p:cNvPr>
            <p:cNvSpPr>
              <a:spLocks noChangeAspect="1"/>
            </p:cNvSpPr>
            <p:nvPr/>
          </p:nvSpPr>
          <p:spPr>
            <a:xfrm flipH="1">
              <a:off x="7820480" y="5633008"/>
              <a:ext cx="239155" cy="239155"/>
            </a:xfrm>
            <a:prstGeom prst="ellipse">
              <a:avLst/>
            </a:prstGeom>
            <a:noFill/>
            <a:ln w="158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
          <p:nvSpPr>
            <p:cNvPr id="106" name="Oval 105">
              <a:extLst>
                <a:ext uri="{FF2B5EF4-FFF2-40B4-BE49-F238E27FC236}">
                  <a16:creationId xmlns:a16="http://schemas.microsoft.com/office/drawing/2014/main" id="{02101335-C40C-49F7-A141-86F267A8A8C3}"/>
                </a:ext>
              </a:extLst>
            </p:cNvPr>
            <p:cNvSpPr>
              <a:spLocks noChangeAspect="1"/>
            </p:cNvSpPr>
            <p:nvPr/>
          </p:nvSpPr>
          <p:spPr>
            <a:xfrm flipH="1">
              <a:off x="577440" y="2410546"/>
              <a:ext cx="345791" cy="345791"/>
            </a:xfrm>
            <a:prstGeom prst="ellipse">
              <a:avLst/>
            </a:prstGeom>
            <a:noFill/>
            <a:ln w="158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grpSp>
      <p:grpSp>
        <p:nvGrpSpPr>
          <p:cNvPr id="110" name="Group 109">
            <a:extLst>
              <a:ext uri="{FF2B5EF4-FFF2-40B4-BE49-F238E27FC236}">
                <a16:creationId xmlns:a16="http://schemas.microsoft.com/office/drawing/2014/main" id="{610BB930-5B15-4824-AD0E-8725D98528E3}"/>
              </a:ext>
            </a:extLst>
          </p:cNvPr>
          <p:cNvGrpSpPr/>
          <p:nvPr/>
        </p:nvGrpSpPr>
        <p:grpSpPr>
          <a:xfrm>
            <a:off x="626448" y="3310729"/>
            <a:ext cx="1886592" cy="1221715"/>
            <a:chOff x="785320" y="3657052"/>
            <a:chExt cx="1886592" cy="1221715"/>
          </a:xfrm>
        </p:grpSpPr>
        <p:grpSp>
          <p:nvGrpSpPr>
            <p:cNvPr id="34" name="Group 33">
              <a:extLst>
                <a:ext uri="{FF2B5EF4-FFF2-40B4-BE49-F238E27FC236}">
                  <a16:creationId xmlns:a16="http://schemas.microsoft.com/office/drawing/2014/main" id="{91DE7001-4E65-4161-AC24-AB4F5D9188E3}"/>
                </a:ext>
              </a:extLst>
            </p:cNvPr>
            <p:cNvGrpSpPr/>
            <p:nvPr/>
          </p:nvGrpSpPr>
          <p:grpSpPr>
            <a:xfrm>
              <a:off x="785320" y="3657052"/>
              <a:ext cx="1886592" cy="1221715"/>
              <a:chOff x="601422" y="3857495"/>
              <a:chExt cx="1886592" cy="1221715"/>
            </a:xfrm>
          </p:grpSpPr>
          <p:pic>
            <p:nvPicPr>
              <p:cNvPr id="11" name="Picture 10">
                <a:extLst>
                  <a:ext uri="{FF2B5EF4-FFF2-40B4-BE49-F238E27FC236}">
                    <a16:creationId xmlns:a16="http://schemas.microsoft.com/office/drawing/2014/main" id="{AE79B504-CC77-485D-88D4-C4AFBA456ECF}"/>
                  </a:ext>
                </a:extLst>
              </p:cNvPr>
              <p:cNvPicPr>
                <a:picLocks noChangeAspect="1"/>
              </p:cNvPicPr>
              <p:nvPr/>
            </p:nvPicPr>
            <p:blipFill>
              <a:blip r:embed="rId9"/>
              <a:stretch>
                <a:fillRect/>
              </a:stretch>
            </p:blipFill>
            <p:spPr>
              <a:xfrm>
                <a:off x="639834" y="3929579"/>
                <a:ext cx="1769922" cy="410701"/>
              </a:xfrm>
              <a:prstGeom prst="rect">
                <a:avLst/>
              </a:prstGeom>
            </p:spPr>
          </p:pic>
          <p:sp>
            <p:nvSpPr>
              <p:cNvPr id="12" name="TextBox 11">
                <a:extLst>
                  <a:ext uri="{FF2B5EF4-FFF2-40B4-BE49-F238E27FC236}">
                    <a16:creationId xmlns:a16="http://schemas.microsoft.com/office/drawing/2014/main" id="{FB18982E-7C52-4960-9027-153A4CEA73E6}"/>
                  </a:ext>
                </a:extLst>
              </p:cNvPr>
              <p:cNvSpPr txBox="1"/>
              <p:nvPr/>
            </p:nvSpPr>
            <p:spPr>
              <a:xfrm>
                <a:off x="745486" y="4225626"/>
                <a:ext cx="1647055" cy="738664"/>
              </a:xfrm>
              <a:prstGeom prst="rect">
                <a:avLst/>
              </a:prstGeom>
              <a:noFill/>
            </p:spPr>
            <p:txBody>
              <a:bodyPr wrap="square" rtlCol="0">
                <a:spAutoFit/>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Complex conductivity of solid phase</a:t>
                </a:r>
              </a:p>
            </p:txBody>
          </p:sp>
          <p:sp>
            <p:nvSpPr>
              <p:cNvPr id="19" name="Rectangle: Rounded Corners 18">
                <a:extLst>
                  <a:ext uri="{FF2B5EF4-FFF2-40B4-BE49-F238E27FC236}">
                    <a16:creationId xmlns:a16="http://schemas.microsoft.com/office/drawing/2014/main" id="{FCE57368-DD4C-4E8E-8287-D30C818A6B96}"/>
                  </a:ext>
                </a:extLst>
              </p:cNvPr>
              <p:cNvSpPr/>
              <p:nvPr/>
            </p:nvSpPr>
            <p:spPr>
              <a:xfrm>
                <a:off x="601422" y="3857495"/>
                <a:ext cx="1886592" cy="122171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Oval 106">
              <a:extLst>
                <a:ext uri="{FF2B5EF4-FFF2-40B4-BE49-F238E27FC236}">
                  <a16:creationId xmlns:a16="http://schemas.microsoft.com/office/drawing/2014/main" id="{3B545B34-B3E7-4BD4-951D-B759F2A010A6}"/>
                </a:ext>
              </a:extLst>
            </p:cNvPr>
            <p:cNvSpPr>
              <a:spLocks noChangeAspect="1"/>
            </p:cNvSpPr>
            <p:nvPr/>
          </p:nvSpPr>
          <p:spPr>
            <a:xfrm flipH="1">
              <a:off x="874110" y="3720244"/>
              <a:ext cx="345791" cy="345791"/>
            </a:xfrm>
            <a:prstGeom prst="ellipse">
              <a:avLst/>
            </a:prstGeom>
            <a:noFill/>
            <a:ln w="158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grpSp>
      <p:cxnSp>
        <p:nvCxnSpPr>
          <p:cNvPr id="113" name="Connector: Elbow 112">
            <a:extLst>
              <a:ext uri="{FF2B5EF4-FFF2-40B4-BE49-F238E27FC236}">
                <a16:creationId xmlns:a16="http://schemas.microsoft.com/office/drawing/2014/main" id="{F7D5E124-1B9F-4798-9866-6BD078E8C657}"/>
              </a:ext>
            </a:extLst>
          </p:cNvPr>
          <p:cNvCxnSpPr>
            <a:cxnSpLocks/>
            <a:stCxn id="106" idx="4"/>
          </p:cNvCxnSpPr>
          <p:nvPr/>
        </p:nvCxnSpPr>
        <p:spPr>
          <a:xfrm rot="16200000" flipH="1">
            <a:off x="616780" y="2484281"/>
            <a:ext cx="2427129" cy="1889440"/>
          </a:xfrm>
          <a:prstGeom prst="bentConnector3">
            <a:avLst>
              <a:gd name="adj1" fmla="val 38877"/>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Connector: Elbow 120">
            <a:extLst>
              <a:ext uri="{FF2B5EF4-FFF2-40B4-BE49-F238E27FC236}">
                <a16:creationId xmlns:a16="http://schemas.microsoft.com/office/drawing/2014/main" id="{81C16CCD-9720-4AA3-B881-B3740F0AF166}"/>
              </a:ext>
            </a:extLst>
          </p:cNvPr>
          <p:cNvCxnSpPr>
            <a:stCxn id="107" idx="4"/>
          </p:cNvCxnSpPr>
          <p:nvPr/>
        </p:nvCxnSpPr>
        <p:spPr>
          <a:xfrm rot="16200000" flipH="1">
            <a:off x="741575" y="3866270"/>
            <a:ext cx="2008846" cy="1715730"/>
          </a:xfrm>
          <a:prstGeom prst="bentConnector3">
            <a:avLst>
              <a:gd name="adj1" fmla="val 100287"/>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8DC33C8B-C844-4881-9C62-E702F9BDBBF4}"/>
              </a:ext>
            </a:extLst>
          </p:cNvPr>
          <p:cNvSpPr txBox="1"/>
          <p:nvPr/>
        </p:nvSpPr>
        <p:spPr>
          <a:xfrm>
            <a:off x="7151552" y="6191518"/>
            <a:ext cx="2056648" cy="707886"/>
          </a:xfrm>
          <a:prstGeom prst="rect">
            <a:avLst/>
          </a:prstGeom>
          <a:noFill/>
        </p:spPr>
        <p:txBody>
          <a:bodyPr wrap="square" rtlCol="0">
            <a:spAutoFit/>
          </a:bodyPr>
          <a:lstStyle/>
          <a:p>
            <a:r>
              <a:rPr lang="en-US" sz="1000" dirty="0">
                <a:latin typeface="Tahoma" panose="020B0604030504040204" pitchFamily="34" charset="0"/>
                <a:ea typeface="Tahoma" panose="020B0604030504040204" pitchFamily="34" charset="0"/>
                <a:cs typeface="Tahoma" panose="020B0604030504040204" pitchFamily="34" charset="0"/>
              </a:rPr>
              <a:t>Only pore sizes (and weights), dynamic pore radius, and surface charge density were varied between simulation trials</a:t>
            </a:r>
          </a:p>
        </p:txBody>
      </p:sp>
    </p:spTree>
    <p:extLst>
      <p:ext uri="{BB962C8B-B14F-4D97-AF65-F5344CB8AC3E}">
        <p14:creationId xmlns:p14="http://schemas.microsoft.com/office/powerpoint/2010/main" val="207790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45B55-327C-4F56-B9C9-586B1CAF5509}"/>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a:t>
            </a:r>
            <a:r>
              <a:rPr lang="en-US" sz="3300" dirty="0">
                <a:latin typeface="Tahoma" panose="020B0604030504040204" pitchFamily="34" charset="0"/>
                <a:ea typeface="Tahoma" panose="020B0604030504040204" pitchFamily="34" charset="0"/>
                <a:cs typeface="Tahoma" panose="020B0604030504040204" pitchFamily="34" charset="0"/>
              </a:rPr>
              <a:t>Bulk Conductivity Calculation</a:t>
            </a:r>
            <a:endParaRPr lang="en-US" sz="3300" dirty="0"/>
          </a:p>
        </p:txBody>
      </p:sp>
      <p:sp>
        <p:nvSpPr>
          <p:cNvPr id="3" name="Content Placeholder 2">
            <a:extLst>
              <a:ext uri="{FF2B5EF4-FFF2-40B4-BE49-F238E27FC236}">
                <a16:creationId xmlns:a16="http://schemas.microsoft.com/office/drawing/2014/main" id="{7511EC96-B247-4FB8-AE80-448ED6DB551C}"/>
              </a:ext>
            </a:extLst>
          </p:cNvPr>
          <p:cNvSpPr>
            <a:spLocks noGrp="1"/>
          </p:cNvSpPr>
          <p:nvPr>
            <p:ph idx="1"/>
          </p:nvPr>
        </p:nvSpPr>
        <p:spPr/>
        <p:txBody>
          <a:bodyPr>
            <a:normAutofit/>
          </a:bodyPr>
          <a:lstStyle/>
          <a:p>
            <a:r>
              <a:rPr lang="en-US" sz="2200" dirty="0">
                <a:latin typeface="Tahoma" panose="020B0604030504040204" pitchFamily="34" charset="0"/>
                <a:ea typeface="Tahoma" panose="020B0604030504040204" pitchFamily="34" charset="0"/>
                <a:cs typeface="Tahoma" panose="020B0604030504040204" pitchFamily="34" charset="0"/>
              </a:rPr>
              <a:t>Current </a:t>
            </a:r>
            <a:r>
              <a:rPr lang="en-US" sz="2200" i="1" dirty="0">
                <a:latin typeface="Tahoma" panose="020B0604030504040204" pitchFamily="34" charset="0"/>
                <a:ea typeface="Tahoma" panose="020B0604030504040204" pitchFamily="34" charset="0"/>
                <a:cs typeface="Tahoma" panose="020B0604030504040204" pitchFamily="34" charset="0"/>
              </a:rPr>
              <a:t>I</a:t>
            </a:r>
            <a:r>
              <a:rPr lang="en-US" sz="2200" dirty="0">
                <a:latin typeface="Tahoma" panose="020B0604030504040204" pitchFamily="34" charset="0"/>
                <a:ea typeface="Tahoma" panose="020B0604030504040204" pitchFamily="34" charset="0"/>
                <a:cs typeface="Tahoma" panose="020B0604030504040204" pitchFamily="34" charset="0"/>
              </a:rPr>
              <a:t> is simulated across the digital sample, resulting in potential difference across it</a:t>
            </a:r>
          </a:p>
        </p:txBody>
      </p:sp>
      <p:pic>
        <p:nvPicPr>
          <p:cNvPr id="6" name="Picture 5">
            <a:extLst>
              <a:ext uri="{FF2B5EF4-FFF2-40B4-BE49-F238E27FC236}">
                <a16:creationId xmlns:a16="http://schemas.microsoft.com/office/drawing/2014/main" id="{DACCE1DC-0461-4F0E-9805-DA7D3B43ECFE}"/>
              </a:ext>
            </a:extLst>
          </p:cNvPr>
          <p:cNvPicPr>
            <a:picLocks noChangeAspect="1"/>
          </p:cNvPicPr>
          <p:nvPr/>
        </p:nvPicPr>
        <p:blipFill>
          <a:blip r:embed="rId2"/>
          <a:stretch>
            <a:fillRect/>
          </a:stretch>
        </p:blipFill>
        <p:spPr>
          <a:xfrm>
            <a:off x="1903571" y="3289287"/>
            <a:ext cx="1971675" cy="809625"/>
          </a:xfrm>
          <a:prstGeom prst="rect">
            <a:avLst/>
          </a:prstGeom>
        </p:spPr>
      </p:pic>
      <p:sp>
        <p:nvSpPr>
          <p:cNvPr id="7" name="TextBox 6">
            <a:extLst>
              <a:ext uri="{FF2B5EF4-FFF2-40B4-BE49-F238E27FC236}">
                <a16:creationId xmlns:a16="http://schemas.microsoft.com/office/drawing/2014/main" id="{EA111E46-551F-492C-BC9B-B1D7838E2177}"/>
              </a:ext>
            </a:extLst>
          </p:cNvPr>
          <p:cNvSpPr txBox="1"/>
          <p:nvPr/>
        </p:nvSpPr>
        <p:spPr>
          <a:xfrm>
            <a:off x="2003789" y="4134747"/>
            <a:ext cx="1876848" cy="738664"/>
          </a:xfrm>
          <a:prstGeom prst="rect">
            <a:avLst/>
          </a:prstGeom>
          <a:noFill/>
        </p:spPr>
        <p:txBody>
          <a:bodyPr wrap="square" rtlCol="0">
            <a:spAutoFit/>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Laplace Equation: Local current density and potential</a:t>
            </a:r>
          </a:p>
        </p:txBody>
      </p:sp>
      <p:sp>
        <p:nvSpPr>
          <p:cNvPr id="8" name="Rectangle: Rounded Corners 7">
            <a:extLst>
              <a:ext uri="{FF2B5EF4-FFF2-40B4-BE49-F238E27FC236}">
                <a16:creationId xmlns:a16="http://schemas.microsoft.com/office/drawing/2014/main" id="{7F380480-355B-4DE2-93FA-F73BD0541D74}"/>
              </a:ext>
            </a:extLst>
          </p:cNvPr>
          <p:cNvSpPr/>
          <p:nvPr/>
        </p:nvSpPr>
        <p:spPr>
          <a:xfrm>
            <a:off x="1748547" y="3232516"/>
            <a:ext cx="2302456" cy="169545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F84038D3-A95B-4CC7-B2AC-57C48F5DB8D6}"/>
              </a:ext>
            </a:extLst>
          </p:cNvPr>
          <p:cNvGrpSpPr/>
          <p:nvPr/>
        </p:nvGrpSpPr>
        <p:grpSpPr>
          <a:xfrm>
            <a:off x="467839" y="3774729"/>
            <a:ext cx="870945" cy="390525"/>
            <a:chOff x="688338" y="5287961"/>
            <a:chExt cx="870945" cy="390525"/>
          </a:xfrm>
        </p:grpSpPr>
        <p:pic>
          <p:nvPicPr>
            <p:cNvPr id="12" name="Picture 11">
              <a:extLst>
                <a:ext uri="{FF2B5EF4-FFF2-40B4-BE49-F238E27FC236}">
                  <a16:creationId xmlns:a16="http://schemas.microsoft.com/office/drawing/2014/main" id="{931A9229-255C-441A-955C-C8CD9A2E135B}"/>
                </a:ext>
              </a:extLst>
            </p:cNvPr>
            <p:cNvPicPr>
              <a:picLocks noChangeAspect="1"/>
            </p:cNvPicPr>
            <p:nvPr/>
          </p:nvPicPr>
          <p:blipFill>
            <a:blip r:embed="rId3"/>
            <a:stretch>
              <a:fillRect/>
            </a:stretch>
          </p:blipFill>
          <p:spPr>
            <a:xfrm>
              <a:off x="688338" y="5287961"/>
              <a:ext cx="314325" cy="390525"/>
            </a:xfrm>
            <a:prstGeom prst="rect">
              <a:avLst/>
            </a:prstGeom>
          </p:spPr>
        </p:pic>
        <p:pic>
          <p:nvPicPr>
            <p:cNvPr id="13" name="Picture 12">
              <a:extLst>
                <a:ext uri="{FF2B5EF4-FFF2-40B4-BE49-F238E27FC236}">
                  <a16:creationId xmlns:a16="http://schemas.microsoft.com/office/drawing/2014/main" id="{018F5936-989F-4B16-BECC-B719229346AA}"/>
                </a:ext>
              </a:extLst>
            </p:cNvPr>
            <p:cNvPicPr>
              <a:picLocks noChangeAspect="1"/>
            </p:cNvPicPr>
            <p:nvPr/>
          </p:nvPicPr>
          <p:blipFill>
            <a:blip r:embed="rId4"/>
            <a:stretch>
              <a:fillRect/>
            </a:stretch>
          </p:blipFill>
          <p:spPr>
            <a:xfrm>
              <a:off x="1302108" y="5287961"/>
              <a:ext cx="257175" cy="361950"/>
            </a:xfrm>
            <a:prstGeom prst="rect">
              <a:avLst/>
            </a:prstGeom>
          </p:spPr>
        </p:pic>
        <p:sp>
          <p:nvSpPr>
            <p:cNvPr id="14" name="TextBox 13">
              <a:extLst>
                <a:ext uri="{FF2B5EF4-FFF2-40B4-BE49-F238E27FC236}">
                  <a16:creationId xmlns:a16="http://schemas.microsoft.com/office/drawing/2014/main" id="{B338AF0B-9E22-414F-ACC5-3D832DD88681}"/>
                </a:ext>
              </a:extLst>
            </p:cNvPr>
            <p:cNvSpPr txBox="1"/>
            <p:nvPr/>
          </p:nvSpPr>
          <p:spPr>
            <a:xfrm>
              <a:off x="942975" y="5293951"/>
              <a:ext cx="392519" cy="307777"/>
            </a:xfrm>
            <a:prstGeom prst="rect">
              <a:avLst/>
            </a:prstGeom>
            <a:noFill/>
          </p:spPr>
          <p:txBody>
            <a:bodyPr wrap="square" rtlCol="0">
              <a:spAutoFit/>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or</a:t>
              </a:r>
            </a:p>
          </p:txBody>
        </p:sp>
      </p:grpSp>
      <p:cxnSp>
        <p:nvCxnSpPr>
          <p:cNvPr id="26" name="Straight Arrow Connector 25">
            <a:extLst>
              <a:ext uri="{FF2B5EF4-FFF2-40B4-BE49-F238E27FC236}">
                <a16:creationId xmlns:a16="http://schemas.microsoft.com/office/drawing/2014/main" id="{B7A488CA-D81B-4377-A437-2FCBD8915816}"/>
              </a:ext>
            </a:extLst>
          </p:cNvPr>
          <p:cNvCxnSpPr/>
          <p:nvPr/>
        </p:nvCxnSpPr>
        <p:spPr>
          <a:xfrm>
            <a:off x="2521243" y="3663284"/>
            <a:ext cx="0" cy="14638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EB2A8F-F4CF-4E39-8B27-601F9363D696}"/>
              </a:ext>
            </a:extLst>
          </p:cNvPr>
          <p:cNvCxnSpPr/>
          <p:nvPr/>
        </p:nvCxnSpPr>
        <p:spPr>
          <a:xfrm flipH="1">
            <a:off x="918735" y="3672590"/>
            <a:ext cx="160710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336BB55-0836-4BD6-89A7-C0A308D63BB4}"/>
              </a:ext>
            </a:extLst>
          </p:cNvPr>
          <p:cNvCxnSpPr>
            <a:cxnSpLocks/>
          </p:cNvCxnSpPr>
          <p:nvPr/>
        </p:nvCxnSpPr>
        <p:spPr>
          <a:xfrm>
            <a:off x="926625" y="3666600"/>
            <a:ext cx="1" cy="10812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2489B5EA-091A-451C-AEF6-FCF63F8E22F5}"/>
              </a:ext>
            </a:extLst>
          </p:cNvPr>
          <p:cNvGrpSpPr/>
          <p:nvPr/>
        </p:nvGrpSpPr>
        <p:grpSpPr>
          <a:xfrm>
            <a:off x="4705444" y="2433449"/>
            <a:ext cx="2676525" cy="2494517"/>
            <a:chOff x="5268755" y="2748534"/>
            <a:chExt cx="2676525" cy="2494517"/>
          </a:xfrm>
        </p:grpSpPr>
        <p:pic>
          <p:nvPicPr>
            <p:cNvPr id="5" name="Picture 4">
              <a:extLst>
                <a:ext uri="{FF2B5EF4-FFF2-40B4-BE49-F238E27FC236}">
                  <a16:creationId xmlns:a16="http://schemas.microsoft.com/office/drawing/2014/main" id="{C4C63875-35E0-4DBA-B3A7-27FC943EE440}"/>
                </a:ext>
              </a:extLst>
            </p:cNvPr>
            <p:cNvPicPr>
              <a:picLocks noChangeAspect="1"/>
            </p:cNvPicPr>
            <p:nvPr/>
          </p:nvPicPr>
          <p:blipFill>
            <a:blip r:embed="rId5"/>
            <a:stretch>
              <a:fillRect/>
            </a:stretch>
          </p:blipFill>
          <p:spPr>
            <a:xfrm>
              <a:off x="5268755" y="2773260"/>
              <a:ext cx="2676525" cy="1695450"/>
            </a:xfrm>
            <a:prstGeom prst="rect">
              <a:avLst/>
            </a:prstGeom>
          </p:spPr>
        </p:pic>
        <p:sp>
          <p:nvSpPr>
            <p:cNvPr id="9" name="TextBox 8">
              <a:extLst>
                <a:ext uri="{FF2B5EF4-FFF2-40B4-BE49-F238E27FC236}">
                  <a16:creationId xmlns:a16="http://schemas.microsoft.com/office/drawing/2014/main" id="{B1E6F4E2-7E74-4C1D-A4FA-7D99A628EB87}"/>
                </a:ext>
              </a:extLst>
            </p:cNvPr>
            <p:cNvSpPr txBox="1"/>
            <p:nvPr/>
          </p:nvSpPr>
          <p:spPr>
            <a:xfrm>
              <a:off x="5776129" y="4367639"/>
              <a:ext cx="1445797" cy="738664"/>
            </a:xfrm>
            <a:prstGeom prst="rect">
              <a:avLst/>
            </a:prstGeom>
            <a:noFill/>
          </p:spPr>
          <p:txBody>
            <a:bodyPr wrap="square" rtlCol="0">
              <a:spAutoFit/>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Average electric field and current density</a:t>
              </a:r>
            </a:p>
          </p:txBody>
        </p:sp>
        <p:sp>
          <p:nvSpPr>
            <p:cNvPr id="40" name="Rectangle: Rounded Corners 39">
              <a:extLst>
                <a:ext uri="{FF2B5EF4-FFF2-40B4-BE49-F238E27FC236}">
                  <a16:creationId xmlns:a16="http://schemas.microsoft.com/office/drawing/2014/main" id="{D1E6112A-F564-41DA-B9E1-B2A0709346DA}"/>
                </a:ext>
              </a:extLst>
            </p:cNvPr>
            <p:cNvSpPr/>
            <p:nvPr/>
          </p:nvSpPr>
          <p:spPr>
            <a:xfrm>
              <a:off x="5306774" y="2748534"/>
              <a:ext cx="2384509" cy="249451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Rectangle: Rounded Corners 41">
            <a:extLst>
              <a:ext uri="{FF2B5EF4-FFF2-40B4-BE49-F238E27FC236}">
                <a16:creationId xmlns:a16="http://schemas.microsoft.com/office/drawing/2014/main" id="{D4CBEDAE-BA48-45E8-85EA-E24B2DF83398}"/>
              </a:ext>
            </a:extLst>
          </p:cNvPr>
          <p:cNvSpPr/>
          <p:nvPr/>
        </p:nvSpPr>
        <p:spPr>
          <a:xfrm>
            <a:off x="3875245" y="5085099"/>
            <a:ext cx="1168703" cy="152217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EDC5502E-C450-4524-8B07-68599ACC0656}"/>
              </a:ext>
            </a:extLst>
          </p:cNvPr>
          <p:cNvSpPr txBox="1"/>
          <p:nvPr/>
        </p:nvSpPr>
        <p:spPr>
          <a:xfrm>
            <a:off x="3875246" y="5759454"/>
            <a:ext cx="1234208" cy="738664"/>
          </a:xfrm>
          <a:prstGeom prst="rect">
            <a:avLst/>
          </a:prstGeom>
          <a:noFill/>
        </p:spPr>
        <p:txBody>
          <a:bodyPr wrap="square" rtlCol="0">
            <a:spAutoFit/>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Effective complex conductivity</a:t>
            </a:r>
          </a:p>
        </p:txBody>
      </p:sp>
      <p:pic>
        <p:nvPicPr>
          <p:cNvPr id="10" name="Picture 9">
            <a:extLst>
              <a:ext uri="{FF2B5EF4-FFF2-40B4-BE49-F238E27FC236}">
                <a16:creationId xmlns:a16="http://schemas.microsoft.com/office/drawing/2014/main" id="{72C71BBE-9CFC-4981-8913-697B18F55D4B}"/>
              </a:ext>
            </a:extLst>
          </p:cNvPr>
          <p:cNvPicPr>
            <a:picLocks noChangeAspect="1"/>
          </p:cNvPicPr>
          <p:nvPr/>
        </p:nvPicPr>
        <p:blipFill>
          <a:blip r:embed="rId6"/>
          <a:stretch>
            <a:fillRect/>
          </a:stretch>
        </p:blipFill>
        <p:spPr>
          <a:xfrm>
            <a:off x="3979292" y="5197980"/>
            <a:ext cx="960607" cy="584985"/>
          </a:xfrm>
          <a:prstGeom prst="rect">
            <a:avLst/>
          </a:prstGeom>
        </p:spPr>
      </p:pic>
    </p:spTree>
    <p:extLst>
      <p:ext uri="{BB962C8B-B14F-4D97-AF65-F5344CB8AC3E}">
        <p14:creationId xmlns:p14="http://schemas.microsoft.com/office/powerpoint/2010/main" val="1777610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BBAD9-6B73-434C-960D-92FBF3A0F5E2}"/>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Simulation Trial Variables</a:t>
            </a:r>
            <a:endParaRPr lang="en-US" sz="3600" dirty="0"/>
          </a:p>
        </p:txBody>
      </p:sp>
      <p:sp>
        <p:nvSpPr>
          <p:cNvPr id="3" name="Content Placeholder 2">
            <a:extLst>
              <a:ext uri="{FF2B5EF4-FFF2-40B4-BE49-F238E27FC236}">
                <a16:creationId xmlns:a16="http://schemas.microsoft.com/office/drawing/2014/main" id="{C543279A-4FC3-4EAF-B830-DEBA1B2CB9E7}"/>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9D8EBB3-D957-44F0-95F5-97601977F47D}"/>
              </a:ext>
            </a:extLst>
          </p:cNvPr>
          <p:cNvPicPr>
            <a:picLocks noChangeAspect="1"/>
          </p:cNvPicPr>
          <p:nvPr/>
        </p:nvPicPr>
        <p:blipFill>
          <a:blip r:embed="rId2"/>
          <a:stretch>
            <a:fillRect/>
          </a:stretch>
        </p:blipFill>
        <p:spPr>
          <a:xfrm>
            <a:off x="1563380" y="1282023"/>
            <a:ext cx="6017240" cy="5575977"/>
          </a:xfrm>
          <a:prstGeom prst="rect">
            <a:avLst/>
          </a:prstGeom>
        </p:spPr>
      </p:pic>
    </p:spTree>
    <p:extLst>
      <p:ext uri="{BB962C8B-B14F-4D97-AF65-F5344CB8AC3E}">
        <p14:creationId xmlns:p14="http://schemas.microsoft.com/office/powerpoint/2010/main" val="3165020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A4F9-F492-4C82-A2A0-D899CB082BC7}"/>
              </a:ext>
            </a:extLst>
          </p:cNvPr>
          <p:cNvSpPr>
            <a:spLocks noGrp="1"/>
          </p:cNvSpPr>
          <p:nvPr>
            <p:ph type="title"/>
          </p:nvPr>
        </p:nvSpPr>
        <p:spPr/>
        <p:txBody>
          <a:bodyPr>
            <a:normAutofit/>
          </a:bodyPr>
          <a:lstStyle/>
          <a:p>
            <a:r>
              <a:rPr lang="en-US" sz="3500" dirty="0">
                <a:latin typeface="Tahoma" panose="020B0604030504040204" pitchFamily="34" charset="0"/>
                <a:ea typeface="Tahoma" panose="020B0604030504040204" pitchFamily="34" charset="0"/>
                <a:cs typeface="Tahoma" panose="020B0604030504040204" pitchFamily="34" charset="0"/>
              </a:rPr>
              <a:t>Results and Discussion</a:t>
            </a:r>
            <a:endParaRPr lang="en-US" sz="35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A80553-8567-48A7-A1D9-C4AB9B1A8556}"/>
                  </a:ext>
                </a:extLst>
              </p:cNvPr>
              <p:cNvSpPr>
                <a:spLocks noGrp="1"/>
              </p:cNvSpPr>
              <p:nvPr>
                <p:ph idx="1"/>
              </p:nvPr>
            </p:nvSpPr>
            <p:spPr>
              <a:xfrm>
                <a:off x="155275" y="1825624"/>
                <a:ext cx="4580628" cy="4851221"/>
              </a:xfrm>
            </p:spPr>
            <p:txBody>
              <a:bodyPr>
                <a:noAutofit/>
              </a:bodyPr>
              <a:lstStyle/>
              <a:p>
                <a:r>
                  <a:rPr lang="en-US" sz="1900" dirty="0">
                    <a:latin typeface="Tahoma" panose="020B0604030504040204" pitchFamily="34" charset="0"/>
                    <a:ea typeface="Tahoma" panose="020B0604030504040204" pitchFamily="34" charset="0"/>
                    <a:cs typeface="Tahoma" panose="020B0604030504040204" pitchFamily="34" charset="0"/>
                  </a:rPr>
                  <a:t>In general, the simulated </a:t>
                </a:r>
                <a14:m>
                  <m:oMath xmlns:m="http://schemas.openxmlformats.org/officeDocument/2006/math">
                    <m:sSubSup>
                      <m:sSubSupPr>
                        <m:ctrlPr>
                          <a:rPr lang="en-US" sz="1900" i="1">
                            <a:latin typeface="Cambria Math" panose="02040503050406030204" pitchFamily="18" charset="0"/>
                          </a:rPr>
                        </m:ctrlPr>
                      </m:sSubSupPr>
                      <m:e>
                        <m:r>
                          <a:rPr lang="en-US" sz="1900" i="1">
                            <a:latin typeface="Cambria Math" panose="02040503050406030204" pitchFamily="18" charset="0"/>
                          </a:rPr>
                          <m:t>𝜎</m:t>
                        </m:r>
                      </m:e>
                      <m:sub>
                        <m:r>
                          <a:rPr lang="en-US" sz="1900" i="1">
                            <a:latin typeface="Cambria Math" panose="02040503050406030204" pitchFamily="18" charset="0"/>
                          </a:rPr>
                          <m:t>𝑒𝑓𝑓</m:t>
                        </m:r>
                      </m:sub>
                      <m:sup>
                        <m:r>
                          <a:rPr lang="en-US" sz="1900" i="1">
                            <a:latin typeface="Cambria Math" panose="02040503050406030204" pitchFamily="18" charset="0"/>
                          </a:rPr>
                          <m:t>′</m:t>
                        </m:r>
                      </m:sup>
                    </m:sSubSup>
                  </m:oMath>
                </a14:m>
                <a:r>
                  <a:rPr lang="en-US" sz="1900" dirty="0">
                    <a:latin typeface="Tahoma" panose="020B0604030504040204" pitchFamily="34" charset="0"/>
                    <a:ea typeface="Tahoma" panose="020B0604030504040204" pitchFamily="34" charset="0"/>
                    <a:cs typeface="Tahoma" panose="020B0604030504040204" pitchFamily="34" charset="0"/>
                  </a:rPr>
                  <a:t> underestimated laboratory measurements, but the simulated </a:t>
                </a:r>
                <a14:m>
                  <m:oMath xmlns:m="http://schemas.openxmlformats.org/officeDocument/2006/math">
                    <m:sSubSup>
                      <m:sSubSupPr>
                        <m:ctrlPr>
                          <a:rPr lang="en-US" sz="1900" i="1">
                            <a:latin typeface="Cambria Math" panose="02040503050406030204" pitchFamily="18" charset="0"/>
                          </a:rPr>
                        </m:ctrlPr>
                      </m:sSubSupPr>
                      <m:e>
                        <m:r>
                          <a:rPr lang="en-US" sz="1900" i="1">
                            <a:latin typeface="Cambria Math" panose="02040503050406030204" pitchFamily="18" charset="0"/>
                          </a:rPr>
                          <m:t>𝜎</m:t>
                        </m:r>
                      </m:e>
                      <m:sub>
                        <m:r>
                          <a:rPr lang="en-US" sz="1900" i="1">
                            <a:latin typeface="Cambria Math" panose="02040503050406030204" pitchFamily="18" charset="0"/>
                          </a:rPr>
                          <m:t>𝑒𝑓𝑓</m:t>
                        </m:r>
                      </m:sub>
                      <m:sup>
                        <m:r>
                          <a:rPr lang="en-US" sz="1900" i="1">
                            <a:latin typeface="Cambria Math" panose="02040503050406030204" pitchFamily="18" charset="0"/>
                          </a:rPr>
                          <m:t>′′</m:t>
                        </m:r>
                      </m:sup>
                    </m:sSubSup>
                  </m:oMath>
                </a14:m>
                <a:r>
                  <a:rPr lang="en-US" sz="1900" dirty="0">
                    <a:latin typeface="Tahoma" panose="020B0604030504040204" pitchFamily="34" charset="0"/>
                    <a:ea typeface="Tahoma" panose="020B0604030504040204" pitchFamily="34" charset="0"/>
                    <a:cs typeface="Tahoma" panose="020B0604030504040204" pitchFamily="34" charset="0"/>
                  </a:rPr>
                  <a:t> were a decent match in the lower- to mid-frequencies</a:t>
                </a:r>
              </a:p>
              <a:p>
                <a:r>
                  <a:rPr lang="en-US" sz="1900" dirty="0">
                    <a:latin typeface="Tahoma" panose="020B0604030504040204" pitchFamily="34" charset="0"/>
                    <a:ea typeface="Tahoma" panose="020B0604030504040204" pitchFamily="34" charset="0"/>
                    <a:cs typeface="Tahoma" panose="020B0604030504040204" pitchFamily="34" charset="0"/>
                  </a:rPr>
                  <a:t>Laboratory measurements exhibit flat </a:t>
                </a:r>
                <a14:m>
                  <m:oMath xmlns:m="http://schemas.openxmlformats.org/officeDocument/2006/math">
                    <m:sSubSup>
                      <m:sSubSupPr>
                        <m:ctrlPr>
                          <a:rPr lang="en-US" sz="1900" i="1">
                            <a:latin typeface="Cambria Math" panose="02040503050406030204" pitchFamily="18" charset="0"/>
                          </a:rPr>
                        </m:ctrlPr>
                      </m:sSubSupPr>
                      <m:e>
                        <m:r>
                          <a:rPr lang="en-US" sz="1900" i="1">
                            <a:latin typeface="Cambria Math" panose="02040503050406030204" pitchFamily="18" charset="0"/>
                          </a:rPr>
                          <m:t>𝜎</m:t>
                        </m:r>
                      </m:e>
                      <m:sub>
                        <m:r>
                          <a:rPr lang="en-US" sz="1900" i="1">
                            <a:latin typeface="Cambria Math" panose="02040503050406030204" pitchFamily="18" charset="0"/>
                          </a:rPr>
                          <m:t>𝑒𝑓𝑓</m:t>
                        </m:r>
                      </m:sub>
                      <m:sup>
                        <m:r>
                          <a:rPr lang="en-US" sz="1900" i="1">
                            <a:latin typeface="Cambria Math" panose="02040503050406030204" pitchFamily="18" charset="0"/>
                          </a:rPr>
                          <m:t>′′</m:t>
                        </m:r>
                      </m:sup>
                    </m:sSubSup>
                  </m:oMath>
                </a14:m>
                <a:r>
                  <a:rPr lang="en-US" sz="1900" dirty="0">
                    <a:latin typeface="Tahoma" panose="020B0604030504040204" pitchFamily="34" charset="0"/>
                    <a:ea typeface="Tahoma" panose="020B0604030504040204" pitchFamily="34" charset="0"/>
                    <a:cs typeface="Tahoma" panose="020B0604030504040204" pitchFamily="34" charset="0"/>
                  </a:rPr>
                  <a:t> curves without a characteristic frequency, whereas the simulation results have peaks in the lower frequencies.</a:t>
                </a:r>
              </a:p>
              <a:p>
                <a:pPr lvl="1">
                  <a:buFont typeface="Tahoma" panose="020B0604030504040204" pitchFamily="34" charset="0"/>
                  <a:buChar char="⁻"/>
                </a:pPr>
                <a:r>
                  <a:rPr lang="en-US" sz="1900" dirty="0">
                    <a:latin typeface="Tahoma" panose="020B0604030504040204" pitchFamily="34" charset="0"/>
                    <a:ea typeface="Tahoma" panose="020B0604030504040204" pitchFamily="34" charset="0"/>
                    <a:cs typeface="Tahoma" panose="020B0604030504040204" pitchFamily="34" charset="0"/>
                  </a:rPr>
                  <a:t>Flat spectrum due to a rough grain surface (Leroy et al. 2008), features that could have been lost during imaging or re-gridding</a:t>
                </a:r>
              </a:p>
              <a:p>
                <a:pPr lvl="1">
                  <a:buFont typeface="Tahoma" panose="020B0604030504040204" pitchFamily="34" charset="0"/>
                  <a:buChar char="⁻"/>
                </a:pPr>
                <a:r>
                  <a:rPr lang="en-US" sz="1900" dirty="0">
                    <a:latin typeface="Tahoma" panose="020B0604030504040204" pitchFamily="34" charset="0"/>
                    <a:ea typeface="Tahoma" panose="020B0604030504040204" pitchFamily="34" charset="0"/>
                    <a:cs typeface="Tahoma" panose="020B0604030504040204" pitchFamily="34" charset="0"/>
                  </a:rPr>
                  <a:t>Membrane polarization not accounted for in simulation</a:t>
                </a:r>
              </a:p>
              <a:p>
                <a:endParaRPr lang="en-US" sz="19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Content Placeholder 2">
                <a:extLst>
                  <a:ext uri="{FF2B5EF4-FFF2-40B4-BE49-F238E27FC236}">
                    <a16:creationId xmlns:a16="http://schemas.microsoft.com/office/drawing/2014/main" id="{65A80553-8567-48A7-A1D9-C4AB9B1A8556}"/>
                  </a:ext>
                </a:extLst>
              </p:cNvPr>
              <p:cNvSpPr>
                <a:spLocks noGrp="1" noRot="1" noChangeAspect="1" noMove="1" noResize="1" noEditPoints="1" noAdjustHandles="1" noChangeArrowheads="1" noChangeShapeType="1" noTextEdit="1"/>
              </p:cNvSpPr>
              <p:nvPr>
                <p:ph idx="1"/>
              </p:nvPr>
            </p:nvSpPr>
            <p:spPr>
              <a:xfrm>
                <a:off x="155275" y="1825624"/>
                <a:ext cx="4580628" cy="4851221"/>
              </a:xfrm>
              <a:blipFill>
                <a:blip r:embed="rId2"/>
                <a:stretch>
                  <a:fillRect l="-931" t="-1382" r="-146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CFA64144-1219-415F-8E43-A0E91F055176}"/>
              </a:ext>
            </a:extLst>
          </p:cNvPr>
          <p:cNvPicPr>
            <a:picLocks noChangeAspect="1"/>
          </p:cNvPicPr>
          <p:nvPr/>
        </p:nvPicPr>
        <p:blipFill>
          <a:blip r:embed="rId3"/>
          <a:stretch>
            <a:fillRect/>
          </a:stretch>
        </p:blipFill>
        <p:spPr>
          <a:xfrm>
            <a:off x="5295541" y="147031"/>
            <a:ext cx="3693184" cy="6563938"/>
          </a:xfrm>
          <a:prstGeom prst="rect">
            <a:avLst/>
          </a:prstGeom>
          <a:ln>
            <a:solidFill>
              <a:schemeClr val="tx1"/>
            </a:solidFill>
          </a:ln>
        </p:spPr>
      </p:pic>
    </p:spTree>
    <p:extLst>
      <p:ext uri="{BB962C8B-B14F-4D97-AF65-F5344CB8AC3E}">
        <p14:creationId xmlns:p14="http://schemas.microsoft.com/office/powerpoint/2010/main" val="567105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D3379-7C1B-4DE9-A84C-36185743CDFF}"/>
              </a:ext>
            </a:extLst>
          </p:cNvPr>
          <p:cNvSpPr>
            <a:spLocks noGrp="1"/>
          </p:cNvSpPr>
          <p:nvPr>
            <p:ph type="title"/>
          </p:nvPr>
        </p:nvSpPr>
        <p:spPr/>
        <p:txBody>
          <a:bodyPr>
            <a:normAutofit/>
          </a:bodyPr>
          <a:lstStyle/>
          <a:p>
            <a:r>
              <a:rPr lang="en-US" sz="3500" dirty="0">
                <a:latin typeface="Tahoma" panose="020B0604030504040204" pitchFamily="34" charset="0"/>
                <a:ea typeface="Tahoma" panose="020B0604030504040204" pitchFamily="34" charset="0"/>
                <a:cs typeface="Tahoma" panose="020B0604030504040204" pitchFamily="34" charset="0"/>
              </a:rPr>
              <a:t>Results and Discussion</a:t>
            </a:r>
            <a:endParaRPr lang="en-US" sz="35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3B485F-9C7A-45CB-8AF3-AB6C074B7885}"/>
                  </a:ext>
                </a:extLst>
              </p:cNvPr>
              <p:cNvSpPr>
                <a:spLocks noGrp="1"/>
              </p:cNvSpPr>
              <p:nvPr>
                <p:ph idx="1"/>
              </p:nvPr>
            </p:nvSpPr>
            <p:spPr>
              <a:xfrm>
                <a:off x="338756" y="1825625"/>
                <a:ext cx="4486275" cy="4351338"/>
              </a:xfrm>
            </p:spPr>
            <p:txBody>
              <a:bodyPr>
                <a:normAutofit/>
              </a:bodyPr>
              <a:lstStyle/>
              <a:p>
                <a:r>
                  <a:rPr lang="en-US" sz="2400" dirty="0">
                    <a:latin typeface="Tahoma" panose="020B0604030504040204" pitchFamily="34" charset="0"/>
                    <a:ea typeface="Tahoma" panose="020B0604030504040204" pitchFamily="34" charset="0"/>
                    <a:cs typeface="Tahoma" panose="020B0604030504040204" pitchFamily="34" charset="0"/>
                  </a:rPr>
                  <a:t>The skeletal grainstone had the highest degree of connectivity, and showed the best match to laboratory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𝑒𝑓𝑓</m:t>
                        </m:r>
                      </m:sub>
                      <m:sup>
                        <m:r>
                          <a:rPr lang="en-US" sz="2400" i="1">
                            <a:latin typeface="Cambria Math" panose="02040503050406030204" pitchFamily="18" charset="0"/>
                          </a:rPr>
                          <m:t>′</m:t>
                        </m:r>
                      </m:sup>
                    </m:sSubSup>
                  </m:oMath>
                </a14:m>
                <a:endParaRPr lang="en-US" sz="24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Content Placeholder 2">
                <a:extLst>
                  <a:ext uri="{FF2B5EF4-FFF2-40B4-BE49-F238E27FC236}">
                    <a16:creationId xmlns:a16="http://schemas.microsoft.com/office/drawing/2014/main" id="{223B485F-9C7A-45CB-8AF3-AB6C074B7885}"/>
                  </a:ext>
                </a:extLst>
              </p:cNvPr>
              <p:cNvSpPr>
                <a:spLocks noGrp="1" noRot="1" noChangeAspect="1" noMove="1" noResize="1" noEditPoints="1" noAdjustHandles="1" noChangeArrowheads="1" noChangeShapeType="1" noTextEdit="1"/>
              </p:cNvSpPr>
              <p:nvPr>
                <p:ph idx="1"/>
              </p:nvPr>
            </p:nvSpPr>
            <p:spPr>
              <a:xfrm>
                <a:off x="338756" y="1825625"/>
                <a:ext cx="4486275" cy="4351338"/>
              </a:xfrm>
              <a:blipFill>
                <a:blip r:embed="rId2"/>
                <a:stretch>
                  <a:fillRect l="-1902" t="-1961" r="-408"/>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221217CF-F9C3-4E22-99F3-66D827E3178D}"/>
              </a:ext>
            </a:extLst>
          </p:cNvPr>
          <p:cNvPicPr>
            <a:picLocks noChangeAspect="1"/>
          </p:cNvPicPr>
          <p:nvPr/>
        </p:nvPicPr>
        <p:blipFill>
          <a:blip r:embed="rId3"/>
          <a:stretch>
            <a:fillRect/>
          </a:stretch>
        </p:blipFill>
        <p:spPr>
          <a:xfrm>
            <a:off x="5427096" y="148013"/>
            <a:ext cx="3554082" cy="6561973"/>
          </a:xfrm>
          <a:prstGeom prst="rect">
            <a:avLst/>
          </a:prstGeom>
          <a:ln>
            <a:solidFill>
              <a:schemeClr val="tx1"/>
            </a:solidFill>
          </a:ln>
        </p:spPr>
      </p:pic>
      <p:pic>
        <p:nvPicPr>
          <p:cNvPr id="6" name="Picture 5">
            <a:extLst>
              <a:ext uri="{FF2B5EF4-FFF2-40B4-BE49-F238E27FC236}">
                <a16:creationId xmlns:a16="http://schemas.microsoft.com/office/drawing/2014/main" id="{C8AFEEB3-F490-41D4-880E-D204389F9301}"/>
              </a:ext>
            </a:extLst>
          </p:cNvPr>
          <p:cNvPicPr/>
          <p:nvPr/>
        </p:nvPicPr>
        <p:blipFill>
          <a:blip r:embed="rId4">
            <a:extLst>
              <a:ext uri="{28A0092B-C50C-407E-A947-70E740481C1C}">
                <a14:useLocalDpi xmlns:a14="http://schemas.microsoft.com/office/drawing/2010/main" val="0"/>
              </a:ext>
            </a:extLst>
          </a:blip>
          <a:stretch>
            <a:fillRect/>
          </a:stretch>
        </p:blipFill>
        <p:spPr>
          <a:xfrm>
            <a:off x="805440" y="3511549"/>
            <a:ext cx="3323970" cy="2981325"/>
          </a:xfrm>
          <a:prstGeom prst="rect">
            <a:avLst/>
          </a:prstGeom>
        </p:spPr>
      </p:pic>
      <p:pic>
        <p:nvPicPr>
          <p:cNvPr id="7" name="Picture 6">
            <a:extLst>
              <a:ext uri="{FF2B5EF4-FFF2-40B4-BE49-F238E27FC236}">
                <a16:creationId xmlns:a16="http://schemas.microsoft.com/office/drawing/2014/main" id="{BFCAFF82-AB4D-45B0-B888-12D003440D03}"/>
              </a:ext>
            </a:extLst>
          </p:cNvPr>
          <p:cNvPicPr>
            <a:picLocks noChangeAspect="1"/>
          </p:cNvPicPr>
          <p:nvPr/>
        </p:nvPicPr>
        <p:blipFill>
          <a:blip r:embed="rId5"/>
          <a:stretch>
            <a:fillRect/>
          </a:stretch>
        </p:blipFill>
        <p:spPr>
          <a:xfrm>
            <a:off x="910222" y="6492874"/>
            <a:ext cx="3114405" cy="310779"/>
          </a:xfrm>
          <a:prstGeom prst="rect">
            <a:avLst/>
          </a:prstGeom>
        </p:spPr>
      </p:pic>
    </p:spTree>
    <p:extLst>
      <p:ext uri="{BB962C8B-B14F-4D97-AF65-F5344CB8AC3E}">
        <p14:creationId xmlns:p14="http://schemas.microsoft.com/office/powerpoint/2010/main" val="2536909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BCD7853-495E-4346-9571-D02B03A1F7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1" y="3529251"/>
            <a:ext cx="4349963" cy="3328749"/>
          </a:xfrm>
          <a:prstGeom prst="rect">
            <a:avLst/>
          </a:prstGeom>
        </p:spPr>
      </p:pic>
      <p:pic>
        <p:nvPicPr>
          <p:cNvPr id="9" name="Picture 8">
            <a:extLst>
              <a:ext uri="{FF2B5EF4-FFF2-40B4-BE49-F238E27FC236}">
                <a16:creationId xmlns:a16="http://schemas.microsoft.com/office/drawing/2014/main" id="{DC34A688-9DB7-4495-9F89-1213513EA2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8435" y="3529251"/>
            <a:ext cx="4349963" cy="3328749"/>
          </a:xfrm>
          <a:prstGeom prst="rect">
            <a:avLst/>
          </a:prstGeom>
        </p:spPr>
      </p:pic>
      <p:pic>
        <p:nvPicPr>
          <p:cNvPr id="11" name="Picture 10">
            <a:extLst>
              <a:ext uri="{FF2B5EF4-FFF2-40B4-BE49-F238E27FC236}">
                <a16:creationId xmlns:a16="http://schemas.microsoft.com/office/drawing/2014/main" id="{010AE9C8-42E7-4BC3-923A-0C54E241DA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8435" y="668572"/>
            <a:ext cx="4349963" cy="3328749"/>
          </a:xfrm>
          <a:prstGeom prst="rect">
            <a:avLst/>
          </a:prstGeom>
        </p:spPr>
      </p:pic>
      <p:sp>
        <p:nvSpPr>
          <p:cNvPr id="2" name="Title 1">
            <a:extLst>
              <a:ext uri="{FF2B5EF4-FFF2-40B4-BE49-F238E27FC236}">
                <a16:creationId xmlns:a16="http://schemas.microsoft.com/office/drawing/2014/main" id="{AE9EB5C5-3CC8-4C9F-8EC7-3E4E9D90B2D4}"/>
              </a:ext>
            </a:extLst>
          </p:cNvPr>
          <p:cNvSpPr>
            <a:spLocks noGrp="1"/>
          </p:cNvSpPr>
          <p:nvPr>
            <p:ph type="title"/>
          </p:nvPr>
        </p:nvSpPr>
        <p:spPr/>
        <p:txBody>
          <a:bodyPr>
            <a:normAutofit/>
          </a:bodyPr>
          <a:lstStyle/>
          <a:p>
            <a:r>
              <a:rPr lang="en-US" sz="3500" dirty="0">
                <a:latin typeface="Tahoma" panose="020B0604030504040204" pitchFamily="34" charset="0"/>
                <a:ea typeface="Tahoma" panose="020B0604030504040204" pitchFamily="34" charset="0"/>
                <a:cs typeface="Tahoma" panose="020B0604030504040204" pitchFamily="34" charset="0"/>
              </a:rPr>
              <a:t>Results and Discussion</a:t>
            </a:r>
            <a:endParaRPr lang="en-US" sz="3500" dirty="0"/>
          </a:p>
        </p:txBody>
      </p:sp>
      <p:sp>
        <p:nvSpPr>
          <p:cNvPr id="3" name="Content Placeholder 2">
            <a:extLst>
              <a:ext uri="{FF2B5EF4-FFF2-40B4-BE49-F238E27FC236}">
                <a16:creationId xmlns:a16="http://schemas.microsoft.com/office/drawing/2014/main" id="{05A92D47-936F-46FC-8307-71E3C6EC479F}"/>
              </a:ext>
            </a:extLst>
          </p:cNvPr>
          <p:cNvSpPr>
            <a:spLocks noGrp="1"/>
          </p:cNvSpPr>
          <p:nvPr>
            <p:ph idx="1"/>
          </p:nvPr>
        </p:nvSpPr>
        <p:spPr>
          <a:xfrm>
            <a:off x="149678" y="1616619"/>
            <a:ext cx="5188675" cy="3956867"/>
          </a:xfrm>
        </p:spPr>
        <p:txBody>
          <a:bodyPr>
            <a:normAutofit/>
          </a:bodyPr>
          <a:lstStyle/>
          <a:p>
            <a:r>
              <a:rPr lang="en-US" sz="2400" dirty="0">
                <a:latin typeface="Tahoma" panose="020B0604030504040204" pitchFamily="34" charset="0"/>
                <a:ea typeface="Tahoma" panose="020B0604030504040204" pitchFamily="34" charset="0"/>
                <a:cs typeface="Tahoma" panose="020B0604030504040204" pitchFamily="34" charset="0"/>
              </a:rPr>
              <a:t>No obvious trends between Helium porosity and conductivity</a:t>
            </a:r>
          </a:p>
          <a:p>
            <a:r>
              <a:rPr lang="en-US" sz="2400" dirty="0">
                <a:latin typeface="Tahoma" panose="020B0604030504040204" pitchFamily="34" charset="0"/>
                <a:ea typeface="Tahoma" panose="020B0604030504040204" pitchFamily="34" charset="0"/>
                <a:cs typeface="Tahoma" panose="020B0604030504040204" pitchFamily="34" charset="0"/>
              </a:rPr>
              <a:t>Simulation m and F values overestimated calculations from laboratory measurements</a:t>
            </a:r>
          </a:p>
        </p:txBody>
      </p:sp>
    </p:spTree>
    <p:extLst>
      <p:ext uri="{BB962C8B-B14F-4D97-AF65-F5344CB8AC3E}">
        <p14:creationId xmlns:p14="http://schemas.microsoft.com/office/powerpoint/2010/main" val="778288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4144E-F2CF-4A90-B141-8BDBC0DC7659}"/>
              </a:ext>
            </a:extLst>
          </p:cNvPr>
          <p:cNvSpPr>
            <a:spLocks noGrp="1"/>
          </p:cNvSpPr>
          <p:nvPr>
            <p:ph type="title"/>
          </p:nvPr>
        </p:nvSpPr>
        <p:spPr/>
        <p:txBody>
          <a:bodyPr>
            <a:normAutofit/>
          </a:bodyPr>
          <a:lstStyle/>
          <a:p>
            <a:r>
              <a:rPr lang="en-US" sz="3500" dirty="0">
                <a:latin typeface="Tahoma" panose="020B0604030504040204" pitchFamily="34" charset="0"/>
                <a:ea typeface="Tahoma" panose="020B0604030504040204" pitchFamily="34" charset="0"/>
                <a:cs typeface="Tahoma" panose="020B0604030504040204" pitchFamily="34" charset="0"/>
              </a:rPr>
              <a:t>Results and Discussion</a:t>
            </a:r>
            <a:endParaRPr lang="en-US" sz="35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B8E46F-EA69-4968-9568-1D4CB1FE7AF8}"/>
                  </a:ext>
                </a:extLst>
              </p:cNvPr>
              <p:cNvSpPr>
                <a:spLocks noGrp="1"/>
              </p:cNvSpPr>
              <p:nvPr>
                <p:ph idx="1"/>
              </p:nvPr>
            </p:nvSpPr>
            <p:spPr>
              <a:xfrm>
                <a:off x="359370" y="1690689"/>
                <a:ext cx="4378093" cy="3072900"/>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It may not be possible for micro-CT imaging to resolve the porosity of some fine-grained carbonate rocks, which would explain the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𝑒𝑓𝑓</m:t>
                        </m:r>
                      </m:sub>
                      <m:sup>
                        <m:r>
                          <a:rPr lang="en-US" sz="2000" i="1">
                            <a:latin typeface="Cambria Math" panose="02040503050406030204" pitchFamily="18" charset="0"/>
                          </a:rPr>
                          <m:t>′</m:t>
                        </m:r>
                      </m:sup>
                    </m:sSubSup>
                  </m:oMath>
                </a14:m>
                <a:r>
                  <a:rPr lang="en-US" sz="2000" dirty="0">
                    <a:latin typeface="Tahoma" panose="020B0604030504040204" pitchFamily="34" charset="0"/>
                    <a:ea typeface="Tahoma" panose="020B0604030504040204" pitchFamily="34" charset="0"/>
                    <a:cs typeface="Tahoma" panose="020B0604030504040204" pitchFamily="34" charset="0"/>
                  </a:rPr>
                  <a:t> and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𝑒𝑓𝑓</m:t>
                        </m:r>
                      </m:sub>
                      <m:sup>
                        <m:r>
                          <a:rPr lang="en-US" sz="2000" i="1">
                            <a:latin typeface="Cambria Math" panose="02040503050406030204" pitchFamily="18" charset="0"/>
                          </a:rPr>
                          <m:t>′′</m:t>
                        </m:r>
                      </m:sup>
                    </m:sSubSup>
                  </m:oMath>
                </a14:m>
                <a:r>
                  <a:rPr lang="en-US" sz="2000" dirty="0">
                    <a:latin typeface="Tahoma" panose="020B0604030504040204" pitchFamily="34" charset="0"/>
                    <a:ea typeface="Tahoma" panose="020B0604030504040204" pitchFamily="34" charset="0"/>
                    <a:cs typeface="Tahoma" panose="020B0604030504040204" pitchFamily="34" charset="0"/>
                  </a:rPr>
                  <a:t> underestimation. This could be why the mudstone showed the most disagreement with laboratory measurements.</a:t>
                </a:r>
              </a:p>
              <a:p>
                <a:endParaRPr lang="en-US" sz="2000" dirty="0"/>
              </a:p>
            </p:txBody>
          </p:sp>
        </mc:Choice>
        <mc:Fallback xmlns="">
          <p:sp>
            <p:nvSpPr>
              <p:cNvPr id="3" name="Content Placeholder 2">
                <a:extLst>
                  <a:ext uri="{FF2B5EF4-FFF2-40B4-BE49-F238E27FC236}">
                    <a16:creationId xmlns:a16="http://schemas.microsoft.com/office/drawing/2014/main" id="{E4B8E46F-EA69-4968-9568-1D4CB1FE7AF8}"/>
                  </a:ext>
                </a:extLst>
              </p:cNvPr>
              <p:cNvSpPr>
                <a:spLocks noGrp="1" noRot="1" noChangeAspect="1" noMove="1" noResize="1" noEditPoints="1" noAdjustHandles="1" noChangeArrowheads="1" noChangeShapeType="1" noTextEdit="1"/>
              </p:cNvSpPr>
              <p:nvPr>
                <p:ph idx="1"/>
              </p:nvPr>
            </p:nvSpPr>
            <p:spPr>
              <a:xfrm>
                <a:off x="359370" y="1690689"/>
                <a:ext cx="4378093" cy="3072900"/>
              </a:xfrm>
              <a:blipFill>
                <a:blip r:embed="rId2"/>
                <a:stretch>
                  <a:fillRect l="-1253" t="-1984" r="-55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22561A89-222E-4855-8B75-0686BB871868}"/>
              </a:ext>
            </a:extLst>
          </p:cNvPr>
          <p:cNvPicPr>
            <a:picLocks noChangeAspect="1"/>
          </p:cNvPicPr>
          <p:nvPr/>
        </p:nvPicPr>
        <p:blipFill>
          <a:blip r:embed="rId3"/>
          <a:stretch>
            <a:fillRect/>
          </a:stretch>
        </p:blipFill>
        <p:spPr>
          <a:xfrm>
            <a:off x="5262294" y="135741"/>
            <a:ext cx="3733660" cy="6586518"/>
          </a:xfrm>
          <a:prstGeom prst="rect">
            <a:avLst/>
          </a:prstGeom>
          <a:ln>
            <a:solidFill>
              <a:schemeClr val="tx1"/>
            </a:solidFill>
          </a:ln>
        </p:spPr>
      </p:pic>
      <p:pic>
        <p:nvPicPr>
          <p:cNvPr id="7" name="Picture 6">
            <a:extLst>
              <a:ext uri="{FF2B5EF4-FFF2-40B4-BE49-F238E27FC236}">
                <a16:creationId xmlns:a16="http://schemas.microsoft.com/office/drawing/2014/main" id="{3AB4639F-C1E9-438F-883A-40BEAC1008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4079" y="4133586"/>
            <a:ext cx="2588673" cy="2588673"/>
          </a:xfrm>
          <a:prstGeom prst="rect">
            <a:avLst/>
          </a:prstGeom>
        </p:spPr>
      </p:pic>
    </p:spTree>
    <p:extLst>
      <p:ext uri="{BB962C8B-B14F-4D97-AF65-F5344CB8AC3E}">
        <p14:creationId xmlns:p14="http://schemas.microsoft.com/office/powerpoint/2010/main" val="139488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01C31-CABF-473D-9810-2A405FEB0DDC}"/>
              </a:ext>
            </a:extLst>
          </p:cNvPr>
          <p:cNvSpPr>
            <a:spLocks noGrp="1"/>
          </p:cNvSpPr>
          <p:nvPr>
            <p:ph type="title"/>
          </p:nvPr>
        </p:nvSpPr>
        <p:spPr/>
        <p:txBody>
          <a:bodyPr>
            <a:normAutofit/>
          </a:bodyPr>
          <a:lstStyle/>
          <a:p>
            <a:r>
              <a:rPr lang="en-US" sz="3500" dirty="0">
                <a:latin typeface="Tahoma" panose="020B0604030504040204" pitchFamily="34" charset="0"/>
                <a:ea typeface="Tahoma" panose="020B0604030504040204" pitchFamily="34" charset="0"/>
                <a:cs typeface="Tahoma" panose="020B0604030504040204" pitchFamily="34" charset="0"/>
              </a:rPr>
              <a:t>Results and Discussion</a:t>
            </a:r>
            <a:endParaRPr lang="en-US" sz="35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3AC620-F27D-4D3B-9EC4-85066818D0A4}"/>
                  </a:ext>
                </a:extLst>
              </p:cNvPr>
              <p:cNvSpPr>
                <a:spLocks noGrp="1"/>
              </p:cNvSpPr>
              <p:nvPr>
                <p:ph idx="1"/>
              </p:nvPr>
            </p:nvSpPr>
            <p:spPr>
              <a:xfrm>
                <a:off x="313510" y="1825625"/>
                <a:ext cx="4737461" cy="3652066"/>
              </a:xfrm>
            </p:spPr>
            <p:txBody>
              <a:bodyPr>
                <a:noAutofit/>
              </a:bodyPr>
              <a:lstStyle/>
              <a:p>
                <a:r>
                  <a:rPr lang="en-US" sz="2000" dirty="0">
                    <a:latin typeface="Tahoma" panose="020B0604030504040204" pitchFamily="34" charset="0"/>
                    <a:ea typeface="Tahoma" panose="020B0604030504040204" pitchFamily="34" charset="0"/>
                    <a:cs typeface="Tahoma" panose="020B0604030504040204" pitchFamily="34" charset="0"/>
                  </a:rPr>
                  <a:t>A more lenient (smaller) compression criterion value led to more pore space, a higher total surface area, and a higher number of pathways in the final image cubes and resulted in higher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𝑒𝑓𝑓</m:t>
                        </m:r>
                      </m:sub>
                      <m:sup>
                        <m:r>
                          <a:rPr lang="en-US" sz="2000" i="1">
                            <a:latin typeface="Cambria Math" panose="02040503050406030204" pitchFamily="18" charset="0"/>
                          </a:rPr>
                          <m:t>′</m:t>
                        </m:r>
                      </m:sup>
                    </m:sSubSup>
                  </m:oMath>
                </a14:m>
                <a:r>
                  <a:rPr lang="en-US" sz="2000" dirty="0">
                    <a:latin typeface="Tahoma" panose="020B0604030504040204" pitchFamily="34" charset="0"/>
                    <a:ea typeface="Tahoma" panose="020B0604030504040204" pitchFamily="34" charset="0"/>
                    <a:cs typeface="Tahoma" panose="020B0604030504040204" pitchFamily="34" charset="0"/>
                  </a:rPr>
                  <a:t> and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𝑒𝑓𝑓</m:t>
                        </m:r>
                      </m:sub>
                      <m:sup>
                        <m:r>
                          <a:rPr lang="en-US" sz="2000" i="1">
                            <a:latin typeface="Cambria Math" panose="02040503050406030204" pitchFamily="18" charset="0"/>
                          </a:rPr>
                          <m:t>′′</m:t>
                        </m:r>
                      </m:sup>
                    </m:sSubSup>
                  </m:oMath>
                </a14:m>
                <a:r>
                  <a:rPr lang="en-US" sz="2000" dirty="0">
                    <a:latin typeface="Tahoma" panose="020B0604030504040204" pitchFamily="34" charset="0"/>
                    <a:ea typeface="Tahoma" panose="020B0604030504040204" pitchFamily="34" charset="0"/>
                    <a:cs typeface="Tahoma" panose="020B0604030504040204" pitchFamily="34" charset="0"/>
                  </a:rPr>
                  <a:t> values</a:t>
                </a:r>
              </a:p>
              <a:p>
                <a:r>
                  <a:rPr lang="en-US" sz="2000" dirty="0">
                    <a:latin typeface="Tahoma" panose="020B0604030504040204" pitchFamily="34" charset="0"/>
                    <a:ea typeface="Tahoma" panose="020B0604030504040204" pitchFamily="34" charset="0"/>
                    <a:cs typeface="Tahoma" panose="020B0604030504040204" pitchFamily="34" charset="0"/>
                  </a:rPr>
                  <a:t>But, altering </a:t>
                </a:r>
                <a14:m>
                  <m:oMath xmlns:m="http://schemas.openxmlformats.org/officeDocument/2006/math">
                    <m:r>
                      <a:rPr lang="en-US" sz="2000" i="1">
                        <a:latin typeface="Cambria Math" panose="02040503050406030204" pitchFamily="18" charset="0"/>
                      </a:rPr>
                      <m:t>𝛬</m:t>
                    </m:r>
                  </m:oMath>
                </a14:m>
                <a:r>
                  <a:rPr lang="en-US" sz="2000" dirty="0">
                    <a:latin typeface="Tahoma" panose="020B0604030504040204" pitchFamily="34" charset="0"/>
                    <a:ea typeface="Tahoma" panose="020B0604030504040204" pitchFamily="34" charset="0"/>
                    <a:cs typeface="Tahoma" panose="020B0604030504040204" pitchFamily="34" charset="0"/>
                  </a:rPr>
                  <a:t> or </a:t>
                </a:r>
                <a14:m>
                  <m:oMath xmlns:m="http://schemas.openxmlformats.org/officeDocument/2006/math">
                    <m:r>
                      <a:rPr lang="en-US" sz="2000" i="1">
                        <a:latin typeface="Cambria Math" panose="02040503050406030204" pitchFamily="18" charset="0"/>
                      </a:rPr>
                      <m:t>𝑄</m:t>
                    </m:r>
                  </m:oMath>
                </a14:m>
                <a:r>
                  <a:rPr lang="en-US" sz="2000" dirty="0">
                    <a:latin typeface="Tahoma" panose="020B0604030504040204" pitchFamily="34" charset="0"/>
                    <a:ea typeface="Tahoma" panose="020B0604030504040204" pitchFamily="34" charset="0"/>
                    <a:cs typeface="Tahoma" panose="020B0604030504040204" pitchFamily="34" charset="0"/>
                  </a:rPr>
                  <a:t> had a greater impact on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𝑒𝑓𝑓</m:t>
                        </m:r>
                      </m:sub>
                      <m:sup>
                        <m:r>
                          <a:rPr lang="en-US" sz="2000" i="1">
                            <a:latin typeface="Cambria Math" panose="02040503050406030204" pitchFamily="18" charset="0"/>
                          </a:rPr>
                          <m:t>′′</m:t>
                        </m:r>
                      </m:sup>
                    </m:sSubSup>
                  </m:oMath>
                </a14:m>
                <a:r>
                  <a:rPr lang="en-US" sz="2000" dirty="0">
                    <a:latin typeface="Tahoma" panose="020B0604030504040204" pitchFamily="34" charset="0"/>
                    <a:ea typeface="Tahoma" panose="020B0604030504040204" pitchFamily="34" charset="0"/>
                    <a:cs typeface="Tahoma" panose="020B0604030504040204" pitchFamily="34" charset="0"/>
                  </a:rPr>
                  <a:t> simulation results than the compression criterion (and did not considerably impact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𝑒𝑓𝑓</m:t>
                        </m:r>
                      </m:sub>
                      <m:sup>
                        <m:r>
                          <a:rPr lang="en-US" sz="2000" i="1">
                            <a:latin typeface="Cambria Math" panose="02040503050406030204" pitchFamily="18" charset="0"/>
                          </a:rPr>
                          <m:t>′</m:t>
                        </m:r>
                      </m:sup>
                    </m:sSubSup>
                    <m:r>
                      <a:rPr lang="en-US" sz="2000" b="0" i="1" smtClean="0">
                        <a:latin typeface="Cambria Math" panose="02040503050406030204" pitchFamily="18" charset="0"/>
                      </a:rPr>
                      <m:t>)</m:t>
                    </m:r>
                  </m:oMath>
                </a14:m>
                <a:endParaRPr lang="en-US" sz="2000" dirty="0">
                  <a:latin typeface="Tahoma" panose="020B0604030504040204" pitchFamily="34" charset="0"/>
                  <a:ea typeface="Tahoma" panose="020B0604030504040204" pitchFamily="34" charset="0"/>
                  <a:cs typeface="Tahoma" panose="020B0604030504040204" pitchFamily="34" charset="0"/>
                </a:endParaRPr>
              </a:p>
              <a:p>
                <a:endParaRPr lang="en-US" sz="20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Content Placeholder 2">
                <a:extLst>
                  <a:ext uri="{FF2B5EF4-FFF2-40B4-BE49-F238E27FC236}">
                    <a16:creationId xmlns:a16="http://schemas.microsoft.com/office/drawing/2014/main" id="{603AC620-F27D-4D3B-9EC4-85066818D0A4}"/>
                  </a:ext>
                </a:extLst>
              </p:cNvPr>
              <p:cNvSpPr>
                <a:spLocks noGrp="1" noRot="1" noChangeAspect="1" noMove="1" noResize="1" noEditPoints="1" noAdjustHandles="1" noChangeArrowheads="1" noChangeShapeType="1" noTextEdit="1"/>
              </p:cNvSpPr>
              <p:nvPr>
                <p:ph idx="1"/>
              </p:nvPr>
            </p:nvSpPr>
            <p:spPr>
              <a:xfrm>
                <a:off x="313510" y="1825625"/>
                <a:ext cx="4737461" cy="3652066"/>
              </a:xfrm>
              <a:blipFill>
                <a:blip r:embed="rId2"/>
                <a:stretch>
                  <a:fillRect l="-1157" t="-1667" r="-295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2D7C618-184F-4823-853A-1DEFD83CAC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5082273"/>
            <a:ext cx="3857318" cy="1518249"/>
          </a:xfrm>
          <a:prstGeom prst="rect">
            <a:avLst/>
          </a:prstGeom>
        </p:spPr>
      </p:pic>
      <p:sp>
        <p:nvSpPr>
          <p:cNvPr id="5" name="Arrow: Right 4">
            <a:extLst>
              <a:ext uri="{FF2B5EF4-FFF2-40B4-BE49-F238E27FC236}">
                <a16:creationId xmlns:a16="http://schemas.microsoft.com/office/drawing/2014/main" id="{67A3E2A3-9937-42F9-9711-8A5FE45B8C09}"/>
              </a:ext>
            </a:extLst>
          </p:cNvPr>
          <p:cNvSpPr/>
          <p:nvPr/>
        </p:nvSpPr>
        <p:spPr>
          <a:xfrm>
            <a:off x="2399639" y="5484222"/>
            <a:ext cx="629729" cy="4011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072DE620-5ED7-4D65-8E18-712D340DB867}"/>
              </a:ext>
            </a:extLst>
          </p:cNvPr>
          <p:cNvPicPr>
            <a:picLocks noChangeAspect="1"/>
          </p:cNvPicPr>
          <p:nvPr/>
        </p:nvPicPr>
        <p:blipFill>
          <a:blip r:embed="rId4"/>
          <a:stretch>
            <a:fillRect/>
          </a:stretch>
        </p:blipFill>
        <p:spPr>
          <a:xfrm>
            <a:off x="5430087" y="118904"/>
            <a:ext cx="3577599" cy="6358507"/>
          </a:xfrm>
          <a:prstGeom prst="rect">
            <a:avLst/>
          </a:prstGeom>
          <a:ln>
            <a:solidFill>
              <a:schemeClr val="tx1"/>
            </a:solidFill>
          </a:ln>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F12A2F6-4A67-4A2F-ABCE-F20C3DB43677}"/>
                  </a:ext>
                </a:extLst>
              </p:cNvPr>
              <p:cNvSpPr txBox="1"/>
              <p:nvPr/>
            </p:nvSpPr>
            <p:spPr>
              <a:xfrm>
                <a:off x="5430087" y="6600522"/>
                <a:ext cx="3577599" cy="246221"/>
              </a:xfrm>
              <a:prstGeom prst="rect">
                <a:avLst/>
              </a:prstGeom>
              <a:noFill/>
            </p:spPr>
            <p:txBody>
              <a:bodyPr wrap="square" rtlCol="0">
                <a:spAutoFit/>
              </a:bodyPr>
              <a:lstStyle/>
              <a:p>
                <a:r>
                  <a:rPr lang="en-US" sz="1000" dirty="0">
                    <a:latin typeface="Tahoma" panose="020B0604030504040204" pitchFamily="34" charset="0"/>
                    <a:ea typeface="Tahoma" panose="020B0604030504040204" pitchFamily="34" charset="0"/>
                    <a:cs typeface="Tahoma" panose="020B0604030504040204" pitchFamily="34" charset="0"/>
                  </a:rPr>
                  <a:t>Trial A to B: decrease in compression criterion, increase in </a:t>
                </a:r>
                <a14:m>
                  <m:oMath xmlns:m="http://schemas.openxmlformats.org/officeDocument/2006/math">
                    <m:r>
                      <a:rPr lang="en-US" sz="1000" i="1">
                        <a:latin typeface="Cambria Math" panose="02040503050406030204" pitchFamily="18" charset="0"/>
                      </a:rPr>
                      <m:t>𝛬</m:t>
                    </m:r>
                  </m:oMath>
                </a14:m>
                <a:endParaRPr lang="en-US" sz="10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TextBox 8">
                <a:extLst>
                  <a:ext uri="{FF2B5EF4-FFF2-40B4-BE49-F238E27FC236}">
                    <a16:creationId xmlns:a16="http://schemas.microsoft.com/office/drawing/2014/main" id="{8F12A2F6-4A67-4A2F-ABCE-F20C3DB43677}"/>
                  </a:ext>
                </a:extLst>
              </p:cNvPr>
              <p:cNvSpPr txBox="1">
                <a:spLocks noRot="1" noChangeAspect="1" noMove="1" noResize="1" noEditPoints="1" noAdjustHandles="1" noChangeArrowheads="1" noChangeShapeType="1" noTextEdit="1"/>
              </p:cNvSpPr>
              <p:nvPr/>
            </p:nvSpPr>
            <p:spPr>
              <a:xfrm>
                <a:off x="5430087" y="6600522"/>
                <a:ext cx="3577599" cy="246221"/>
              </a:xfrm>
              <a:prstGeom prst="rect">
                <a:avLst/>
              </a:prstGeom>
              <a:blipFill>
                <a:blip r:embed="rId5"/>
                <a:stretch>
                  <a:fillRect b="-10000"/>
                </a:stretch>
              </a:blipFill>
            </p:spPr>
            <p:txBody>
              <a:bodyPr/>
              <a:lstStyle/>
              <a:p>
                <a:r>
                  <a:rPr lang="en-US">
                    <a:noFill/>
                  </a:rPr>
                  <a:t> </a:t>
                </a:r>
              </a:p>
            </p:txBody>
          </p:sp>
        </mc:Fallback>
      </mc:AlternateContent>
    </p:spTree>
    <p:extLst>
      <p:ext uri="{BB962C8B-B14F-4D97-AF65-F5344CB8AC3E}">
        <p14:creationId xmlns:p14="http://schemas.microsoft.com/office/powerpoint/2010/main" val="2110720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1A9D4-5F54-42D2-B6F8-AA1E791E80E2}"/>
              </a:ext>
            </a:extLst>
          </p:cNvPr>
          <p:cNvSpPr>
            <a:spLocks noGrp="1"/>
          </p:cNvSpPr>
          <p:nvPr>
            <p:ph type="title"/>
          </p:nvPr>
        </p:nvSpPr>
        <p:spPr/>
        <p:txBody>
          <a:bodyPr>
            <a:normAutofit/>
          </a:bodyPr>
          <a:lstStyle/>
          <a:p>
            <a:r>
              <a:rPr lang="en-US" sz="3500" dirty="0">
                <a:latin typeface="Tahoma" panose="020B0604030504040204" pitchFamily="34" charset="0"/>
                <a:ea typeface="Tahoma" panose="020B0604030504040204" pitchFamily="34" charset="0"/>
                <a:cs typeface="Tahoma" panose="020B0604030504040204" pitchFamily="34" charset="0"/>
              </a:rPr>
              <a:t>Results and Discussion</a:t>
            </a:r>
            <a:endParaRPr lang="en-US" sz="35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C26824-AF49-4C8D-A45C-1668751233CE}"/>
                  </a:ext>
                </a:extLst>
              </p:cNvPr>
              <p:cNvSpPr>
                <a:spLocks noGrp="1"/>
              </p:cNvSpPr>
              <p:nvPr>
                <p:ph idx="1"/>
              </p:nvPr>
            </p:nvSpPr>
            <p:spPr>
              <a:xfrm>
                <a:off x="383178" y="1825625"/>
                <a:ext cx="4807132" cy="4305209"/>
              </a:xfrm>
            </p:spPr>
            <p:txBody>
              <a:bodyPr>
                <a:noAutofit/>
              </a:bodyPr>
              <a:lstStyle/>
              <a:p>
                <a:r>
                  <a:rPr lang="en-US" sz="2500" dirty="0">
                    <a:latin typeface="Tahoma" panose="020B0604030504040204" pitchFamily="34" charset="0"/>
                    <a:ea typeface="Tahoma" panose="020B0604030504040204" pitchFamily="34" charset="0"/>
                    <a:cs typeface="Tahoma" panose="020B0604030504040204" pitchFamily="34" charset="0"/>
                  </a:rPr>
                  <a:t>A smaller </a:t>
                </a:r>
                <a14:m>
                  <m:oMath xmlns:m="http://schemas.openxmlformats.org/officeDocument/2006/math">
                    <m:r>
                      <a:rPr lang="en-US" sz="2500" i="1">
                        <a:latin typeface="Cambria Math" panose="02040503050406030204" pitchFamily="18" charset="0"/>
                      </a:rPr>
                      <m:t>𝛬</m:t>
                    </m:r>
                  </m:oMath>
                </a14:m>
                <a:r>
                  <a:rPr lang="en-US" sz="2500" dirty="0">
                    <a:latin typeface="Tahoma" panose="020B0604030504040204" pitchFamily="34" charset="0"/>
                    <a:ea typeface="Tahoma" panose="020B0604030504040204" pitchFamily="34" charset="0"/>
                    <a:cs typeface="Tahoma" panose="020B0604030504040204" pitchFamily="34" charset="0"/>
                  </a:rPr>
                  <a:t> should translate to a larger induced complex conductivity. This inverse relationship exists because smaller pores represent samples with a rougher texture and a higher surface area (</a:t>
                </a:r>
                <a:r>
                  <a:rPr lang="en-US" sz="2500" dirty="0" err="1">
                    <a:latin typeface="Tahoma" panose="020B0604030504040204" pitchFamily="34" charset="0"/>
                    <a:ea typeface="Tahoma" panose="020B0604030504040204" pitchFamily="34" charset="0"/>
                    <a:cs typeface="Tahoma" panose="020B0604030504040204" pitchFamily="34" charset="0"/>
                  </a:rPr>
                  <a:t>Revil</a:t>
                </a:r>
                <a:r>
                  <a:rPr lang="en-US" sz="2500" dirty="0">
                    <a:latin typeface="Tahoma" panose="020B0604030504040204" pitchFamily="34" charset="0"/>
                    <a:ea typeface="Tahoma" panose="020B0604030504040204" pitchFamily="34" charset="0"/>
                    <a:cs typeface="Tahoma" panose="020B0604030504040204" pitchFamily="34" charset="0"/>
                  </a:rPr>
                  <a:t>, </a:t>
                </a:r>
                <a:r>
                  <a:rPr lang="en-US" sz="2500" dirty="0" err="1">
                    <a:latin typeface="Tahoma" panose="020B0604030504040204" pitchFamily="34" charset="0"/>
                    <a:ea typeface="Tahoma" panose="020B0604030504040204" pitchFamily="34" charset="0"/>
                    <a:cs typeface="Tahoma" panose="020B0604030504040204" pitchFamily="34" charset="0"/>
                  </a:rPr>
                  <a:t>Florsch</a:t>
                </a:r>
                <a:r>
                  <a:rPr lang="en-US" sz="2500" dirty="0">
                    <a:latin typeface="Tahoma" panose="020B0604030504040204" pitchFamily="34" charset="0"/>
                    <a:ea typeface="Tahoma" panose="020B0604030504040204" pitchFamily="34" charset="0"/>
                    <a:cs typeface="Tahoma" panose="020B0604030504040204" pitchFamily="34" charset="0"/>
                  </a:rPr>
                  <a:t>, and </a:t>
                </a:r>
                <a:r>
                  <a:rPr lang="en-US" sz="2500" dirty="0" err="1">
                    <a:latin typeface="Tahoma" panose="020B0604030504040204" pitchFamily="34" charset="0"/>
                    <a:ea typeface="Tahoma" panose="020B0604030504040204" pitchFamily="34" charset="0"/>
                    <a:cs typeface="Tahoma" panose="020B0604030504040204" pitchFamily="34" charset="0"/>
                  </a:rPr>
                  <a:t>Camerlynck</a:t>
                </a:r>
                <a:r>
                  <a:rPr lang="en-US" sz="2500" dirty="0">
                    <a:latin typeface="Tahoma" panose="020B0604030504040204" pitchFamily="34" charset="0"/>
                    <a:ea typeface="Tahoma" panose="020B0604030504040204" pitchFamily="34" charset="0"/>
                    <a:cs typeface="Tahoma" panose="020B0604030504040204" pitchFamily="34" charset="0"/>
                  </a:rPr>
                  <a:t> 2014) leading to more surface sites where charge build up can occur. In the simulation results, we see </a:t>
                </a:r>
                <a14:m>
                  <m:oMath xmlns:m="http://schemas.openxmlformats.org/officeDocument/2006/math">
                    <m:sSubSup>
                      <m:sSubSupPr>
                        <m:ctrlPr>
                          <a:rPr lang="en-US" sz="2500" i="1">
                            <a:latin typeface="Cambria Math" panose="02040503050406030204" pitchFamily="18" charset="0"/>
                          </a:rPr>
                        </m:ctrlPr>
                      </m:sSubSupPr>
                      <m:e>
                        <m:r>
                          <a:rPr lang="en-US" sz="2500" i="1">
                            <a:latin typeface="Cambria Math" panose="02040503050406030204" pitchFamily="18" charset="0"/>
                          </a:rPr>
                          <m:t>𝜎</m:t>
                        </m:r>
                      </m:e>
                      <m:sub>
                        <m:r>
                          <a:rPr lang="en-US" sz="2500" i="1">
                            <a:latin typeface="Cambria Math" panose="02040503050406030204" pitchFamily="18" charset="0"/>
                          </a:rPr>
                          <m:t>𝑒𝑓𝑓</m:t>
                        </m:r>
                      </m:sub>
                      <m:sup>
                        <m:r>
                          <a:rPr lang="en-US" sz="2500" i="1">
                            <a:latin typeface="Cambria Math" panose="02040503050406030204" pitchFamily="18" charset="0"/>
                          </a:rPr>
                          <m:t>′′</m:t>
                        </m:r>
                      </m:sup>
                    </m:sSubSup>
                  </m:oMath>
                </a14:m>
                <a:r>
                  <a:rPr lang="en-US" sz="2500" dirty="0">
                    <a:latin typeface="Tahoma" panose="020B0604030504040204" pitchFamily="34" charset="0"/>
                    <a:ea typeface="Tahoma" panose="020B0604030504040204" pitchFamily="34" charset="0"/>
                    <a:cs typeface="Tahoma" panose="020B0604030504040204" pitchFamily="34" charset="0"/>
                  </a:rPr>
                  <a:t> increased as </a:t>
                </a:r>
                <a14:m>
                  <m:oMath xmlns:m="http://schemas.openxmlformats.org/officeDocument/2006/math">
                    <m:r>
                      <a:rPr lang="en-US" sz="2500" i="1">
                        <a:latin typeface="Cambria Math" panose="02040503050406030204" pitchFamily="18" charset="0"/>
                      </a:rPr>
                      <m:t>𝛬</m:t>
                    </m:r>
                  </m:oMath>
                </a14:m>
                <a:r>
                  <a:rPr lang="en-US" sz="2500" dirty="0">
                    <a:latin typeface="Tahoma" panose="020B0604030504040204" pitchFamily="34" charset="0"/>
                    <a:ea typeface="Tahoma" panose="020B0604030504040204" pitchFamily="34" charset="0"/>
                    <a:cs typeface="Tahoma" panose="020B0604030504040204" pitchFamily="34" charset="0"/>
                  </a:rPr>
                  <a:t> decreased, as expected.</a:t>
                </a:r>
              </a:p>
            </p:txBody>
          </p:sp>
        </mc:Choice>
        <mc:Fallback xmlns="">
          <p:sp>
            <p:nvSpPr>
              <p:cNvPr id="3" name="Content Placeholder 2">
                <a:extLst>
                  <a:ext uri="{FF2B5EF4-FFF2-40B4-BE49-F238E27FC236}">
                    <a16:creationId xmlns:a16="http://schemas.microsoft.com/office/drawing/2014/main" id="{ABC26824-AF49-4C8D-A45C-1668751233CE}"/>
                  </a:ext>
                </a:extLst>
              </p:cNvPr>
              <p:cNvSpPr>
                <a:spLocks noGrp="1" noRot="1" noChangeAspect="1" noMove="1" noResize="1" noEditPoints="1" noAdjustHandles="1" noChangeArrowheads="1" noChangeShapeType="1" noTextEdit="1"/>
              </p:cNvSpPr>
              <p:nvPr>
                <p:ph idx="1"/>
              </p:nvPr>
            </p:nvSpPr>
            <p:spPr>
              <a:xfrm>
                <a:off x="383178" y="1825625"/>
                <a:ext cx="4807132" cy="4305209"/>
              </a:xfrm>
              <a:blipFill>
                <a:blip r:embed="rId2"/>
                <a:stretch>
                  <a:fillRect l="-1904" t="-1980" r="-4061" b="-1782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310DB8CF-044A-40B9-AE55-03331AB13711}"/>
              </a:ext>
            </a:extLst>
          </p:cNvPr>
          <p:cNvPicPr>
            <a:picLocks noChangeAspect="1"/>
          </p:cNvPicPr>
          <p:nvPr/>
        </p:nvPicPr>
        <p:blipFill>
          <a:blip r:embed="rId3"/>
          <a:stretch>
            <a:fillRect/>
          </a:stretch>
        </p:blipFill>
        <p:spPr>
          <a:xfrm>
            <a:off x="5508485" y="134368"/>
            <a:ext cx="3472376" cy="6358506"/>
          </a:xfrm>
          <a:prstGeom prst="rect">
            <a:avLst/>
          </a:prstGeom>
          <a:ln>
            <a:solidFill>
              <a:schemeClr val="tx1"/>
            </a:solidFill>
          </a:ln>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37AB74C-D279-4031-9786-6E73B9598967}"/>
                  </a:ext>
                </a:extLst>
              </p:cNvPr>
              <p:cNvSpPr txBox="1"/>
              <p:nvPr/>
            </p:nvSpPr>
            <p:spPr>
              <a:xfrm>
                <a:off x="6264958" y="6600521"/>
                <a:ext cx="1959429" cy="246221"/>
              </a:xfrm>
              <a:prstGeom prst="rect">
                <a:avLst/>
              </a:prstGeom>
              <a:noFill/>
            </p:spPr>
            <p:txBody>
              <a:bodyPr wrap="square" rtlCol="0">
                <a:spAutoFit/>
              </a:bodyPr>
              <a:lstStyle/>
              <a:p>
                <a:r>
                  <a:rPr lang="en-US" sz="1000" dirty="0">
                    <a:latin typeface="Tahoma" panose="020B0604030504040204" pitchFamily="34" charset="0"/>
                    <a:ea typeface="Tahoma" panose="020B0604030504040204" pitchFamily="34" charset="0"/>
                    <a:cs typeface="Tahoma" panose="020B0604030504040204" pitchFamily="34" charset="0"/>
                  </a:rPr>
                  <a:t>Trial A to B to C: decrease in </a:t>
                </a:r>
                <a14:m>
                  <m:oMath xmlns:m="http://schemas.openxmlformats.org/officeDocument/2006/math">
                    <m:r>
                      <a:rPr lang="en-US" sz="1000" i="1">
                        <a:latin typeface="Cambria Math" panose="02040503050406030204" pitchFamily="18" charset="0"/>
                      </a:rPr>
                      <m:t>𝛬</m:t>
                    </m:r>
                  </m:oMath>
                </a14:m>
                <a:endParaRPr lang="en-US" sz="10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6" name="TextBox 5">
                <a:extLst>
                  <a:ext uri="{FF2B5EF4-FFF2-40B4-BE49-F238E27FC236}">
                    <a16:creationId xmlns:a16="http://schemas.microsoft.com/office/drawing/2014/main" id="{037AB74C-D279-4031-9786-6E73B9598967}"/>
                  </a:ext>
                </a:extLst>
              </p:cNvPr>
              <p:cNvSpPr txBox="1">
                <a:spLocks noRot="1" noChangeAspect="1" noMove="1" noResize="1" noEditPoints="1" noAdjustHandles="1" noChangeArrowheads="1" noChangeShapeType="1" noTextEdit="1"/>
              </p:cNvSpPr>
              <p:nvPr/>
            </p:nvSpPr>
            <p:spPr>
              <a:xfrm>
                <a:off x="6264958" y="6600521"/>
                <a:ext cx="1959429" cy="246221"/>
              </a:xfrm>
              <a:prstGeom prst="rect">
                <a:avLst/>
              </a:prstGeom>
              <a:blipFill>
                <a:blip r:embed="rId4"/>
                <a:stretch>
                  <a:fillRect b="-10000"/>
                </a:stretch>
              </a:blipFill>
            </p:spPr>
            <p:txBody>
              <a:bodyPr/>
              <a:lstStyle/>
              <a:p>
                <a:r>
                  <a:rPr lang="en-US">
                    <a:noFill/>
                  </a:rPr>
                  <a:t> </a:t>
                </a:r>
              </a:p>
            </p:txBody>
          </p:sp>
        </mc:Fallback>
      </mc:AlternateContent>
    </p:spTree>
    <p:extLst>
      <p:ext uri="{BB962C8B-B14F-4D97-AF65-F5344CB8AC3E}">
        <p14:creationId xmlns:p14="http://schemas.microsoft.com/office/powerpoint/2010/main" val="732244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1A9D4-5F54-42D2-B6F8-AA1E791E80E2}"/>
              </a:ext>
            </a:extLst>
          </p:cNvPr>
          <p:cNvSpPr>
            <a:spLocks noGrp="1"/>
          </p:cNvSpPr>
          <p:nvPr>
            <p:ph type="title"/>
          </p:nvPr>
        </p:nvSpPr>
        <p:spPr/>
        <p:txBody>
          <a:bodyPr>
            <a:normAutofit/>
          </a:bodyPr>
          <a:lstStyle/>
          <a:p>
            <a:r>
              <a:rPr lang="en-US" sz="3500" dirty="0">
                <a:latin typeface="Tahoma" panose="020B0604030504040204" pitchFamily="34" charset="0"/>
                <a:ea typeface="Tahoma" panose="020B0604030504040204" pitchFamily="34" charset="0"/>
                <a:cs typeface="Tahoma" panose="020B0604030504040204" pitchFamily="34" charset="0"/>
              </a:rPr>
              <a:t>Results and Discussion</a:t>
            </a:r>
            <a:endParaRPr lang="en-US" sz="35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C26824-AF49-4C8D-A45C-1668751233CE}"/>
                  </a:ext>
                </a:extLst>
              </p:cNvPr>
              <p:cNvSpPr>
                <a:spLocks noGrp="1"/>
              </p:cNvSpPr>
              <p:nvPr>
                <p:ph idx="1"/>
              </p:nvPr>
            </p:nvSpPr>
            <p:spPr>
              <a:xfrm>
                <a:off x="383178" y="1825625"/>
                <a:ext cx="4807132" cy="4305209"/>
              </a:xfrm>
            </p:spPr>
            <p:txBody>
              <a:bodyPr>
                <a:noAutofit/>
              </a:bodyPr>
              <a:lstStyle/>
              <a:p>
                <a:r>
                  <a:rPr lang="en-US" sz="2500" dirty="0">
                    <a:latin typeface="Tahoma" panose="020B0604030504040204" pitchFamily="34" charset="0"/>
                    <a:ea typeface="Tahoma" panose="020B0604030504040204" pitchFamily="34" charset="0"/>
                    <a:cs typeface="Tahoma" panose="020B0604030504040204" pitchFamily="34" charset="0"/>
                  </a:rPr>
                  <a:t>A higher </a:t>
                </a:r>
                <a14:m>
                  <m:oMath xmlns:m="http://schemas.openxmlformats.org/officeDocument/2006/math">
                    <m:r>
                      <a:rPr lang="en-US" sz="2500" i="1">
                        <a:latin typeface="Cambria Math" panose="02040503050406030204" pitchFamily="18" charset="0"/>
                      </a:rPr>
                      <m:t>𝑄</m:t>
                    </m:r>
                  </m:oMath>
                </a14:m>
                <a:r>
                  <a:rPr lang="en-US" sz="2500" dirty="0">
                    <a:latin typeface="Tahoma" panose="020B0604030504040204" pitchFamily="34" charset="0"/>
                    <a:ea typeface="Tahoma" panose="020B0604030504040204" pitchFamily="34" charset="0"/>
                    <a:cs typeface="Tahoma" panose="020B0604030504040204" pitchFamily="34" charset="0"/>
                  </a:rPr>
                  <a:t> implies a greater number of surface charge sites, which enhances electrochemical interactions at the solid-fluid interface and strengthens the polarization effect (</a:t>
                </a:r>
                <a:r>
                  <a:rPr lang="en-US" sz="2500" dirty="0" err="1">
                    <a:latin typeface="Tahoma" panose="020B0604030504040204" pitchFamily="34" charset="0"/>
                    <a:ea typeface="Tahoma" panose="020B0604030504040204" pitchFamily="34" charset="0"/>
                    <a:cs typeface="Tahoma" panose="020B0604030504040204" pitchFamily="34" charset="0"/>
                  </a:rPr>
                  <a:t>Niu</a:t>
                </a:r>
                <a:r>
                  <a:rPr lang="en-US" sz="2500" dirty="0">
                    <a:latin typeface="Tahoma" panose="020B0604030504040204" pitchFamily="34" charset="0"/>
                    <a:ea typeface="Tahoma" panose="020B0604030504040204" pitchFamily="34" charset="0"/>
                    <a:cs typeface="Tahoma" panose="020B0604030504040204" pitchFamily="34" charset="0"/>
                  </a:rPr>
                  <a:t>, </a:t>
                </a:r>
                <a:r>
                  <a:rPr lang="en-US" sz="2500" dirty="0" err="1">
                    <a:latin typeface="Tahoma" panose="020B0604030504040204" pitchFamily="34" charset="0"/>
                    <a:ea typeface="Tahoma" panose="020B0604030504040204" pitchFamily="34" charset="0"/>
                    <a:cs typeface="Tahoma" panose="020B0604030504040204" pitchFamily="34" charset="0"/>
                  </a:rPr>
                  <a:t>Revil</a:t>
                </a:r>
                <a:r>
                  <a:rPr lang="en-US" sz="2500" dirty="0">
                    <a:latin typeface="Tahoma" panose="020B0604030504040204" pitchFamily="34" charset="0"/>
                    <a:ea typeface="Tahoma" panose="020B0604030504040204" pitchFamily="34" charset="0"/>
                    <a:cs typeface="Tahoma" panose="020B0604030504040204" pitchFamily="34" charset="0"/>
                  </a:rPr>
                  <a:t>, and </a:t>
                </a:r>
                <a:r>
                  <a:rPr lang="en-US" sz="2500" dirty="0" err="1">
                    <a:latin typeface="Tahoma" panose="020B0604030504040204" pitchFamily="34" charset="0"/>
                    <a:ea typeface="Tahoma" panose="020B0604030504040204" pitchFamily="34" charset="0"/>
                    <a:cs typeface="Tahoma" panose="020B0604030504040204" pitchFamily="34" charset="0"/>
                  </a:rPr>
                  <a:t>Saidian</a:t>
                </a:r>
                <a:r>
                  <a:rPr lang="en-US" sz="2500" dirty="0">
                    <a:latin typeface="Tahoma" panose="020B0604030504040204" pitchFamily="34" charset="0"/>
                    <a:ea typeface="Tahoma" panose="020B0604030504040204" pitchFamily="34" charset="0"/>
                    <a:cs typeface="Tahoma" panose="020B0604030504040204" pitchFamily="34" charset="0"/>
                  </a:rPr>
                  <a:t> 2016, </a:t>
                </a:r>
                <a:r>
                  <a:rPr lang="en-US" sz="2500" dirty="0" err="1">
                    <a:latin typeface="Tahoma" panose="020B0604030504040204" pitchFamily="34" charset="0"/>
                    <a:ea typeface="Tahoma" panose="020B0604030504040204" pitchFamily="34" charset="0"/>
                    <a:cs typeface="Tahoma" panose="020B0604030504040204" pitchFamily="34" charset="0"/>
                  </a:rPr>
                  <a:t>Niu</a:t>
                </a:r>
                <a:r>
                  <a:rPr lang="en-US" sz="2500" dirty="0">
                    <a:latin typeface="Tahoma" panose="020B0604030504040204" pitchFamily="34" charset="0"/>
                    <a:ea typeface="Tahoma" panose="020B0604030504040204" pitchFamily="34" charset="0"/>
                    <a:cs typeface="Tahoma" panose="020B0604030504040204" pitchFamily="34" charset="0"/>
                  </a:rPr>
                  <a:t> and </a:t>
                </a:r>
                <a:r>
                  <a:rPr lang="en-US" sz="2500" dirty="0" err="1">
                    <a:latin typeface="Tahoma" panose="020B0604030504040204" pitchFamily="34" charset="0"/>
                    <a:ea typeface="Tahoma" panose="020B0604030504040204" pitchFamily="34" charset="0"/>
                    <a:cs typeface="Tahoma" panose="020B0604030504040204" pitchFamily="34" charset="0"/>
                  </a:rPr>
                  <a:t>Revil</a:t>
                </a:r>
                <a:r>
                  <a:rPr lang="en-US" sz="2500" dirty="0">
                    <a:latin typeface="Tahoma" panose="020B0604030504040204" pitchFamily="34" charset="0"/>
                    <a:ea typeface="Tahoma" panose="020B0604030504040204" pitchFamily="34" charset="0"/>
                    <a:cs typeface="Tahoma" panose="020B0604030504040204" pitchFamily="34" charset="0"/>
                  </a:rPr>
                  <a:t> 2015). As expected, increasing </a:t>
                </a:r>
                <a14:m>
                  <m:oMath xmlns:m="http://schemas.openxmlformats.org/officeDocument/2006/math">
                    <m:r>
                      <a:rPr lang="en-US" sz="2500" i="1">
                        <a:latin typeface="Cambria Math" panose="02040503050406030204" pitchFamily="18" charset="0"/>
                      </a:rPr>
                      <m:t>𝑄</m:t>
                    </m:r>
                  </m:oMath>
                </a14:m>
                <a:r>
                  <a:rPr lang="en-US" sz="2500" dirty="0">
                    <a:latin typeface="Tahoma" panose="020B0604030504040204" pitchFamily="34" charset="0"/>
                    <a:ea typeface="Tahoma" panose="020B0604030504040204" pitchFamily="34" charset="0"/>
                    <a:cs typeface="Tahoma" panose="020B0604030504040204" pitchFamily="34" charset="0"/>
                  </a:rPr>
                  <a:t> resulted in higher values for both </a:t>
                </a:r>
                <a14:m>
                  <m:oMath xmlns:m="http://schemas.openxmlformats.org/officeDocument/2006/math">
                    <m:sSubSup>
                      <m:sSubSupPr>
                        <m:ctrlPr>
                          <a:rPr lang="en-US" sz="2500" i="1">
                            <a:latin typeface="Cambria Math" panose="02040503050406030204" pitchFamily="18" charset="0"/>
                          </a:rPr>
                        </m:ctrlPr>
                      </m:sSubSupPr>
                      <m:e>
                        <m:r>
                          <a:rPr lang="en-US" sz="2500" i="1">
                            <a:latin typeface="Cambria Math" panose="02040503050406030204" pitchFamily="18" charset="0"/>
                          </a:rPr>
                          <m:t>𝜎</m:t>
                        </m:r>
                      </m:e>
                      <m:sub>
                        <m:r>
                          <a:rPr lang="en-US" sz="2500" i="1">
                            <a:latin typeface="Cambria Math" panose="02040503050406030204" pitchFamily="18" charset="0"/>
                          </a:rPr>
                          <m:t>𝑒𝑓𝑓</m:t>
                        </m:r>
                      </m:sub>
                      <m:sup>
                        <m:r>
                          <a:rPr lang="en-US" sz="2500" i="1">
                            <a:latin typeface="Cambria Math" panose="02040503050406030204" pitchFamily="18" charset="0"/>
                          </a:rPr>
                          <m:t>′</m:t>
                        </m:r>
                      </m:sup>
                    </m:sSubSup>
                  </m:oMath>
                </a14:m>
                <a:r>
                  <a:rPr lang="en-US" sz="2500" dirty="0">
                    <a:latin typeface="Tahoma" panose="020B0604030504040204" pitchFamily="34" charset="0"/>
                    <a:ea typeface="Tahoma" panose="020B0604030504040204" pitchFamily="34" charset="0"/>
                    <a:cs typeface="Tahoma" panose="020B0604030504040204" pitchFamily="34" charset="0"/>
                  </a:rPr>
                  <a:t> and </a:t>
                </a:r>
                <a14:m>
                  <m:oMath xmlns:m="http://schemas.openxmlformats.org/officeDocument/2006/math">
                    <m:sSubSup>
                      <m:sSubSupPr>
                        <m:ctrlPr>
                          <a:rPr lang="en-US" sz="2500" i="1">
                            <a:latin typeface="Cambria Math" panose="02040503050406030204" pitchFamily="18" charset="0"/>
                          </a:rPr>
                        </m:ctrlPr>
                      </m:sSubSupPr>
                      <m:e>
                        <m:r>
                          <a:rPr lang="en-US" sz="2500" i="1">
                            <a:latin typeface="Cambria Math" panose="02040503050406030204" pitchFamily="18" charset="0"/>
                          </a:rPr>
                          <m:t>𝜎</m:t>
                        </m:r>
                      </m:e>
                      <m:sub>
                        <m:r>
                          <a:rPr lang="en-US" sz="2500" i="1">
                            <a:latin typeface="Cambria Math" panose="02040503050406030204" pitchFamily="18" charset="0"/>
                          </a:rPr>
                          <m:t>𝑒𝑓𝑓</m:t>
                        </m:r>
                      </m:sub>
                      <m:sup>
                        <m:r>
                          <a:rPr lang="en-US" sz="2500" i="1">
                            <a:latin typeface="Cambria Math" panose="02040503050406030204" pitchFamily="18" charset="0"/>
                          </a:rPr>
                          <m:t>′′</m:t>
                        </m:r>
                      </m:sup>
                    </m:sSubSup>
                  </m:oMath>
                </a14:m>
                <a:r>
                  <a:rPr lang="en-US" sz="2500" dirty="0">
                    <a:latin typeface="Tahoma" panose="020B0604030504040204" pitchFamily="34" charset="0"/>
                    <a:ea typeface="Tahoma" panose="020B0604030504040204" pitchFamily="34" charset="0"/>
                    <a:cs typeface="Tahoma" panose="020B0604030504040204" pitchFamily="34" charset="0"/>
                  </a:rPr>
                  <a:t>, but a greater impact is seen to </a:t>
                </a:r>
                <a14:m>
                  <m:oMath xmlns:m="http://schemas.openxmlformats.org/officeDocument/2006/math">
                    <m:sSubSup>
                      <m:sSubSupPr>
                        <m:ctrlPr>
                          <a:rPr lang="en-US" sz="2500" i="1">
                            <a:latin typeface="Cambria Math" panose="02040503050406030204" pitchFamily="18" charset="0"/>
                          </a:rPr>
                        </m:ctrlPr>
                      </m:sSubSupPr>
                      <m:e>
                        <m:r>
                          <a:rPr lang="en-US" sz="2500" i="1">
                            <a:latin typeface="Cambria Math" panose="02040503050406030204" pitchFamily="18" charset="0"/>
                          </a:rPr>
                          <m:t>𝜎</m:t>
                        </m:r>
                      </m:e>
                      <m:sub>
                        <m:r>
                          <a:rPr lang="en-US" sz="2500" i="1">
                            <a:latin typeface="Cambria Math" panose="02040503050406030204" pitchFamily="18" charset="0"/>
                          </a:rPr>
                          <m:t>𝑒𝑓𝑓</m:t>
                        </m:r>
                      </m:sub>
                      <m:sup>
                        <m:r>
                          <a:rPr lang="en-US" sz="2500" i="1">
                            <a:latin typeface="Cambria Math" panose="02040503050406030204" pitchFamily="18" charset="0"/>
                          </a:rPr>
                          <m:t>′′</m:t>
                        </m:r>
                      </m:sup>
                    </m:sSubSup>
                  </m:oMath>
                </a14:m>
                <a:r>
                  <a:rPr lang="en-US" sz="2500"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 name="Content Placeholder 2">
                <a:extLst>
                  <a:ext uri="{FF2B5EF4-FFF2-40B4-BE49-F238E27FC236}">
                    <a16:creationId xmlns:a16="http://schemas.microsoft.com/office/drawing/2014/main" id="{ABC26824-AF49-4C8D-A45C-1668751233CE}"/>
                  </a:ext>
                </a:extLst>
              </p:cNvPr>
              <p:cNvSpPr>
                <a:spLocks noGrp="1" noRot="1" noChangeAspect="1" noMove="1" noResize="1" noEditPoints="1" noAdjustHandles="1" noChangeArrowheads="1" noChangeShapeType="1" noTextEdit="1"/>
              </p:cNvSpPr>
              <p:nvPr>
                <p:ph idx="1"/>
              </p:nvPr>
            </p:nvSpPr>
            <p:spPr>
              <a:xfrm>
                <a:off x="383178" y="1825625"/>
                <a:ext cx="4807132" cy="4305209"/>
              </a:xfrm>
              <a:blipFill>
                <a:blip r:embed="rId2"/>
                <a:stretch>
                  <a:fillRect l="-1904" t="-1980" r="-1269" b="-18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37AB74C-D279-4031-9786-6E73B9598967}"/>
                  </a:ext>
                </a:extLst>
              </p:cNvPr>
              <p:cNvSpPr txBox="1"/>
              <p:nvPr/>
            </p:nvSpPr>
            <p:spPr>
              <a:xfrm>
                <a:off x="6410036" y="6611779"/>
                <a:ext cx="1628503" cy="246221"/>
              </a:xfrm>
              <a:prstGeom prst="rect">
                <a:avLst/>
              </a:prstGeom>
              <a:noFill/>
            </p:spPr>
            <p:txBody>
              <a:bodyPr wrap="square" rtlCol="0">
                <a:spAutoFit/>
              </a:bodyPr>
              <a:lstStyle/>
              <a:p>
                <a:r>
                  <a:rPr lang="en-US" sz="1000" dirty="0">
                    <a:latin typeface="Tahoma" panose="020B0604030504040204" pitchFamily="34" charset="0"/>
                    <a:ea typeface="Tahoma" panose="020B0604030504040204" pitchFamily="34" charset="0"/>
                    <a:cs typeface="Tahoma" panose="020B0604030504040204" pitchFamily="34" charset="0"/>
                  </a:rPr>
                  <a:t>Trial A to B: increase in </a:t>
                </a:r>
                <a14:m>
                  <m:oMath xmlns:m="http://schemas.openxmlformats.org/officeDocument/2006/math">
                    <m:r>
                      <a:rPr lang="en-US" sz="1000" b="0" i="1" smtClean="0">
                        <a:latin typeface="Cambria Math" panose="02040503050406030204" pitchFamily="18" charset="0"/>
                      </a:rPr>
                      <m:t>𝑄</m:t>
                    </m:r>
                  </m:oMath>
                </a14:m>
                <a:endParaRPr lang="en-US" sz="10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6" name="TextBox 5">
                <a:extLst>
                  <a:ext uri="{FF2B5EF4-FFF2-40B4-BE49-F238E27FC236}">
                    <a16:creationId xmlns:a16="http://schemas.microsoft.com/office/drawing/2014/main" id="{037AB74C-D279-4031-9786-6E73B9598967}"/>
                  </a:ext>
                </a:extLst>
              </p:cNvPr>
              <p:cNvSpPr txBox="1">
                <a:spLocks noRot="1" noChangeAspect="1" noMove="1" noResize="1" noEditPoints="1" noAdjustHandles="1" noChangeArrowheads="1" noChangeShapeType="1" noTextEdit="1"/>
              </p:cNvSpPr>
              <p:nvPr/>
            </p:nvSpPr>
            <p:spPr>
              <a:xfrm>
                <a:off x="6410036" y="6611779"/>
                <a:ext cx="1628503" cy="246221"/>
              </a:xfrm>
              <a:prstGeom prst="rect">
                <a:avLst/>
              </a:prstGeom>
              <a:blipFill>
                <a:blip r:embed="rId3"/>
                <a:stretch>
                  <a:fillRect t="-2500" b="-1000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34F53EC0-5B69-438B-AD11-4D0C31526FC0}"/>
              </a:ext>
            </a:extLst>
          </p:cNvPr>
          <p:cNvPicPr>
            <a:picLocks noChangeAspect="1"/>
          </p:cNvPicPr>
          <p:nvPr/>
        </p:nvPicPr>
        <p:blipFill>
          <a:blip r:embed="rId4"/>
          <a:stretch>
            <a:fillRect/>
          </a:stretch>
        </p:blipFill>
        <p:spPr>
          <a:xfrm>
            <a:off x="5442857" y="137091"/>
            <a:ext cx="3562862" cy="6355783"/>
          </a:xfrm>
          <a:prstGeom prst="rect">
            <a:avLst/>
          </a:prstGeom>
          <a:ln>
            <a:solidFill>
              <a:schemeClr val="tx1"/>
            </a:solidFill>
          </a:ln>
        </p:spPr>
      </p:pic>
    </p:spTree>
    <p:extLst>
      <p:ext uri="{BB962C8B-B14F-4D97-AF65-F5344CB8AC3E}">
        <p14:creationId xmlns:p14="http://schemas.microsoft.com/office/powerpoint/2010/main" val="557819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327C8-38A4-4A33-9909-BBDA969E1B47}"/>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Conclusions</a:t>
            </a:r>
          </a:p>
        </p:txBody>
      </p:sp>
      <p:sp>
        <p:nvSpPr>
          <p:cNvPr id="3" name="Content Placeholder 2">
            <a:extLst>
              <a:ext uri="{FF2B5EF4-FFF2-40B4-BE49-F238E27FC236}">
                <a16:creationId xmlns:a16="http://schemas.microsoft.com/office/drawing/2014/main" id="{9B26A270-A74C-4731-83B7-34BDF699CEC0}"/>
              </a:ext>
            </a:extLst>
          </p:cNvPr>
          <p:cNvSpPr>
            <a:spLocks noGrp="1"/>
          </p:cNvSpPr>
          <p:nvPr>
            <p:ph idx="1"/>
          </p:nvPr>
        </p:nvSpPr>
        <p:spPr>
          <a:xfrm>
            <a:off x="313509" y="1532708"/>
            <a:ext cx="8543108" cy="5172891"/>
          </a:xfrm>
        </p:spPr>
        <p:txBody>
          <a:bodyPr>
            <a:noAutofit/>
          </a:bodyPr>
          <a:lstStyle/>
          <a:p>
            <a:r>
              <a:rPr lang="en-US" sz="1900" dirty="0">
                <a:latin typeface="Tahoma" panose="020B0604030504040204" pitchFamily="34" charset="0"/>
                <a:ea typeface="Tahoma" panose="020B0604030504040204" pitchFamily="34" charset="0"/>
                <a:cs typeface="Tahoma" panose="020B0604030504040204" pitchFamily="34" charset="0"/>
              </a:rPr>
              <a:t>The imaging and digital segmentation technique is important to consider, as it remains a challenge to capture interconnected </a:t>
            </a:r>
            <a:r>
              <a:rPr lang="en-US" sz="1900" dirty="0" err="1">
                <a:latin typeface="Tahoma" panose="020B0604030504040204" pitchFamily="34" charset="0"/>
                <a:ea typeface="Tahoma" panose="020B0604030504040204" pitchFamily="34" charset="0"/>
                <a:cs typeface="Tahoma" panose="020B0604030504040204" pitchFamily="34" charset="0"/>
              </a:rPr>
              <a:t>microporosity</a:t>
            </a:r>
            <a:r>
              <a:rPr lang="en-US" sz="1900" dirty="0">
                <a:latin typeface="Tahoma" panose="020B0604030504040204" pitchFamily="34" charset="0"/>
                <a:ea typeface="Tahoma" panose="020B0604030504040204" pitchFamily="34" charset="0"/>
                <a:cs typeface="Tahoma" panose="020B0604030504040204" pitchFamily="34" charset="0"/>
              </a:rPr>
              <a:t> due to the limits in micro-CT scanning resolutions and to build a digital microstructure that is representative of the real rock volume</a:t>
            </a:r>
          </a:p>
          <a:p>
            <a:r>
              <a:rPr lang="en-US" sz="1900" dirty="0">
                <a:latin typeface="Tahoma" panose="020B0604030504040204" pitchFamily="34" charset="0"/>
                <a:ea typeface="Tahoma" panose="020B0604030504040204" pitchFamily="34" charset="0"/>
                <a:cs typeface="Tahoma" panose="020B0604030504040204" pitchFamily="34" charset="0"/>
              </a:rPr>
              <a:t>Fundamental rock characteristics such as carbonate petrology, porosity, and most importantly connectivity play a large role in the complex conductivity predictions</a:t>
            </a:r>
          </a:p>
          <a:p>
            <a:r>
              <a:rPr lang="en-US" sz="1900" dirty="0">
                <a:latin typeface="Tahoma" panose="020B0604030504040204" pitchFamily="34" charset="0"/>
                <a:ea typeface="Tahoma" panose="020B0604030504040204" pitchFamily="34" charset="0"/>
                <a:cs typeface="Tahoma" panose="020B0604030504040204" pitchFamily="34" charset="0"/>
              </a:rPr>
              <a:t>Despite their heterogeneity, complex conductivity predictions through numerical simulations are feasible using previously established pore-scale electrical polarization models on digitally reconstructed carbonate rocks</a:t>
            </a:r>
          </a:p>
          <a:p>
            <a:r>
              <a:rPr lang="en-US" sz="1900" dirty="0">
                <a:latin typeface="Tahoma" panose="020B0604030504040204" pitchFamily="34" charset="0"/>
                <a:ea typeface="Tahoma" panose="020B0604030504040204" pitchFamily="34" charset="0"/>
                <a:cs typeface="Tahoma" panose="020B0604030504040204" pitchFamily="34" charset="0"/>
              </a:rPr>
              <a:t>Forward modeling investigations into pore scale parameters helped us understand how well our theoretical models can explain laboratory measurements</a:t>
            </a:r>
          </a:p>
          <a:p>
            <a:r>
              <a:rPr lang="en-US" sz="1900" dirty="0">
                <a:latin typeface="Tahoma" panose="020B0604030504040204" pitchFamily="34" charset="0"/>
                <a:ea typeface="Tahoma" panose="020B0604030504040204" pitchFamily="34" charset="0"/>
                <a:cs typeface="Tahoma" panose="020B0604030504040204" pitchFamily="34" charset="0"/>
              </a:rPr>
              <a:t>The use us imaging methods combined with laboratory MICP, SIP, and NMR gives us a more comprehensive understanding of complex carbonate rocks. Ultimately, this leads to improved petrophysical characterization of carbonate rocks for any reservoir or aquifer characterization or remediation project.</a:t>
            </a:r>
          </a:p>
        </p:txBody>
      </p:sp>
    </p:spTree>
    <p:extLst>
      <p:ext uri="{BB962C8B-B14F-4D97-AF65-F5344CB8AC3E}">
        <p14:creationId xmlns:p14="http://schemas.microsoft.com/office/powerpoint/2010/main" val="2684813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93247-E9ED-4F8E-AB2E-C28E23FCF413}"/>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Next Steps</a:t>
            </a:r>
            <a:endParaRPr lang="en-US" sz="3600" dirty="0"/>
          </a:p>
        </p:txBody>
      </p:sp>
      <p:sp>
        <p:nvSpPr>
          <p:cNvPr id="3" name="Content Placeholder 2">
            <a:extLst>
              <a:ext uri="{FF2B5EF4-FFF2-40B4-BE49-F238E27FC236}">
                <a16:creationId xmlns:a16="http://schemas.microsoft.com/office/drawing/2014/main" id="{7D97B9BE-D489-42B0-8BFC-D490A7C00D87}"/>
              </a:ext>
            </a:extLst>
          </p:cNvPr>
          <p:cNvSpPr>
            <a:spLocks noGrp="1"/>
          </p:cNvSpPr>
          <p:nvPr>
            <p:ph idx="1"/>
          </p:nvPr>
        </p:nvSpPr>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Incorporate membrane polarization into simulation model</a:t>
            </a:r>
          </a:p>
          <a:p>
            <a:r>
              <a:rPr lang="en-US" sz="2000" dirty="0">
                <a:latin typeface="Tahoma" panose="020B0604030504040204" pitchFamily="34" charset="0"/>
                <a:ea typeface="Tahoma" panose="020B0604030504040204" pitchFamily="34" charset="0"/>
                <a:cs typeface="Tahoma" panose="020B0604030504040204" pitchFamily="34" charset="0"/>
              </a:rPr>
              <a:t>Replace image-derived pore size information with MICP or NMR laboratory measurements</a:t>
            </a:r>
          </a:p>
          <a:p>
            <a:r>
              <a:rPr lang="en-US" sz="2000" dirty="0">
                <a:latin typeface="Tahoma" panose="020B0604030504040204" pitchFamily="34" charset="0"/>
                <a:ea typeface="Tahoma" panose="020B0604030504040204" pitchFamily="34" charset="0"/>
                <a:cs typeface="Tahoma" panose="020B0604030504040204" pitchFamily="34" charset="0"/>
              </a:rPr>
              <a:t>Incorporate data from other imaging methods such as FIB-SEM</a:t>
            </a:r>
          </a:p>
          <a:p>
            <a:r>
              <a:rPr lang="en-US" sz="2000" dirty="0">
                <a:latin typeface="Tahoma" panose="020B0604030504040204" pitchFamily="34" charset="0"/>
                <a:ea typeface="Tahoma" panose="020B0604030504040204" pitchFamily="34" charset="0"/>
                <a:cs typeface="Tahoma" panose="020B0604030504040204" pitchFamily="34" charset="0"/>
              </a:rPr>
              <a:t>Use more powerful computers to process more detailed image cubes</a:t>
            </a:r>
          </a:p>
          <a:p>
            <a:r>
              <a:rPr lang="en-US" sz="2000" dirty="0">
                <a:latin typeface="Tahoma" panose="020B0604030504040204" pitchFamily="34" charset="0"/>
                <a:ea typeface="Tahoma" panose="020B0604030504040204" pitchFamily="34" charset="0"/>
                <a:cs typeface="Tahoma" panose="020B0604030504040204" pitchFamily="34" charset="0"/>
              </a:rPr>
              <a:t>More data: more trials, more samples, deeper investigation of model parameters</a:t>
            </a:r>
          </a:p>
        </p:txBody>
      </p:sp>
    </p:spTree>
    <p:extLst>
      <p:ext uri="{BB962C8B-B14F-4D97-AF65-F5344CB8AC3E}">
        <p14:creationId xmlns:p14="http://schemas.microsoft.com/office/powerpoint/2010/main" val="3061102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90A7-4949-427F-ACCC-8BA8EB417BE3}"/>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References</a:t>
            </a:r>
          </a:p>
        </p:txBody>
      </p:sp>
      <p:sp>
        <p:nvSpPr>
          <p:cNvPr id="3" name="Content Placeholder 2">
            <a:extLst>
              <a:ext uri="{FF2B5EF4-FFF2-40B4-BE49-F238E27FC236}">
                <a16:creationId xmlns:a16="http://schemas.microsoft.com/office/drawing/2014/main" id="{878B2E7A-8985-4822-A7F4-230C8301F617}"/>
              </a:ext>
            </a:extLst>
          </p:cNvPr>
          <p:cNvSpPr>
            <a:spLocks noGrp="1"/>
          </p:cNvSpPr>
          <p:nvPr>
            <p:ph idx="1"/>
          </p:nvPr>
        </p:nvSpPr>
        <p:spPr>
          <a:xfrm>
            <a:off x="628650" y="1488558"/>
            <a:ext cx="7886700" cy="5156791"/>
          </a:xfrm>
        </p:spPr>
        <p:txBody>
          <a:bodyPr>
            <a:normAutofit lnSpcReduction="10000"/>
          </a:bodyPr>
          <a:lstStyle/>
          <a:p>
            <a:r>
              <a:rPr lang="en-US" sz="1000" dirty="0" err="1">
                <a:latin typeface="Tahoma" panose="020B0604030504040204" pitchFamily="34" charset="0"/>
                <a:ea typeface="Tahoma" panose="020B0604030504040204" pitchFamily="34" charset="0"/>
                <a:cs typeface="Tahoma" panose="020B0604030504040204" pitchFamily="34" charset="0"/>
              </a:rPr>
              <a:t>Andrä</a:t>
            </a:r>
            <a:r>
              <a:rPr lang="en-US" sz="1000" dirty="0">
                <a:latin typeface="Tahoma" panose="020B0604030504040204" pitchFamily="34" charset="0"/>
                <a:ea typeface="Tahoma" panose="020B0604030504040204" pitchFamily="34" charset="0"/>
                <a:cs typeface="Tahoma" panose="020B0604030504040204" pitchFamily="34" charset="0"/>
              </a:rPr>
              <a:t>, H., N. </a:t>
            </a:r>
            <a:r>
              <a:rPr lang="en-US" sz="1000" dirty="0" err="1">
                <a:latin typeface="Tahoma" panose="020B0604030504040204" pitchFamily="34" charset="0"/>
                <a:ea typeface="Tahoma" panose="020B0604030504040204" pitchFamily="34" charset="0"/>
                <a:cs typeface="Tahoma" panose="020B0604030504040204" pitchFamily="34" charset="0"/>
              </a:rPr>
              <a:t>Combaret</a:t>
            </a:r>
            <a:r>
              <a:rPr lang="en-US" sz="1000" dirty="0">
                <a:latin typeface="Tahoma" panose="020B0604030504040204" pitchFamily="34" charset="0"/>
                <a:ea typeface="Tahoma" panose="020B0604030504040204" pitchFamily="34" charset="0"/>
                <a:cs typeface="Tahoma" panose="020B0604030504040204" pitchFamily="34" charset="0"/>
              </a:rPr>
              <a:t>, J. </a:t>
            </a:r>
            <a:r>
              <a:rPr lang="en-US" sz="1000" dirty="0" err="1">
                <a:latin typeface="Tahoma" panose="020B0604030504040204" pitchFamily="34" charset="0"/>
                <a:ea typeface="Tahoma" panose="020B0604030504040204" pitchFamily="34" charset="0"/>
                <a:cs typeface="Tahoma" panose="020B0604030504040204" pitchFamily="34" charset="0"/>
              </a:rPr>
              <a:t>Dvorkin</a:t>
            </a:r>
            <a:r>
              <a:rPr lang="en-US" sz="1000" dirty="0">
                <a:latin typeface="Tahoma" panose="020B0604030504040204" pitchFamily="34" charset="0"/>
                <a:ea typeface="Tahoma" panose="020B0604030504040204" pitchFamily="34" charset="0"/>
                <a:cs typeface="Tahoma" panose="020B0604030504040204" pitchFamily="34" charset="0"/>
              </a:rPr>
              <a:t>, E. Glatt, J. Han, M. Kabel, Y. </a:t>
            </a:r>
            <a:r>
              <a:rPr lang="en-US" sz="1000" dirty="0" err="1">
                <a:latin typeface="Tahoma" panose="020B0604030504040204" pitchFamily="34" charset="0"/>
                <a:ea typeface="Tahoma" panose="020B0604030504040204" pitchFamily="34" charset="0"/>
                <a:cs typeface="Tahoma" panose="020B0604030504040204" pitchFamily="34" charset="0"/>
              </a:rPr>
              <a:t>Keehm</a:t>
            </a:r>
            <a:r>
              <a:rPr lang="en-US" sz="1000" dirty="0">
                <a:latin typeface="Tahoma" panose="020B0604030504040204" pitchFamily="34" charset="0"/>
                <a:ea typeface="Tahoma" panose="020B0604030504040204" pitchFamily="34" charset="0"/>
                <a:cs typeface="Tahoma" panose="020B0604030504040204" pitchFamily="34" charset="0"/>
              </a:rPr>
              <a:t>, F. </a:t>
            </a:r>
            <a:r>
              <a:rPr lang="en-US" sz="1000" dirty="0" err="1">
                <a:latin typeface="Tahoma" panose="020B0604030504040204" pitchFamily="34" charset="0"/>
                <a:ea typeface="Tahoma" panose="020B0604030504040204" pitchFamily="34" charset="0"/>
                <a:cs typeface="Tahoma" panose="020B0604030504040204" pitchFamily="34" charset="0"/>
              </a:rPr>
              <a:t>Krzikalla</a:t>
            </a:r>
            <a:r>
              <a:rPr lang="en-US" sz="1000" dirty="0">
                <a:latin typeface="Tahoma" panose="020B0604030504040204" pitchFamily="34" charset="0"/>
                <a:ea typeface="Tahoma" panose="020B0604030504040204" pitchFamily="34" charset="0"/>
                <a:cs typeface="Tahoma" panose="020B0604030504040204" pitchFamily="34" charset="0"/>
              </a:rPr>
              <a:t>, M. Lee, C. Madonna, M. Marsh, T. Mukerji, E. H. </a:t>
            </a:r>
            <a:r>
              <a:rPr lang="en-US" sz="1000" dirty="0" err="1">
                <a:latin typeface="Tahoma" panose="020B0604030504040204" pitchFamily="34" charset="0"/>
                <a:ea typeface="Tahoma" panose="020B0604030504040204" pitchFamily="34" charset="0"/>
                <a:cs typeface="Tahoma" panose="020B0604030504040204" pitchFamily="34" charset="0"/>
              </a:rPr>
              <a:t>Saenger</a:t>
            </a:r>
            <a:r>
              <a:rPr lang="en-US" sz="1000" dirty="0">
                <a:latin typeface="Tahoma" panose="020B0604030504040204" pitchFamily="34" charset="0"/>
                <a:ea typeface="Tahoma" panose="020B0604030504040204" pitchFamily="34" charset="0"/>
                <a:cs typeface="Tahoma" panose="020B0604030504040204" pitchFamily="34" charset="0"/>
              </a:rPr>
              <a:t>, R. </a:t>
            </a:r>
            <a:r>
              <a:rPr lang="en-US" sz="1000" dirty="0" err="1">
                <a:latin typeface="Tahoma" panose="020B0604030504040204" pitchFamily="34" charset="0"/>
                <a:ea typeface="Tahoma" panose="020B0604030504040204" pitchFamily="34" charset="0"/>
                <a:cs typeface="Tahoma" panose="020B0604030504040204" pitchFamily="34" charset="0"/>
              </a:rPr>
              <a:t>Sain</a:t>
            </a:r>
            <a:r>
              <a:rPr lang="en-US" sz="1000" dirty="0">
                <a:latin typeface="Tahoma" panose="020B0604030504040204" pitchFamily="34" charset="0"/>
                <a:ea typeface="Tahoma" panose="020B0604030504040204" pitchFamily="34" charset="0"/>
                <a:cs typeface="Tahoma" panose="020B0604030504040204" pitchFamily="34" charset="0"/>
              </a:rPr>
              <a:t>, N. Saxena, S. Ricker, A. </a:t>
            </a:r>
            <a:r>
              <a:rPr lang="en-US" sz="1000" dirty="0" err="1">
                <a:latin typeface="Tahoma" panose="020B0604030504040204" pitchFamily="34" charset="0"/>
                <a:ea typeface="Tahoma" panose="020B0604030504040204" pitchFamily="34" charset="0"/>
                <a:cs typeface="Tahoma" panose="020B0604030504040204" pitchFamily="34" charset="0"/>
              </a:rPr>
              <a:t>Wiegmann</a:t>
            </a:r>
            <a:r>
              <a:rPr lang="en-US" sz="1000" dirty="0">
                <a:latin typeface="Tahoma" panose="020B0604030504040204" pitchFamily="34" charset="0"/>
                <a:ea typeface="Tahoma" panose="020B0604030504040204" pitchFamily="34" charset="0"/>
                <a:cs typeface="Tahoma" panose="020B0604030504040204" pitchFamily="34" charset="0"/>
              </a:rPr>
              <a:t>, and X. Zhan. 2013a, Digital rock physics benchmarks—Part I: Imaging and segmentation. Computers &amp; Geosciences, 50,25-32. </a:t>
            </a:r>
            <a:r>
              <a:rPr lang="en-US" sz="1000" dirty="0" err="1">
                <a:latin typeface="Tahoma" panose="020B0604030504040204" pitchFamily="34" charset="0"/>
                <a:ea typeface="Tahoma" panose="020B0604030504040204" pitchFamily="34" charset="0"/>
                <a:cs typeface="Tahoma" panose="020B0604030504040204" pitchFamily="34" charset="0"/>
              </a:rPr>
              <a:t>doi</a:t>
            </a:r>
            <a:r>
              <a:rPr lang="en-US" sz="1000" dirty="0">
                <a:latin typeface="Tahoma" panose="020B0604030504040204" pitchFamily="34" charset="0"/>
                <a:ea typeface="Tahoma" panose="020B0604030504040204" pitchFamily="34" charset="0"/>
                <a:cs typeface="Tahoma" panose="020B0604030504040204" pitchFamily="34" charset="0"/>
              </a:rPr>
              <a:t>: </a:t>
            </a:r>
            <a:r>
              <a:rPr lang="en-US" sz="1000" dirty="0">
                <a:latin typeface="Tahoma" panose="020B0604030504040204" pitchFamily="34" charset="0"/>
                <a:ea typeface="Tahoma" panose="020B0604030504040204" pitchFamily="34" charset="0"/>
                <a:cs typeface="Tahoma" panose="020B0604030504040204" pitchFamily="34" charset="0"/>
                <a:hlinkClick r:id="rId2"/>
              </a:rPr>
              <a:t>https://doi.org/10.1016/j.cageo.2012.09.005</a:t>
            </a:r>
            <a:r>
              <a:rPr lang="en-US" sz="1000" dirty="0">
                <a:latin typeface="Tahoma" panose="020B0604030504040204" pitchFamily="34" charset="0"/>
                <a:ea typeface="Tahoma" panose="020B0604030504040204" pitchFamily="34" charset="0"/>
                <a:cs typeface="Tahoma" panose="020B0604030504040204" pitchFamily="34" charset="0"/>
              </a:rPr>
              <a:t>.</a:t>
            </a:r>
          </a:p>
          <a:p>
            <a:r>
              <a:rPr lang="en-US" sz="1000" dirty="0" err="1">
                <a:latin typeface="Tahoma" panose="020B0604030504040204" pitchFamily="34" charset="0"/>
                <a:ea typeface="Tahoma" panose="020B0604030504040204" pitchFamily="34" charset="0"/>
                <a:cs typeface="Tahoma" panose="020B0604030504040204" pitchFamily="34" charset="0"/>
              </a:rPr>
              <a:t>Andrä</a:t>
            </a:r>
            <a:r>
              <a:rPr lang="en-US" sz="1000" dirty="0">
                <a:latin typeface="Tahoma" panose="020B0604030504040204" pitchFamily="34" charset="0"/>
                <a:ea typeface="Tahoma" panose="020B0604030504040204" pitchFamily="34" charset="0"/>
                <a:cs typeface="Tahoma" panose="020B0604030504040204" pitchFamily="34" charset="0"/>
              </a:rPr>
              <a:t>, H., N. </a:t>
            </a:r>
            <a:r>
              <a:rPr lang="en-US" sz="1000" dirty="0" err="1">
                <a:latin typeface="Tahoma" panose="020B0604030504040204" pitchFamily="34" charset="0"/>
                <a:ea typeface="Tahoma" panose="020B0604030504040204" pitchFamily="34" charset="0"/>
                <a:cs typeface="Tahoma" panose="020B0604030504040204" pitchFamily="34" charset="0"/>
              </a:rPr>
              <a:t>Combaret</a:t>
            </a:r>
            <a:r>
              <a:rPr lang="en-US" sz="1000" dirty="0">
                <a:latin typeface="Tahoma" panose="020B0604030504040204" pitchFamily="34" charset="0"/>
                <a:ea typeface="Tahoma" panose="020B0604030504040204" pitchFamily="34" charset="0"/>
                <a:cs typeface="Tahoma" panose="020B0604030504040204" pitchFamily="34" charset="0"/>
              </a:rPr>
              <a:t>, J. </a:t>
            </a:r>
            <a:r>
              <a:rPr lang="en-US" sz="1000" dirty="0" err="1">
                <a:latin typeface="Tahoma" panose="020B0604030504040204" pitchFamily="34" charset="0"/>
                <a:ea typeface="Tahoma" panose="020B0604030504040204" pitchFamily="34" charset="0"/>
                <a:cs typeface="Tahoma" panose="020B0604030504040204" pitchFamily="34" charset="0"/>
              </a:rPr>
              <a:t>Dvorkin</a:t>
            </a:r>
            <a:r>
              <a:rPr lang="en-US" sz="1000" dirty="0">
                <a:latin typeface="Tahoma" panose="020B0604030504040204" pitchFamily="34" charset="0"/>
                <a:ea typeface="Tahoma" panose="020B0604030504040204" pitchFamily="34" charset="0"/>
                <a:cs typeface="Tahoma" panose="020B0604030504040204" pitchFamily="34" charset="0"/>
              </a:rPr>
              <a:t>, E. Glatt, J. Han, M. Kabel, Y. </a:t>
            </a:r>
            <a:r>
              <a:rPr lang="en-US" sz="1000" dirty="0" err="1">
                <a:latin typeface="Tahoma" panose="020B0604030504040204" pitchFamily="34" charset="0"/>
                <a:ea typeface="Tahoma" panose="020B0604030504040204" pitchFamily="34" charset="0"/>
                <a:cs typeface="Tahoma" panose="020B0604030504040204" pitchFamily="34" charset="0"/>
              </a:rPr>
              <a:t>Keehm</a:t>
            </a:r>
            <a:r>
              <a:rPr lang="en-US" sz="1000" dirty="0">
                <a:latin typeface="Tahoma" panose="020B0604030504040204" pitchFamily="34" charset="0"/>
                <a:ea typeface="Tahoma" panose="020B0604030504040204" pitchFamily="34" charset="0"/>
                <a:cs typeface="Tahoma" panose="020B0604030504040204" pitchFamily="34" charset="0"/>
              </a:rPr>
              <a:t>, F. </a:t>
            </a:r>
            <a:r>
              <a:rPr lang="en-US" sz="1000" dirty="0" err="1">
                <a:latin typeface="Tahoma" panose="020B0604030504040204" pitchFamily="34" charset="0"/>
                <a:ea typeface="Tahoma" panose="020B0604030504040204" pitchFamily="34" charset="0"/>
                <a:cs typeface="Tahoma" panose="020B0604030504040204" pitchFamily="34" charset="0"/>
              </a:rPr>
              <a:t>Krzikalla</a:t>
            </a:r>
            <a:r>
              <a:rPr lang="en-US" sz="1000" dirty="0">
                <a:latin typeface="Tahoma" panose="020B0604030504040204" pitchFamily="34" charset="0"/>
                <a:ea typeface="Tahoma" panose="020B0604030504040204" pitchFamily="34" charset="0"/>
                <a:cs typeface="Tahoma" panose="020B0604030504040204" pitchFamily="34" charset="0"/>
              </a:rPr>
              <a:t>, M. Lee, C. Madonna, M. Marsh, T. Mukerji, E. H. </a:t>
            </a:r>
            <a:r>
              <a:rPr lang="en-US" sz="1000" dirty="0" err="1">
                <a:latin typeface="Tahoma" panose="020B0604030504040204" pitchFamily="34" charset="0"/>
                <a:ea typeface="Tahoma" panose="020B0604030504040204" pitchFamily="34" charset="0"/>
                <a:cs typeface="Tahoma" panose="020B0604030504040204" pitchFamily="34" charset="0"/>
              </a:rPr>
              <a:t>Saenger</a:t>
            </a:r>
            <a:r>
              <a:rPr lang="en-US" sz="1000" dirty="0">
                <a:latin typeface="Tahoma" panose="020B0604030504040204" pitchFamily="34" charset="0"/>
                <a:ea typeface="Tahoma" panose="020B0604030504040204" pitchFamily="34" charset="0"/>
                <a:cs typeface="Tahoma" panose="020B0604030504040204" pitchFamily="34" charset="0"/>
              </a:rPr>
              <a:t>, R. </a:t>
            </a:r>
            <a:r>
              <a:rPr lang="en-US" sz="1000" dirty="0" err="1">
                <a:latin typeface="Tahoma" panose="020B0604030504040204" pitchFamily="34" charset="0"/>
                <a:ea typeface="Tahoma" panose="020B0604030504040204" pitchFamily="34" charset="0"/>
                <a:cs typeface="Tahoma" panose="020B0604030504040204" pitchFamily="34" charset="0"/>
              </a:rPr>
              <a:t>Sain</a:t>
            </a:r>
            <a:r>
              <a:rPr lang="en-US" sz="1000" dirty="0">
                <a:latin typeface="Tahoma" panose="020B0604030504040204" pitchFamily="34" charset="0"/>
                <a:ea typeface="Tahoma" panose="020B0604030504040204" pitchFamily="34" charset="0"/>
                <a:cs typeface="Tahoma" panose="020B0604030504040204" pitchFamily="34" charset="0"/>
              </a:rPr>
              <a:t>, N. Saxena, S. Ricker, A. </a:t>
            </a:r>
            <a:r>
              <a:rPr lang="en-US" sz="1000" dirty="0" err="1">
                <a:latin typeface="Tahoma" panose="020B0604030504040204" pitchFamily="34" charset="0"/>
                <a:ea typeface="Tahoma" panose="020B0604030504040204" pitchFamily="34" charset="0"/>
                <a:cs typeface="Tahoma" panose="020B0604030504040204" pitchFamily="34" charset="0"/>
              </a:rPr>
              <a:t>Wiegmann</a:t>
            </a:r>
            <a:r>
              <a:rPr lang="en-US" sz="1000" dirty="0">
                <a:latin typeface="Tahoma" panose="020B0604030504040204" pitchFamily="34" charset="0"/>
                <a:ea typeface="Tahoma" panose="020B0604030504040204" pitchFamily="34" charset="0"/>
                <a:cs typeface="Tahoma" panose="020B0604030504040204" pitchFamily="34" charset="0"/>
              </a:rPr>
              <a:t>, and X. Zhan. 2013b, Digital rock physics benchmarks—part II: Computing effective properties. Computers &amp; Geosciences, 50,33-43. </a:t>
            </a:r>
            <a:r>
              <a:rPr lang="en-US" sz="1000" dirty="0" err="1">
                <a:latin typeface="Tahoma" panose="020B0604030504040204" pitchFamily="34" charset="0"/>
                <a:ea typeface="Tahoma" panose="020B0604030504040204" pitchFamily="34" charset="0"/>
                <a:cs typeface="Tahoma" panose="020B0604030504040204" pitchFamily="34" charset="0"/>
              </a:rPr>
              <a:t>doi</a:t>
            </a:r>
            <a:r>
              <a:rPr lang="en-US" sz="1000" dirty="0">
                <a:latin typeface="Tahoma" panose="020B0604030504040204" pitchFamily="34" charset="0"/>
                <a:ea typeface="Tahoma" panose="020B0604030504040204" pitchFamily="34" charset="0"/>
                <a:cs typeface="Tahoma" panose="020B0604030504040204" pitchFamily="34" charset="0"/>
              </a:rPr>
              <a:t>: </a:t>
            </a:r>
            <a:r>
              <a:rPr lang="en-US" sz="1000" dirty="0">
                <a:latin typeface="Tahoma" panose="020B0604030504040204" pitchFamily="34" charset="0"/>
                <a:ea typeface="Tahoma" panose="020B0604030504040204" pitchFamily="34" charset="0"/>
                <a:cs typeface="Tahoma" panose="020B0604030504040204" pitchFamily="34" charset="0"/>
                <a:hlinkClick r:id="rId3"/>
              </a:rPr>
              <a:t>https://doi.org/10.1016/j.cageo.2012.09.008</a:t>
            </a:r>
            <a:r>
              <a:rPr lang="en-US" sz="1000" dirty="0">
                <a:latin typeface="Tahoma" panose="020B0604030504040204" pitchFamily="34" charset="0"/>
                <a:ea typeface="Tahoma" panose="020B0604030504040204" pitchFamily="34" charset="0"/>
                <a:cs typeface="Tahoma" panose="020B0604030504040204" pitchFamily="34" charset="0"/>
              </a:rPr>
              <a:t>.</a:t>
            </a:r>
          </a:p>
          <a:p>
            <a:r>
              <a:rPr lang="en-US" sz="1000" dirty="0" err="1">
                <a:latin typeface="Tahoma" panose="020B0604030504040204" pitchFamily="34" charset="0"/>
                <a:ea typeface="Tahoma" panose="020B0604030504040204" pitchFamily="34" charset="0"/>
                <a:cs typeface="Tahoma" panose="020B0604030504040204" pitchFamily="34" charset="0"/>
              </a:rPr>
              <a:t>Dvorkin</a:t>
            </a:r>
            <a:r>
              <a:rPr lang="en-US" sz="1000" dirty="0">
                <a:latin typeface="Tahoma" panose="020B0604030504040204" pitchFamily="34" charset="0"/>
                <a:ea typeface="Tahoma" panose="020B0604030504040204" pitchFamily="34" charset="0"/>
                <a:cs typeface="Tahoma" panose="020B0604030504040204" pitchFamily="34" charset="0"/>
              </a:rPr>
              <a:t>, J., N. </a:t>
            </a:r>
            <a:r>
              <a:rPr lang="en-US" sz="1000" dirty="0" err="1">
                <a:latin typeface="Tahoma" panose="020B0604030504040204" pitchFamily="34" charset="0"/>
                <a:ea typeface="Tahoma" panose="020B0604030504040204" pitchFamily="34" charset="0"/>
                <a:cs typeface="Tahoma" panose="020B0604030504040204" pitchFamily="34" charset="0"/>
              </a:rPr>
              <a:t>Derzhi</a:t>
            </a:r>
            <a:r>
              <a:rPr lang="en-US" sz="1000" dirty="0">
                <a:latin typeface="Tahoma" panose="020B0604030504040204" pitchFamily="34" charset="0"/>
                <a:ea typeface="Tahoma" panose="020B0604030504040204" pitchFamily="34" charset="0"/>
                <a:cs typeface="Tahoma" panose="020B0604030504040204" pitchFamily="34" charset="0"/>
              </a:rPr>
              <a:t>, E. Diaz, and Q. Fang. 2011, Relevance of computational rock physics. GEOPHYSICS, 76, no. 5,E141–E153. </a:t>
            </a:r>
            <a:r>
              <a:rPr lang="en-US" sz="1000" dirty="0" err="1">
                <a:latin typeface="Tahoma" panose="020B0604030504040204" pitchFamily="34" charset="0"/>
                <a:ea typeface="Tahoma" panose="020B0604030504040204" pitchFamily="34" charset="0"/>
                <a:cs typeface="Tahoma" panose="020B0604030504040204" pitchFamily="34" charset="0"/>
              </a:rPr>
              <a:t>doi</a:t>
            </a:r>
            <a:r>
              <a:rPr lang="en-US" sz="1000" dirty="0">
                <a:latin typeface="Tahoma" panose="020B0604030504040204" pitchFamily="34" charset="0"/>
                <a:ea typeface="Tahoma" panose="020B0604030504040204" pitchFamily="34" charset="0"/>
                <a:cs typeface="Tahoma" panose="020B0604030504040204" pitchFamily="34" charset="0"/>
              </a:rPr>
              <a:t>: 10.1190/GEO2010-0352.1.</a:t>
            </a:r>
          </a:p>
          <a:p>
            <a:r>
              <a:rPr lang="en-US" sz="1000" dirty="0" err="1">
                <a:latin typeface="Tahoma" panose="020B0604030504040204" pitchFamily="34" charset="0"/>
                <a:ea typeface="Tahoma" panose="020B0604030504040204" pitchFamily="34" charset="0"/>
                <a:cs typeface="Tahoma" panose="020B0604030504040204" pitchFamily="34" charset="0"/>
              </a:rPr>
              <a:t>Revil</a:t>
            </a:r>
            <a:r>
              <a:rPr lang="en-US" sz="1000" dirty="0">
                <a:latin typeface="Tahoma" panose="020B0604030504040204" pitchFamily="34" charset="0"/>
                <a:ea typeface="Tahoma" panose="020B0604030504040204" pitchFamily="34" charset="0"/>
                <a:cs typeface="Tahoma" panose="020B0604030504040204" pitchFamily="34" charset="0"/>
              </a:rPr>
              <a:t>, A., N. </a:t>
            </a:r>
            <a:r>
              <a:rPr lang="en-US" sz="1000" dirty="0" err="1">
                <a:latin typeface="Tahoma" panose="020B0604030504040204" pitchFamily="34" charset="0"/>
                <a:ea typeface="Tahoma" panose="020B0604030504040204" pitchFamily="34" charset="0"/>
                <a:cs typeface="Tahoma" panose="020B0604030504040204" pitchFamily="34" charset="0"/>
              </a:rPr>
              <a:t>Florsch</a:t>
            </a:r>
            <a:r>
              <a:rPr lang="en-US" sz="1000" dirty="0">
                <a:latin typeface="Tahoma" panose="020B0604030504040204" pitchFamily="34" charset="0"/>
                <a:ea typeface="Tahoma" panose="020B0604030504040204" pitchFamily="34" charset="0"/>
                <a:cs typeface="Tahoma" panose="020B0604030504040204" pitchFamily="34" charset="0"/>
              </a:rPr>
              <a:t>, and C. </a:t>
            </a:r>
            <a:r>
              <a:rPr lang="en-US" sz="1000" dirty="0" err="1">
                <a:latin typeface="Tahoma" panose="020B0604030504040204" pitchFamily="34" charset="0"/>
                <a:ea typeface="Tahoma" panose="020B0604030504040204" pitchFamily="34" charset="0"/>
                <a:cs typeface="Tahoma" panose="020B0604030504040204" pitchFamily="34" charset="0"/>
              </a:rPr>
              <a:t>Camerlynck</a:t>
            </a:r>
            <a:r>
              <a:rPr lang="en-US" sz="1000" dirty="0">
                <a:latin typeface="Tahoma" panose="020B0604030504040204" pitchFamily="34" charset="0"/>
                <a:ea typeface="Tahoma" panose="020B0604030504040204" pitchFamily="34" charset="0"/>
                <a:cs typeface="Tahoma" panose="020B0604030504040204" pitchFamily="34" charset="0"/>
              </a:rPr>
              <a:t>. 2014, Spectral induced polarization </a:t>
            </a:r>
            <a:r>
              <a:rPr lang="en-US" sz="1000" dirty="0" err="1">
                <a:latin typeface="Tahoma" panose="020B0604030504040204" pitchFamily="34" charset="0"/>
                <a:ea typeface="Tahoma" panose="020B0604030504040204" pitchFamily="34" charset="0"/>
                <a:cs typeface="Tahoma" panose="020B0604030504040204" pitchFamily="34" charset="0"/>
              </a:rPr>
              <a:t>porosimetry</a:t>
            </a:r>
            <a:r>
              <a:rPr lang="en-US" sz="1000" dirty="0">
                <a:latin typeface="Tahoma" panose="020B0604030504040204" pitchFamily="34" charset="0"/>
                <a:ea typeface="Tahoma" panose="020B0604030504040204" pitchFamily="34" charset="0"/>
                <a:cs typeface="Tahoma" panose="020B0604030504040204" pitchFamily="34" charset="0"/>
              </a:rPr>
              <a:t>. Geophysical Journal International, 198, no. 2,1016-1033. </a:t>
            </a:r>
            <a:r>
              <a:rPr lang="en-US" sz="1000" dirty="0" err="1">
                <a:latin typeface="Tahoma" panose="020B0604030504040204" pitchFamily="34" charset="0"/>
                <a:ea typeface="Tahoma" panose="020B0604030504040204" pitchFamily="34" charset="0"/>
                <a:cs typeface="Tahoma" panose="020B0604030504040204" pitchFamily="34" charset="0"/>
              </a:rPr>
              <a:t>doi</a:t>
            </a:r>
            <a:r>
              <a:rPr lang="en-US" sz="1000" dirty="0">
                <a:latin typeface="Tahoma" panose="020B0604030504040204" pitchFamily="34" charset="0"/>
                <a:ea typeface="Tahoma" panose="020B0604030504040204" pitchFamily="34" charset="0"/>
                <a:cs typeface="Tahoma" panose="020B0604030504040204" pitchFamily="34" charset="0"/>
              </a:rPr>
              <a:t>: 10.1093/</a:t>
            </a:r>
            <a:r>
              <a:rPr lang="en-US" sz="1000" dirty="0" err="1">
                <a:latin typeface="Tahoma" panose="020B0604030504040204" pitchFamily="34" charset="0"/>
                <a:ea typeface="Tahoma" panose="020B0604030504040204" pitchFamily="34" charset="0"/>
                <a:cs typeface="Tahoma" panose="020B0604030504040204" pitchFamily="34" charset="0"/>
              </a:rPr>
              <a:t>gji</a:t>
            </a:r>
            <a:r>
              <a:rPr lang="en-US" sz="1000" dirty="0">
                <a:latin typeface="Tahoma" panose="020B0604030504040204" pitchFamily="34" charset="0"/>
                <a:ea typeface="Tahoma" panose="020B0604030504040204" pitchFamily="34" charset="0"/>
                <a:cs typeface="Tahoma" panose="020B0604030504040204" pitchFamily="34" charset="0"/>
              </a:rPr>
              <a:t>/ggu180.</a:t>
            </a:r>
          </a:p>
          <a:p>
            <a:r>
              <a:rPr lang="en-US" sz="1000" dirty="0" err="1">
                <a:latin typeface="Tahoma" panose="020B0604030504040204" pitchFamily="34" charset="0"/>
                <a:ea typeface="Tahoma" panose="020B0604030504040204" pitchFamily="34" charset="0"/>
                <a:cs typeface="Tahoma" panose="020B0604030504040204" pitchFamily="34" charset="0"/>
              </a:rPr>
              <a:t>Florsch</a:t>
            </a:r>
            <a:r>
              <a:rPr lang="en-US" sz="1000" dirty="0">
                <a:latin typeface="Tahoma" panose="020B0604030504040204" pitchFamily="34" charset="0"/>
                <a:ea typeface="Tahoma" panose="020B0604030504040204" pitchFamily="34" charset="0"/>
                <a:cs typeface="Tahoma" panose="020B0604030504040204" pitchFamily="34" charset="0"/>
              </a:rPr>
              <a:t>, N., A. </a:t>
            </a:r>
            <a:r>
              <a:rPr lang="en-US" sz="1000" dirty="0" err="1">
                <a:latin typeface="Tahoma" panose="020B0604030504040204" pitchFamily="34" charset="0"/>
                <a:ea typeface="Tahoma" panose="020B0604030504040204" pitchFamily="34" charset="0"/>
                <a:cs typeface="Tahoma" panose="020B0604030504040204" pitchFamily="34" charset="0"/>
              </a:rPr>
              <a:t>Revil</a:t>
            </a:r>
            <a:r>
              <a:rPr lang="en-US" sz="1000" dirty="0">
                <a:latin typeface="Tahoma" panose="020B0604030504040204" pitchFamily="34" charset="0"/>
                <a:ea typeface="Tahoma" panose="020B0604030504040204" pitchFamily="34" charset="0"/>
                <a:cs typeface="Tahoma" panose="020B0604030504040204" pitchFamily="34" charset="0"/>
              </a:rPr>
              <a:t>, and C. </a:t>
            </a:r>
            <a:r>
              <a:rPr lang="en-US" sz="1000" dirty="0" err="1">
                <a:latin typeface="Tahoma" panose="020B0604030504040204" pitchFamily="34" charset="0"/>
                <a:ea typeface="Tahoma" panose="020B0604030504040204" pitchFamily="34" charset="0"/>
                <a:cs typeface="Tahoma" panose="020B0604030504040204" pitchFamily="34" charset="0"/>
              </a:rPr>
              <a:t>Camerlynck</a:t>
            </a:r>
            <a:r>
              <a:rPr lang="en-US" sz="1000" dirty="0">
                <a:latin typeface="Tahoma" panose="020B0604030504040204" pitchFamily="34" charset="0"/>
                <a:ea typeface="Tahoma" panose="020B0604030504040204" pitchFamily="34" charset="0"/>
                <a:cs typeface="Tahoma" panose="020B0604030504040204" pitchFamily="34" charset="0"/>
              </a:rPr>
              <a:t>. 2014, Inversion of generalized relaxation time distributions with optimized damping parameter. Journal of Applied Geophysics, 109,119-132. </a:t>
            </a:r>
            <a:r>
              <a:rPr lang="en-US" sz="1000" dirty="0" err="1">
                <a:latin typeface="Tahoma" panose="020B0604030504040204" pitchFamily="34" charset="0"/>
                <a:ea typeface="Tahoma" panose="020B0604030504040204" pitchFamily="34" charset="0"/>
                <a:cs typeface="Tahoma" panose="020B0604030504040204" pitchFamily="34" charset="0"/>
              </a:rPr>
              <a:t>doi</a:t>
            </a:r>
            <a:r>
              <a:rPr lang="en-US" sz="1000" dirty="0">
                <a:latin typeface="Tahoma" panose="020B0604030504040204" pitchFamily="34" charset="0"/>
                <a:ea typeface="Tahoma" panose="020B0604030504040204" pitchFamily="34" charset="0"/>
                <a:cs typeface="Tahoma" panose="020B0604030504040204" pitchFamily="34" charset="0"/>
              </a:rPr>
              <a:t>: </a:t>
            </a:r>
            <a:r>
              <a:rPr lang="en-US" sz="1000" dirty="0">
                <a:latin typeface="Tahoma" panose="020B0604030504040204" pitchFamily="34" charset="0"/>
                <a:ea typeface="Tahoma" panose="020B0604030504040204" pitchFamily="34" charset="0"/>
                <a:cs typeface="Tahoma" panose="020B0604030504040204" pitchFamily="34" charset="0"/>
                <a:hlinkClick r:id="rId4"/>
              </a:rPr>
              <a:t>https://doi.org/10.1016/j.jappgeo.2014.07.013</a:t>
            </a:r>
            <a:r>
              <a:rPr lang="en-US" sz="1000" dirty="0">
                <a:latin typeface="Tahoma" panose="020B0604030504040204" pitchFamily="34" charset="0"/>
                <a:ea typeface="Tahoma" panose="020B0604030504040204" pitchFamily="34" charset="0"/>
                <a:cs typeface="Tahoma" panose="020B0604030504040204" pitchFamily="34" charset="0"/>
              </a:rPr>
              <a:t>.</a:t>
            </a:r>
          </a:p>
          <a:p>
            <a:r>
              <a:rPr lang="en-US" sz="1000" dirty="0" err="1">
                <a:latin typeface="Tahoma" panose="020B0604030504040204" pitchFamily="34" charset="0"/>
                <a:ea typeface="Tahoma" panose="020B0604030504040204" pitchFamily="34" charset="0"/>
                <a:cs typeface="Tahoma" panose="020B0604030504040204" pitchFamily="34" charset="0"/>
              </a:rPr>
              <a:t>Sogade</a:t>
            </a:r>
            <a:r>
              <a:rPr lang="en-US" sz="1000" dirty="0">
                <a:latin typeface="Tahoma" panose="020B0604030504040204" pitchFamily="34" charset="0"/>
                <a:ea typeface="Tahoma" panose="020B0604030504040204" pitchFamily="34" charset="0"/>
                <a:cs typeface="Tahoma" panose="020B0604030504040204" pitchFamily="34" charset="0"/>
              </a:rPr>
              <a:t>, J., F. </a:t>
            </a:r>
            <a:r>
              <a:rPr lang="en-US" sz="1000" dirty="0" err="1">
                <a:latin typeface="Tahoma" panose="020B0604030504040204" pitchFamily="34" charset="0"/>
                <a:ea typeface="Tahoma" panose="020B0604030504040204" pitchFamily="34" charset="0"/>
                <a:cs typeface="Tahoma" panose="020B0604030504040204" pitchFamily="34" charset="0"/>
              </a:rPr>
              <a:t>Scira-Scappuzzo</a:t>
            </a:r>
            <a:r>
              <a:rPr lang="en-US" sz="1000" dirty="0">
                <a:latin typeface="Tahoma" panose="020B0604030504040204" pitchFamily="34" charset="0"/>
                <a:ea typeface="Tahoma" panose="020B0604030504040204" pitchFamily="34" charset="0"/>
                <a:cs typeface="Tahoma" panose="020B0604030504040204" pitchFamily="34" charset="0"/>
              </a:rPr>
              <a:t>, Y. </a:t>
            </a:r>
            <a:r>
              <a:rPr lang="en-US" sz="1000" dirty="0" err="1">
                <a:latin typeface="Tahoma" panose="020B0604030504040204" pitchFamily="34" charset="0"/>
                <a:ea typeface="Tahoma" panose="020B0604030504040204" pitchFamily="34" charset="0"/>
                <a:cs typeface="Tahoma" panose="020B0604030504040204" pitchFamily="34" charset="0"/>
              </a:rPr>
              <a:t>Vichabian</a:t>
            </a:r>
            <a:r>
              <a:rPr lang="en-US" sz="1000" dirty="0">
                <a:latin typeface="Tahoma" panose="020B0604030504040204" pitchFamily="34" charset="0"/>
                <a:ea typeface="Tahoma" panose="020B0604030504040204" pitchFamily="34" charset="0"/>
                <a:cs typeface="Tahoma" panose="020B0604030504040204" pitchFamily="34" charset="0"/>
              </a:rPr>
              <a:t>, W. Shi, W. </a:t>
            </a:r>
            <a:r>
              <a:rPr lang="en-US" sz="1000" dirty="0" err="1">
                <a:latin typeface="Tahoma" panose="020B0604030504040204" pitchFamily="34" charset="0"/>
                <a:ea typeface="Tahoma" panose="020B0604030504040204" pitchFamily="34" charset="0"/>
                <a:cs typeface="Tahoma" panose="020B0604030504040204" pitchFamily="34" charset="0"/>
              </a:rPr>
              <a:t>Rodi</a:t>
            </a:r>
            <a:r>
              <a:rPr lang="en-US" sz="1000" dirty="0">
                <a:latin typeface="Tahoma" panose="020B0604030504040204" pitchFamily="34" charset="0"/>
                <a:ea typeface="Tahoma" panose="020B0604030504040204" pitchFamily="34" charset="0"/>
                <a:cs typeface="Tahoma" panose="020B0604030504040204" pitchFamily="34" charset="0"/>
              </a:rPr>
              <a:t>, D. </a:t>
            </a:r>
            <a:r>
              <a:rPr lang="en-US" sz="1000" dirty="0" err="1">
                <a:latin typeface="Tahoma" panose="020B0604030504040204" pitchFamily="34" charset="0"/>
                <a:ea typeface="Tahoma" panose="020B0604030504040204" pitchFamily="34" charset="0"/>
                <a:cs typeface="Tahoma" panose="020B0604030504040204" pitchFamily="34" charset="0"/>
              </a:rPr>
              <a:t>Lesmes</a:t>
            </a:r>
            <a:r>
              <a:rPr lang="en-US" sz="1000" dirty="0">
                <a:latin typeface="Tahoma" panose="020B0604030504040204" pitchFamily="34" charset="0"/>
                <a:ea typeface="Tahoma" panose="020B0604030504040204" pitchFamily="34" charset="0"/>
                <a:cs typeface="Tahoma" panose="020B0604030504040204" pitchFamily="34" charset="0"/>
              </a:rPr>
              <a:t>, and F. Morgan. 2006, Induced-polarization detection and mapping of contaminant plumes. GEOPHYSICS, 71, no. 3,B75-B84. </a:t>
            </a:r>
            <a:r>
              <a:rPr lang="en-US" sz="1000" dirty="0" err="1">
                <a:latin typeface="Tahoma" panose="020B0604030504040204" pitchFamily="34" charset="0"/>
                <a:ea typeface="Tahoma" panose="020B0604030504040204" pitchFamily="34" charset="0"/>
                <a:cs typeface="Tahoma" panose="020B0604030504040204" pitchFamily="34" charset="0"/>
              </a:rPr>
              <a:t>doi</a:t>
            </a:r>
            <a:r>
              <a:rPr lang="en-US" sz="1000" dirty="0">
                <a:latin typeface="Tahoma" panose="020B0604030504040204" pitchFamily="34" charset="0"/>
                <a:ea typeface="Tahoma" panose="020B0604030504040204" pitchFamily="34" charset="0"/>
                <a:cs typeface="Tahoma" panose="020B0604030504040204" pitchFamily="34" charset="0"/>
              </a:rPr>
              <a:t>: 10.1190/1.2196873.</a:t>
            </a:r>
          </a:p>
          <a:p>
            <a:r>
              <a:rPr lang="en-US" sz="1000" dirty="0">
                <a:latin typeface="Tahoma" panose="020B0604030504040204" pitchFamily="34" charset="0"/>
                <a:ea typeface="Tahoma" panose="020B0604030504040204" pitchFamily="34" charset="0"/>
                <a:cs typeface="Tahoma" panose="020B0604030504040204" pitchFamily="34" charset="0"/>
              </a:rPr>
              <a:t>Davis, C. A., E. </a:t>
            </a:r>
            <a:r>
              <a:rPr lang="en-US" sz="1000" dirty="0" err="1">
                <a:latin typeface="Tahoma" panose="020B0604030504040204" pitchFamily="34" charset="0"/>
                <a:ea typeface="Tahoma" panose="020B0604030504040204" pitchFamily="34" charset="0"/>
                <a:cs typeface="Tahoma" panose="020B0604030504040204" pitchFamily="34" charset="0"/>
              </a:rPr>
              <a:t>Atekwana</a:t>
            </a:r>
            <a:r>
              <a:rPr lang="en-US" sz="1000" dirty="0">
                <a:latin typeface="Tahoma" panose="020B0604030504040204" pitchFamily="34" charset="0"/>
                <a:ea typeface="Tahoma" panose="020B0604030504040204" pitchFamily="34" charset="0"/>
                <a:cs typeface="Tahoma" panose="020B0604030504040204" pitchFamily="34" charset="0"/>
              </a:rPr>
              <a:t>, E. </a:t>
            </a:r>
            <a:r>
              <a:rPr lang="en-US" sz="1000" dirty="0" err="1">
                <a:latin typeface="Tahoma" panose="020B0604030504040204" pitchFamily="34" charset="0"/>
                <a:ea typeface="Tahoma" panose="020B0604030504040204" pitchFamily="34" charset="0"/>
                <a:cs typeface="Tahoma" panose="020B0604030504040204" pitchFamily="34" charset="0"/>
              </a:rPr>
              <a:t>Atekwana</a:t>
            </a:r>
            <a:r>
              <a:rPr lang="en-US" sz="1000" dirty="0">
                <a:latin typeface="Tahoma" panose="020B0604030504040204" pitchFamily="34" charset="0"/>
                <a:ea typeface="Tahoma" panose="020B0604030504040204" pitchFamily="34" charset="0"/>
                <a:cs typeface="Tahoma" panose="020B0604030504040204" pitchFamily="34" charset="0"/>
              </a:rPr>
              <a:t>, L. D. Slater, S. Rossbach, and M. R. Mormile. 2006, Microbial growth and biofilm formation in geologic media is detected with complex conductivity measurements. Geophysical Research Letters, 33, no. 18. </a:t>
            </a:r>
            <a:r>
              <a:rPr lang="en-US" sz="1000" dirty="0" err="1">
                <a:latin typeface="Tahoma" panose="020B0604030504040204" pitchFamily="34" charset="0"/>
                <a:ea typeface="Tahoma" panose="020B0604030504040204" pitchFamily="34" charset="0"/>
                <a:cs typeface="Tahoma" panose="020B0604030504040204" pitchFamily="34" charset="0"/>
              </a:rPr>
              <a:t>doi</a:t>
            </a:r>
            <a:r>
              <a:rPr lang="en-US" sz="1000" dirty="0">
                <a:latin typeface="Tahoma" panose="020B0604030504040204" pitchFamily="34" charset="0"/>
                <a:ea typeface="Tahoma" panose="020B0604030504040204" pitchFamily="34" charset="0"/>
                <a:cs typeface="Tahoma" panose="020B0604030504040204" pitchFamily="34" charset="0"/>
              </a:rPr>
              <a:t>: 10.1029/2006GL027312.</a:t>
            </a:r>
          </a:p>
          <a:p>
            <a:r>
              <a:rPr lang="en-US" sz="1000" dirty="0" err="1">
                <a:latin typeface="Tahoma" panose="020B0604030504040204" pitchFamily="34" charset="0"/>
                <a:ea typeface="Tahoma" panose="020B0604030504040204" pitchFamily="34" charset="0"/>
                <a:cs typeface="Tahoma" panose="020B0604030504040204" pitchFamily="34" charset="0"/>
              </a:rPr>
              <a:t>Garboczi</a:t>
            </a:r>
            <a:r>
              <a:rPr lang="en-US" sz="1000" dirty="0">
                <a:latin typeface="Tahoma" panose="020B0604030504040204" pitchFamily="34" charset="0"/>
                <a:ea typeface="Tahoma" panose="020B0604030504040204" pitchFamily="34" charset="0"/>
                <a:cs typeface="Tahoma" panose="020B0604030504040204" pitchFamily="34" charset="0"/>
              </a:rPr>
              <a:t>, E. J. 1998, Finite Element and Finite Difference Programs for Computing the Linear Electric and Elastic Properties of Digital Images of Random Materials.</a:t>
            </a:r>
          </a:p>
          <a:p>
            <a:r>
              <a:rPr lang="en-US" sz="1000" dirty="0">
                <a:latin typeface="Tahoma" panose="020B0604030504040204" pitchFamily="34" charset="0"/>
                <a:ea typeface="Tahoma" panose="020B0604030504040204" pitchFamily="34" charset="0"/>
                <a:cs typeface="Tahoma" panose="020B0604030504040204" pitchFamily="34" charset="0"/>
              </a:rPr>
              <a:t>Leroy, P., A. </a:t>
            </a:r>
            <a:r>
              <a:rPr lang="en-US" sz="1000" dirty="0" err="1">
                <a:latin typeface="Tahoma" panose="020B0604030504040204" pitchFamily="34" charset="0"/>
                <a:ea typeface="Tahoma" panose="020B0604030504040204" pitchFamily="34" charset="0"/>
                <a:cs typeface="Tahoma" panose="020B0604030504040204" pitchFamily="34" charset="0"/>
              </a:rPr>
              <a:t>Revil</a:t>
            </a:r>
            <a:r>
              <a:rPr lang="en-US" sz="1000" dirty="0">
                <a:latin typeface="Tahoma" panose="020B0604030504040204" pitchFamily="34" charset="0"/>
                <a:ea typeface="Tahoma" panose="020B0604030504040204" pitchFamily="34" charset="0"/>
                <a:cs typeface="Tahoma" panose="020B0604030504040204" pitchFamily="34" charset="0"/>
              </a:rPr>
              <a:t>, A. </a:t>
            </a:r>
            <a:r>
              <a:rPr lang="en-US" sz="1000" dirty="0" err="1">
                <a:latin typeface="Tahoma" panose="020B0604030504040204" pitchFamily="34" charset="0"/>
                <a:ea typeface="Tahoma" panose="020B0604030504040204" pitchFamily="34" charset="0"/>
                <a:cs typeface="Tahoma" panose="020B0604030504040204" pitchFamily="34" charset="0"/>
              </a:rPr>
              <a:t>Kemna</a:t>
            </a:r>
            <a:r>
              <a:rPr lang="en-US" sz="1000" dirty="0">
                <a:latin typeface="Tahoma" panose="020B0604030504040204" pitchFamily="34" charset="0"/>
                <a:ea typeface="Tahoma" panose="020B0604030504040204" pitchFamily="34" charset="0"/>
                <a:cs typeface="Tahoma" panose="020B0604030504040204" pitchFamily="34" charset="0"/>
              </a:rPr>
              <a:t>, P. Cosenza, and A. </a:t>
            </a:r>
            <a:r>
              <a:rPr lang="en-US" sz="1000" dirty="0" err="1">
                <a:latin typeface="Tahoma" panose="020B0604030504040204" pitchFamily="34" charset="0"/>
                <a:ea typeface="Tahoma" panose="020B0604030504040204" pitchFamily="34" charset="0"/>
                <a:cs typeface="Tahoma" panose="020B0604030504040204" pitchFamily="34" charset="0"/>
              </a:rPr>
              <a:t>Ghorbani</a:t>
            </a:r>
            <a:r>
              <a:rPr lang="en-US" sz="1000" dirty="0">
                <a:latin typeface="Tahoma" panose="020B0604030504040204" pitchFamily="34" charset="0"/>
                <a:ea typeface="Tahoma" panose="020B0604030504040204" pitchFamily="34" charset="0"/>
                <a:cs typeface="Tahoma" panose="020B0604030504040204" pitchFamily="34" charset="0"/>
              </a:rPr>
              <a:t>. 2008, Complex conductivity of water-saturated packs of glass beads. Journal of Colloid and Interface Science, 321, no. 1,103-117. </a:t>
            </a:r>
            <a:r>
              <a:rPr lang="en-US" sz="1000" dirty="0" err="1">
                <a:latin typeface="Tahoma" panose="020B0604030504040204" pitchFamily="34" charset="0"/>
                <a:ea typeface="Tahoma" panose="020B0604030504040204" pitchFamily="34" charset="0"/>
                <a:cs typeface="Tahoma" panose="020B0604030504040204" pitchFamily="34" charset="0"/>
              </a:rPr>
              <a:t>doi</a:t>
            </a:r>
            <a:r>
              <a:rPr lang="en-US" sz="1000" dirty="0">
                <a:latin typeface="Tahoma" panose="020B0604030504040204" pitchFamily="34" charset="0"/>
                <a:ea typeface="Tahoma" panose="020B0604030504040204" pitchFamily="34" charset="0"/>
                <a:cs typeface="Tahoma" panose="020B0604030504040204" pitchFamily="34" charset="0"/>
              </a:rPr>
              <a:t>: </a:t>
            </a:r>
            <a:r>
              <a:rPr lang="en-US" sz="1000" dirty="0">
                <a:latin typeface="Tahoma" panose="020B0604030504040204" pitchFamily="34" charset="0"/>
                <a:ea typeface="Tahoma" panose="020B0604030504040204" pitchFamily="34" charset="0"/>
                <a:cs typeface="Tahoma" panose="020B0604030504040204" pitchFamily="34" charset="0"/>
                <a:hlinkClick r:id="rId5"/>
              </a:rPr>
              <a:t>https://doi.org/10.1016/j.jcis.2007.12.031</a:t>
            </a:r>
            <a:r>
              <a:rPr lang="en-US" sz="1000" dirty="0">
                <a:latin typeface="Tahoma" panose="020B0604030504040204" pitchFamily="34" charset="0"/>
                <a:ea typeface="Tahoma" panose="020B0604030504040204" pitchFamily="34" charset="0"/>
                <a:cs typeface="Tahoma" panose="020B0604030504040204" pitchFamily="34" charset="0"/>
              </a:rPr>
              <a:t>.</a:t>
            </a:r>
          </a:p>
          <a:p>
            <a:r>
              <a:rPr lang="en-US" sz="1000" dirty="0" err="1">
                <a:latin typeface="Tahoma" panose="020B0604030504040204" pitchFamily="34" charset="0"/>
                <a:ea typeface="Tahoma" panose="020B0604030504040204" pitchFamily="34" charset="0"/>
                <a:cs typeface="Tahoma" panose="020B0604030504040204" pitchFamily="34" charset="0"/>
              </a:rPr>
              <a:t>Revil</a:t>
            </a:r>
            <a:r>
              <a:rPr lang="en-US" sz="1000" dirty="0">
                <a:latin typeface="Tahoma" panose="020B0604030504040204" pitchFamily="34" charset="0"/>
                <a:ea typeface="Tahoma" panose="020B0604030504040204" pitchFamily="34" charset="0"/>
                <a:cs typeface="Tahoma" panose="020B0604030504040204" pitchFamily="34" charset="0"/>
              </a:rPr>
              <a:t>, A., N. </a:t>
            </a:r>
            <a:r>
              <a:rPr lang="en-US" sz="1000" dirty="0" err="1">
                <a:latin typeface="Tahoma" panose="020B0604030504040204" pitchFamily="34" charset="0"/>
                <a:ea typeface="Tahoma" panose="020B0604030504040204" pitchFamily="34" charset="0"/>
                <a:cs typeface="Tahoma" panose="020B0604030504040204" pitchFamily="34" charset="0"/>
              </a:rPr>
              <a:t>Florsch</a:t>
            </a:r>
            <a:r>
              <a:rPr lang="en-US" sz="1000" dirty="0">
                <a:latin typeface="Tahoma" panose="020B0604030504040204" pitchFamily="34" charset="0"/>
                <a:ea typeface="Tahoma" panose="020B0604030504040204" pitchFamily="34" charset="0"/>
                <a:cs typeface="Tahoma" panose="020B0604030504040204" pitchFamily="34" charset="0"/>
              </a:rPr>
              <a:t>, and C. </a:t>
            </a:r>
            <a:r>
              <a:rPr lang="en-US" sz="1000" dirty="0" err="1">
                <a:latin typeface="Tahoma" panose="020B0604030504040204" pitchFamily="34" charset="0"/>
                <a:ea typeface="Tahoma" panose="020B0604030504040204" pitchFamily="34" charset="0"/>
                <a:cs typeface="Tahoma" panose="020B0604030504040204" pitchFamily="34" charset="0"/>
              </a:rPr>
              <a:t>Camerlynck</a:t>
            </a:r>
            <a:r>
              <a:rPr lang="en-US" sz="1000" dirty="0">
                <a:latin typeface="Tahoma" panose="020B0604030504040204" pitchFamily="34" charset="0"/>
                <a:ea typeface="Tahoma" panose="020B0604030504040204" pitchFamily="34" charset="0"/>
                <a:cs typeface="Tahoma" panose="020B0604030504040204" pitchFamily="34" charset="0"/>
              </a:rPr>
              <a:t>. 2014, Spectral induced polarization </a:t>
            </a:r>
            <a:r>
              <a:rPr lang="en-US" sz="1000" dirty="0" err="1">
                <a:latin typeface="Tahoma" panose="020B0604030504040204" pitchFamily="34" charset="0"/>
                <a:ea typeface="Tahoma" panose="020B0604030504040204" pitchFamily="34" charset="0"/>
                <a:cs typeface="Tahoma" panose="020B0604030504040204" pitchFamily="34" charset="0"/>
              </a:rPr>
              <a:t>porosimetry</a:t>
            </a:r>
            <a:r>
              <a:rPr lang="en-US" sz="1000" dirty="0">
                <a:latin typeface="Tahoma" panose="020B0604030504040204" pitchFamily="34" charset="0"/>
                <a:ea typeface="Tahoma" panose="020B0604030504040204" pitchFamily="34" charset="0"/>
                <a:cs typeface="Tahoma" panose="020B0604030504040204" pitchFamily="34" charset="0"/>
              </a:rPr>
              <a:t>. Geophysical Journal International, 198, no. 2,1016-1033. </a:t>
            </a:r>
            <a:r>
              <a:rPr lang="en-US" sz="1000" dirty="0" err="1">
                <a:latin typeface="Tahoma" panose="020B0604030504040204" pitchFamily="34" charset="0"/>
                <a:ea typeface="Tahoma" panose="020B0604030504040204" pitchFamily="34" charset="0"/>
                <a:cs typeface="Tahoma" panose="020B0604030504040204" pitchFamily="34" charset="0"/>
              </a:rPr>
              <a:t>doi</a:t>
            </a:r>
            <a:r>
              <a:rPr lang="en-US" sz="1000" dirty="0">
                <a:latin typeface="Tahoma" panose="020B0604030504040204" pitchFamily="34" charset="0"/>
                <a:ea typeface="Tahoma" panose="020B0604030504040204" pitchFamily="34" charset="0"/>
                <a:cs typeface="Tahoma" panose="020B0604030504040204" pitchFamily="34" charset="0"/>
              </a:rPr>
              <a:t>: 10.1093/</a:t>
            </a:r>
            <a:r>
              <a:rPr lang="en-US" sz="1000" dirty="0" err="1">
                <a:latin typeface="Tahoma" panose="020B0604030504040204" pitchFamily="34" charset="0"/>
                <a:ea typeface="Tahoma" panose="020B0604030504040204" pitchFamily="34" charset="0"/>
                <a:cs typeface="Tahoma" panose="020B0604030504040204" pitchFamily="34" charset="0"/>
              </a:rPr>
              <a:t>gji</a:t>
            </a:r>
            <a:r>
              <a:rPr lang="en-US" sz="1000" dirty="0">
                <a:latin typeface="Tahoma" panose="020B0604030504040204" pitchFamily="34" charset="0"/>
                <a:ea typeface="Tahoma" panose="020B0604030504040204" pitchFamily="34" charset="0"/>
                <a:cs typeface="Tahoma" panose="020B0604030504040204" pitchFamily="34" charset="0"/>
              </a:rPr>
              <a:t>/ggu180.</a:t>
            </a:r>
          </a:p>
          <a:p>
            <a:r>
              <a:rPr lang="en-US" sz="1000" dirty="0" err="1">
                <a:latin typeface="Tahoma" panose="020B0604030504040204" pitchFamily="34" charset="0"/>
                <a:ea typeface="Tahoma" panose="020B0604030504040204" pitchFamily="34" charset="0"/>
                <a:cs typeface="Tahoma" panose="020B0604030504040204" pitchFamily="34" charset="0"/>
              </a:rPr>
              <a:t>Niu</a:t>
            </a:r>
            <a:r>
              <a:rPr lang="en-US" sz="1000" dirty="0">
                <a:latin typeface="Tahoma" panose="020B0604030504040204" pitchFamily="34" charset="0"/>
                <a:ea typeface="Tahoma" panose="020B0604030504040204" pitchFamily="34" charset="0"/>
                <a:cs typeface="Tahoma" panose="020B0604030504040204" pitchFamily="34" charset="0"/>
              </a:rPr>
              <a:t>, Q., A. </a:t>
            </a:r>
            <a:r>
              <a:rPr lang="en-US" sz="1000" dirty="0" err="1">
                <a:latin typeface="Tahoma" panose="020B0604030504040204" pitchFamily="34" charset="0"/>
                <a:ea typeface="Tahoma" panose="020B0604030504040204" pitchFamily="34" charset="0"/>
                <a:cs typeface="Tahoma" panose="020B0604030504040204" pitchFamily="34" charset="0"/>
              </a:rPr>
              <a:t>Revil</a:t>
            </a:r>
            <a:r>
              <a:rPr lang="en-US" sz="1000" dirty="0">
                <a:latin typeface="Tahoma" panose="020B0604030504040204" pitchFamily="34" charset="0"/>
                <a:ea typeface="Tahoma" panose="020B0604030504040204" pitchFamily="34" charset="0"/>
                <a:cs typeface="Tahoma" panose="020B0604030504040204" pitchFamily="34" charset="0"/>
              </a:rPr>
              <a:t>, and M. </a:t>
            </a:r>
            <a:r>
              <a:rPr lang="en-US" sz="1000" dirty="0" err="1">
                <a:latin typeface="Tahoma" panose="020B0604030504040204" pitchFamily="34" charset="0"/>
                <a:ea typeface="Tahoma" panose="020B0604030504040204" pitchFamily="34" charset="0"/>
                <a:cs typeface="Tahoma" panose="020B0604030504040204" pitchFamily="34" charset="0"/>
              </a:rPr>
              <a:t>Saidian</a:t>
            </a:r>
            <a:r>
              <a:rPr lang="en-US" sz="1000" dirty="0">
                <a:latin typeface="Tahoma" panose="020B0604030504040204" pitchFamily="34" charset="0"/>
                <a:ea typeface="Tahoma" panose="020B0604030504040204" pitchFamily="34" charset="0"/>
                <a:cs typeface="Tahoma" panose="020B0604030504040204" pitchFamily="34" charset="0"/>
              </a:rPr>
              <a:t>. 2016, Salinity dependence of the complex surface conductivity of the Portland sandstone. GEOPHYSICS, 81, no. 2,D125-D140. </a:t>
            </a:r>
            <a:r>
              <a:rPr lang="en-US" sz="1000" dirty="0" err="1">
                <a:latin typeface="Tahoma" panose="020B0604030504040204" pitchFamily="34" charset="0"/>
                <a:ea typeface="Tahoma" panose="020B0604030504040204" pitchFamily="34" charset="0"/>
                <a:cs typeface="Tahoma" panose="020B0604030504040204" pitchFamily="34" charset="0"/>
              </a:rPr>
              <a:t>doi</a:t>
            </a:r>
            <a:r>
              <a:rPr lang="en-US" sz="1000" dirty="0">
                <a:latin typeface="Tahoma" panose="020B0604030504040204" pitchFamily="34" charset="0"/>
                <a:ea typeface="Tahoma" panose="020B0604030504040204" pitchFamily="34" charset="0"/>
                <a:cs typeface="Tahoma" panose="020B0604030504040204" pitchFamily="34" charset="0"/>
              </a:rPr>
              <a:t>: 10.1190/geo2015-0426.1.</a:t>
            </a:r>
          </a:p>
          <a:p>
            <a:r>
              <a:rPr lang="en-US" sz="1000" dirty="0" err="1">
                <a:latin typeface="Tahoma" panose="020B0604030504040204" pitchFamily="34" charset="0"/>
                <a:ea typeface="Tahoma" panose="020B0604030504040204" pitchFamily="34" charset="0"/>
                <a:cs typeface="Tahoma" panose="020B0604030504040204" pitchFamily="34" charset="0"/>
              </a:rPr>
              <a:t>Niu</a:t>
            </a:r>
            <a:r>
              <a:rPr lang="en-US" sz="1000" dirty="0">
                <a:latin typeface="Tahoma" panose="020B0604030504040204" pitchFamily="34" charset="0"/>
                <a:ea typeface="Tahoma" panose="020B0604030504040204" pitchFamily="34" charset="0"/>
                <a:cs typeface="Tahoma" panose="020B0604030504040204" pitchFamily="34" charset="0"/>
              </a:rPr>
              <a:t>, Q., and A. </a:t>
            </a:r>
            <a:r>
              <a:rPr lang="en-US" sz="1000" dirty="0" err="1">
                <a:latin typeface="Tahoma" panose="020B0604030504040204" pitchFamily="34" charset="0"/>
                <a:ea typeface="Tahoma" panose="020B0604030504040204" pitchFamily="34" charset="0"/>
                <a:cs typeface="Tahoma" panose="020B0604030504040204" pitchFamily="34" charset="0"/>
              </a:rPr>
              <a:t>Revil</a:t>
            </a:r>
            <a:r>
              <a:rPr lang="en-US" sz="1000" dirty="0">
                <a:latin typeface="Tahoma" panose="020B0604030504040204" pitchFamily="34" charset="0"/>
                <a:ea typeface="Tahoma" panose="020B0604030504040204" pitchFamily="34" charset="0"/>
                <a:cs typeface="Tahoma" panose="020B0604030504040204" pitchFamily="34" charset="0"/>
              </a:rPr>
              <a:t>. 2015, Connecting complex conductivity spectra to mercury </a:t>
            </a:r>
            <a:r>
              <a:rPr lang="en-US" sz="1000" dirty="0" err="1">
                <a:latin typeface="Tahoma" panose="020B0604030504040204" pitchFamily="34" charset="0"/>
                <a:ea typeface="Tahoma" panose="020B0604030504040204" pitchFamily="34" charset="0"/>
                <a:cs typeface="Tahoma" panose="020B0604030504040204" pitchFamily="34" charset="0"/>
              </a:rPr>
              <a:t>porosimetry</a:t>
            </a:r>
            <a:r>
              <a:rPr lang="en-US" sz="1000" dirty="0">
                <a:latin typeface="Tahoma" panose="020B0604030504040204" pitchFamily="34" charset="0"/>
                <a:ea typeface="Tahoma" panose="020B0604030504040204" pitchFamily="34" charset="0"/>
                <a:cs typeface="Tahoma" panose="020B0604030504040204" pitchFamily="34" charset="0"/>
              </a:rPr>
              <a:t> of sedimentary rocks. GEOPHYSICS, 81, no. 1,E17-E32. </a:t>
            </a:r>
            <a:r>
              <a:rPr lang="en-US" sz="1000" dirty="0" err="1">
                <a:latin typeface="Tahoma" panose="020B0604030504040204" pitchFamily="34" charset="0"/>
                <a:ea typeface="Tahoma" panose="020B0604030504040204" pitchFamily="34" charset="0"/>
                <a:cs typeface="Tahoma" panose="020B0604030504040204" pitchFamily="34" charset="0"/>
              </a:rPr>
              <a:t>doi</a:t>
            </a:r>
            <a:r>
              <a:rPr lang="en-US" sz="1000" dirty="0">
                <a:latin typeface="Tahoma" panose="020B0604030504040204" pitchFamily="34" charset="0"/>
                <a:ea typeface="Tahoma" panose="020B0604030504040204" pitchFamily="34" charset="0"/>
                <a:cs typeface="Tahoma" panose="020B0604030504040204" pitchFamily="34" charset="0"/>
              </a:rPr>
              <a:t>: 10.1190/geo2015-0072.1.</a:t>
            </a:r>
          </a:p>
        </p:txBody>
      </p:sp>
    </p:spTree>
    <p:extLst>
      <p:ext uri="{BB962C8B-B14F-4D97-AF65-F5344CB8AC3E}">
        <p14:creationId xmlns:p14="http://schemas.microsoft.com/office/powerpoint/2010/main" val="4809020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30203-0CC2-479D-AE73-3D743003EBA2}"/>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Questions/Comments</a:t>
            </a:r>
            <a:endParaRPr lang="en-US" sz="3600" dirty="0"/>
          </a:p>
        </p:txBody>
      </p:sp>
      <p:sp>
        <p:nvSpPr>
          <p:cNvPr id="3" name="Content Placeholder 2">
            <a:extLst>
              <a:ext uri="{FF2B5EF4-FFF2-40B4-BE49-F238E27FC236}">
                <a16:creationId xmlns:a16="http://schemas.microsoft.com/office/drawing/2014/main" id="{182A2C07-2D62-4313-83B6-BA47384619C4}"/>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007993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72A7F-2C1F-481E-8DBF-CFAAFF16BDD1}"/>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Supplemental Figures</a:t>
            </a:r>
            <a:endParaRPr lang="en-US" sz="3600" dirty="0"/>
          </a:p>
        </p:txBody>
      </p:sp>
      <p:sp>
        <p:nvSpPr>
          <p:cNvPr id="3" name="Content Placeholder 2">
            <a:extLst>
              <a:ext uri="{FF2B5EF4-FFF2-40B4-BE49-F238E27FC236}">
                <a16:creationId xmlns:a16="http://schemas.microsoft.com/office/drawing/2014/main" id="{ECDCE1C7-784B-4A69-B456-85D4AE90D70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64963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8918B-21AF-4643-AD0A-54F35F520118}"/>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Imaging</a:t>
            </a:r>
          </a:p>
        </p:txBody>
      </p:sp>
      <p:pic>
        <p:nvPicPr>
          <p:cNvPr id="13" name="Picture 12">
            <a:extLst>
              <a:ext uri="{FF2B5EF4-FFF2-40B4-BE49-F238E27FC236}">
                <a16:creationId xmlns:a16="http://schemas.microsoft.com/office/drawing/2014/main" id="{F678607E-53DC-4B5F-9662-73329B1B97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823" y="1374642"/>
            <a:ext cx="2632050" cy="2487956"/>
          </a:xfrm>
          <a:prstGeom prst="rect">
            <a:avLst/>
          </a:prstGeom>
        </p:spPr>
      </p:pic>
      <p:pic>
        <p:nvPicPr>
          <p:cNvPr id="14" name="Picture 13">
            <a:extLst>
              <a:ext uri="{FF2B5EF4-FFF2-40B4-BE49-F238E27FC236}">
                <a16:creationId xmlns:a16="http://schemas.microsoft.com/office/drawing/2014/main" id="{926AE8CF-6224-4F91-AD4A-35DDC38D4A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5975" y="1374642"/>
            <a:ext cx="2632050" cy="2487956"/>
          </a:xfrm>
          <a:prstGeom prst="rect">
            <a:avLst/>
          </a:prstGeom>
        </p:spPr>
      </p:pic>
      <p:pic>
        <p:nvPicPr>
          <p:cNvPr id="15" name="Picture 14">
            <a:extLst>
              <a:ext uri="{FF2B5EF4-FFF2-40B4-BE49-F238E27FC236}">
                <a16:creationId xmlns:a16="http://schemas.microsoft.com/office/drawing/2014/main" id="{D18496B0-B7CC-4609-A101-D7A431BE01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0960" y="1374642"/>
            <a:ext cx="2637236" cy="2487956"/>
          </a:xfrm>
          <a:prstGeom prst="rect">
            <a:avLst/>
          </a:prstGeom>
        </p:spPr>
      </p:pic>
      <p:grpSp>
        <p:nvGrpSpPr>
          <p:cNvPr id="10" name="Group 9">
            <a:extLst>
              <a:ext uri="{FF2B5EF4-FFF2-40B4-BE49-F238E27FC236}">
                <a16:creationId xmlns:a16="http://schemas.microsoft.com/office/drawing/2014/main" id="{1FA022B1-A10A-429F-9C22-8E2746ADD279}"/>
              </a:ext>
            </a:extLst>
          </p:cNvPr>
          <p:cNvGrpSpPr/>
          <p:nvPr/>
        </p:nvGrpSpPr>
        <p:grpSpPr>
          <a:xfrm>
            <a:off x="1676765" y="3962136"/>
            <a:ext cx="5790468" cy="2487956"/>
            <a:chOff x="1610349" y="4153116"/>
            <a:chExt cx="5790468" cy="2487956"/>
          </a:xfrm>
        </p:grpSpPr>
        <p:pic>
          <p:nvPicPr>
            <p:cNvPr id="16" name="Picture 15">
              <a:extLst>
                <a:ext uri="{FF2B5EF4-FFF2-40B4-BE49-F238E27FC236}">
                  <a16:creationId xmlns:a16="http://schemas.microsoft.com/office/drawing/2014/main" id="{E88881B7-0002-427A-B5DA-8F72BA751E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10349" y="4153116"/>
              <a:ext cx="2632050" cy="2487956"/>
            </a:xfrm>
            <a:prstGeom prst="rect">
              <a:avLst/>
            </a:prstGeom>
          </p:spPr>
        </p:pic>
        <p:pic>
          <p:nvPicPr>
            <p:cNvPr id="17" name="Picture 16">
              <a:extLst>
                <a:ext uri="{FF2B5EF4-FFF2-40B4-BE49-F238E27FC236}">
                  <a16:creationId xmlns:a16="http://schemas.microsoft.com/office/drawing/2014/main" id="{CEB15CFC-CB07-419C-A1F3-59B48F8DC5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63581" y="4153116"/>
              <a:ext cx="2637236" cy="2487956"/>
            </a:xfrm>
            <a:prstGeom prst="rect">
              <a:avLst/>
            </a:prstGeom>
          </p:spPr>
        </p:pic>
      </p:grpSp>
      <p:sp>
        <p:nvSpPr>
          <p:cNvPr id="18" name="TextBox 17">
            <a:extLst>
              <a:ext uri="{FF2B5EF4-FFF2-40B4-BE49-F238E27FC236}">
                <a16:creationId xmlns:a16="http://schemas.microsoft.com/office/drawing/2014/main" id="{31D092F9-6ECB-4B39-9303-5BA2BE6E8743}"/>
              </a:ext>
            </a:extLst>
          </p:cNvPr>
          <p:cNvSpPr txBox="1"/>
          <p:nvPr/>
        </p:nvSpPr>
        <p:spPr>
          <a:xfrm>
            <a:off x="1166969" y="3821500"/>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M2</a:t>
            </a:r>
          </a:p>
        </p:txBody>
      </p:sp>
      <p:sp>
        <p:nvSpPr>
          <p:cNvPr id="19" name="TextBox 18">
            <a:extLst>
              <a:ext uri="{FF2B5EF4-FFF2-40B4-BE49-F238E27FC236}">
                <a16:creationId xmlns:a16="http://schemas.microsoft.com/office/drawing/2014/main" id="{11F43EBC-B6AA-4099-8552-0E0E756644A6}"/>
              </a:ext>
            </a:extLst>
          </p:cNvPr>
          <p:cNvSpPr txBox="1"/>
          <p:nvPr/>
        </p:nvSpPr>
        <p:spPr>
          <a:xfrm>
            <a:off x="4297121" y="3821500"/>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G6</a:t>
            </a:r>
          </a:p>
        </p:txBody>
      </p:sp>
      <p:sp>
        <p:nvSpPr>
          <p:cNvPr id="20" name="TextBox 19">
            <a:extLst>
              <a:ext uri="{FF2B5EF4-FFF2-40B4-BE49-F238E27FC236}">
                <a16:creationId xmlns:a16="http://schemas.microsoft.com/office/drawing/2014/main" id="{3474E327-2D31-4944-A131-79BC4C7B9920}"/>
              </a:ext>
            </a:extLst>
          </p:cNvPr>
          <p:cNvSpPr txBox="1"/>
          <p:nvPr/>
        </p:nvSpPr>
        <p:spPr>
          <a:xfrm>
            <a:off x="7427274" y="3816383"/>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G4</a:t>
            </a:r>
          </a:p>
        </p:txBody>
      </p:sp>
      <p:sp>
        <p:nvSpPr>
          <p:cNvPr id="21" name="TextBox 20">
            <a:extLst>
              <a:ext uri="{FF2B5EF4-FFF2-40B4-BE49-F238E27FC236}">
                <a16:creationId xmlns:a16="http://schemas.microsoft.com/office/drawing/2014/main" id="{BFA45B7D-6520-4F35-A56E-24FC181A461A}"/>
              </a:ext>
            </a:extLst>
          </p:cNvPr>
          <p:cNvSpPr txBox="1"/>
          <p:nvPr/>
        </p:nvSpPr>
        <p:spPr>
          <a:xfrm>
            <a:off x="2723741" y="6450092"/>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G2</a:t>
            </a:r>
          </a:p>
        </p:txBody>
      </p:sp>
      <p:sp>
        <p:nvSpPr>
          <p:cNvPr id="22" name="TextBox 21">
            <a:extLst>
              <a:ext uri="{FF2B5EF4-FFF2-40B4-BE49-F238E27FC236}">
                <a16:creationId xmlns:a16="http://schemas.microsoft.com/office/drawing/2014/main" id="{5010EA03-231C-42EB-B005-EB37343A873A}"/>
              </a:ext>
            </a:extLst>
          </p:cNvPr>
          <p:cNvSpPr txBox="1"/>
          <p:nvPr/>
        </p:nvSpPr>
        <p:spPr>
          <a:xfrm>
            <a:off x="5873736" y="6450092"/>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G1</a:t>
            </a:r>
          </a:p>
        </p:txBody>
      </p:sp>
      <p:sp>
        <p:nvSpPr>
          <p:cNvPr id="23" name="TextBox 22">
            <a:extLst>
              <a:ext uri="{FF2B5EF4-FFF2-40B4-BE49-F238E27FC236}">
                <a16:creationId xmlns:a16="http://schemas.microsoft.com/office/drawing/2014/main" id="{79CE69B9-DA06-4EEE-BCDE-14C94DAFF016}"/>
              </a:ext>
            </a:extLst>
          </p:cNvPr>
          <p:cNvSpPr txBox="1"/>
          <p:nvPr/>
        </p:nvSpPr>
        <p:spPr>
          <a:xfrm>
            <a:off x="7808538" y="6450092"/>
            <a:ext cx="1413620" cy="400110"/>
          </a:xfrm>
          <a:prstGeom prst="rect">
            <a:avLst/>
          </a:prstGeom>
          <a:noFill/>
        </p:spPr>
        <p:txBody>
          <a:bodyPr wrap="square" rtlCol="0">
            <a:spAutoFit/>
          </a:bodyPr>
          <a:lstStyle/>
          <a:p>
            <a:r>
              <a:rPr lang="en-US" sz="1000" dirty="0">
                <a:latin typeface="Tahoma" panose="020B0604030504040204" pitchFamily="34" charset="0"/>
                <a:ea typeface="Tahoma" panose="020B0604030504040204" pitchFamily="34" charset="0"/>
                <a:cs typeface="Tahoma" panose="020B0604030504040204" pitchFamily="34" charset="0"/>
              </a:rPr>
              <a:t>4.30 µm resolution, cube edge ~ 2.6 mm</a:t>
            </a:r>
          </a:p>
        </p:txBody>
      </p:sp>
    </p:spTree>
    <p:extLst>
      <p:ext uri="{BB962C8B-B14F-4D97-AF65-F5344CB8AC3E}">
        <p14:creationId xmlns:p14="http://schemas.microsoft.com/office/powerpoint/2010/main" val="19801538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3D727-EFC6-4551-8273-870F6DC6B3A6}"/>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Phase Segmentation</a:t>
            </a:r>
          </a:p>
        </p:txBody>
      </p:sp>
      <p:sp>
        <p:nvSpPr>
          <p:cNvPr id="3" name="Content Placeholder 2">
            <a:extLst>
              <a:ext uri="{FF2B5EF4-FFF2-40B4-BE49-F238E27FC236}">
                <a16:creationId xmlns:a16="http://schemas.microsoft.com/office/drawing/2014/main" id="{08FFE229-47D4-4481-9573-47ABB5401D1A}"/>
              </a:ext>
            </a:extLst>
          </p:cNvPr>
          <p:cNvSpPr>
            <a:spLocks noGrp="1"/>
          </p:cNvSpPr>
          <p:nvPr>
            <p:ph idx="1"/>
          </p:nvPr>
        </p:nvSpPr>
        <p:spPr>
          <a:xfrm>
            <a:off x="628650" y="1825627"/>
            <a:ext cx="7886700" cy="1325563"/>
          </a:xfrm>
        </p:spPr>
        <p:txBody>
          <a:bodyPr>
            <a:normAutofit fontScale="85000" lnSpcReduction="10000"/>
          </a:bodyPr>
          <a:lstStyle/>
          <a:p>
            <a:r>
              <a:rPr lang="en-US" dirty="0">
                <a:latin typeface="Tahoma" panose="020B0604030504040204" pitchFamily="34" charset="0"/>
                <a:ea typeface="Tahoma" panose="020B0604030504040204" pitchFamily="34" charset="0"/>
                <a:cs typeface="Tahoma" panose="020B0604030504040204" pitchFamily="34" charset="0"/>
              </a:rPr>
              <a:t>Grayscale values range from 0 (black) to 255 (white)</a:t>
            </a:r>
          </a:p>
          <a:p>
            <a:r>
              <a:rPr lang="en-US" dirty="0">
                <a:latin typeface="Tahoma" panose="020B0604030504040204" pitchFamily="34" charset="0"/>
                <a:ea typeface="Tahoma" panose="020B0604030504040204" pitchFamily="34" charset="0"/>
                <a:cs typeface="Tahoma" panose="020B0604030504040204" pitchFamily="34" charset="0"/>
              </a:rPr>
              <a:t>Intensity histograms generated for each sample to help choose the ideal threshold value (105 to 145)</a:t>
            </a:r>
          </a:p>
          <a:p>
            <a:endParaRPr lang="en-US" dirty="0">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39AB3F18-903F-4F36-8127-759C91167157}"/>
              </a:ext>
            </a:extLst>
          </p:cNvPr>
          <p:cNvPicPr>
            <a:picLocks noChangeAspect="1"/>
          </p:cNvPicPr>
          <p:nvPr/>
        </p:nvPicPr>
        <p:blipFill>
          <a:blip r:embed="rId2"/>
          <a:stretch>
            <a:fillRect/>
          </a:stretch>
        </p:blipFill>
        <p:spPr>
          <a:xfrm>
            <a:off x="39294" y="3706811"/>
            <a:ext cx="2537754" cy="2064809"/>
          </a:xfrm>
          <a:prstGeom prst="rect">
            <a:avLst/>
          </a:prstGeom>
        </p:spPr>
      </p:pic>
      <p:pic>
        <p:nvPicPr>
          <p:cNvPr id="5" name="Picture 4">
            <a:extLst>
              <a:ext uri="{FF2B5EF4-FFF2-40B4-BE49-F238E27FC236}">
                <a16:creationId xmlns:a16="http://schemas.microsoft.com/office/drawing/2014/main" id="{FD34E7D6-A696-4C9D-82C0-B65E5153570B}"/>
              </a:ext>
            </a:extLst>
          </p:cNvPr>
          <p:cNvPicPr>
            <a:picLocks noChangeAspect="1"/>
          </p:cNvPicPr>
          <p:nvPr/>
        </p:nvPicPr>
        <p:blipFill>
          <a:blip r:embed="rId3"/>
          <a:stretch>
            <a:fillRect/>
          </a:stretch>
        </p:blipFill>
        <p:spPr>
          <a:xfrm>
            <a:off x="6545316" y="3706811"/>
            <a:ext cx="2555552" cy="2079289"/>
          </a:xfrm>
          <a:prstGeom prst="rect">
            <a:avLst/>
          </a:prstGeom>
        </p:spPr>
      </p:pic>
      <p:pic>
        <p:nvPicPr>
          <p:cNvPr id="7" name="Picture 6">
            <a:extLst>
              <a:ext uri="{FF2B5EF4-FFF2-40B4-BE49-F238E27FC236}">
                <a16:creationId xmlns:a16="http://schemas.microsoft.com/office/drawing/2014/main" id="{5B8A7FB6-46CE-4BA7-AA78-137B0E668AB6}"/>
              </a:ext>
            </a:extLst>
          </p:cNvPr>
          <p:cNvPicPr>
            <a:picLocks noChangeAspect="1"/>
          </p:cNvPicPr>
          <p:nvPr/>
        </p:nvPicPr>
        <p:blipFill>
          <a:blip r:embed="rId4"/>
          <a:stretch>
            <a:fillRect/>
          </a:stretch>
        </p:blipFill>
        <p:spPr>
          <a:xfrm>
            <a:off x="2625372" y="3641657"/>
            <a:ext cx="3893256" cy="2144443"/>
          </a:xfrm>
          <a:prstGeom prst="rect">
            <a:avLst/>
          </a:prstGeom>
        </p:spPr>
      </p:pic>
      <p:sp>
        <p:nvSpPr>
          <p:cNvPr id="8" name="TextBox 7">
            <a:extLst>
              <a:ext uri="{FF2B5EF4-FFF2-40B4-BE49-F238E27FC236}">
                <a16:creationId xmlns:a16="http://schemas.microsoft.com/office/drawing/2014/main" id="{B7D82CA1-1259-40E0-8602-9DD62C06E1BF}"/>
              </a:ext>
            </a:extLst>
          </p:cNvPr>
          <p:cNvSpPr txBox="1"/>
          <p:nvPr/>
        </p:nvSpPr>
        <p:spPr>
          <a:xfrm>
            <a:off x="6794309" y="6457890"/>
            <a:ext cx="2479088" cy="400110"/>
          </a:xfrm>
          <a:prstGeom prst="rect">
            <a:avLst/>
          </a:prstGeom>
          <a:noFill/>
        </p:spPr>
        <p:txBody>
          <a:bodyPr wrap="square" rtlCol="0">
            <a:spAutoFit/>
          </a:bodyPr>
          <a:lstStyle/>
          <a:p>
            <a:r>
              <a:rPr lang="en-US" sz="1000" dirty="0">
                <a:latin typeface="Tahoma" panose="020B0604030504040204" pitchFamily="34" charset="0"/>
                <a:ea typeface="Tahoma" panose="020B0604030504040204" pitchFamily="34" charset="0"/>
                <a:cs typeface="Tahoma" panose="020B0604030504040204" pitchFamily="34" charset="0"/>
              </a:rPr>
              <a:t>Note: black and white grayscale values are flipped for these cross sections</a:t>
            </a:r>
          </a:p>
        </p:txBody>
      </p:sp>
    </p:spTree>
    <p:extLst>
      <p:ext uri="{BB962C8B-B14F-4D97-AF65-F5344CB8AC3E}">
        <p14:creationId xmlns:p14="http://schemas.microsoft.com/office/powerpoint/2010/main" val="3895307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93FDC-76C2-43EF-966C-8AC79B29FB80}"/>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a:t>
            </a:r>
            <a:r>
              <a:rPr lang="en-US" sz="3400" dirty="0">
                <a:latin typeface="Tahoma" panose="020B0604030504040204" pitchFamily="34" charset="0"/>
                <a:ea typeface="Tahoma" panose="020B0604030504040204" pitchFamily="34" charset="0"/>
                <a:cs typeface="Tahoma" panose="020B0604030504040204" pitchFamily="34" charset="0"/>
              </a:rPr>
              <a:t>Post-Processing: Re-gridding</a:t>
            </a:r>
            <a:endParaRPr lang="en-US" sz="3400" dirty="0"/>
          </a:p>
        </p:txBody>
      </p:sp>
      <p:sp>
        <p:nvSpPr>
          <p:cNvPr id="3" name="Content Placeholder 2">
            <a:extLst>
              <a:ext uri="{FF2B5EF4-FFF2-40B4-BE49-F238E27FC236}">
                <a16:creationId xmlns:a16="http://schemas.microsoft.com/office/drawing/2014/main" id="{65DEAEF8-10DB-4504-ADFA-8E48AF399BFD}"/>
              </a:ext>
            </a:extLst>
          </p:cNvPr>
          <p:cNvSpPr>
            <a:spLocks noGrp="1"/>
          </p:cNvSpPr>
          <p:nvPr>
            <p:ph idx="1"/>
          </p:nvPr>
        </p:nvSpPr>
        <p:spPr>
          <a:xfrm>
            <a:off x="628649" y="1621767"/>
            <a:ext cx="8178921" cy="2613803"/>
          </a:xfrm>
        </p:spPr>
        <p:txBody>
          <a:bodyPr>
            <a:normAutofit fontScale="62500" lnSpcReduction="20000"/>
          </a:bodyPr>
          <a:lstStyle/>
          <a:p>
            <a:r>
              <a:rPr lang="en-US" dirty="0">
                <a:latin typeface="Tahoma" panose="020B0604030504040204" pitchFamily="34" charset="0"/>
                <a:ea typeface="Tahoma" panose="020B0604030504040204" pitchFamily="34" charset="0"/>
                <a:cs typeface="Tahoma" panose="020B0604030504040204" pitchFamily="34" charset="0"/>
              </a:rPr>
              <a:t>The 600</a:t>
            </a:r>
            <a:r>
              <a:rPr lang="en-US" baseline="30000" dirty="0">
                <a:latin typeface="Tahoma" panose="020B0604030504040204" pitchFamily="34" charset="0"/>
                <a:ea typeface="Tahoma" panose="020B0604030504040204" pitchFamily="34" charset="0"/>
                <a:cs typeface="Tahoma" panose="020B0604030504040204" pitchFamily="34" charset="0"/>
              </a:rPr>
              <a:t>3</a:t>
            </a:r>
            <a:r>
              <a:rPr lang="en-US" dirty="0">
                <a:latin typeface="Tahoma" panose="020B0604030504040204" pitchFamily="34" charset="0"/>
                <a:ea typeface="Tahoma" panose="020B0604030504040204" pitchFamily="34" charset="0"/>
                <a:cs typeface="Tahoma" panose="020B0604030504040204" pitchFamily="34" charset="0"/>
              </a:rPr>
              <a:t> image cubes were re-gridded to 200</a:t>
            </a:r>
            <a:r>
              <a:rPr lang="en-US" baseline="30000" dirty="0">
                <a:latin typeface="Tahoma" panose="020B0604030504040204" pitchFamily="34" charset="0"/>
                <a:ea typeface="Tahoma" panose="020B0604030504040204" pitchFamily="34" charset="0"/>
                <a:cs typeface="Tahoma" panose="020B0604030504040204" pitchFamily="34" charset="0"/>
              </a:rPr>
              <a:t>3</a:t>
            </a:r>
            <a:r>
              <a:rPr lang="en-US" dirty="0">
                <a:latin typeface="Tahoma" panose="020B0604030504040204" pitchFamily="34" charset="0"/>
                <a:ea typeface="Tahoma" panose="020B0604030504040204" pitchFamily="34" charset="0"/>
                <a:cs typeface="Tahoma" panose="020B0604030504040204" pitchFamily="34" charset="0"/>
              </a:rPr>
              <a:t> image cubes</a:t>
            </a:r>
          </a:p>
          <a:p>
            <a:pPr marL="914400" lvl="1" indent="-457200">
              <a:buFont typeface="+mj-lt"/>
              <a:buAutoNum type="arabicPeriod"/>
            </a:pPr>
            <a:r>
              <a:rPr lang="en-US" dirty="0">
                <a:latin typeface="Tahoma" panose="020B0604030504040204" pitchFamily="34" charset="0"/>
                <a:ea typeface="Tahoma" panose="020B0604030504040204" pitchFamily="34" charset="0"/>
                <a:cs typeface="Tahoma" panose="020B0604030504040204" pitchFamily="34" charset="0"/>
              </a:rPr>
              <a:t>The original cubes were partitioned into smaller sections of 3</a:t>
            </a:r>
            <a:r>
              <a:rPr lang="en-US" baseline="30000" dirty="0">
                <a:latin typeface="Tahoma" panose="020B0604030504040204" pitchFamily="34" charset="0"/>
                <a:ea typeface="Tahoma" panose="020B0604030504040204" pitchFamily="34" charset="0"/>
                <a:cs typeface="Tahoma" panose="020B0604030504040204" pitchFamily="34" charset="0"/>
              </a:rPr>
              <a:t>3</a:t>
            </a:r>
            <a:r>
              <a:rPr lang="en-US" dirty="0">
                <a:latin typeface="Tahoma" panose="020B0604030504040204" pitchFamily="34" charset="0"/>
                <a:ea typeface="Tahoma" panose="020B0604030504040204" pitchFamily="34" charset="0"/>
                <a:cs typeface="Tahoma" panose="020B0604030504040204" pitchFamily="34" charset="0"/>
              </a:rPr>
              <a:t> regions</a:t>
            </a:r>
          </a:p>
          <a:p>
            <a:pPr marL="914400" lvl="1" indent="-457200">
              <a:buFont typeface="+mj-lt"/>
              <a:buAutoNum type="arabicPeriod"/>
            </a:pPr>
            <a:r>
              <a:rPr lang="en-US" dirty="0">
                <a:latin typeface="Tahoma" panose="020B0604030504040204" pitchFamily="34" charset="0"/>
                <a:ea typeface="Tahoma" panose="020B0604030504040204" pitchFamily="34" charset="0"/>
                <a:cs typeface="Tahoma" panose="020B0604030504040204" pitchFamily="34" charset="0"/>
              </a:rPr>
              <a:t>Within each 3</a:t>
            </a:r>
            <a:r>
              <a:rPr lang="en-US" baseline="30000" dirty="0">
                <a:latin typeface="Tahoma" panose="020B0604030504040204" pitchFamily="34" charset="0"/>
                <a:ea typeface="Tahoma" panose="020B0604030504040204" pitchFamily="34" charset="0"/>
                <a:cs typeface="Tahoma" panose="020B0604030504040204" pitchFamily="34" charset="0"/>
              </a:rPr>
              <a:t>3</a:t>
            </a:r>
            <a:r>
              <a:rPr lang="en-US" dirty="0">
                <a:latin typeface="Tahoma" panose="020B0604030504040204" pitchFamily="34" charset="0"/>
                <a:ea typeface="Tahoma" panose="020B0604030504040204" pitchFamily="34" charset="0"/>
                <a:cs typeface="Tahoma" panose="020B0604030504040204" pitchFamily="34" charset="0"/>
              </a:rPr>
              <a:t> region, we counted the number of pore versus solid voxels</a:t>
            </a:r>
          </a:p>
          <a:p>
            <a:pPr marL="914400" lvl="1" indent="-457200">
              <a:buFont typeface="+mj-lt"/>
              <a:buAutoNum type="arabicPeriod"/>
            </a:pPr>
            <a:r>
              <a:rPr lang="en-US" dirty="0">
                <a:latin typeface="Tahoma" panose="020B0604030504040204" pitchFamily="34" charset="0"/>
                <a:ea typeface="Tahoma" panose="020B0604030504040204" pitchFamily="34" charset="0"/>
                <a:cs typeface="Tahoma" panose="020B0604030504040204" pitchFamily="34" charset="0"/>
              </a:rPr>
              <a:t>If a high enough number of pore voxels out of 27 were present (at or greater than a user-chosen value), a single pore voxel was defined from the region. Otherwise, a single solid voxel was defined</a:t>
            </a:r>
          </a:p>
          <a:p>
            <a:r>
              <a:rPr lang="en-US" dirty="0">
                <a:latin typeface="Tahoma" panose="020B0604030504040204" pitchFamily="34" charset="0"/>
                <a:ea typeface="Tahoma" panose="020B0604030504040204" pitchFamily="34" charset="0"/>
                <a:cs typeface="Tahoma" panose="020B0604030504040204" pitchFamily="34" charset="0"/>
              </a:rPr>
              <a:t>This reduced the number of voxels to process from 216,000,000 to 8,000,000 and cut down on processing time, however, some detail is lost as edges are “smoothed out”</a:t>
            </a:r>
          </a:p>
          <a:p>
            <a:r>
              <a:rPr lang="en-US" dirty="0">
                <a:latin typeface="Tahoma" panose="020B0604030504040204" pitchFamily="34" charset="0"/>
                <a:ea typeface="Tahoma" panose="020B0604030504040204" pitchFamily="34" charset="0"/>
                <a:cs typeface="Tahoma" panose="020B0604030504040204" pitchFamily="34" charset="0"/>
              </a:rPr>
              <a:t>Different user-chosen “compression criterion” values (from 3 to 10) were used during simulation trials to investigate its effects</a:t>
            </a:r>
          </a:p>
        </p:txBody>
      </p:sp>
      <p:pic>
        <p:nvPicPr>
          <p:cNvPr id="5" name="Picture 4">
            <a:extLst>
              <a:ext uri="{FF2B5EF4-FFF2-40B4-BE49-F238E27FC236}">
                <a16:creationId xmlns:a16="http://schemas.microsoft.com/office/drawing/2014/main" id="{F3490F62-7070-4DC1-A370-00921BC4E8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9735" y="4286896"/>
            <a:ext cx="6124530" cy="2410629"/>
          </a:xfrm>
          <a:prstGeom prst="rect">
            <a:avLst/>
          </a:prstGeom>
        </p:spPr>
      </p:pic>
      <p:sp>
        <p:nvSpPr>
          <p:cNvPr id="6" name="Arrow: Right 5">
            <a:extLst>
              <a:ext uri="{FF2B5EF4-FFF2-40B4-BE49-F238E27FC236}">
                <a16:creationId xmlns:a16="http://schemas.microsoft.com/office/drawing/2014/main" id="{DDB92739-1C2E-4FBA-AE4A-BDA60A0D3FA0}"/>
              </a:ext>
            </a:extLst>
          </p:cNvPr>
          <p:cNvSpPr/>
          <p:nvPr/>
        </p:nvSpPr>
        <p:spPr>
          <a:xfrm>
            <a:off x="4459856" y="4973127"/>
            <a:ext cx="871268" cy="5262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39015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7C1C179D-B8C6-4EBE-BE92-8521496C8BDF}"/>
              </a:ext>
            </a:extLst>
          </p:cNvPr>
          <p:cNvSpPr txBox="1"/>
          <p:nvPr/>
        </p:nvSpPr>
        <p:spPr>
          <a:xfrm>
            <a:off x="1166969" y="3821500"/>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M2</a:t>
            </a:r>
          </a:p>
        </p:txBody>
      </p:sp>
      <p:sp>
        <p:nvSpPr>
          <p:cNvPr id="21" name="TextBox 20">
            <a:extLst>
              <a:ext uri="{FF2B5EF4-FFF2-40B4-BE49-F238E27FC236}">
                <a16:creationId xmlns:a16="http://schemas.microsoft.com/office/drawing/2014/main" id="{C530D2D6-D6F2-4D52-8766-EF7AE52F937C}"/>
              </a:ext>
            </a:extLst>
          </p:cNvPr>
          <p:cNvSpPr txBox="1"/>
          <p:nvPr/>
        </p:nvSpPr>
        <p:spPr>
          <a:xfrm>
            <a:off x="4297121" y="3821500"/>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G6</a:t>
            </a:r>
          </a:p>
        </p:txBody>
      </p:sp>
      <p:sp>
        <p:nvSpPr>
          <p:cNvPr id="22" name="TextBox 21">
            <a:extLst>
              <a:ext uri="{FF2B5EF4-FFF2-40B4-BE49-F238E27FC236}">
                <a16:creationId xmlns:a16="http://schemas.microsoft.com/office/drawing/2014/main" id="{FE4F4603-A19A-4AA0-B7D4-F19888A92939}"/>
              </a:ext>
            </a:extLst>
          </p:cNvPr>
          <p:cNvSpPr txBox="1"/>
          <p:nvPr/>
        </p:nvSpPr>
        <p:spPr>
          <a:xfrm>
            <a:off x="7427274" y="3816383"/>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G4</a:t>
            </a:r>
          </a:p>
        </p:txBody>
      </p:sp>
      <p:sp>
        <p:nvSpPr>
          <p:cNvPr id="23" name="TextBox 22">
            <a:extLst>
              <a:ext uri="{FF2B5EF4-FFF2-40B4-BE49-F238E27FC236}">
                <a16:creationId xmlns:a16="http://schemas.microsoft.com/office/drawing/2014/main" id="{6FC165AA-0D5B-4795-9AC1-E23B14F4B12A}"/>
              </a:ext>
            </a:extLst>
          </p:cNvPr>
          <p:cNvSpPr txBox="1"/>
          <p:nvPr/>
        </p:nvSpPr>
        <p:spPr>
          <a:xfrm>
            <a:off x="2723741" y="6450092"/>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G2</a:t>
            </a:r>
          </a:p>
        </p:txBody>
      </p:sp>
      <p:sp>
        <p:nvSpPr>
          <p:cNvPr id="24" name="TextBox 23">
            <a:extLst>
              <a:ext uri="{FF2B5EF4-FFF2-40B4-BE49-F238E27FC236}">
                <a16:creationId xmlns:a16="http://schemas.microsoft.com/office/drawing/2014/main" id="{04E3F84E-6DCA-422B-A009-A8B833B987E4}"/>
              </a:ext>
            </a:extLst>
          </p:cNvPr>
          <p:cNvSpPr txBox="1"/>
          <p:nvPr/>
        </p:nvSpPr>
        <p:spPr>
          <a:xfrm>
            <a:off x="5873736" y="6450092"/>
            <a:ext cx="549757" cy="369332"/>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G1</a:t>
            </a:r>
          </a:p>
        </p:txBody>
      </p:sp>
      <p:sp>
        <p:nvSpPr>
          <p:cNvPr id="2" name="Title 1">
            <a:extLst>
              <a:ext uri="{FF2B5EF4-FFF2-40B4-BE49-F238E27FC236}">
                <a16:creationId xmlns:a16="http://schemas.microsoft.com/office/drawing/2014/main" id="{EA437632-AA91-47F0-9C5E-1307D340BA00}"/>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Methods – Segmentation</a:t>
            </a:r>
            <a:endParaRPr lang="en-US" sz="3600" dirty="0"/>
          </a:p>
        </p:txBody>
      </p:sp>
      <p:pic>
        <p:nvPicPr>
          <p:cNvPr id="5" name="Content Placeholder 4">
            <a:extLst>
              <a:ext uri="{FF2B5EF4-FFF2-40B4-BE49-F238E27FC236}">
                <a16:creationId xmlns:a16="http://schemas.microsoft.com/office/drawing/2014/main" id="{3CF48BC2-DEF5-4AAC-962D-5F98DBC7D7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027" y="1403923"/>
            <a:ext cx="2561702" cy="2480066"/>
          </a:xfrm>
        </p:spPr>
      </p:pic>
      <p:pic>
        <p:nvPicPr>
          <p:cNvPr id="7" name="Picture 6">
            <a:extLst>
              <a:ext uri="{FF2B5EF4-FFF2-40B4-BE49-F238E27FC236}">
                <a16:creationId xmlns:a16="http://schemas.microsoft.com/office/drawing/2014/main" id="{1386FE62-B62E-46C3-A24B-5C445C7150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1839" y="1416730"/>
            <a:ext cx="2560320" cy="2454452"/>
          </a:xfrm>
          <a:prstGeom prst="rect">
            <a:avLst/>
          </a:prstGeom>
        </p:spPr>
      </p:pic>
      <p:pic>
        <p:nvPicPr>
          <p:cNvPr id="9" name="Picture 8">
            <a:extLst>
              <a:ext uri="{FF2B5EF4-FFF2-40B4-BE49-F238E27FC236}">
                <a16:creationId xmlns:a16="http://schemas.microsoft.com/office/drawing/2014/main" id="{02EF2008-E812-4802-BD4B-407DB30441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8537" y="1423370"/>
            <a:ext cx="2560320" cy="2441171"/>
          </a:xfrm>
          <a:prstGeom prst="rect">
            <a:avLst/>
          </a:prstGeom>
        </p:spPr>
      </p:pic>
      <p:pic>
        <p:nvPicPr>
          <p:cNvPr id="11" name="Picture 10">
            <a:extLst>
              <a:ext uri="{FF2B5EF4-FFF2-40B4-BE49-F238E27FC236}">
                <a16:creationId xmlns:a16="http://schemas.microsoft.com/office/drawing/2014/main" id="{AB4A47C3-E37B-4C4A-A315-2A904E6657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16726" y="4011178"/>
            <a:ext cx="2560320" cy="2451785"/>
          </a:xfrm>
          <a:prstGeom prst="rect">
            <a:avLst/>
          </a:prstGeom>
        </p:spPr>
      </p:pic>
      <p:pic>
        <p:nvPicPr>
          <p:cNvPr id="13" name="Picture 12">
            <a:extLst>
              <a:ext uri="{FF2B5EF4-FFF2-40B4-BE49-F238E27FC236}">
                <a16:creationId xmlns:a16="http://schemas.microsoft.com/office/drawing/2014/main" id="{4A476B64-86C7-4A13-89D3-5E2E00AA7DD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72550" y="4022291"/>
            <a:ext cx="2560320" cy="2470583"/>
          </a:xfrm>
          <a:prstGeom prst="rect">
            <a:avLst/>
          </a:prstGeom>
        </p:spPr>
      </p:pic>
    </p:spTree>
    <p:extLst>
      <p:ext uri="{BB962C8B-B14F-4D97-AF65-F5344CB8AC3E}">
        <p14:creationId xmlns:p14="http://schemas.microsoft.com/office/powerpoint/2010/main" val="22801215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D35A34-C663-4F34-94FF-E43E0F27D620}"/>
              </a:ext>
            </a:extLst>
          </p:cNvPr>
          <p:cNvPicPr>
            <a:picLocks noChangeAspect="1"/>
          </p:cNvPicPr>
          <p:nvPr/>
        </p:nvPicPr>
        <p:blipFill>
          <a:blip r:embed="rId2"/>
          <a:stretch>
            <a:fillRect/>
          </a:stretch>
        </p:blipFill>
        <p:spPr>
          <a:xfrm>
            <a:off x="236953" y="603849"/>
            <a:ext cx="4098093" cy="5650302"/>
          </a:xfrm>
          <a:prstGeom prst="rect">
            <a:avLst/>
          </a:prstGeom>
          <a:ln>
            <a:solidFill>
              <a:schemeClr val="tx1"/>
            </a:solidFill>
          </a:ln>
        </p:spPr>
      </p:pic>
      <p:pic>
        <p:nvPicPr>
          <p:cNvPr id="7" name="Picture 6">
            <a:extLst>
              <a:ext uri="{FF2B5EF4-FFF2-40B4-BE49-F238E27FC236}">
                <a16:creationId xmlns:a16="http://schemas.microsoft.com/office/drawing/2014/main" id="{97836144-95A8-4C4E-BFD5-CCD73706E39F}"/>
              </a:ext>
            </a:extLst>
          </p:cNvPr>
          <p:cNvPicPr>
            <a:picLocks noChangeAspect="1"/>
          </p:cNvPicPr>
          <p:nvPr/>
        </p:nvPicPr>
        <p:blipFill>
          <a:blip r:embed="rId3"/>
          <a:stretch>
            <a:fillRect/>
          </a:stretch>
        </p:blipFill>
        <p:spPr>
          <a:xfrm>
            <a:off x="4836748" y="603849"/>
            <a:ext cx="4070298" cy="5650302"/>
          </a:xfrm>
          <a:prstGeom prst="rect">
            <a:avLst/>
          </a:prstGeom>
          <a:ln>
            <a:solidFill>
              <a:schemeClr val="tx1"/>
            </a:solidFill>
          </a:ln>
        </p:spPr>
      </p:pic>
    </p:spTree>
    <p:extLst>
      <p:ext uri="{BB962C8B-B14F-4D97-AF65-F5344CB8AC3E}">
        <p14:creationId xmlns:p14="http://schemas.microsoft.com/office/powerpoint/2010/main" val="28102967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BBBBBBD-0CDD-4526-A717-94292215FB47}"/>
              </a:ext>
            </a:extLst>
          </p:cNvPr>
          <p:cNvGrpSpPr/>
          <p:nvPr/>
        </p:nvGrpSpPr>
        <p:grpSpPr>
          <a:xfrm>
            <a:off x="254101" y="603849"/>
            <a:ext cx="8635797" cy="5650302"/>
            <a:chOff x="327048" y="603849"/>
            <a:chExt cx="8635797" cy="5650302"/>
          </a:xfrm>
        </p:grpSpPr>
        <p:pic>
          <p:nvPicPr>
            <p:cNvPr id="2" name="Picture 1">
              <a:extLst>
                <a:ext uri="{FF2B5EF4-FFF2-40B4-BE49-F238E27FC236}">
                  <a16:creationId xmlns:a16="http://schemas.microsoft.com/office/drawing/2014/main" id="{5098042F-0788-44A2-A278-C5FAD5D9194D}"/>
                </a:ext>
              </a:extLst>
            </p:cNvPr>
            <p:cNvPicPr>
              <a:picLocks noChangeAspect="1"/>
            </p:cNvPicPr>
            <p:nvPr/>
          </p:nvPicPr>
          <p:blipFill>
            <a:blip r:embed="rId2"/>
            <a:stretch>
              <a:fillRect/>
            </a:stretch>
          </p:blipFill>
          <p:spPr>
            <a:xfrm>
              <a:off x="327048" y="603849"/>
              <a:ext cx="4063797" cy="5650302"/>
            </a:xfrm>
            <a:prstGeom prst="rect">
              <a:avLst/>
            </a:prstGeom>
            <a:ln>
              <a:solidFill>
                <a:schemeClr val="tx1"/>
              </a:solidFill>
            </a:ln>
          </p:spPr>
        </p:pic>
        <p:pic>
          <p:nvPicPr>
            <p:cNvPr id="3" name="Picture 2">
              <a:extLst>
                <a:ext uri="{FF2B5EF4-FFF2-40B4-BE49-F238E27FC236}">
                  <a16:creationId xmlns:a16="http://schemas.microsoft.com/office/drawing/2014/main" id="{E82E27B2-6DDA-408C-B67F-DE0D3E9D5469}"/>
                </a:ext>
              </a:extLst>
            </p:cNvPr>
            <p:cNvPicPr>
              <a:picLocks noChangeAspect="1"/>
            </p:cNvPicPr>
            <p:nvPr/>
          </p:nvPicPr>
          <p:blipFill>
            <a:blip r:embed="rId3"/>
            <a:stretch>
              <a:fillRect/>
            </a:stretch>
          </p:blipFill>
          <p:spPr>
            <a:xfrm>
              <a:off x="4864752" y="603849"/>
              <a:ext cx="4098093" cy="5650302"/>
            </a:xfrm>
            <a:prstGeom prst="rect">
              <a:avLst/>
            </a:prstGeom>
            <a:ln>
              <a:solidFill>
                <a:schemeClr val="tx1"/>
              </a:solidFill>
            </a:ln>
          </p:spPr>
        </p:pic>
      </p:grpSp>
    </p:spTree>
    <p:extLst>
      <p:ext uri="{BB962C8B-B14F-4D97-AF65-F5344CB8AC3E}">
        <p14:creationId xmlns:p14="http://schemas.microsoft.com/office/powerpoint/2010/main" val="29488191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0AE081-6AD6-456A-9DCC-12CEA0CB722A}"/>
              </a:ext>
            </a:extLst>
          </p:cNvPr>
          <p:cNvPicPr>
            <a:picLocks noChangeAspect="1"/>
          </p:cNvPicPr>
          <p:nvPr/>
        </p:nvPicPr>
        <p:blipFill>
          <a:blip r:embed="rId2"/>
          <a:stretch>
            <a:fillRect/>
          </a:stretch>
        </p:blipFill>
        <p:spPr>
          <a:xfrm>
            <a:off x="2522953" y="616012"/>
            <a:ext cx="4098093" cy="5625976"/>
          </a:xfrm>
          <a:prstGeom prst="rect">
            <a:avLst/>
          </a:prstGeom>
          <a:ln>
            <a:solidFill>
              <a:schemeClr val="tx1"/>
            </a:solidFill>
          </a:ln>
        </p:spPr>
      </p:pic>
    </p:spTree>
    <p:extLst>
      <p:ext uri="{BB962C8B-B14F-4D97-AF65-F5344CB8AC3E}">
        <p14:creationId xmlns:p14="http://schemas.microsoft.com/office/powerpoint/2010/main" val="21433260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F488-DE9C-4FD8-95A5-FB34B001CF32}"/>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Simulation Results</a:t>
            </a:r>
            <a:endParaRPr lang="en-US" sz="3600" dirty="0"/>
          </a:p>
        </p:txBody>
      </p:sp>
      <p:sp>
        <p:nvSpPr>
          <p:cNvPr id="3" name="Content Placeholder 2">
            <a:extLst>
              <a:ext uri="{FF2B5EF4-FFF2-40B4-BE49-F238E27FC236}">
                <a16:creationId xmlns:a16="http://schemas.microsoft.com/office/drawing/2014/main" id="{A5D1186E-97EC-40E2-A72A-C985310D9F9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45C3485-6207-481E-BCDD-19787E35B658}"/>
              </a:ext>
            </a:extLst>
          </p:cNvPr>
          <p:cNvPicPr>
            <a:picLocks noChangeAspect="1"/>
          </p:cNvPicPr>
          <p:nvPr/>
        </p:nvPicPr>
        <p:blipFill>
          <a:blip r:embed="rId2"/>
          <a:stretch>
            <a:fillRect/>
          </a:stretch>
        </p:blipFill>
        <p:spPr>
          <a:xfrm>
            <a:off x="106821" y="1563332"/>
            <a:ext cx="2794380" cy="4929542"/>
          </a:xfrm>
          <a:prstGeom prst="rect">
            <a:avLst/>
          </a:prstGeom>
          <a:ln>
            <a:solidFill>
              <a:schemeClr val="tx1"/>
            </a:solidFill>
          </a:ln>
        </p:spPr>
      </p:pic>
      <p:pic>
        <p:nvPicPr>
          <p:cNvPr id="6" name="Picture 5">
            <a:extLst>
              <a:ext uri="{FF2B5EF4-FFF2-40B4-BE49-F238E27FC236}">
                <a16:creationId xmlns:a16="http://schemas.microsoft.com/office/drawing/2014/main" id="{25F98275-E2DC-42CF-9901-C283456CA9B1}"/>
              </a:ext>
            </a:extLst>
          </p:cNvPr>
          <p:cNvPicPr>
            <a:picLocks noChangeAspect="1"/>
          </p:cNvPicPr>
          <p:nvPr/>
        </p:nvPicPr>
        <p:blipFill>
          <a:blip r:embed="rId3"/>
          <a:stretch>
            <a:fillRect/>
          </a:stretch>
        </p:blipFill>
        <p:spPr>
          <a:xfrm>
            <a:off x="3237036" y="1563332"/>
            <a:ext cx="2669928" cy="4929542"/>
          </a:xfrm>
          <a:prstGeom prst="rect">
            <a:avLst/>
          </a:prstGeom>
          <a:ln>
            <a:solidFill>
              <a:schemeClr val="tx1"/>
            </a:solidFill>
          </a:ln>
        </p:spPr>
      </p:pic>
      <p:pic>
        <p:nvPicPr>
          <p:cNvPr id="7" name="Picture 6">
            <a:extLst>
              <a:ext uri="{FF2B5EF4-FFF2-40B4-BE49-F238E27FC236}">
                <a16:creationId xmlns:a16="http://schemas.microsoft.com/office/drawing/2014/main" id="{4D125BC1-FB04-4D77-8501-9D22DD34C53D}"/>
              </a:ext>
            </a:extLst>
          </p:cNvPr>
          <p:cNvPicPr>
            <a:picLocks noChangeAspect="1"/>
          </p:cNvPicPr>
          <p:nvPr/>
        </p:nvPicPr>
        <p:blipFill>
          <a:blip r:embed="rId4"/>
          <a:stretch>
            <a:fillRect/>
          </a:stretch>
        </p:blipFill>
        <p:spPr>
          <a:xfrm>
            <a:off x="6242801" y="1563332"/>
            <a:ext cx="2773595" cy="4929542"/>
          </a:xfrm>
          <a:prstGeom prst="rect">
            <a:avLst/>
          </a:prstGeom>
          <a:ln>
            <a:solidFill>
              <a:schemeClr val="tx1"/>
            </a:solidFill>
          </a:ln>
        </p:spPr>
      </p:pic>
    </p:spTree>
    <p:extLst>
      <p:ext uri="{BB962C8B-B14F-4D97-AF65-F5344CB8AC3E}">
        <p14:creationId xmlns:p14="http://schemas.microsoft.com/office/powerpoint/2010/main" val="12827304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2960-F94A-459A-888C-CE9B9C7DF374}"/>
              </a:ext>
            </a:extLst>
          </p:cNvPr>
          <p:cNvSpPr>
            <a:spLocks noGrp="1"/>
          </p:cNvSpPr>
          <p:nvPr>
            <p:ph type="title"/>
          </p:nvPr>
        </p:nvSpPr>
        <p:spPr/>
        <p:txBody>
          <a:bodyPr>
            <a:normAutofit/>
          </a:bodyPr>
          <a:lstStyle/>
          <a:p>
            <a:r>
              <a:rPr lang="en-US" sz="3600" dirty="0">
                <a:latin typeface="Tahoma" panose="020B0604030504040204" pitchFamily="34" charset="0"/>
                <a:ea typeface="Tahoma" panose="020B0604030504040204" pitchFamily="34" charset="0"/>
                <a:cs typeface="Tahoma" panose="020B0604030504040204" pitchFamily="34" charset="0"/>
              </a:rPr>
              <a:t>Simulation Results</a:t>
            </a:r>
            <a:endParaRPr lang="en-US" sz="3600" dirty="0"/>
          </a:p>
        </p:txBody>
      </p:sp>
      <p:sp>
        <p:nvSpPr>
          <p:cNvPr id="3" name="Content Placeholder 2">
            <a:extLst>
              <a:ext uri="{FF2B5EF4-FFF2-40B4-BE49-F238E27FC236}">
                <a16:creationId xmlns:a16="http://schemas.microsoft.com/office/drawing/2014/main" id="{5D2290A1-7CE6-417E-A34A-77285D22878F}"/>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B973B3E-D8A5-4967-B325-4388306DE21C}"/>
              </a:ext>
            </a:extLst>
          </p:cNvPr>
          <p:cNvPicPr>
            <a:picLocks noChangeAspect="1"/>
          </p:cNvPicPr>
          <p:nvPr/>
        </p:nvPicPr>
        <p:blipFill>
          <a:blip r:embed="rId2"/>
          <a:stretch>
            <a:fillRect/>
          </a:stretch>
        </p:blipFill>
        <p:spPr>
          <a:xfrm>
            <a:off x="1434506" y="1563332"/>
            <a:ext cx="2692020" cy="4929542"/>
          </a:xfrm>
          <a:prstGeom prst="rect">
            <a:avLst/>
          </a:prstGeom>
          <a:ln>
            <a:solidFill>
              <a:schemeClr val="tx1"/>
            </a:solidFill>
          </a:ln>
        </p:spPr>
      </p:pic>
      <p:pic>
        <p:nvPicPr>
          <p:cNvPr id="6" name="Picture 5">
            <a:extLst>
              <a:ext uri="{FF2B5EF4-FFF2-40B4-BE49-F238E27FC236}">
                <a16:creationId xmlns:a16="http://schemas.microsoft.com/office/drawing/2014/main" id="{AA9BB2D0-774D-4A7C-B797-6475BBB6135B}"/>
              </a:ext>
            </a:extLst>
          </p:cNvPr>
          <p:cNvPicPr>
            <a:picLocks noChangeAspect="1"/>
          </p:cNvPicPr>
          <p:nvPr/>
        </p:nvPicPr>
        <p:blipFill>
          <a:blip r:embed="rId3"/>
          <a:stretch>
            <a:fillRect/>
          </a:stretch>
        </p:blipFill>
        <p:spPr>
          <a:xfrm>
            <a:off x="5017475" y="1563332"/>
            <a:ext cx="2763354" cy="4929542"/>
          </a:xfrm>
          <a:prstGeom prst="rect">
            <a:avLst/>
          </a:prstGeom>
          <a:ln>
            <a:solidFill>
              <a:schemeClr val="tx1"/>
            </a:solidFill>
          </a:ln>
        </p:spPr>
      </p:pic>
    </p:spTree>
    <p:extLst>
      <p:ext uri="{BB962C8B-B14F-4D97-AF65-F5344CB8AC3E}">
        <p14:creationId xmlns:p14="http://schemas.microsoft.com/office/powerpoint/2010/main" val="278639944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377</TotalTime>
  <Words>2545</Words>
  <Application>Microsoft Macintosh PowerPoint</Application>
  <PresentationFormat>On-screen Show (4:3)</PresentationFormat>
  <Paragraphs>245</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Cambria Math</vt:lpstr>
      <vt:lpstr>Tahoma</vt:lpstr>
      <vt:lpstr>Office Theme</vt:lpstr>
      <vt:lpstr>Simulating complex conductivity in carbonate rocks: using digital carbonate rocks and comparison to laboratory measurements </vt:lpstr>
      <vt:lpstr>Outline</vt:lpstr>
      <vt:lpstr>Introduction – The Scientific Problem</vt:lpstr>
      <vt:lpstr>Introduction – Digital Rock Physics</vt:lpstr>
      <vt:lpstr>Introduction – Complex Conductivity</vt:lpstr>
      <vt:lpstr>Methods - Workflow</vt:lpstr>
      <vt:lpstr>Methods – Sample Selection</vt:lpstr>
      <vt:lpstr>Methods – Imaging</vt:lpstr>
      <vt:lpstr>Methods – Imaging</vt:lpstr>
      <vt:lpstr>Methods – Phase Segmentation</vt:lpstr>
      <vt:lpstr>Methods – Post-Processing: Re-gridding</vt:lpstr>
      <vt:lpstr>Methods – Connectivity Analysis</vt:lpstr>
      <vt:lpstr>Methods – Pore Network Extraction</vt:lpstr>
      <vt:lpstr>PowerPoint Presentation</vt:lpstr>
      <vt:lpstr>Methods – Application of EDL Model</vt:lpstr>
      <vt:lpstr>Methods – Bulk Conductivity Calculation</vt:lpstr>
      <vt:lpstr>Methods – Simulation Trial Variables</vt:lpstr>
      <vt:lpstr>Results and Discussion</vt:lpstr>
      <vt:lpstr>Results and Discussion</vt:lpstr>
      <vt:lpstr>Results and Discussion</vt:lpstr>
      <vt:lpstr>Results and Discussion</vt:lpstr>
      <vt:lpstr>Results and Discussion</vt:lpstr>
      <vt:lpstr>Results and Discussion</vt:lpstr>
      <vt:lpstr>Results and Discussion</vt:lpstr>
      <vt:lpstr>Conclusions</vt:lpstr>
      <vt:lpstr>Next Steps</vt:lpstr>
      <vt:lpstr>References</vt:lpstr>
      <vt:lpstr>Questions/Comments</vt:lpstr>
      <vt:lpstr>Supplemental Figures</vt:lpstr>
      <vt:lpstr>Methods – Imaging</vt:lpstr>
      <vt:lpstr>Methods – Phase Segmentation</vt:lpstr>
      <vt:lpstr>Methods – Post-Processing: Re-gridding</vt:lpstr>
      <vt:lpstr>Methods – Segmentation</vt:lpstr>
      <vt:lpstr>PowerPoint Presentation</vt:lpstr>
      <vt:lpstr>PowerPoint Presentation</vt:lpstr>
      <vt:lpstr>PowerPoint Presentation</vt:lpstr>
      <vt:lpstr>Simulation Results</vt:lpstr>
      <vt:lpstr>Simulation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Simulating complex conductivity in carbonate rocks: using digital carbonate rocks and comparison to laboratory measurements </dc:title>
  <dc:creator>James</dc:creator>
  <cp:lastModifiedBy>Chi Zhang</cp:lastModifiedBy>
  <cp:revision>35</cp:revision>
  <dcterms:created xsi:type="dcterms:W3CDTF">2018-11-27T14:44:47Z</dcterms:created>
  <dcterms:modified xsi:type="dcterms:W3CDTF">2026-06-09T09:31:15Z</dcterms:modified>
</cp:coreProperties>
</file>